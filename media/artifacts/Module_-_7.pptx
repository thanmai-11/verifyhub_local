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3"/>
  </p:notesMasterIdLst>
  <p:sldIdLst>
    <p:sldId id="395" r:id="rId2"/>
    <p:sldId id="256" r:id="rId3"/>
    <p:sldId id="306" r:id="rId4"/>
    <p:sldId id="307" r:id="rId5"/>
    <p:sldId id="308" r:id="rId6"/>
    <p:sldId id="309" r:id="rId7"/>
    <p:sldId id="310" r:id="rId8"/>
    <p:sldId id="311" r:id="rId9"/>
    <p:sldId id="312" r:id="rId10"/>
    <p:sldId id="313" r:id="rId11"/>
    <p:sldId id="314" r:id="rId12"/>
    <p:sldId id="315" r:id="rId13"/>
    <p:sldId id="316" r:id="rId14"/>
    <p:sldId id="317" r:id="rId15"/>
    <p:sldId id="318" r:id="rId16"/>
    <p:sldId id="319" r:id="rId17"/>
    <p:sldId id="320" r:id="rId18"/>
    <p:sldId id="321" r:id="rId19"/>
    <p:sldId id="632" r:id="rId20"/>
    <p:sldId id="322" r:id="rId21"/>
    <p:sldId id="329" r:id="rId22"/>
    <p:sldId id="323" r:id="rId23"/>
    <p:sldId id="324" r:id="rId24"/>
    <p:sldId id="330" r:id="rId25"/>
    <p:sldId id="325" r:id="rId26"/>
    <p:sldId id="326" r:id="rId27"/>
    <p:sldId id="327" r:id="rId28"/>
    <p:sldId id="396" r:id="rId29"/>
    <p:sldId id="631" r:id="rId30"/>
    <p:sldId id="328" r:id="rId31"/>
    <p:sldId id="331" r:id="rId32"/>
    <p:sldId id="332" r:id="rId33"/>
    <p:sldId id="333" r:id="rId34"/>
    <p:sldId id="334" r:id="rId35"/>
    <p:sldId id="337" r:id="rId36"/>
    <p:sldId id="335" r:id="rId37"/>
    <p:sldId id="633" r:id="rId38"/>
    <p:sldId id="635" r:id="rId39"/>
    <p:sldId id="636" r:id="rId40"/>
    <p:sldId id="634" r:id="rId41"/>
    <p:sldId id="336" r:id="rId42"/>
    <p:sldId id="338" r:id="rId43"/>
    <p:sldId id="339" r:id="rId44"/>
    <p:sldId id="340" r:id="rId45"/>
    <p:sldId id="341" r:id="rId46"/>
    <p:sldId id="342" r:id="rId47"/>
    <p:sldId id="638" r:id="rId48"/>
    <p:sldId id="637" r:id="rId49"/>
    <p:sldId id="640" r:id="rId50"/>
    <p:sldId id="639" r:id="rId51"/>
    <p:sldId id="642" r:id="rId52"/>
    <p:sldId id="641" r:id="rId53"/>
    <p:sldId id="643" r:id="rId54"/>
    <p:sldId id="644" r:id="rId55"/>
    <p:sldId id="343" r:id="rId56"/>
    <p:sldId id="646" r:id="rId57"/>
    <p:sldId id="645" r:id="rId58"/>
    <p:sldId id="345" r:id="rId59"/>
    <p:sldId id="647" r:id="rId60"/>
    <p:sldId id="344" r:id="rId61"/>
    <p:sldId id="346" r:id="rId62"/>
    <p:sldId id="347" r:id="rId63"/>
    <p:sldId id="348" r:id="rId64"/>
    <p:sldId id="648" r:id="rId65"/>
    <p:sldId id="349" r:id="rId66"/>
    <p:sldId id="350" r:id="rId67"/>
    <p:sldId id="351" r:id="rId68"/>
    <p:sldId id="352" r:id="rId69"/>
    <p:sldId id="649" r:id="rId70"/>
    <p:sldId id="353" r:id="rId71"/>
    <p:sldId id="354" r:id="rId72"/>
    <p:sldId id="355" r:id="rId73"/>
    <p:sldId id="356" r:id="rId74"/>
    <p:sldId id="357" r:id="rId75"/>
    <p:sldId id="358" r:id="rId76"/>
    <p:sldId id="359" r:id="rId77"/>
    <p:sldId id="360" r:id="rId78"/>
    <p:sldId id="361" r:id="rId79"/>
    <p:sldId id="362" r:id="rId80"/>
    <p:sldId id="363" r:id="rId81"/>
    <p:sldId id="364" r:id="rId82"/>
    <p:sldId id="365" r:id="rId83"/>
    <p:sldId id="366" r:id="rId84"/>
    <p:sldId id="367" r:id="rId85"/>
    <p:sldId id="368" r:id="rId86"/>
    <p:sldId id="369" r:id="rId87"/>
    <p:sldId id="370" r:id="rId88"/>
    <p:sldId id="371" r:id="rId89"/>
    <p:sldId id="372" r:id="rId90"/>
    <p:sldId id="373" r:id="rId91"/>
    <p:sldId id="374" r:id="rId92"/>
    <p:sldId id="375" r:id="rId93"/>
    <p:sldId id="376" r:id="rId94"/>
    <p:sldId id="377" r:id="rId95"/>
    <p:sldId id="378" r:id="rId96"/>
    <p:sldId id="379" r:id="rId97"/>
    <p:sldId id="380" r:id="rId98"/>
    <p:sldId id="381" r:id="rId99"/>
    <p:sldId id="382" r:id="rId100"/>
    <p:sldId id="383" r:id="rId101"/>
    <p:sldId id="384" r:id="rId102"/>
    <p:sldId id="385" r:id="rId103"/>
    <p:sldId id="386" r:id="rId104"/>
    <p:sldId id="387" r:id="rId105"/>
    <p:sldId id="388" r:id="rId106"/>
    <p:sldId id="389" r:id="rId107"/>
    <p:sldId id="390" r:id="rId108"/>
    <p:sldId id="391" r:id="rId109"/>
    <p:sldId id="392" r:id="rId110"/>
    <p:sldId id="393" r:id="rId111"/>
    <p:sldId id="394" r:id="rId1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04" autoAdjust="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0AA029-BEE1-4B7D-96DF-460AE593F8C2}" type="datetimeFigureOut">
              <a:rPr lang="en-US" smtClean="0"/>
              <a:t>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467E1E-57D6-41F1-9657-DA5E324F5AC3}" type="slidenum">
              <a:rPr lang="en-US" smtClean="0"/>
              <a:t>‹#›</a:t>
            </a:fld>
            <a:endParaRPr lang="en-US"/>
          </a:p>
        </p:txBody>
      </p:sp>
    </p:spTree>
    <p:extLst>
      <p:ext uri="{BB962C8B-B14F-4D97-AF65-F5344CB8AC3E}">
        <p14:creationId xmlns:p14="http://schemas.microsoft.com/office/powerpoint/2010/main" val="1500421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467E1E-57D6-41F1-9657-DA5E324F5AC3}" type="slidenum">
              <a:rPr lang="en-US" smtClean="0"/>
              <a:t>35</a:t>
            </a:fld>
            <a:endParaRPr lang="en-US"/>
          </a:p>
        </p:txBody>
      </p:sp>
    </p:spTree>
    <p:extLst>
      <p:ext uri="{BB962C8B-B14F-4D97-AF65-F5344CB8AC3E}">
        <p14:creationId xmlns:p14="http://schemas.microsoft.com/office/powerpoint/2010/main" val="13050542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467E1E-57D6-41F1-9657-DA5E324F5AC3}" type="slidenum">
              <a:rPr lang="en-US" smtClean="0"/>
              <a:t>36</a:t>
            </a:fld>
            <a:endParaRPr lang="en-US"/>
          </a:p>
        </p:txBody>
      </p:sp>
    </p:spTree>
    <p:extLst>
      <p:ext uri="{BB962C8B-B14F-4D97-AF65-F5344CB8AC3E}">
        <p14:creationId xmlns:p14="http://schemas.microsoft.com/office/powerpoint/2010/main" val="4226803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5997B-E88B-FF89-633F-635088F96E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9AC25-B159-0AE4-3FF0-97C8A04AB4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0D510B-5062-D69F-D175-EA333D0D6A88}"/>
              </a:ext>
            </a:extLst>
          </p:cNvPr>
          <p:cNvSpPr>
            <a:spLocks noGrp="1"/>
          </p:cNvSpPr>
          <p:nvPr>
            <p:ph type="body" idx="1"/>
          </p:nvPr>
        </p:nvSpPr>
        <p:spPr/>
        <p:txBody>
          <a:bodyPr/>
          <a:lstStyle/>
          <a:p>
            <a:r>
              <a:rPr lang="en-US" b="1" dirty="0"/>
              <a:t>✅ 1. Rule: Set of Values Example</a:t>
            </a:r>
          </a:p>
          <a:p>
            <a:r>
              <a:rPr lang="en-US" dirty="0"/>
              <a:t>If input must come from a </a:t>
            </a:r>
            <a:r>
              <a:rPr lang="en-US" b="1" dirty="0"/>
              <a:t>specific set of valid values</a:t>
            </a:r>
            <a:r>
              <a:rPr lang="en-US" dirty="0"/>
              <a:t>, say </a:t>
            </a:r>
            <a:r>
              <a:rPr lang="en-US" sz="1200" kern="1200" dirty="0">
                <a:solidFill>
                  <a:schemeClr val="tx1"/>
                </a:solidFill>
                <a:latin typeface="+mn-lt"/>
                <a:ea typeface="+mn-ea"/>
                <a:cs typeface="+mn-cs"/>
              </a:rPr>
              <a:t>{A, B, C}</a:t>
            </a:r>
            <a:r>
              <a:rPr lang="en-US" dirty="0"/>
              <a:t>, then:</a:t>
            </a:r>
          </a:p>
          <a:p>
            <a:r>
              <a:rPr lang="en-US" b="1" dirty="0"/>
              <a:t>Valid class:</a:t>
            </a:r>
            <a:r>
              <a:rPr lang="en-US" dirty="0"/>
              <a:t> </a:t>
            </a:r>
            <a:r>
              <a:rPr lang="en-US" sz="1200" kern="1200" dirty="0">
                <a:solidFill>
                  <a:schemeClr val="tx1"/>
                </a:solidFill>
                <a:latin typeface="+mn-lt"/>
                <a:ea typeface="+mn-ea"/>
                <a:cs typeface="+mn-cs"/>
              </a:rPr>
              <a:t>{A, B, C}</a:t>
            </a:r>
            <a:endParaRPr lang="en-US" dirty="0"/>
          </a:p>
          <a:p>
            <a:r>
              <a:rPr lang="en-US" b="1" dirty="0"/>
              <a:t>Invalid class:</a:t>
            </a:r>
            <a:r>
              <a:rPr lang="en-US" dirty="0"/>
              <a:t> All other inputs (anything not in </a:t>
            </a:r>
            <a:r>
              <a:rPr lang="en-US" sz="1200" kern="1200" dirty="0">
                <a:solidFill>
                  <a:schemeClr val="tx1"/>
                </a:solidFill>
                <a:latin typeface="+mn-lt"/>
                <a:ea typeface="+mn-ea"/>
                <a:cs typeface="+mn-cs"/>
              </a:rPr>
              <a:t>{A, B, C}</a:t>
            </a:r>
            <a:r>
              <a:rPr lang="en-US" dirty="0"/>
              <a:t>)</a:t>
            </a:r>
          </a:p>
          <a:p>
            <a:r>
              <a:rPr lang="en-US" dirty="0"/>
              <a:t>This means we pick </a:t>
            </a:r>
            <a:r>
              <a:rPr lang="en-US" b="1" dirty="0"/>
              <a:t>one test value</a:t>
            </a:r>
            <a:r>
              <a:rPr lang="en-US" dirty="0"/>
              <a:t> from each class — one valid, one invalid — to represent the whole set.</a:t>
            </a:r>
          </a:p>
          <a:p>
            <a:br>
              <a:rPr lang="en-US" dirty="0"/>
            </a:br>
            <a:endParaRPr lang="en-US" dirty="0"/>
          </a:p>
          <a:p>
            <a:r>
              <a:rPr lang="en-US" b="1" dirty="0"/>
              <a:t>💡 Example Problem Explanations</a:t>
            </a:r>
          </a:p>
          <a:p>
            <a:r>
              <a:rPr lang="en-US" b="1" dirty="0"/>
              <a:t>🧮 Problem 7.1: Square root function for integers 0–5000</a:t>
            </a:r>
          </a:p>
          <a:p>
            <a:r>
              <a:rPr lang="en-US" b="1" dirty="0"/>
              <a:t>Specification:</a:t>
            </a:r>
            <a:r>
              <a:rPr lang="en-US" dirty="0"/>
              <a:t> Function accepts integers between 0 and 5000 (inclusive).</a:t>
            </a:r>
          </a:p>
          <a:p>
            <a:r>
              <a:rPr lang="en-US" b="1" dirty="0"/>
              <a:t>Equivalence classes:</a:t>
            </a:r>
            <a:endParaRPr lang="en-US" dirty="0"/>
          </a:p>
          <a:p>
            <a:pPr lvl="1"/>
            <a:r>
              <a:rPr lang="en-US" dirty="0"/>
              <a:t>Invalid: </a:t>
            </a:r>
            <a:r>
              <a:rPr lang="en-US" sz="1200" kern="1200" dirty="0">
                <a:solidFill>
                  <a:schemeClr val="tx1"/>
                </a:solidFill>
                <a:latin typeface="+mn-lt"/>
                <a:ea typeface="+mn-ea"/>
                <a:cs typeface="+mn-cs"/>
              </a:rPr>
              <a:t>(-∞, -1]</a:t>
            </a:r>
            <a:r>
              <a:rPr lang="en-US" dirty="0"/>
              <a:t> → negative numbers (can’t take sqrt of negatives)</a:t>
            </a:r>
          </a:p>
          <a:p>
            <a:pPr lvl="1"/>
            <a:r>
              <a:rPr lang="en-US" dirty="0"/>
              <a:t>Valid: </a:t>
            </a:r>
            <a:r>
              <a:rPr lang="en-US" sz="1200" kern="1200" dirty="0">
                <a:solidFill>
                  <a:schemeClr val="tx1"/>
                </a:solidFill>
                <a:latin typeface="+mn-lt"/>
                <a:ea typeface="+mn-ea"/>
                <a:cs typeface="+mn-cs"/>
              </a:rPr>
              <a:t>[0, 5000]</a:t>
            </a:r>
            <a:r>
              <a:rPr lang="en-US" dirty="0"/>
              <a:t> → acceptable range</a:t>
            </a:r>
          </a:p>
          <a:p>
            <a:pPr lvl="1"/>
            <a:r>
              <a:rPr lang="en-US" dirty="0"/>
              <a:t>Invalid: </a:t>
            </a:r>
            <a:r>
              <a:rPr lang="en-US" sz="1200" kern="1200" dirty="0">
                <a:solidFill>
                  <a:schemeClr val="tx1"/>
                </a:solidFill>
                <a:latin typeface="+mn-lt"/>
                <a:ea typeface="+mn-ea"/>
                <a:cs typeface="+mn-cs"/>
              </a:rPr>
              <a:t>[5001, ∞)</a:t>
            </a:r>
            <a:r>
              <a:rPr lang="en-US" dirty="0"/>
              <a:t> → too large (beyond allowed range)</a:t>
            </a:r>
          </a:p>
          <a:p>
            <a:r>
              <a:rPr lang="en-US" b="1" dirty="0"/>
              <a:t>Representative test cases:</a:t>
            </a:r>
            <a:br>
              <a:rPr lang="en-US" dirty="0"/>
            </a:br>
            <a:r>
              <a:rPr lang="en-US" sz="1200" kern="1200" dirty="0">
                <a:solidFill>
                  <a:schemeClr val="tx1"/>
                </a:solidFill>
                <a:latin typeface="+mn-lt"/>
                <a:ea typeface="+mn-ea"/>
                <a:cs typeface="+mn-cs"/>
              </a:rPr>
              <a:t>{ -5, 500, 6000 }</a:t>
            </a:r>
            <a:endParaRPr lang="en-US" dirty="0"/>
          </a:p>
          <a:p>
            <a:pPr lvl="1"/>
            <a:r>
              <a:rPr lang="en-US" sz="1200" kern="1200" dirty="0">
                <a:solidFill>
                  <a:schemeClr val="tx1"/>
                </a:solidFill>
                <a:latin typeface="+mn-lt"/>
                <a:ea typeface="+mn-ea"/>
                <a:cs typeface="+mn-cs"/>
              </a:rPr>
              <a:t>-5</a:t>
            </a:r>
            <a:r>
              <a:rPr lang="en-US" dirty="0"/>
              <a:t> → invalid (below range)</a:t>
            </a:r>
          </a:p>
          <a:p>
            <a:pPr lvl="1"/>
            <a:r>
              <a:rPr lang="en-US" sz="1200" kern="1200" dirty="0">
                <a:solidFill>
                  <a:schemeClr val="tx1"/>
                </a:solidFill>
                <a:latin typeface="+mn-lt"/>
                <a:ea typeface="+mn-ea"/>
                <a:cs typeface="+mn-cs"/>
              </a:rPr>
              <a:t>500</a:t>
            </a:r>
            <a:r>
              <a:rPr lang="en-US" dirty="0"/>
              <a:t> → valid</a:t>
            </a:r>
          </a:p>
          <a:p>
            <a:pPr lvl="1"/>
            <a:r>
              <a:rPr lang="en-US" sz="1200" kern="1200" dirty="0">
                <a:solidFill>
                  <a:schemeClr val="tx1"/>
                </a:solidFill>
                <a:latin typeface="+mn-lt"/>
                <a:ea typeface="+mn-ea"/>
                <a:cs typeface="+mn-cs"/>
              </a:rPr>
              <a:t>6000</a:t>
            </a:r>
            <a:r>
              <a:rPr lang="en-US" dirty="0"/>
              <a:t> → invalid (above range)</a:t>
            </a:r>
          </a:p>
          <a:p>
            <a:br>
              <a:rPr lang="en-US" dirty="0"/>
            </a:br>
            <a:endParaRPr lang="en-US" dirty="0"/>
          </a:p>
          <a:p>
            <a:r>
              <a:rPr lang="en-US" b="1" dirty="0"/>
              <a:t>📏 Problem 7.2: Lines intersection</a:t>
            </a:r>
          </a:p>
          <a:p>
            <a:r>
              <a:rPr lang="en-US" b="1" dirty="0"/>
              <a:t>Specification:</a:t>
            </a:r>
            <a:r>
              <a:rPr lang="en-US" dirty="0"/>
              <a:t> Two lines may be:</a:t>
            </a:r>
          </a:p>
          <a:p>
            <a:pPr lvl="1"/>
            <a:r>
              <a:rPr lang="en-US" b="1" dirty="0"/>
              <a:t>Parallel</a:t>
            </a:r>
            <a:r>
              <a:rPr lang="en-US" dirty="0"/>
              <a:t> (no intersection point)</a:t>
            </a:r>
          </a:p>
          <a:p>
            <a:pPr lvl="1"/>
            <a:r>
              <a:rPr lang="en-US" b="1" dirty="0"/>
              <a:t>Intersecting</a:t>
            </a:r>
            <a:r>
              <a:rPr lang="en-US" dirty="0"/>
              <a:t> (one intersection point)</a:t>
            </a:r>
          </a:p>
          <a:p>
            <a:pPr lvl="1"/>
            <a:r>
              <a:rPr lang="en-US" b="1" dirty="0"/>
              <a:t>Coincident</a:t>
            </a:r>
            <a:r>
              <a:rPr lang="en-US" dirty="0"/>
              <a:t> (infinite intersections)</a:t>
            </a:r>
          </a:p>
          <a:p>
            <a:r>
              <a:rPr lang="en-US" b="1" dirty="0"/>
              <a:t>Equivalence classes:</a:t>
            </a:r>
            <a:endParaRPr lang="en-US" dirty="0"/>
          </a:p>
          <a:p>
            <a:pPr lvl="1"/>
            <a:r>
              <a:rPr lang="en-US" dirty="0"/>
              <a:t>Class 1: Parallel lines</a:t>
            </a:r>
          </a:p>
          <a:p>
            <a:pPr lvl="1"/>
            <a:r>
              <a:rPr lang="en-US" dirty="0"/>
              <a:t>Class 2: Intersecting lines</a:t>
            </a:r>
          </a:p>
          <a:p>
            <a:pPr lvl="1"/>
            <a:r>
              <a:rPr lang="en-US" dirty="0"/>
              <a:t>Class 3: Coincident lines</a:t>
            </a:r>
          </a:p>
          <a:p>
            <a:r>
              <a:rPr lang="en-US" b="1" dirty="0"/>
              <a:t>Test cases (representative of each class):</a:t>
            </a:r>
            <a:endParaRPr lang="en-US" dirty="0"/>
          </a:p>
          <a:p>
            <a:pPr lvl="1"/>
            <a:r>
              <a:rPr lang="en-US" sz="1200" kern="1200" dirty="0">
                <a:solidFill>
                  <a:schemeClr val="tx1"/>
                </a:solidFill>
                <a:latin typeface="+mn-lt"/>
                <a:ea typeface="+mn-ea"/>
                <a:cs typeface="+mn-cs"/>
              </a:rPr>
              <a:t>{(2,2)(2,5)}</a:t>
            </a:r>
            <a:r>
              <a:rPr lang="en-US" dirty="0"/>
              <a:t> → Parallel</a:t>
            </a:r>
          </a:p>
          <a:p>
            <a:pPr lvl="1"/>
            <a:r>
              <a:rPr lang="en-US" sz="1200" kern="1200" dirty="0">
                <a:solidFill>
                  <a:schemeClr val="tx1"/>
                </a:solidFill>
                <a:latin typeface="+mn-lt"/>
                <a:ea typeface="+mn-ea"/>
                <a:cs typeface="+mn-cs"/>
              </a:rPr>
              <a:t>{(5,5)(7,7)}</a:t>
            </a:r>
            <a:r>
              <a:rPr lang="en-US" dirty="0"/>
              <a:t> → Intersecting</a:t>
            </a:r>
          </a:p>
          <a:p>
            <a:pPr lvl="1"/>
            <a:r>
              <a:rPr lang="en-US" sz="1200" kern="1200" dirty="0">
                <a:solidFill>
                  <a:schemeClr val="tx1"/>
                </a:solidFill>
                <a:latin typeface="+mn-lt"/>
                <a:ea typeface="+mn-ea"/>
                <a:cs typeface="+mn-cs"/>
              </a:rPr>
              <a:t>{(10,10)(10,10)}</a:t>
            </a:r>
            <a:r>
              <a:rPr lang="en-US" dirty="0"/>
              <a:t> → Coincident</a:t>
            </a:r>
          </a:p>
          <a:p>
            <a:r>
              <a:rPr lang="en-US" dirty="0"/>
              <a:t>Each represents one class of behavior.</a:t>
            </a:r>
          </a:p>
          <a:p>
            <a:br>
              <a:rPr lang="en-US" dirty="0"/>
            </a:br>
            <a:endParaRPr lang="en-US" dirty="0"/>
          </a:p>
          <a:p>
            <a:r>
              <a:rPr lang="en-US" b="1" dirty="0"/>
              <a:t>🔁 Problem 7.3: Palindrome checker</a:t>
            </a:r>
          </a:p>
          <a:p>
            <a:r>
              <a:rPr lang="en-US" b="1" dirty="0"/>
              <a:t>Specification:</a:t>
            </a:r>
            <a:r>
              <a:rPr lang="en-US" dirty="0"/>
              <a:t> Input string must have </a:t>
            </a:r>
            <a:r>
              <a:rPr lang="en-US" b="1" dirty="0"/>
              <a:t>fewer than 5 characters</a:t>
            </a:r>
            <a:r>
              <a:rPr lang="en-US" dirty="0"/>
              <a:t>.</a:t>
            </a:r>
          </a:p>
          <a:p>
            <a:r>
              <a:rPr lang="en-US" b="1" dirty="0"/>
              <a:t>Equivalence classes:</a:t>
            </a:r>
            <a:endParaRPr lang="en-US" dirty="0"/>
          </a:p>
          <a:p>
            <a:pPr lvl="1"/>
            <a:r>
              <a:rPr lang="en-US" dirty="0"/>
              <a:t>Valid Palindrome (e.g., </a:t>
            </a:r>
            <a:r>
              <a:rPr lang="en-US" sz="1200" kern="1200" dirty="0">
                <a:solidFill>
                  <a:schemeClr val="tx1"/>
                </a:solidFill>
                <a:latin typeface="+mn-lt"/>
                <a:ea typeface="+mn-ea"/>
                <a:cs typeface="+mn-cs"/>
              </a:rPr>
              <a:t>"aba"</a:t>
            </a:r>
            <a:r>
              <a:rPr lang="en-US" dirty="0"/>
              <a:t>)</a:t>
            </a:r>
          </a:p>
          <a:p>
            <a:pPr lvl="1"/>
            <a:r>
              <a:rPr lang="en-US" dirty="0"/>
              <a:t>Valid Non-palindrome (e.g.,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abc</a:t>
            </a:r>
            <a:r>
              <a:rPr lang="en-US" sz="1200" kern="1200" dirty="0">
                <a:solidFill>
                  <a:schemeClr val="tx1"/>
                </a:solidFill>
                <a:latin typeface="+mn-lt"/>
                <a:ea typeface="+mn-ea"/>
                <a:cs typeface="+mn-cs"/>
              </a:rPr>
              <a:t>"</a:t>
            </a:r>
            <a:r>
              <a:rPr lang="en-US" dirty="0"/>
              <a:t>)</a:t>
            </a:r>
          </a:p>
          <a:p>
            <a:pPr lvl="1"/>
            <a:r>
              <a:rPr lang="en-US" dirty="0"/>
              <a:t>Invalid Input (≥5 chars, e.g.,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abcdef</a:t>
            </a:r>
            <a:r>
              <a:rPr lang="en-US" sz="1200" kern="1200" dirty="0">
                <a:solidFill>
                  <a:schemeClr val="tx1"/>
                </a:solidFill>
                <a:latin typeface="+mn-lt"/>
                <a:ea typeface="+mn-ea"/>
                <a:cs typeface="+mn-cs"/>
              </a:rPr>
              <a:t>"</a:t>
            </a:r>
            <a:r>
              <a:rPr lang="en-US" dirty="0"/>
              <a:t>)</a:t>
            </a:r>
          </a:p>
          <a:p>
            <a:r>
              <a:rPr lang="en-US" b="1" dirty="0"/>
              <a:t>Test cases:</a:t>
            </a:r>
            <a:r>
              <a:rPr lang="en-US" dirty="0"/>
              <a:t> </a:t>
            </a:r>
            <a:r>
              <a:rPr lang="en-US" sz="1200" kern="1200" dirty="0">
                <a:solidFill>
                  <a:schemeClr val="tx1"/>
                </a:solidFill>
                <a:latin typeface="+mn-lt"/>
                <a:ea typeface="+mn-ea"/>
                <a:cs typeface="+mn-cs"/>
              </a:rPr>
              <a:t>{ "aba", "</a:t>
            </a:r>
            <a:r>
              <a:rPr lang="en-US" sz="1200" kern="1200" dirty="0" err="1">
                <a:solidFill>
                  <a:schemeClr val="tx1"/>
                </a:solidFill>
                <a:latin typeface="+mn-lt"/>
                <a:ea typeface="+mn-ea"/>
                <a:cs typeface="+mn-cs"/>
              </a:rPr>
              <a:t>abc</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abcdef</a:t>
            </a:r>
            <a:r>
              <a:rPr lang="en-US" sz="1200" kern="1200" dirty="0">
                <a:solidFill>
                  <a:schemeClr val="tx1"/>
                </a:solidFill>
                <a:latin typeface="+mn-lt"/>
                <a:ea typeface="+mn-ea"/>
                <a:cs typeface="+mn-cs"/>
              </a:rPr>
              <a:t>" }</a:t>
            </a:r>
            <a:endParaRPr lang="en-US" dirty="0"/>
          </a:p>
          <a:p>
            <a:pPr lvl="1"/>
            <a:r>
              <a:rPr lang="en-US" sz="1200" kern="1200" dirty="0">
                <a:solidFill>
                  <a:schemeClr val="tx1"/>
                </a:solidFill>
                <a:latin typeface="+mn-lt"/>
                <a:ea typeface="+mn-ea"/>
                <a:cs typeface="+mn-cs"/>
              </a:rPr>
              <a:t>"aba"</a:t>
            </a:r>
            <a:r>
              <a:rPr lang="en-US" dirty="0"/>
              <a:t> → palindrome → valid</a:t>
            </a:r>
          </a:p>
          <a:p>
            <a:pPr lvl="1"/>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abc</a:t>
            </a:r>
            <a:r>
              <a:rPr lang="en-US" sz="1200" kern="1200" dirty="0">
                <a:solidFill>
                  <a:schemeClr val="tx1"/>
                </a:solidFill>
                <a:latin typeface="+mn-lt"/>
                <a:ea typeface="+mn-ea"/>
                <a:cs typeface="+mn-cs"/>
              </a:rPr>
              <a:t>"</a:t>
            </a:r>
            <a:r>
              <a:rPr lang="en-US" dirty="0"/>
              <a:t> → non-palindrome → valid</a:t>
            </a:r>
          </a:p>
          <a:p>
            <a:pPr lvl="1"/>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abcdef</a:t>
            </a:r>
            <a:r>
              <a:rPr lang="en-US" sz="1200" kern="1200" dirty="0">
                <a:solidFill>
                  <a:schemeClr val="tx1"/>
                </a:solidFill>
                <a:latin typeface="+mn-lt"/>
                <a:ea typeface="+mn-ea"/>
                <a:cs typeface="+mn-cs"/>
              </a:rPr>
              <a:t>"</a:t>
            </a:r>
            <a:r>
              <a:rPr lang="en-US" dirty="0"/>
              <a:t> → invalid input (too long)</a:t>
            </a:r>
          </a:p>
          <a:p>
            <a:endParaRPr lang="en-US" dirty="0"/>
          </a:p>
        </p:txBody>
      </p:sp>
      <p:sp>
        <p:nvSpPr>
          <p:cNvPr id="4" name="Slide Number Placeholder 3">
            <a:extLst>
              <a:ext uri="{FF2B5EF4-FFF2-40B4-BE49-F238E27FC236}">
                <a16:creationId xmlns:a16="http://schemas.microsoft.com/office/drawing/2014/main" id="{8A2B6AE4-7582-D64C-6B86-E2C4835D2D1F}"/>
              </a:ext>
            </a:extLst>
          </p:cNvPr>
          <p:cNvSpPr>
            <a:spLocks noGrp="1"/>
          </p:cNvSpPr>
          <p:nvPr>
            <p:ph type="sldNum" sz="quarter" idx="5"/>
          </p:nvPr>
        </p:nvSpPr>
        <p:spPr/>
        <p:txBody>
          <a:bodyPr/>
          <a:lstStyle/>
          <a:p>
            <a:fld id="{43467E1E-57D6-41F1-9657-DA5E324F5AC3}" type="slidenum">
              <a:rPr lang="en-US" smtClean="0"/>
              <a:t>37</a:t>
            </a:fld>
            <a:endParaRPr lang="en-US"/>
          </a:p>
        </p:txBody>
      </p:sp>
    </p:spTree>
    <p:extLst>
      <p:ext uri="{BB962C8B-B14F-4D97-AF65-F5344CB8AC3E}">
        <p14:creationId xmlns:p14="http://schemas.microsoft.com/office/powerpoint/2010/main" val="3109458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C92E1-7303-1DA7-CCB4-3AD1F6A2E3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82856-2248-D4E9-3D7E-65180AD1E8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0CF074-F3B0-1D4C-5090-93C28009799E}"/>
              </a:ext>
            </a:extLst>
          </p:cNvPr>
          <p:cNvSpPr>
            <a:spLocks noGrp="1"/>
          </p:cNvSpPr>
          <p:nvPr>
            <p:ph type="body" idx="1"/>
          </p:nvPr>
        </p:nvSpPr>
        <p:spPr/>
        <p:txBody>
          <a:bodyPr/>
          <a:lstStyle/>
          <a:p>
            <a:r>
              <a:rPr lang="en-US" b="1" dirty="0"/>
              <a:t>✅ 1. Rule: Set of Values Example</a:t>
            </a:r>
          </a:p>
          <a:p>
            <a:r>
              <a:rPr lang="en-US" dirty="0"/>
              <a:t>If input must come from a </a:t>
            </a:r>
            <a:r>
              <a:rPr lang="en-US" b="1" dirty="0"/>
              <a:t>specific set of valid values</a:t>
            </a:r>
            <a:r>
              <a:rPr lang="en-US" dirty="0"/>
              <a:t>, say </a:t>
            </a:r>
            <a:r>
              <a:rPr lang="en-US" sz="1200" kern="1200" dirty="0">
                <a:solidFill>
                  <a:schemeClr val="tx1"/>
                </a:solidFill>
                <a:latin typeface="+mn-lt"/>
                <a:ea typeface="+mn-ea"/>
                <a:cs typeface="+mn-cs"/>
              </a:rPr>
              <a:t>{A, B, C}</a:t>
            </a:r>
            <a:r>
              <a:rPr lang="en-US" dirty="0"/>
              <a:t>, then:</a:t>
            </a:r>
          </a:p>
          <a:p>
            <a:r>
              <a:rPr lang="en-US" b="1" dirty="0"/>
              <a:t>Valid class:</a:t>
            </a:r>
            <a:r>
              <a:rPr lang="en-US" dirty="0"/>
              <a:t> </a:t>
            </a:r>
            <a:r>
              <a:rPr lang="en-US" sz="1200" kern="1200" dirty="0">
                <a:solidFill>
                  <a:schemeClr val="tx1"/>
                </a:solidFill>
                <a:latin typeface="+mn-lt"/>
                <a:ea typeface="+mn-ea"/>
                <a:cs typeface="+mn-cs"/>
              </a:rPr>
              <a:t>{A, B, C}</a:t>
            </a:r>
            <a:endParaRPr lang="en-US" dirty="0"/>
          </a:p>
          <a:p>
            <a:r>
              <a:rPr lang="en-US" b="1" dirty="0"/>
              <a:t>Invalid class:</a:t>
            </a:r>
            <a:r>
              <a:rPr lang="en-US" dirty="0"/>
              <a:t> All other inputs (anything not in </a:t>
            </a:r>
            <a:r>
              <a:rPr lang="en-US" sz="1200" kern="1200" dirty="0">
                <a:solidFill>
                  <a:schemeClr val="tx1"/>
                </a:solidFill>
                <a:latin typeface="+mn-lt"/>
                <a:ea typeface="+mn-ea"/>
                <a:cs typeface="+mn-cs"/>
              </a:rPr>
              <a:t>{A, B, C}</a:t>
            </a:r>
            <a:r>
              <a:rPr lang="en-US" dirty="0"/>
              <a:t>)</a:t>
            </a:r>
          </a:p>
          <a:p>
            <a:r>
              <a:rPr lang="en-US" dirty="0"/>
              <a:t>This means we pick </a:t>
            </a:r>
            <a:r>
              <a:rPr lang="en-US" b="1" dirty="0"/>
              <a:t>one test value</a:t>
            </a:r>
            <a:r>
              <a:rPr lang="en-US" dirty="0"/>
              <a:t> from each class — one valid, one invalid — to represent the whole set.</a:t>
            </a:r>
          </a:p>
          <a:p>
            <a:br>
              <a:rPr lang="en-US" dirty="0"/>
            </a:br>
            <a:endParaRPr lang="en-US" dirty="0"/>
          </a:p>
          <a:p>
            <a:r>
              <a:rPr lang="en-US" b="1" dirty="0"/>
              <a:t>💡 Example Problem Explanations</a:t>
            </a:r>
          </a:p>
          <a:p>
            <a:r>
              <a:rPr lang="en-US" b="1" dirty="0"/>
              <a:t>🧮 Problem 7.1: Square root function for integers 0–5000</a:t>
            </a:r>
          </a:p>
          <a:p>
            <a:r>
              <a:rPr lang="en-US" b="1" dirty="0"/>
              <a:t>Specification:</a:t>
            </a:r>
            <a:r>
              <a:rPr lang="en-US" dirty="0"/>
              <a:t> Function accepts integers between 0 and 5000 (inclusive).</a:t>
            </a:r>
          </a:p>
          <a:p>
            <a:r>
              <a:rPr lang="en-US" b="1" dirty="0"/>
              <a:t>Equivalence classes:</a:t>
            </a:r>
            <a:endParaRPr lang="en-US" dirty="0"/>
          </a:p>
          <a:p>
            <a:pPr lvl="1"/>
            <a:r>
              <a:rPr lang="en-US" dirty="0"/>
              <a:t>Invalid: </a:t>
            </a:r>
            <a:r>
              <a:rPr lang="en-US" sz="1200" kern="1200" dirty="0">
                <a:solidFill>
                  <a:schemeClr val="tx1"/>
                </a:solidFill>
                <a:latin typeface="+mn-lt"/>
                <a:ea typeface="+mn-ea"/>
                <a:cs typeface="+mn-cs"/>
              </a:rPr>
              <a:t>(-∞, -1]</a:t>
            </a:r>
            <a:r>
              <a:rPr lang="en-US" dirty="0"/>
              <a:t> → negative numbers (can’t take sqrt of negatives)</a:t>
            </a:r>
          </a:p>
          <a:p>
            <a:pPr lvl="1"/>
            <a:r>
              <a:rPr lang="en-US" dirty="0"/>
              <a:t>Valid: </a:t>
            </a:r>
            <a:r>
              <a:rPr lang="en-US" sz="1200" kern="1200" dirty="0">
                <a:solidFill>
                  <a:schemeClr val="tx1"/>
                </a:solidFill>
                <a:latin typeface="+mn-lt"/>
                <a:ea typeface="+mn-ea"/>
                <a:cs typeface="+mn-cs"/>
              </a:rPr>
              <a:t>[0, 5000]</a:t>
            </a:r>
            <a:r>
              <a:rPr lang="en-US" dirty="0"/>
              <a:t> → acceptable range</a:t>
            </a:r>
          </a:p>
          <a:p>
            <a:pPr lvl="1"/>
            <a:r>
              <a:rPr lang="en-US" dirty="0"/>
              <a:t>Invalid: </a:t>
            </a:r>
            <a:r>
              <a:rPr lang="en-US" sz="1200" kern="1200" dirty="0">
                <a:solidFill>
                  <a:schemeClr val="tx1"/>
                </a:solidFill>
                <a:latin typeface="+mn-lt"/>
                <a:ea typeface="+mn-ea"/>
                <a:cs typeface="+mn-cs"/>
              </a:rPr>
              <a:t>[5001, ∞)</a:t>
            </a:r>
            <a:r>
              <a:rPr lang="en-US" dirty="0"/>
              <a:t> → too large (beyond allowed range)</a:t>
            </a:r>
          </a:p>
          <a:p>
            <a:r>
              <a:rPr lang="en-US" b="1" dirty="0"/>
              <a:t>Representative test cases:</a:t>
            </a:r>
            <a:br>
              <a:rPr lang="en-US" dirty="0"/>
            </a:br>
            <a:r>
              <a:rPr lang="en-US" sz="1200" kern="1200" dirty="0">
                <a:solidFill>
                  <a:schemeClr val="tx1"/>
                </a:solidFill>
                <a:latin typeface="+mn-lt"/>
                <a:ea typeface="+mn-ea"/>
                <a:cs typeface="+mn-cs"/>
              </a:rPr>
              <a:t>{ -5, 500, 6000 }</a:t>
            </a:r>
            <a:endParaRPr lang="en-US" dirty="0"/>
          </a:p>
          <a:p>
            <a:pPr lvl="1"/>
            <a:r>
              <a:rPr lang="en-US" sz="1200" kern="1200" dirty="0">
                <a:solidFill>
                  <a:schemeClr val="tx1"/>
                </a:solidFill>
                <a:latin typeface="+mn-lt"/>
                <a:ea typeface="+mn-ea"/>
                <a:cs typeface="+mn-cs"/>
              </a:rPr>
              <a:t>-5</a:t>
            </a:r>
            <a:r>
              <a:rPr lang="en-US" dirty="0"/>
              <a:t> → invalid (below range)</a:t>
            </a:r>
          </a:p>
          <a:p>
            <a:pPr lvl="1"/>
            <a:r>
              <a:rPr lang="en-US" sz="1200" kern="1200" dirty="0">
                <a:solidFill>
                  <a:schemeClr val="tx1"/>
                </a:solidFill>
                <a:latin typeface="+mn-lt"/>
                <a:ea typeface="+mn-ea"/>
                <a:cs typeface="+mn-cs"/>
              </a:rPr>
              <a:t>500</a:t>
            </a:r>
            <a:r>
              <a:rPr lang="en-US" dirty="0"/>
              <a:t> → valid</a:t>
            </a:r>
          </a:p>
          <a:p>
            <a:pPr lvl="1"/>
            <a:r>
              <a:rPr lang="en-US" sz="1200" kern="1200" dirty="0">
                <a:solidFill>
                  <a:schemeClr val="tx1"/>
                </a:solidFill>
                <a:latin typeface="+mn-lt"/>
                <a:ea typeface="+mn-ea"/>
                <a:cs typeface="+mn-cs"/>
              </a:rPr>
              <a:t>6000</a:t>
            </a:r>
            <a:r>
              <a:rPr lang="en-US" dirty="0"/>
              <a:t> → invalid (above range)</a:t>
            </a:r>
          </a:p>
          <a:p>
            <a:br>
              <a:rPr lang="en-US" dirty="0"/>
            </a:br>
            <a:endParaRPr lang="en-US" dirty="0"/>
          </a:p>
          <a:p>
            <a:r>
              <a:rPr lang="en-US" b="1" dirty="0"/>
              <a:t>📏 Problem 7.2: Lines intersection</a:t>
            </a:r>
          </a:p>
          <a:p>
            <a:r>
              <a:rPr lang="en-US" b="1" dirty="0"/>
              <a:t>Specification:</a:t>
            </a:r>
            <a:r>
              <a:rPr lang="en-US" dirty="0"/>
              <a:t> Two lines may be:</a:t>
            </a:r>
          </a:p>
          <a:p>
            <a:pPr lvl="1"/>
            <a:r>
              <a:rPr lang="en-US" b="1" dirty="0"/>
              <a:t>Parallel</a:t>
            </a:r>
            <a:r>
              <a:rPr lang="en-US" dirty="0"/>
              <a:t> (no intersection point)</a:t>
            </a:r>
          </a:p>
          <a:p>
            <a:pPr lvl="1"/>
            <a:r>
              <a:rPr lang="en-US" b="1" dirty="0"/>
              <a:t>Intersecting</a:t>
            </a:r>
            <a:r>
              <a:rPr lang="en-US" dirty="0"/>
              <a:t> (one intersection point)</a:t>
            </a:r>
          </a:p>
          <a:p>
            <a:pPr lvl="1"/>
            <a:r>
              <a:rPr lang="en-US" b="1" dirty="0"/>
              <a:t>Coincident</a:t>
            </a:r>
            <a:r>
              <a:rPr lang="en-US" dirty="0"/>
              <a:t> (infinite intersections)</a:t>
            </a:r>
          </a:p>
          <a:p>
            <a:r>
              <a:rPr lang="en-US" b="1" dirty="0"/>
              <a:t>Equivalence classes:</a:t>
            </a:r>
            <a:endParaRPr lang="en-US" dirty="0"/>
          </a:p>
          <a:p>
            <a:pPr lvl="1"/>
            <a:r>
              <a:rPr lang="en-US" dirty="0"/>
              <a:t>Class 1: Parallel lines</a:t>
            </a:r>
          </a:p>
          <a:p>
            <a:pPr lvl="1"/>
            <a:r>
              <a:rPr lang="en-US" dirty="0"/>
              <a:t>Class 2: Intersecting lines</a:t>
            </a:r>
          </a:p>
          <a:p>
            <a:pPr lvl="1"/>
            <a:r>
              <a:rPr lang="en-US" dirty="0"/>
              <a:t>Class 3: Coincident lines</a:t>
            </a:r>
          </a:p>
          <a:p>
            <a:r>
              <a:rPr lang="en-US" b="1" dirty="0"/>
              <a:t>Test cases (representative of each class):</a:t>
            </a:r>
            <a:endParaRPr lang="en-US" dirty="0"/>
          </a:p>
          <a:p>
            <a:pPr lvl="1"/>
            <a:r>
              <a:rPr lang="en-US" sz="1200" kern="1200" dirty="0">
                <a:solidFill>
                  <a:schemeClr val="tx1"/>
                </a:solidFill>
                <a:latin typeface="+mn-lt"/>
                <a:ea typeface="+mn-ea"/>
                <a:cs typeface="+mn-cs"/>
              </a:rPr>
              <a:t>{(2,2)(2,5)}</a:t>
            </a:r>
            <a:r>
              <a:rPr lang="en-US" dirty="0"/>
              <a:t> → Parallel</a:t>
            </a:r>
          </a:p>
          <a:p>
            <a:pPr lvl="1"/>
            <a:r>
              <a:rPr lang="en-US" sz="1200" kern="1200" dirty="0">
                <a:solidFill>
                  <a:schemeClr val="tx1"/>
                </a:solidFill>
                <a:latin typeface="+mn-lt"/>
                <a:ea typeface="+mn-ea"/>
                <a:cs typeface="+mn-cs"/>
              </a:rPr>
              <a:t>{(5,5)(7,7)}</a:t>
            </a:r>
            <a:r>
              <a:rPr lang="en-US" dirty="0"/>
              <a:t> → Intersecting</a:t>
            </a:r>
          </a:p>
          <a:p>
            <a:pPr lvl="1"/>
            <a:r>
              <a:rPr lang="en-US" sz="1200" kern="1200" dirty="0">
                <a:solidFill>
                  <a:schemeClr val="tx1"/>
                </a:solidFill>
                <a:latin typeface="+mn-lt"/>
                <a:ea typeface="+mn-ea"/>
                <a:cs typeface="+mn-cs"/>
              </a:rPr>
              <a:t>{(10,10)(10,10)}</a:t>
            </a:r>
            <a:r>
              <a:rPr lang="en-US" dirty="0"/>
              <a:t> → Coincident</a:t>
            </a:r>
          </a:p>
          <a:p>
            <a:r>
              <a:rPr lang="en-US" dirty="0"/>
              <a:t>Each represents one class of behavior.</a:t>
            </a:r>
          </a:p>
          <a:p>
            <a:br>
              <a:rPr lang="en-US" dirty="0"/>
            </a:br>
            <a:endParaRPr lang="en-US" dirty="0"/>
          </a:p>
          <a:p>
            <a:r>
              <a:rPr lang="en-US" b="1" dirty="0"/>
              <a:t>🔁 Problem 7.3: Palindrome checker</a:t>
            </a:r>
          </a:p>
          <a:p>
            <a:r>
              <a:rPr lang="en-US" b="1" dirty="0"/>
              <a:t>Specification:</a:t>
            </a:r>
            <a:r>
              <a:rPr lang="en-US" dirty="0"/>
              <a:t> Input string must have </a:t>
            </a:r>
            <a:r>
              <a:rPr lang="en-US" b="1" dirty="0"/>
              <a:t>fewer than 5 characters</a:t>
            </a:r>
            <a:r>
              <a:rPr lang="en-US" dirty="0"/>
              <a:t>.</a:t>
            </a:r>
          </a:p>
          <a:p>
            <a:r>
              <a:rPr lang="en-US" b="1" dirty="0"/>
              <a:t>Equivalence classes:</a:t>
            </a:r>
            <a:endParaRPr lang="en-US" dirty="0"/>
          </a:p>
          <a:p>
            <a:pPr lvl="1"/>
            <a:r>
              <a:rPr lang="en-US" dirty="0"/>
              <a:t>Valid Palindrome (e.g., </a:t>
            </a:r>
            <a:r>
              <a:rPr lang="en-US" sz="1200" kern="1200" dirty="0">
                <a:solidFill>
                  <a:schemeClr val="tx1"/>
                </a:solidFill>
                <a:latin typeface="+mn-lt"/>
                <a:ea typeface="+mn-ea"/>
                <a:cs typeface="+mn-cs"/>
              </a:rPr>
              <a:t>"aba"</a:t>
            </a:r>
            <a:r>
              <a:rPr lang="en-US" dirty="0"/>
              <a:t>)</a:t>
            </a:r>
          </a:p>
          <a:p>
            <a:pPr lvl="1"/>
            <a:r>
              <a:rPr lang="en-US" dirty="0"/>
              <a:t>Valid Non-palindrome (e.g.,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abc</a:t>
            </a:r>
            <a:r>
              <a:rPr lang="en-US" sz="1200" kern="1200" dirty="0">
                <a:solidFill>
                  <a:schemeClr val="tx1"/>
                </a:solidFill>
                <a:latin typeface="+mn-lt"/>
                <a:ea typeface="+mn-ea"/>
                <a:cs typeface="+mn-cs"/>
              </a:rPr>
              <a:t>"</a:t>
            </a:r>
            <a:r>
              <a:rPr lang="en-US" dirty="0"/>
              <a:t>)</a:t>
            </a:r>
          </a:p>
          <a:p>
            <a:pPr lvl="1"/>
            <a:r>
              <a:rPr lang="en-US" dirty="0"/>
              <a:t>Invalid Input (≥5 chars, e.g.,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abcdef</a:t>
            </a:r>
            <a:r>
              <a:rPr lang="en-US" sz="1200" kern="1200" dirty="0">
                <a:solidFill>
                  <a:schemeClr val="tx1"/>
                </a:solidFill>
                <a:latin typeface="+mn-lt"/>
                <a:ea typeface="+mn-ea"/>
                <a:cs typeface="+mn-cs"/>
              </a:rPr>
              <a:t>"</a:t>
            </a:r>
            <a:r>
              <a:rPr lang="en-US" dirty="0"/>
              <a:t>)</a:t>
            </a:r>
          </a:p>
          <a:p>
            <a:r>
              <a:rPr lang="en-US" b="1" dirty="0"/>
              <a:t>Test cases:</a:t>
            </a:r>
            <a:r>
              <a:rPr lang="en-US" dirty="0"/>
              <a:t> </a:t>
            </a:r>
            <a:r>
              <a:rPr lang="en-US" sz="1200" kern="1200" dirty="0">
                <a:solidFill>
                  <a:schemeClr val="tx1"/>
                </a:solidFill>
                <a:latin typeface="+mn-lt"/>
                <a:ea typeface="+mn-ea"/>
                <a:cs typeface="+mn-cs"/>
              </a:rPr>
              <a:t>{ "aba", "</a:t>
            </a:r>
            <a:r>
              <a:rPr lang="en-US" sz="1200" kern="1200" dirty="0" err="1">
                <a:solidFill>
                  <a:schemeClr val="tx1"/>
                </a:solidFill>
                <a:latin typeface="+mn-lt"/>
                <a:ea typeface="+mn-ea"/>
                <a:cs typeface="+mn-cs"/>
              </a:rPr>
              <a:t>abc</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abcdef</a:t>
            </a:r>
            <a:r>
              <a:rPr lang="en-US" sz="1200" kern="1200" dirty="0">
                <a:solidFill>
                  <a:schemeClr val="tx1"/>
                </a:solidFill>
                <a:latin typeface="+mn-lt"/>
                <a:ea typeface="+mn-ea"/>
                <a:cs typeface="+mn-cs"/>
              </a:rPr>
              <a:t>" }</a:t>
            </a:r>
            <a:endParaRPr lang="en-US" dirty="0"/>
          </a:p>
          <a:p>
            <a:pPr lvl="1"/>
            <a:r>
              <a:rPr lang="en-US" sz="1200" kern="1200" dirty="0">
                <a:solidFill>
                  <a:schemeClr val="tx1"/>
                </a:solidFill>
                <a:latin typeface="+mn-lt"/>
                <a:ea typeface="+mn-ea"/>
                <a:cs typeface="+mn-cs"/>
              </a:rPr>
              <a:t>"aba"</a:t>
            </a:r>
            <a:r>
              <a:rPr lang="en-US" dirty="0"/>
              <a:t> → palindrome → valid</a:t>
            </a:r>
          </a:p>
          <a:p>
            <a:pPr lvl="1"/>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abc</a:t>
            </a:r>
            <a:r>
              <a:rPr lang="en-US" sz="1200" kern="1200" dirty="0">
                <a:solidFill>
                  <a:schemeClr val="tx1"/>
                </a:solidFill>
                <a:latin typeface="+mn-lt"/>
                <a:ea typeface="+mn-ea"/>
                <a:cs typeface="+mn-cs"/>
              </a:rPr>
              <a:t>"</a:t>
            </a:r>
            <a:r>
              <a:rPr lang="en-US" dirty="0"/>
              <a:t> → non-palindrome → valid</a:t>
            </a:r>
          </a:p>
          <a:p>
            <a:pPr lvl="1"/>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abcdef</a:t>
            </a:r>
            <a:r>
              <a:rPr lang="en-US" sz="1200" kern="1200" dirty="0">
                <a:solidFill>
                  <a:schemeClr val="tx1"/>
                </a:solidFill>
                <a:latin typeface="+mn-lt"/>
                <a:ea typeface="+mn-ea"/>
                <a:cs typeface="+mn-cs"/>
              </a:rPr>
              <a:t>"</a:t>
            </a:r>
            <a:r>
              <a:rPr lang="en-US" dirty="0"/>
              <a:t> → invalid input (too long)</a:t>
            </a:r>
          </a:p>
          <a:p>
            <a:endParaRPr lang="en-US" dirty="0"/>
          </a:p>
        </p:txBody>
      </p:sp>
      <p:sp>
        <p:nvSpPr>
          <p:cNvPr id="4" name="Slide Number Placeholder 3">
            <a:extLst>
              <a:ext uri="{FF2B5EF4-FFF2-40B4-BE49-F238E27FC236}">
                <a16:creationId xmlns:a16="http://schemas.microsoft.com/office/drawing/2014/main" id="{7A308D56-0037-3AB1-384D-18BF3D321E19}"/>
              </a:ext>
            </a:extLst>
          </p:cNvPr>
          <p:cNvSpPr>
            <a:spLocks noGrp="1"/>
          </p:cNvSpPr>
          <p:nvPr>
            <p:ph type="sldNum" sz="quarter" idx="5"/>
          </p:nvPr>
        </p:nvSpPr>
        <p:spPr/>
        <p:txBody>
          <a:bodyPr/>
          <a:lstStyle/>
          <a:p>
            <a:fld id="{43467E1E-57D6-41F1-9657-DA5E324F5AC3}" type="slidenum">
              <a:rPr lang="en-US" smtClean="0"/>
              <a:t>40</a:t>
            </a:fld>
            <a:endParaRPr lang="en-US"/>
          </a:p>
        </p:txBody>
      </p:sp>
    </p:spTree>
    <p:extLst>
      <p:ext uri="{BB962C8B-B14F-4D97-AF65-F5344CB8AC3E}">
        <p14:creationId xmlns:p14="http://schemas.microsoft.com/office/powerpoint/2010/main" val="285009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4AE9F7C-C475-4EAE-825A-81CE2AEF0209}" type="datetime1">
              <a:rPr lang="en-IN" smtClean="0"/>
              <a:t>03-11-2025</a:t>
            </a:fld>
            <a:endParaRPr lang="en-IN"/>
          </a:p>
        </p:txBody>
      </p:sp>
      <p:sp>
        <p:nvSpPr>
          <p:cNvPr id="5" name="Footer Placeholder 4"/>
          <p:cNvSpPr>
            <a:spLocks noGrp="1"/>
          </p:cNvSpPr>
          <p:nvPr>
            <p:ph type="ftr" sz="quarter" idx="11"/>
          </p:nvPr>
        </p:nvSpPr>
        <p:spPr/>
        <p:txBody>
          <a:bodyPr/>
          <a:lstStyle/>
          <a:p>
            <a:r>
              <a:rPr lang="en-IN"/>
              <a:t>MIT</a:t>
            </a:r>
          </a:p>
        </p:txBody>
      </p:sp>
      <p:sp>
        <p:nvSpPr>
          <p:cNvPr id="6" name="Slide Number Placeholder 5"/>
          <p:cNvSpPr>
            <a:spLocks noGrp="1"/>
          </p:cNvSpPr>
          <p:nvPr>
            <p:ph type="sldNum" sz="quarter" idx="12"/>
          </p:nvPr>
        </p:nvSpPr>
        <p:spPr/>
        <p:txBody>
          <a:bodyPr/>
          <a:lstStyle/>
          <a:p>
            <a:fld id="{157E8F69-36B6-4843-A9CE-6B9353F4DBAF}" type="slidenum">
              <a:rPr lang="en-IN" smtClean="0"/>
              <a:t>‹#›</a:t>
            </a:fld>
            <a:endParaRPr lang="en-IN"/>
          </a:p>
        </p:txBody>
      </p:sp>
    </p:spTree>
    <p:extLst>
      <p:ext uri="{BB962C8B-B14F-4D97-AF65-F5344CB8AC3E}">
        <p14:creationId xmlns:p14="http://schemas.microsoft.com/office/powerpoint/2010/main" val="4285870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7A3F63A-1D4D-4832-91AE-C630D9571D21}" type="datetime1">
              <a:rPr lang="en-IN" smtClean="0"/>
              <a:t>03-11-2025</a:t>
            </a:fld>
            <a:endParaRPr lang="en-IN"/>
          </a:p>
        </p:txBody>
      </p:sp>
      <p:sp>
        <p:nvSpPr>
          <p:cNvPr id="5" name="Footer Placeholder 4"/>
          <p:cNvSpPr>
            <a:spLocks noGrp="1"/>
          </p:cNvSpPr>
          <p:nvPr>
            <p:ph type="ftr" sz="quarter" idx="11"/>
          </p:nvPr>
        </p:nvSpPr>
        <p:spPr/>
        <p:txBody>
          <a:bodyPr/>
          <a:lstStyle/>
          <a:p>
            <a:r>
              <a:rPr lang="en-IN"/>
              <a:t>MIT</a:t>
            </a:r>
          </a:p>
        </p:txBody>
      </p:sp>
      <p:sp>
        <p:nvSpPr>
          <p:cNvPr id="6" name="Slide Number Placeholder 5"/>
          <p:cNvSpPr>
            <a:spLocks noGrp="1"/>
          </p:cNvSpPr>
          <p:nvPr>
            <p:ph type="sldNum" sz="quarter" idx="12"/>
          </p:nvPr>
        </p:nvSpPr>
        <p:spPr/>
        <p:txBody>
          <a:bodyPr/>
          <a:lstStyle/>
          <a:p>
            <a:fld id="{157E8F69-36B6-4843-A9CE-6B9353F4DBAF}" type="slidenum">
              <a:rPr lang="en-IN" smtClean="0"/>
              <a:t>‹#›</a:t>
            </a:fld>
            <a:endParaRPr lang="en-IN"/>
          </a:p>
        </p:txBody>
      </p:sp>
    </p:spTree>
    <p:extLst>
      <p:ext uri="{BB962C8B-B14F-4D97-AF65-F5344CB8AC3E}">
        <p14:creationId xmlns:p14="http://schemas.microsoft.com/office/powerpoint/2010/main" val="356659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997813E-9A2E-458D-81B0-6A393821B890}" type="datetime1">
              <a:rPr lang="en-IN" smtClean="0"/>
              <a:t>03-11-2025</a:t>
            </a:fld>
            <a:endParaRPr lang="en-IN"/>
          </a:p>
        </p:txBody>
      </p:sp>
      <p:sp>
        <p:nvSpPr>
          <p:cNvPr id="5" name="Footer Placeholder 4"/>
          <p:cNvSpPr>
            <a:spLocks noGrp="1"/>
          </p:cNvSpPr>
          <p:nvPr>
            <p:ph type="ftr" sz="quarter" idx="11"/>
          </p:nvPr>
        </p:nvSpPr>
        <p:spPr/>
        <p:txBody>
          <a:bodyPr/>
          <a:lstStyle/>
          <a:p>
            <a:r>
              <a:rPr lang="en-IN"/>
              <a:t>MIT</a:t>
            </a:r>
          </a:p>
        </p:txBody>
      </p:sp>
      <p:sp>
        <p:nvSpPr>
          <p:cNvPr id="6" name="Slide Number Placeholder 5"/>
          <p:cNvSpPr>
            <a:spLocks noGrp="1"/>
          </p:cNvSpPr>
          <p:nvPr>
            <p:ph type="sldNum" sz="quarter" idx="12"/>
          </p:nvPr>
        </p:nvSpPr>
        <p:spPr/>
        <p:txBody>
          <a:bodyPr/>
          <a:lstStyle/>
          <a:p>
            <a:fld id="{157E8F69-36B6-4843-A9CE-6B9353F4DBAF}" type="slidenum">
              <a:rPr lang="en-IN" smtClean="0"/>
              <a:t>‹#›</a:t>
            </a:fld>
            <a:endParaRPr lang="en-IN"/>
          </a:p>
        </p:txBody>
      </p:sp>
    </p:spTree>
    <p:extLst>
      <p:ext uri="{BB962C8B-B14F-4D97-AF65-F5344CB8AC3E}">
        <p14:creationId xmlns:p14="http://schemas.microsoft.com/office/powerpoint/2010/main" val="1254847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0E7D8B3-01FB-4FA4-92BD-E3BB03336147}" type="datetime1">
              <a:rPr lang="en-IN" smtClean="0"/>
              <a:t>03-11-2025</a:t>
            </a:fld>
            <a:endParaRPr lang="en-IN"/>
          </a:p>
        </p:txBody>
      </p:sp>
      <p:sp>
        <p:nvSpPr>
          <p:cNvPr id="6" name="Footer Placeholder 5"/>
          <p:cNvSpPr>
            <a:spLocks noGrp="1"/>
          </p:cNvSpPr>
          <p:nvPr>
            <p:ph type="ftr" sz="quarter" idx="11"/>
          </p:nvPr>
        </p:nvSpPr>
        <p:spPr/>
        <p:txBody>
          <a:bodyPr/>
          <a:lstStyle/>
          <a:p>
            <a:r>
              <a:rPr lang="en-IN"/>
              <a:t>MIT</a:t>
            </a:r>
          </a:p>
        </p:txBody>
      </p:sp>
      <p:sp>
        <p:nvSpPr>
          <p:cNvPr id="7" name="Slide Number Placeholder 6"/>
          <p:cNvSpPr>
            <a:spLocks noGrp="1"/>
          </p:cNvSpPr>
          <p:nvPr>
            <p:ph type="sldNum" sz="quarter" idx="12"/>
          </p:nvPr>
        </p:nvSpPr>
        <p:spPr/>
        <p:txBody>
          <a:bodyPr/>
          <a:lstStyle/>
          <a:p>
            <a:fld id="{157E8F69-36B6-4843-A9CE-6B9353F4DBAF}" type="slidenum">
              <a:rPr lang="en-IN" smtClean="0"/>
              <a:t>‹#›</a:t>
            </a:fld>
            <a:endParaRPr lang="en-IN"/>
          </a:p>
        </p:txBody>
      </p:sp>
    </p:spTree>
    <p:extLst>
      <p:ext uri="{BB962C8B-B14F-4D97-AF65-F5344CB8AC3E}">
        <p14:creationId xmlns:p14="http://schemas.microsoft.com/office/powerpoint/2010/main" val="1360258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AE552BA-9E0B-4D3F-AB90-589690A4E7A3}" type="datetime1">
              <a:rPr lang="en-IN" smtClean="0"/>
              <a:t>03-11-2025</a:t>
            </a:fld>
            <a:endParaRPr lang="en-IN"/>
          </a:p>
        </p:txBody>
      </p:sp>
      <p:sp>
        <p:nvSpPr>
          <p:cNvPr id="8" name="Footer Placeholder 7"/>
          <p:cNvSpPr>
            <a:spLocks noGrp="1"/>
          </p:cNvSpPr>
          <p:nvPr>
            <p:ph type="ftr" sz="quarter" idx="11"/>
          </p:nvPr>
        </p:nvSpPr>
        <p:spPr/>
        <p:txBody>
          <a:bodyPr/>
          <a:lstStyle/>
          <a:p>
            <a:r>
              <a:rPr lang="en-IN"/>
              <a:t>MIT</a:t>
            </a:r>
          </a:p>
        </p:txBody>
      </p:sp>
      <p:sp>
        <p:nvSpPr>
          <p:cNvPr id="9" name="Slide Number Placeholder 8"/>
          <p:cNvSpPr>
            <a:spLocks noGrp="1"/>
          </p:cNvSpPr>
          <p:nvPr>
            <p:ph type="sldNum" sz="quarter" idx="12"/>
          </p:nvPr>
        </p:nvSpPr>
        <p:spPr/>
        <p:txBody>
          <a:bodyPr/>
          <a:lstStyle/>
          <a:p>
            <a:fld id="{157E8F69-36B6-4843-A9CE-6B9353F4DBAF}" type="slidenum">
              <a:rPr lang="en-IN" smtClean="0"/>
              <a:t>‹#›</a:t>
            </a:fld>
            <a:endParaRPr lang="en-IN"/>
          </a:p>
        </p:txBody>
      </p:sp>
    </p:spTree>
    <p:extLst>
      <p:ext uri="{BB962C8B-B14F-4D97-AF65-F5344CB8AC3E}">
        <p14:creationId xmlns:p14="http://schemas.microsoft.com/office/powerpoint/2010/main" val="1215180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8E011B5-E856-4942-87BA-BEDC0539DA11}" type="datetime1">
              <a:rPr lang="en-IN" smtClean="0"/>
              <a:t>03-11-2025</a:t>
            </a:fld>
            <a:endParaRPr lang="en-IN"/>
          </a:p>
        </p:txBody>
      </p:sp>
      <p:sp>
        <p:nvSpPr>
          <p:cNvPr id="4" name="Footer Placeholder 3"/>
          <p:cNvSpPr>
            <a:spLocks noGrp="1"/>
          </p:cNvSpPr>
          <p:nvPr>
            <p:ph type="ftr" sz="quarter" idx="11"/>
          </p:nvPr>
        </p:nvSpPr>
        <p:spPr/>
        <p:txBody>
          <a:bodyPr/>
          <a:lstStyle/>
          <a:p>
            <a:r>
              <a:rPr lang="en-IN"/>
              <a:t>MIT</a:t>
            </a:r>
          </a:p>
        </p:txBody>
      </p:sp>
      <p:sp>
        <p:nvSpPr>
          <p:cNvPr id="5" name="Slide Number Placeholder 4"/>
          <p:cNvSpPr>
            <a:spLocks noGrp="1"/>
          </p:cNvSpPr>
          <p:nvPr>
            <p:ph type="sldNum" sz="quarter" idx="12"/>
          </p:nvPr>
        </p:nvSpPr>
        <p:spPr/>
        <p:txBody>
          <a:bodyPr/>
          <a:lstStyle/>
          <a:p>
            <a:fld id="{157E8F69-36B6-4843-A9CE-6B9353F4DBAF}" type="slidenum">
              <a:rPr lang="en-IN" smtClean="0"/>
              <a:t>‹#›</a:t>
            </a:fld>
            <a:endParaRPr lang="en-IN"/>
          </a:p>
        </p:txBody>
      </p:sp>
    </p:spTree>
    <p:extLst>
      <p:ext uri="{BB962C8B-B14F-4D97-AF65-F5344CB8AC3E}">
        <p14:creationId xmlns:p14="http://schemas.microsoft.com/office/powerpoint/2010/main" val="2945698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04D517-985F-4B44-84D5-181A4153D423}" type="datetime1">
              <a:rPr lang="en-IN" smtClean="0"/>
              <a:t>03-11-2025</a:t>
            </a:fld>
            <a:endParaRPr lang="en-IN"/>
          </a:p>
        </p:txBody>
      </p:sp>
      <p:sp>
        <p:nvSpPr>
          <p:cNvPr id="3" name="Footer Placeholder 2"/>
          <p:cNvSpPr>
            <a:spLocks noGrp="1"/>
          </p:cNvSpPr>
          <p:nvPr>
            <p:ph type="ftr" sz="quarter" idx="11"/>
          </p:nvPr>
        </p:nvSpPr>
        <p:spPr/>
        <p:txBody>
          <a:bodyPr/>
          <a:lstStyle/>
          <a:p>
            <a:r>
              <a:rPr lang="en-IN"/>
              <a:t>MIT</a:t>
            </a:r>
          </a:p>
        </p:txBody>
      </p:sp>
      <p:sp>
        <p:nvSpPr>
          <p:cNvPr id="4" name="Slide Number Placeholder 3"/>
          <p:cNvSpPr>
            <a:spLocks noGrp="1"/>
          </p:cNvSpPr>
          <p:nvPr>
            <p:ph type="sldNum" sz="quarter" idx="12"/>
          </p:nvPr>
        </p:nvSpPr>
        <p:spPr/>
        <p:txBody>
          <a:bodyPr/>
          <a:lstStyle/>
          <a:p>
            <a:fld id="{157E8F69-36B6-4843-A9CE-6B9353F4DBAF}" type="slidenum">
              <a:rPr lang="en-IN" smtClean="0"/>
              <a:t>‹#›</a:t>
            </a:fld>
            <a:endParaRPr lang="en-IN"/>
          </a:p>
        </p:txBody>
      </p:sp>
    </p:spTree>
    <p:extLst>
      <p:ext uri="{BB962C8B-B14F-4D97-AF65-F5344CB8AC3E}">
        <p14:creationId xmlns:p14="http://schemas.microsoft.com/office/powerpoint/2010/main" val="837833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59DAD42-F36F-4CD2-8E83-3347651EB324}" type="datetime1">
              <a:rPr lang="en-IN" smtClean="0"/>
              <a:t>03-11-2025</a:t>
            </a:fld>
            <a:endParaRPr lang="en-IN"/>
          </a:p>
        </p:txBody>
      </p:sp>
      <p:sp>
        <p:nvSpPr>
          <p:cNvPr id="6" name="Footer Placeholder 5"/>
          <p:cNvSpPr>
            <a:spLocks noGrp="1"/>
          </p:cNvSpPr>
          <p:nvPr>
            <p:ph type="ftr" sz="quarter" idx="11"/>
          </p:nvPr>
        </p:nvSpPr>
        <p:spPr/>
        <p:txBody>
          <a:bodyPr/>
          <a:lstStyle/>
          <a:p>
            <a:r>
              <a:rPr lang="en-IN"/>
              <a:t>MIT</a:t>
            </a:r>
          </a:p>
        </p:txBody>
      </p:sp>
      <p:sp>
        <p:nvSpPr>
          <p:cNvPr id="7" name="Slide Number Placeholder 6"/>
          <p:cNvSpPr>
            <a:spLocks noGrp="1"/>
          </p:cNvSpPr>
          <p:nvPr>
            <p:ph type="sldNum" sz="quarter" idx="12"/>
          </p:nvPr>
        </p:nvSpPr>
        <p:spPr/>
        <p:txBody>
          <a:bodyPr/>
          <a:lstStyle/>
          <a:p>
            <a:fld id="{157E8F69-36B6-4843-A9CE-6B9353F4DBAF}" type="slidenum">
              <a:rPr lang="en-IN" smtClean="0"/>
              <a:t>‹#›</a:t>
            </a:fld>
            <a:endParaRPr lang="en-IN"/>
          </a:p>
        </p:txBody>
      </p:sp>
    </p:spTree>
    <p:extLst>
      <p:ext uri="{BB962C8B-B14F-4D97-AF65-F5344CB8AC3E}">
        <p14:creationId xmlns:p14="http://schemas.microsoft.com/office/powerpoint/2010/main" val="665627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0D90D62-6838-4965-A86D-DAB6085BB5B9}" type="datetime1">
              <a:rPr lang="en-IN" smtClean="0"/>
              <a:t>03-11-2025</a:t>
            </a:fld>
            <a:endParaRPr lang="en-IN"/>
          </a:p>
        </p:txBody>
      </p:sp>
      <p:sp>
        <p:nvSpPr>
          <p:cNvPr id="6" name="Footer Placeholder 5"/>
          <p:cNvSpPr>
            <a:spLocks noGrp="1"/>
          </p:cNvSpPr>
          <p:nvPr>
            <p:ph type="ftr" sz="quarter" idx="11"/>
          </p:nvPr>
        </p:nvSpPr>
        <p:spPr/>
        <p:txBody>
          <a:bodyPr/>
          <a:lstStyle/>
          <a:p>
            <a:r>
              <a:rPr lang="en-IN"/>
              <a:t>MIT</a:t>
            </a:r>
          </a:p>
        </p:txBody>
      </p:sp>
      <p:sp>
        <p:nvSpPr>
          <p:cNvPr id="7" name="Slide Number Placeholder 6"/>
          <p:cNvSpPr>
            <a:spLocks noGrp="1"/>
          </p:cNvSpPr>
          <p:nvPr>
            <p:ph type="sldNum" sz="quarter" idx="12"/>
          </p:nvPr>
        </p:nvSpPr>
        <p:spPr/>
        <p:txBody>
          <a:bodyPr/>
          <a:lstStyle/>
          <a:p>
            <a:fld id="{157E8F69-36B6-4843-A9CE-6B9353F4DBAF}" type="slidenum">
              <a:rPr lang="en-IN" smtClean="0"/>
              <a:t>‹#›</a:t>
            </a:fld>
            <a:endParaRPr lang="en-IN"/>
          </a:p>
        </p:txBody>
      </p:sp>
    </p:spTree>
    <p:extLst>
      <p:ext uri="{BB962C8B-B14F-4D97-AF65-F5344CB8AC3E}">
        <p14:creationId xmlns:p14="http://schemas.microsoft.com/office/powerpoint/2010/main" val="2894512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CC00DB1-6420-4972-9821-8C922B2DEA0F}" type="datetime1">
              <a:rPr lang="en-IN" smtClean="0"/>
              <a:t>03-11-2025</a:t>
            </a:fld>
            <a:endParaRPr lang="en-IN"/>
          </a:p>
        </p:txBody>
      </p:sp>
      <p:sp>
        <p:nvSpPr>
          <p:cNvPr id="5" name="Footer Placeholder 4"/>
          <p:cNvSpPr>
            <a:spLocks noGrp="1"/>
          </p:cNvSpPr>
          <p:nvPr>
            <p:ph type="ftr" sz="quarter" idx="11"/>
          </p:nvPr>
        </p:nvSpPr>
        <p:spPr/>
        <p:txBody>
          <a:bodyPr/>
          <a:lstStyle/>
          <a:p>
            <a:r>
              <a:rPr lang="en-IN"/>
              <a:t>MIT</a:t>
            </a:r>
          </a:p>
        </p:txBody>
      </p:sp>
      <p:sp>
        <p:nvSpPr>
          <p:cNvPr id="6" name="Slide Number Placeholder 5"/>
          <p:cNvSpPr>
            <a:spLocks noGrp="1"/>
          </p:cNvSpPr>
          <p:nvPr>
            <p:ph type="sldNum" sz="quarter" idx="12"/>
          </p:nvPr>
        </p:nvSpPr>
        <p:spPr/>
        <p:txBody>
          <a:bodyPr/>
          <a:lstStyle/>
          <a:p>
            <a:fld id="{157E8F69-36B6-4843-A9CE-6B9353F4DBAF}" type="slidenum">
              <a:rPr lang="en-IN" smtClean="0"/>
              <a:t>‹#›</a:t>
            </a:fld>
            <a:endParaRPr lang="en-IN"/>
          </a:p>
        </p:txBody>
      </p:sp>
    </p:spTree>
    <p:extLst>
      <p:ext uri="{BB962C8B-B14F-4D97-AF65-F5344CB8AC3E}">
        <p14:creationId xmlns:p14="http://schemas.microsoft.com/office/powerpoint/2010/main" val="2429703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5079C1B-FCD7-49BB-8304-C81FB13A1C9C}" type="datetime1">
              <a:rPr lang="en-IN" smtClean="0"/>
              <a:t>03-11-2025</a:t>
            </a:fld>
            <a:endParaRPr lang="en-IN"/>
          </a:p>
        </p:txBody>
      </p:sp>
      <p:sp>
        <p:nvSpPr>
          <p:cNvPr id="5" name="Footer Placeholder 4"/>
          <p:cNvSpPr>
            <a:spLocks noGrp="1"/>
          </p:cNvSpPr>
          <p:nvPr>
            <p:ph type="ftr" sz="quarter" idx="11"/>
          </p:nvPr>
        </p:nvSpPr>
        <p:spPr/>
        <p:txBody>
          <a:bodyPr/>
          <a:lstStyle/>
          <a:p>
            <a:r>
              <a:rPr lang="en-IN"/>
              <a:t>MIT</a:t>
            </a:r>
          </a:p>
        </p:txBody>
      </p:sp>
      <p:sp>
        <p:nvSpPr>
          <p:cNvPr id="6" name="Slide Number Placeholder 5"/>
          <p:cNvSpPr>
            <a:spLocks noGrp="1"/>
          </p:cNvSpPr>
          <p:nvPr>
            <p:ph type="sldNum" sz="quarter" idx="12"/>
          </p:nvPr>
        </p:nvSpPr>
        <p:spPr/>
        <p:txBody>
          <a:bodyPr/>
          <a:lstStyle/>
          <a:p>
            <a:fld id="{157E8F69-36B6-4843-A9CE-6B9353F4DBAF}" type="slidenum">
              <a:rPr lang="en-IN" smtClean="0"/>
              <a:t>‹#›</a:t>
            </a:fld>
            <a:endParaRPr lang="en-IN"/>
          </a:p>
        </p:txBody>
      </p:sp>
    </p:spTree>
    <p:extLst>
      <p:ext uri="{BB962C8B-B14F-4D97-AF65-F5344CB8AC3E}">
        <p14:creationId xmlns:p14="http://schemas.microsoft.com/office/powerpoint/2010/main" val="3719278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1FF6AA-627B-4E67-ACFE-3ACE22108AE4}" type="datetime1">
              <a:rPr lang="en-IN" smtClean="0"/>
              <a:t>03-11-2025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MIT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7E8F69-36B6-4843-A9CE-6B9353F4DBAF}" type="slidenum">
              <a:rPr lang="en-IN" smtClean="0"/>
              <a:t>‹#›</a:t>
            </a:fld>
            <a:endParaRPr lang="en-IN"/>
          </a:p>
        </p:txBody>
      </p:sp>
    </p:spTree>
    <p:extLst>
      <p:ext uri="{BB962C8B-B14F-4D97-AF65-F5344CB8AC3E}">
        <p14:creationId xmlns:p14="http://schemas.microsoft.com/office/powerpoint/2010/main" val="22838569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F3D17-D584-2121-933D-759F8570D779}"/>
              </a:ext>
            </a:extLst>
          </p:cNvPr>
          <p:cNvSpPr>
            <a:spLocks noGrp="1"/>
          </p:cNvSpPr>
          <p:nvPr>
            <p:ph type="ctrTitle"/>
          </p:nvPr>
        </p:nvSpPr>
        <p:spPr>
          <a:xfrm>
            <a:off x="690880" y="0"/>
            <a:ext cx="10810240" cy="1856232"/>
          </a:xfrm>
        </p:spPr>
        <p:txBody>
          <a:bodyPr/>
          <a:lstStyle/>
          <a:p>
            <a:r>
              <a:rPr lang="en-IN" dirty="0">
                <a:solidFill>
                  <a:schemeClr val="accent1">
                    <a:lumMod val="50000"/>
                  </a:schemeClr>
                </a:solidFill>
                <a:latin typeface="Century Schoolbook" panose="02040604050505020304" pitchFamily="18" charset="0"/>
              </a:rPr>
              <a:t>Software Engineering</a:t>
            </a:r>
            <a:br>
              <a:rPr lang="en-IN" dirty="0">
                <a:solidFill>
                  <a:schemeClr val="accent1">
                    <a:lumMod val="50000"/>
                  </a:schemeClr>
                </a:solidFill>
                <a:latin typeface="Century Schoolbook" panose="02040604050505020304" pitchFamily="18" charset="0"/>
              </a:rPr>
            </a:br>
            <a:r>
              <a:rPr lang="en-IN" dirty="0">
                <a:solidFill>
                  <a:schemeClr val="accent1">
                    <a:lumMod val="50000"/>
                  </a:schemeClr>
                </a:solidFill>
                <a:latin typeface="Century Schoolbook" panose="02040604050505020304" pitchFamily="18" charset="0"/>
              </a:rPr>
              <a:t>(Code: CSE3122)</a:t>
            </a:r>
          </a:p>
        </p:txBody>
      </p:sp>
      <p:sp>
        <p:nvSpPr>
          <p:cNvPr id="3" name="Subtitle 2">
            <a:extLst>
              <a:ext uri="{FF2B5EF4-FFF2-40B4-BE49-F238E27FC236}">
                <a16:creationId xmlns:a16="http://schemas.microsoft.com/office/drawing/2014/main" id="{F4307663-F8EA-F14C-DB57-9DDFF7DF58B9}"/>
              </a:ext>
            </a:extLst>
          </p:cNvPr>
          <p:cNvSpPr>
            <a:spLocks noGrp="1"/>
          </p:cNvSpPr>
          <p:nvPr>
            <p:ph type="subTitle" idx="1"/>
          </p:nvPr>
        </p:nvSpPr>
        <p:spPr>
          <a:xfrm>
            <a:off x="1524000" y="1928686"/>
            <a:ext cx="9144000" cy="1655762"/>
          </a:xfrm>
        </p:spPr>
        <p:txBody>
          <a:bodyPr/>
          <a:lstStyle/>
          <a:p>
            <a:endParaRPr lang="en-IN" sz="2800" dirty="0">
              <a:solidFill>
                <a:schemeClr val="accent2">
                  <a:lumMod val="50000"/>
                </a:schemeClr>
              </a:solidFill>
              <a:latin typeface="Comic Sans MS" panose="030F0702030302020204" pitchFamily="66" charset="0"/>
            </a:endParaRPr>
          </a:p>
          <a:p>
            <a:r>
              <a:rPr lang="en-US" sz="2800" dirty="0">
                <a:solidFill>
                  <a:schemeClr val="accent2">
                    <a:lumMod val="50000"/>
                  </a:schemeClr>
                </a:solidFill>
                <a:latin typeface="Comic Sans MS" panose="030F0702030302020204" pitchFamily="66" charset="0"/>
              </a:rPr>
              <a:t>B. Tech CSE 5</a:t>
            </a:r>
            <a:r>
              <a:rPr lang="en-US" sz="2800" baseline="30000" dirty="0">
                <a:solidFill>
                  <a:schemeClr val="accent2">
                    <a:lumMod val="50000"/>
                  </a:schemeClr>
                </a:solidFill>
                <a:latin typeface="Comic Sans MS" panose="030F0702030302020204" pitchFamily="66" charset="0"/>
              </a:rPr>
              <a:t>th</a:t>
            </a:r>
            <a:r>
              <a:rPr lang="en-US" sz="2800" dirty="0">
                <a:solidFill>
                  <a:schemeClr val="accent2">
                    <a:lumMod val="50000"/>
                  </a:schemeClr>
                </a:solidFill>
                <a:latin typeface="Comic Sans MS" panose="030F0702030302020204" pitchFamily="66" charset="0"/>
              </a:rPr>
              <a:t> Sem.</a:t>
            </a:r>
            <a:endParaRPr lang="en-IN" sz="2800" dirty="0">
              <a:solidFill>
                <a:schemeClr val="accent2">
                  <a:lumMod val="50000"/>
                </a:schemeClr>
              </a:solidFill>
              <a:latin typeface="Comic Sans MS" panose="030F0702030302020204" pitchFamily="66" charset="0"/>
            </a:endParaRPr>
          </a:p>
          <a:p>
            <a:r>
              <a:rPr lang="en-IN" sz="2800" dirty="0">
                <a:solidFill>
                  <a:schemeClr val="accent2">
                    <a:lumMod val="50000"/>
                  </a:schemeClr>
                </a:solidFill>
                <a:latin typeface="Comic Sans MS" panose="030F0702030302020204" pitchFamily="66" charset="0"/>
              </a:rPr>
              <a:t>(School of Computer Engineering)</a:t>
            </a:r>
          </a:p>
        </p:txBody>
      </p:sp>
      <p:sp>
        <p:nvSpPr>
          <p:cNvPr id="4" name="Subtitle 2">
            <a:extLst>
              <a:ext uri="{FF2B5EF4-FFF2-40B4-BE49-F238E27FC236}">
                <a16:creationId xmlns:a16="http://schemas.microsoft.com/office/drawing/2014/main" id="{B54A778D-70EE-9AB7-55A6-BC0E48FBC3C2}"/>
              </a:ext>
            </a:extLst>
          </p:cNvPr>
          <p:cNvSpPr txBox="1">
            <a:spLocks/>
          </p:cNvSpPr>
          <p:nvPr/>
        </p:nvSpPr>
        <p:spPr>
          <a:xfrm>
            <a:off x="5541264" y="4626864"/>
            <a:ext cx="6528816" cy="2044510"/>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b="1" dirty="0">
                <a:solidFill>
                  <a:schemeClr val="accent5">
                    <a:lumMod val="75000"/>
                  </a:schemeClr>
                </a:solidFill>
                <a:latin typeface="Century" panose="02040604050505020304" pitchFamily="18" charset="0"/>
              </a:rPr>
              <a:t>Dr. Kranthi Kumar Lella</a:t>
            </a:r>
          </a:p>
          <a:p>
            <a:r>
              <a:rPr lang="en-US" sz="2800" b="1" dirty="0">
                <a:solidFill>
                  <a:schemeClr val="accent5">
                    <a:lumMod val="75000"/>
                  </a:schemeClr>
                </a:solidFill>
                <a:latin typeface="Century" panose="02040604050505020304" pitchFamily="18" charset="0"/>
              </a:rPr>
              <a:t>Associate Professor,</a:t>
            </a:r>
          </a:p>
          <a:p>
            <a:r>
              <a:rPr lang="en-US" sz="2800" b="1" dirty="0">
                <a:solidFill>
                  <a:schemeClr val="accent5">
                    <a:lumMod val="75000"/>
                  </a:schemeClr>
                </a:solidFill>
                <a:latin typeface="Century" panose="02040604050505020304" pitchFamily="18" charset="0"/>
              </a:rPr>
              <a:t>School of Computer Engineering,</a:t>
            </a:r>
          </a:p>
          <a:p>
            <a:r>
              <a:rPr lang="en-US" sz="2800" b="1" dirty="0">
                <a:solidFill>
                  <a:schemeClr val="accent5">
                    <a:lumMod val="75000"/>
                  </a:schemeClr>
                </a:solidFill>
                <a:latin typeface="Century" panose="02040604050505020304" pitchFamily="18" charset="0"/>
              </a:rPr>
              <a:t>Manipal Institute of Technology,</a:t>
            </a:r>
          </a:p>
          <a:p>
            <a:r>
              <a:rPr lang="en-IN" sz="2800" b="1" dirty="0">
                <a:solidFill>
                  <a:schemeClr val="accent5">
                    <a:lumMod val="75000"/>
                  </a:schemeClr>
                </a:solidFill>
                <a:latin typeface="Century" panose="02040604050505020304" pitchFamily="18" charset="0"/>
              </a:rPr>
              <a:t>MAHE, Manipal – 576104.</a:t>
            </a:r>
          </a:p>
        </p:txBody>
      </p:sp>
      <p:sp>
        <p:nvSpPr>
          <p:cNvPr id="5" name="Date Placeholder 4">
            <a:extLst>
              <a:ext uri="{FF2B5EF4-FFF2-40B4-BE49-F238E27FC236}">
                <a16:creationId xmlns:a16="http://schemas.microsoft.com/office/drawing/2014/main" id="{20BE0ED1-1A31-C007-6E44-F328D5B0387D}"/>
              </a:ext>
            </a:extLst>
          </p:cNvPr>
          <p:cNvSpPr>
            <a:spLocks noGrp="1"/>
          </p:cNvSpPr>
          <p:nvPr>
            <p:ph type="dt" sz="half" idx="10"/>
          </p:nvPr>
        </p:nvSpPr>
        <p:spPr/>
        <p:txBody>
          <a:bodyPr/>
          <a:lstStyle/>
          <a:p>
            <a:fld id="{3EFFFF79-0A70-4BA2-98F8-2A206B8AB624}" type="datetime1">
              <a:rPr lang="en-IN" smtClean="0"/>
              <a:t>03-11-2025</a:t>
            </a:fld>
            <a:endParaRPr lang="en-IN"/>
          </a:p>
        </p:txBody>
      </p:sp>
      <p:sp>
        <p:nvSpPr>
          <p:cNvPr id="6" name="Footer Placeholder 5">
            <a:extLst>
              <a:ext uri="{FF2B5EF4-FFF2-40B4-BE49-F238E27FC236}">
                <a16:creationId xmlns:a16="http://schemas.microsoft.com/office/drawing/2014/main" id="{DCF157F4-D1DD-9DF7-53EE-A02ECA4CC1ED}"/>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8AED0233-F619-24AC-31F5-F5AFDD271E06}"/>
              </a:ext>
            </a:extLst>
          </p:cNvPr>
          <p:cNvSpPr>
            <a:spLocks noGrp="1"/>
          </p:cNvSpPr>
          <p:nvPr>
            <p:ph type="sldNum" sz="quarter" idx="12"/>
          </p:nvPr>
        </p:nvSpPr>
        <p:spPr/>
        <p:txBody>
          <a:bodyPr/>
          <a:lstStyle/>
          <a:p>
            <a:fld id="{157E8F69-36B6-4843-A9CE-6B9353F4DBAF}" type="slidenum">
              <a:rPr lang="en-IN" smtClean="0"/>
              <a:t>1</a:t>
            </a:fld>
            <a:endParaRPr lang="en-IN"/>
          </a:p>
        </p:txBody>
      </p:sp>
    </p:spTree>
    <p:extLst>
      <p:ext uri="{BB962C8B-B14F-4D97-AF65-F5344CB8AC3E}">
        <p14:creationId xmlns:p14="http://schemas.microsoft.com/office/powerpoint/2010/main" val="161386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3440" y="98235"/>
            <a:ext cx="10485120" cy="1008189"/>
          </a:xfrm>
        </p:spPr>
        <p:txBody>
          <a:bodyPr>
            <a:normAutofit/>
          </a:bodyPr>
          <a:lstStyle/>
          <a:p>
            <a:pPr>
              <a:lnSpc>
                <a:spcPct val="100000"/>
              </a:lnSpc>
            </a:pPr>
            <a:r>
              <a:rPr lang="en-US" sz="4800" b="1" dirty="0">
                <a:solidFill>
                  <a:srgbClr val="002060"/>
                </a:solidFill>
                <a:latin typeface="Cooper Black" panose="0208090404030B020404" pitchFamily="18" charset="0"/>
                <a:cs typeface="Times New Roman" panose="02020603050405020304" pitchFamily="18" charset="0"/>
              </a:rPr>
              <a:t>SOFTWARE ENGINEERING</a:t>
            </a:r>
            <a:endParaRPr lang="en-IN" sz="4800" dirty="0">
              <a:solidFill>
                <a:srgbClr val="002060"/>
              </a:solidFill>
              <a:latin typeface="Cooper Black" panose="0208090404030B020404" pitchFamily="18" charset="0"/>
              <a:cs typeface="Times New Roman" panose="02020603050405020304" pitchFamily="18" charset="0"/>
            </a:endParaRPr>
          </a:p>
        </p:txBody>
      </p:sp>
      <p:sp>
        <p:nvSpPr>
          <p:cNvPr id="3" name="Subtitle 2"/>
          <p:cNvSpPr>
            <a:spLocks noGrp="1"/>
          </p:cNvSpPr>
          <p:nvPr>
            <p:ph type="subTitle" idx="1"/>
          </p:nvPr>
        </p:nvSpPr>
        <p:spPr>
          <a:xfrm>
            <a:off x="1493520" y="1655064"/>
            <a:ext cx="9144000" cy="3529584"/>
          </a:xfrm>
        </p:spPr>
        <p:txBody>
          <a:bodyPr>
            <a:normAutofit fontScale="92500" lnSpcReduction="10000"/>
          </a:bodyPr>
          <a:lstStyle/>
          <a:p>
            <a:r>
              <a:rPr lang="en-IN" sz="3600" dirty="0">
                <a:solidFill>
                  <a:srgbClr val="C00000"/>
                </a:solidFill>
                <a:latin typeface="Elephant" panose="02020904090505020303" pitchFamily="18" charset="0"/>
              </a:rPr>
              <a:t>Module – 7 </a:t>
            </a:r>
          </a:p>
          <a:p>
            <a:r>
              <a:rPr lang="en-IN" sz="3600" dirty="0">
                <a:solidFill>
                  <a:srgbClr val="C00000"/>
                </a:solidFill>
                <a:latin typeface="Elephant" panose="02020904090505020303" pitchFamily="18" charset="0"/>
              </a:rPr>
              <a:t>(CODING AND TESTING)</a:t>
            </a:r>
          </a:p>
          <a:p>
            <a:endParaRPr lang="en-IN" sz="3600" dirty="0">
              <a:solidFill>
                <a:srgbClr val="C00000"/>
              </a:solidFill>
              <a:latin typeface="Elephant" panose="02020904090505020303" pitchFamily="18" charset="0"/>
            </a:endParaRPr>
          </a:p>
          <a:p>
            <a:pPr algn="just"/>
            <a:r>
              <a:rPr lang="en-US" sz="2800" dirty="0"/>
              <a:t>Coding, Code review, Software Documentation, Testing, Unit Testing, Black-Box testing, White-Box Testing, Debugging, Program Analysis tools, Regression testing, Security testing, Robustness testing, Fuzzy testing, Integration testing, Testing OOP, System testing, Some general issues associated with testing.</a:t>
            </a:r>
          </a:p>
          <a:p>
            <a:endParaRPr lang="en-IN" sz="3600" dirty="0">
              <a:solidFill>
                <a:srgbClr val="C00000"/>
              </a:solidFill>
              <a:latin typeface="Elephant" panose="02020904090505020303" pitchFamily="18" charset="0"/>
            </a:endParaRPr>
          </a:p>
        </p:txBody>
      </p:sp>
      <p:sp>
        <p:nvSpPr>
          <p:cNvPr id="4" name="Date Placeholder 3">
            <a:extLst>
              <a:ext uri="{FF2B5EF4-FFF2-40B4-BE49-F238E27FC236}">
                <a16:creationId xmlns:a16="http://schemas.microsoft.com/office/drawing/2014/main" id="{09ACA7EA-0191-2A38-776A-E2CEAEA4BD33}"/>
              </a:ext>
            </a:extLst>
          </p:cNvPr>
          <p:cNvSpPr>
            <a:spLocks noGrp="1"/>
          </p:cNvSpPr>
          <p:nvPr>
            <p:ph type="dt" sz="half" idx="10"/>
          </p:nvPr>
        </p:nvSpPr>
        <p:spPr/>
        <p:txBody>
          <a:bodyPr/>
          <a:lstStyle/>
          <a:p>
            <a:fld id="{9D73F9BA-9DCE-4B5C-B098-E68F7A86F6D6}" type="datetime1">
              <a:rPr lang="en-IN" smtClean="0"/>
              <a:t>03-11-2025</a:t>
            </a:fld>
            <a:endParaRPr lang="en-IN"/>
          </a:p>
        </p:txBody>
      </p:sp>
      <p:sp>
        <p:nvSpPr>
          <p:cNvPr id="5" name="Footer Placeholder 4">
            <a:extLst>
              <a:ext uri="{FF2B5EF4-FFF2-40B4-BE49-F238E27FC236}">
                <a16:creationId xmlns:a16="http://schemas.microsoft.com/office/drawing/2014/main" id="{DD7B15C2-C06B-BD9A-EF8E-12A7CFFC1DB0}"/>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818A7703-A940-A7A2-71F5-4A3E2607726E}"/>
              </a:ext>
            </a:extLst>
          </p:cNvPr>
          <p:cNvSpPr>
            <a:spLocks noGrp="1"/>
          </p:cNvSpPr>
          <p:nvPr>
            <p:ph type="sldNum" sz="quarter" idx="12"/>
          </p:nvPr>
        </p:nvSpPr>
        <p:spPr/>
        <p:txBody>
          <a:bodyPr/>
          <a:lstStyle/>
          <a:p>
            <a:fld id="{157E8F69-36B6-4843-A9CE-6B9353F4DBAF}" type="slidenum">
              <a:rPr lang="en-IN" smtClean="0"/>
              <a:t>2</a:t>
            </a:fld>
            <a:endParaRPr lang="en-IN"/>
          </a:p>
        </p:txBody>
      </p:sp>
    </p:spTree>
    <p:extLst>
      <p:ext uri="{BB962C8B-B14F-4D97-AF65-F5344CB8AC3E}">
        <p14:creationId xmlns:p14="http://schemas.microsoft.com/office/powerpoint/2010/main" val="392583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4320" y="373856"/>
            <a:ext cx="11567160" cy="1938992"/>
          </a:xfrm>
          <a:prstGeom prst="rect">
            <a:avLst/>
          </a:prstGeom>
        </p:spPr>
        <p:txBody>
          <a:bodyPr wrap="square">
            <a:spAutoFit/>
          </a:bodyPr>
          <a:lstStyle/>
          <a:p>
            <a:pPr algn="ctr"/>
            <a:r>
              <a:rPr lang="en-US" sz="2400" b="1" u="sng" dirty="0"/>
              <a:t>🔷 Coding and Testing: Overview</a:t>
            </a:r>
          </a:p>
          <a:p>
            <a:pPr algn="just"/>
            <a:r>
              <a:rPr lang="en-US" sz="2400" dirty="0"/>
              <a:t>This Module focuses on the </a:t>
            </a:r>
            <a:r>
              <a:rPr lang="en-US" sz="2400" b="1" dirty="0"/>
              <a:t>implementation and verification</a:t>
            </a:r>
            <a:r>
              <a:rPr lang="en-US" sz="2400" dirty="0"/>
              <a:t> stages of software development, specifically:</a:t>
            </a:r>
          </a:p>
          <a:p>
            <a:pPr marL="800100" lvl="1" indent="-342900" algn="just">
              <a:buFont typeface="Wingdings" panose="05000000000000000000" pitchFamily="2" charset="2"/>
              <a:buChar char="Ø"/>
            </a:pPr>
            <a:r>
              <a:rPr lang="en-US" sz="2400" b="1" dirty="0"/>
              <a:t>Coding Phase</a:t>
            </a:r>
            <a:endParaRPr lang="en-US" sz="2400" dirty="0"/>
          </a:p>
          <a:p>
            <a:pPr marL="800100" lvl="1" indent="-342900" algn="just">
              <a:buFont typeface="Wingdings" panose="05000000000000000000" pitchFamily="2" charset="2"/>
              <a:buChar char="Ø"/>
            </a:pPr>
            <a:r>
              <a:rPr lang="en-US" sz="2400" b="1" dirty="0"/>
              <a:t>Testing Phase</a:t>
            </a:r>
            <a:endParaRPr lang="en-US" sz="2400" dirty="0"/>
          </a:p>
        </p:txBody>
      </p:sp>
      <p:sp>
        <p:nvSpPr>
          <p:cNvPr id="4" name="Rectangle 3"/>
          <p:cNvSpPr/>
          <p:nvPr/>
        </p:nvSpPr>
        <p:spPr>
          <a:xfrm>
            <a:off x="274320" y="2468940"/>
            <a:ext cx="11567160" cy="3785652"/>
          </a:xfrm>
          <a:prstGeom prst="rect">
            <a:avLst/>
          </a:prstGeom>
        </p:spPr>
        <p:txBody>
          <a:bodyPr wrap="square">
            <a:spAutoFit/>
          </a:bodyPr>
          <a:lstStyle/>
          <a:p>
            <a:pPr algn="just"/>
            <a:r>
              <a:rPr lang="en-US" sz="2400" b="1" u="sng" dirty="0"/>
              <a:t>✅ Coding Phase</a:t>
            </a:r>
          </a:p>
          <a:p>
            <a:pPr algn="just"/>
            <a:endParaRPr lang="en-US" sz="2400" b="1" u="sng" dirty="0"/>
          </a:p>
          <a:p>
            <a:pPr algn="just"/>
            <a:r>
              <a:rPr lang="en-US" sz="2400" b="1" u="sng" dirty="0"/>
              <a:t>📌 What Happens:</a:t>
            </a:r>
          </a:p>
          <a:p>
            <a:pPr lvl="1" algn="just">
              <a:buFont typeface="Arial" panose="020B0604020202020204" pitchFamily="34" charset="0"/>
              <a:buChar char="•"/>
            </a:pPr>
            <a:r>
              <a:rPr lang="en-US" sz="2400" dirty="0"/>
              <a:t>Each </a:t>
            </a:r>
            <a:r>
              <a:rPr lang="en-US" sz="2400" b="1" dirty="0"/>
              <a:t>module</a:t>
            </a:r>
            <a:r>
              <a:rPr lang="en-US" sz="2400" dirty="0"/>
              <a:t> designed during the design phase is </a:t>
            </a:r>
            <a:r>
              <a:rPr lang="en-US" sz="2400" b="1" dirty="0"/>
              <a:t>coded (implemented)</a:t>
            </a:r>
            <a:r>
              <a:rPr lang="en-US" sz="2400" dirty="0"/>
              <a:t>.</a:t>
            </a:r>
          </a:p>
          <a:p>
            <a:pPr lvl="1" algn="just">
              <a:buFont typeface="Arial" panose="020B0604020202020204" pitchFamily="34" charset="0"/>
              <a:buChar char="•"/>
            </a:pPr>
            <a:r>
              <a:rPr lang="en-US" sz="2400" dirty="0"/>
              <a:t>Once coded, each module undergoes </a:t>
            </a:r>
            <a:r>
              <a:rPr lang="en-US" sz="2400" b="1" dirty="0"/>
              <a:t>unit testing</a:t>
            </a:r>
            <a:r>
              <a:rPr lang="en-US" sz="2400" dirty="0"/>
              <a:t> — tested </a:t>
            </a:r>
            <a:r>
              <a:rPr lang="en-US" sz="2400" b="1" dirty="0"/>
              <a:t>in isolation</a:t>
            </a:r>
            <a:r>
              <a:rPr lang="en-US" sz="2400" dirty="0"/>
              <a:t> to verify its correctness.</a:t>
            </a:r>
          </a:p>
          <a:p>
            <a:pPr algn="just"/>
            <a:r>
              <a:rPr lang="en-US" sz="2400" b="1" u="sng" dirty="0"/>
              <a:t>🔧 Key Activities:</a:t>
            </a:r>
          </a:p>
          <a:p>
            <a:pPr lvl="1" algn="just">
              <a:buFont typeface="Arial" panose="020B0604020202020204" pitchFamily="34" charset="0"/>
              <a:buChar char="•"/>
            </a:pPr>
            <a:r>
              <a:rPr lang="en-US" sz="2400" dirty="0"/>
              <a:t>Writing code based on the </a:t>
            </a:r>
            <a:r>
              <a:rPr lang="en-US" sz="2400" b="1" dirty="0"/>
              <a:t>design document</a:t>
            </a:r>
            <a:r>
              <a:rPr lang="en-US" sz="2400" dirty="0"/>
              <a:t>.</a:t>
            </a:r>
          </a:p>
          <a:p>
            <a:pPr lvl="1" algn="just">
              <a:buFont typeface="Arial" panose="020B0604020202020204" pitchFamily="34" charset="0"/>
              <a:buChar char="•"/>
            </a:pPr>
            <a:r>
              <a:rPr lang="en-US" sz="2400" b="1" dirty="0"/>
              <a:t>Unit testing</a:t>
            </a:r>
            <a:r>
              <a:rPr lang="en-US" sz="2400" dirty="0"/>
              <a:t> modules as soon as they're coded.</a:t>
            </a:r>
          </a:p>
          <a:p>
            <a:pPr lvl="1" algn="just">
              <a:buFont typeface="Arial" panose="020B0604020202020204" pitchFamily="34" charset="0"/>
              <a:buChar char="•"/>
            </a:pPr>
            <a:r>
              <a:rPr lang="en-US" sz="2400" dirty="0"/>
              <a:t>Ensuring each module functions </a:t>
            </a:r>
            <a:r>
              <a:rPr lang="en-US" sz="2400" b="1" dirty="0"/>
              <a:t>independently</a:t>
            </a:r>
            <a:r>
              <a:rPr lang="en-US" sz="2400" dirty="0"/>
              <a:t> before integration.</a:t>
            </a:r>
          </a:p>
        </p:txBody>
      </p:sp>
      <p:sp>
        <p:nvSpPr>
          <p:cNvPr id="2" name="Date Placeholder 1">
            <a:extLst>
              <a:ext uri="{FF2B5EF4-FFF2-40B4-BE49-F238E27FC236}">
                <a16:creationId xmlns:a16="http://schemas.microsoft.com/office/drawing/2014/main" id="{2BAB1045-07BC-13D4-9BBD-0CDA17E359C2}"/>
              </a:ext>
            </a:extLst>
          </p:cNvPr>
          <p:cNvSpPr>
            <a:spLocks noGrp="1"/>
          </p:cNvSpPr>
          <p:nvPr>
            <p:ph type="dt" sz="half" idx="10"/>
          </p:nvPr>
        </p:nvSpPr>
        <p:spPr/>
        <p:txBody>
          <a:bodyPr/>
          <a:lstStyle/>
          <a:p>
            <a:fld id="{DC64615B-1A7E-4B5C-B8C6-B4AD75FF2DCF}" type="datetime1">
              <a:rPr lang="en-IN" smtClean="0"/>
              <a:t>03-11-2025</a:t>
            </a:fld>
            <a:endParaRPr lang="en-IN"/>
          </a:p>
        </p:txBody>
      </p:sp>
      <p:sp>
        <p:nvSpPr>
          <p:cNvPr id="5" name="Footer Placeholder 4">
            <a:extLst>
              <a:ext uri="{FF2B5EF4-FFF2-40B4-BE49-F238E27FC236}">
                <a16:creationId xmlns:a16="http://schemas.microsoft.com/office/drawing/2014/main" id="{9ACAABCD-C339-1CBA-495B-1AF551FCDE03}"/>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C45DBC2D-5C3E-E9F9-0423-E49F10929C71}"/>
              </a:ext>
            </a:extLst>
          </p:cNvPr>
          <p:cNvSpPr>
            <a:spLocks noGrp="1"/>
          </p:cNvSpPr>
          <p:nvPr>
            <p:ph type="sldNum" sz="quarter" idx="12"/>
          </p:nvPr>
        </p:nvSpPr>
        <p:spPr/>
        <p:txBody>
          <a:bodyPr/>
          <a:lstStyle/>
          <a:p>
            <a:fld id="{157E8F69-36B6-4843-A9CE-6B9353F4DBAF}" type="slidenum">
              <a:rPr lang="en-IN" smtClean="0"/>
              <a:t>3</a:t>
            </a:fld>
            <a:endParaRPr lang="en-IN"/>
          </a:p>
        </p:txBody>
      </p:sp>
    </p:spTree>
    <p:extLst>
      <p:ext uri="{BB962C8B-B14F-4D97-AF65-F5344CB8AC3E}">
        <p14:creationId xmlns:p14="http://schemas.microsoft.com/office/powerpoint/2010/main" val="4034412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325458"/>
            <a:ext cx="11582400" cy="3359061"/>
          </a:xfrm>
          <a:prstGeom prst="rect">
            <a:avLst/>
          </a:prstGeom>
        </p:spPr>
        <p:txBody>
          <a:bodyPr wrap="square">
            <a:spAutoFit/>
          </a:bodyPr>
          <a:lstStyle/>
          <a:p>
            <a:pPr algn="just">
              <a:lnSpc>
                <a:spcPct val="150000"/>
              </a:lnSpc>
            </a:pPr>
            <a:r>
              <a:rPr lang="en-US" sz="2400" b="1" u="sng" dirty="0"/>
              <a:t>🔗 Integration and Testing</a:t>
            </a:r>
          </a:p>
          <a:p>
            <a:pPr algn="just">
              <a:lnSpc>
                <a:spcPct val="150000"/>
              </a:lnSpc>
            </a:pPr>
            <a:r>
              <a:rPr lang="en-US" sz="2400" b="1" u="sng" dirty="0"/>
              <a:t>📌 Integration Plan:</a:t>
            </a:r>
          </a:p>
          <a:p>
            <a:pPr marL="800100" lvl="1" indent="-342900" algn="just">
              <a:lnSpc>
                <a:spcPct val="150000"/>
              </a:lnSpc>
              <a:buFont typeface="Wingdings" panose="05000000000000000000" pitchFamily="2" charset="2"/>
              <a:buChar char="Ø"/>
            </a:pPr>
            <a:r>
              <a:rPr lang="en-US" sz="2400" dirty="0"/>
              <a:t>Modules are </a:t>
            </a:r>
            <a:r>
              <a:rPr lang="en-US" sz="2400" b="1" dirty="0"/>
              <a:t>integrated step by step</a:t>
            </a:r>
            <a:r>
              <a:rPr lang="en-US" sz="2400" dirty="0"/>
              <a:t> following a predefined </a:t>
            </a:r>
            <a:r>
              <a:rPr lang="en-US" sz="2400" b="1" dirty="0"/>
              <a:t>integration plan</a:t>
            </a:r>
            <a:r>
              <a:rPr lang="en-US" sz="2400" dirty="0"/>
              <a:t>.</a:t>
            </a:r>
          </a:p>
          <a:p>
            <a:pPr marL="800100" lvl="1" indent="-342900" algn="just">
              <a:lnSpc>
                <a:spcPct val="150000"/>
              </a:lnSpc>
              <a:buFont typeface="Wingdings" panose="05000000000000000000" pitchFamily="2" charset="2"/>
              <a:buChar char="Ø"/>
            </a:pPr>
            <a:r>
              <a:rPr lang="en-US" sz="2400" dirty="0"/>
              <a:t>In each step, new modules are added to the </a:t>
            </a:r>
            <a:r>
              <a:rPr lang="en-US" sz="2400" b="1" dirty="0"/>
              <a:t>partially integrated system</a:t>
            </a:r>
            <a:r>
              <a:rPr lang="en-US" sz="2400" dirty="0"/>
              <a:t>, and the </a:t>
            </a:r>
            <a:r>
              <a:rPr lang="en-US" sz="2400" b="1" dirty="0"/>
              <a:t>combined system is tested</a:t>
            </a:r>
            <a:r>
              <a:rPr lang="en-US" sz="2400" dirty="0"/>
              <a:t>.</a:t>
            </a:r>
          </a:p>
          <a:p>
            <a:pPr marL="800100" lvl="1" indent="-342900" algn="just">
              <a:lnSpc>
                <a:spcPct val="150000"/>
              </a:lnSpc>
              <a:buFont typeface="Wingdings" panose="05000000000000000000" pitchFamily="2" charset="2"/>
              <a:buChar char="Ø"/>
            </a:pPr>
            <a:r>
              <a:rPr lang="en-US" sz="2400" dirty="0"/>
              <a:t>Gradually, the </a:t>
            </a:r>
            <a:r>
              <a:rPr lang="en-US" sz="2400" b="1" dirty="0"/>
              <a:t>complete system</a:t>
            </a:r>
            <a:r>
              <a:rPr lang="en-US" sz="2400" dirty="0"/>
              <a:t> is built and tested.</a:t>
            </a:r>
          </a:p>
        </p:txBody>
      </p:sp>
      <p:sp>
        <p:nvSpPr>
          <p:cNvPr id="4" name="Rectangle 3"/>
          <p:cNvSpPr/>
          <p:nvPr/>
        </p:nvSpPr>
        <p:spPr>
          <a:xfrm>
            <a:off x="320040" y="3684519"/>
            <a:ext cx="11582400" cy="2805063"/>
          </a:xfrm>
          <a:prstGeom prst="rect">
            <a:avLst/>
          </a:prstGeom>
        </p:spPr>
        <p:txBody>
          <a:bodyPr wrap="square">
            <a:spAutoFit/>
          </a:bodyPr>
          <a:lstStyle/>
          <a:p>
            <a:pPr algn="just">
              <a:lnSpc>
                <a:spcPct val="150000"/>
              </a:lnSpc>
            </a:pPr>
            <a:r>
              <a:rPr lang="en-US" sz="2400" b="1" u="sng" dirty="0"/>
              <a:t>System Testing</a:t>
            </a:r>
          </a:p>
          <a:p>
            <a:pPr algn="just">
              <a:lnSpc>
                <a:spcPct val="150000"/>
              </a:lnSpc>
            </a:pPr>
            <a:r>
              <a:rPr lang="en-US" sz="2400" b="1" u="sng" dirty="0"/>
              <a:t>📌 What It Involves:</a:t>
            </a:r>
          </a:p>
          <a:p>
            <a:pPr marL="800100" lvl="1" indent="-342900" algn="just">
              <a:lnSpc>
                <a:spcPct val="150000"/>
              </a:lnSpc>
              <a:buFont typeface="Wingdings" panose="05000000000000000000" pitchFamily="2" charset="2"/>
              <a:buChar char="Ø"/>
            </a:pPr>
            <a:r>
              <a:rPr lang="en-US" sz="2400" dirty="0"/>
              <a:t>Done on the </a:t>
            </a:r>
            <a:r>
              <a:rPr lang="en-US" sz="2400" b="1" dirty="0"/>
              <a:t>fully integrated product</a:t>
            </a:r>
            <a:r>
              <a:rPr lang="en-US" sz="2400" dirty="0"/>
              <a:t>.</a:t>
            </a:r>
          </a:p>
          <a:p>
            <a:pPr marL="800100" lvl="1" indent="-342900" algn="just">
              <a:lnSpc>
                <a:spcPct val="150000"/>
              </a:lnSpc>
              <a:buFont typeface="Wingdings" panose="05000000000000000000" pitchFamily="2" charset="2"/>
              <a:buChar char="Ø"/>
            </a:pPr>
            <a:r>
              <a:rPr lang="en-US" sz="2400" dirty="0"/>
              <a:t>Software is tested </a:t>
            </a:r>
            <a:r>
              <a:rPr lang="en-US" sz="2400" b="1" dirty="0"/>
              <a:t>against the Software Requirements Specification (SRS)</a:t>
            </a:r>
            <a:r>
              <a:rPr lang="en-US" sz="2400" dirty="0"/>
              <a:t> to ensure it behaves as expected.</a:t>
            </a:r>
          </a:p>
        </p:txBody>
      </p:sp>
      <p:sp>
        <p:nvSpPr>
          <p:cNvPr id="2" name="Date Placeholder 1">
            <a:extLst>
              <a:ext uri="{FF2B5EF4-FFF2-40B4-BE49-F238E27FC236}">
                <a16:creationId xmlns:a16="http://schemas.microsoft.com/office/drawing/2014/main" id="{12B7C424-AE9D-044A-8800-1A98A8ED3112}"/>
              </a:ext>
            </a:extLst>
          </p:cNvPr>
          <p:cNvSpPr>
            <a:spLocks noGrp="1"/>
          </p:cNvSpPr>
          <p:nvPr>
            <p:ph type="dt" sz="half" idx="10"/>
          </p:nvPr>
        </p:nvSpPr>
        <p:spPr/>
        <p:txBody>
          <a:bodyPr/>
          <a:lstStyle/>
          <a:p>
            <a:fld id="{6B346869-DE02-482B-A938-1B1EE4D951B7}" type="datetime1">
              <a:rPr lang="en-IN" smtClean="0"/>
              <a:t>03-11-2025</a:t>
            </a:fld>
            <a:endParaRPr lang="en-IN"/>
          </a:p>
        </p:txBody>
      </p:sp>
      <p:sp>
        <p:nvSpPr>
          <p:cNvPr id="5" name="Footer Placeholder 4">
            <a:extLst>
              <a:ext uri="{FF2B5EF4-FFF2-40B4-BE49-F238E27FC236}">
                <a16:creationId xmlns:a16="http://schemas.microsoft.com/office/drawing/2014/main" id="{319D5D5C-AB60-4AAB-0152-CB40A80DA26C}"/>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E5226303-C3B2-A742-0F80-9CC10D2DA678}"/>
              </a:ext>
            </a:extLst>
          </p:cNvPr>
          <p:cNvSpPr>
            <a:spLocks noGrp="1"/>
          </p:cNvSpPr>
          <p:nvPr>
            <p:ph type="sldNum" sz="quarter" idx="12"/>
          </p:nvPr>
        </p:nvSpPr>
        <p:spPr/>
        <p:txBody>
          <a:bodyPr/>
          <a:lstStyle/>
          <a:p>
            <a:fld id="{157E8F69-36B6-4843-A9CE-6B9353F4DBAF}" type="slidenum">
              <a:rPr lang="en-IN" smtClean="0"/>
              <a:t>4</a:t>
            </a:fld>
            <a:endParaRPr lang="en-IN"/>
          </a:p>
        </p:txBody>
      </p:sp>
    </p:spTree>
    <p:extLst>
      <p:ext uri="{BB962C8B-B14F-4D97-AF65-F5344CB8AC3E}">
        <p14:creationId xmlns:p14="http://schemas.microsoft.com/office/powerpoint/2010/main" val="1236846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9560" y="386924"/>
            <a:ext cx="11567160" cy="6124754"/>
          </a:xfrm>
          <a:prstGeom prst="rect">
            <a:avLst/>
          </a:prstGeom>
        </p:spPr>
        <p:txBody>
          <a:bodyPr wrap="square">
            <a:spAutoFit/>
          </a:bodyPr>
          <a:lstStyle/>
          <a:p>
            <a:pPr algn="just"/>
            <a:r>
              <a:rPr lang="en-US" sz="2400" b="1" u="sng" dirty="0"/>
              <a:t>🔎 Importance of Testing</a:t>
            </a:r>
          </a:p>
          <a:p>
            <a:pPr algn="just"/>
            <a:r>
              <a:rPr lang="en-US" sz="2400" b="1" u="sng" dirty="0"/>
              <a:t>⚠️ Reality Check:</a:t>
            </a:r>
          </a:p>
          <a:p>
            <a:pPr marL="800100" lvl="1" indent="-342900" algn="just">
              <a:buFont typeface="Wingdings" panose="05000000000000000000" pitchFamily="2" charset="2"/>
              <a:buChar char="Ø"/>
            </a:pPr>
            <a:r>
              <a:rPr lang="en-US" sz="2400" b="1" dirty="0"/>
              <a:t>Testing is the most effort-intensive phase</a:t>
            </a:r>
            <a:r>
              <a:rPr lang="en-US" sz="2400" dirty="0"/>
              <a:t> in software development.</a:t>
            </a:r>
          </a:p>
          <a:p>
            <a:pPr marL="800100" lvl="1" indent="-342900" algn="just">
              <a:buFont typeface="Wingdings" panose="05000000000000000000" pitchFamily="2" charset="2"/>
              <a:buChar char="Ø"/>
            </a:pPr>
            <a:r>
              <a:rPr lang="en-US" sz="2400" dirty="0"/>
              <a:t>A </a:t>
            </a:r>
            <a:r>
              <a:rPr lang="en-US" sz="2400" b="1" dirty="0"/>
              <a:t>large number of test cases</a:t>
            </a:r>
            <a:r>
              <a:rPr lang="en-US" sz="2400" dirty="0"/>
              <a:t> are required to validate functionality, performance, and robustness.</a:t>
            </a:r>
          </a:p>
          <a:p>
            <a:pPr marL="800100" lvl="1" indent="-342900" algn="just">
              <a:buFont typeface="Wingdings" panose="05000000000000000000" pitchFamily="2" charset="2"/>
              <a:buChar char="Ø"/>
            </a:pPr>
            <a:r>
              <a:rPr lang="en-US" sz="2400" b="1" dirty="0"/>
              <a:t>Parallel execution of test cases</a:t>
            </a:r>
            <a:r>
              <a:rPr lang="en-US" sz="2400" dirty="0"/>
              <a:t> is common to save time.</a:t>
            </a:r>
          </a:p>
          <a:p>
            <a:pPr algn="just"/>
            <a:endParaRPr lang="en-US" sz="1600" b="1" u="sng" dirty="0"/>
          </a:p>
          <a:p>
            <a:pPr algn="just"/>
            <a:r>
              <a:rPr lang="en-US" sz="2400" b="1" u="sng" dirty="0"/>
              <a:t>👨‍💻 Manpower:</a:t>
            </a:r>
          </a:p>
          <a:p>
            <a:pPr marL="800100" lvl="1" indent="-342900" algn="just">
              <a:buFont typeface="Wingdings" panose="05000000000000000000" pitchFamily="2" charset="2"/>
              <a:buChar char="Ø"/>
            </a:pPr>
            <a:r>
              <a:rPr lang="en-US" sz="2400" dirty="0"/>
              <a:t>Testing teams are often </a:t>
            </a:r>
            <a:r>
              <a:rPr lang="en-US" sz="2400" b="1" dirty="0"/>
              <a:t>larger than design/coding teams</a:t>
            </a:r>
            <a:r>
              <a:rPr lang="en-US" sz="2400" dirty="0"/>
              <a:t>.</a:t>
            </a:r>
          </a:p>
          <a:p>
            <a:pPr marL="800100" lvl="1" indent="-342900" algn="just">
              <a:buFont typeface="Wingdings" panose="05000000000000000000" pitchFamily="2" charset="2"/>
              <a:buChar char="Ø"/>
            </a:pPr>
            <a:r>
              <a:rPr lang="en-US" sz="2400" dirty="0"/>
              <a:t>There's a </a:t>
            </a:r>
            <a:r>
              <a:rPr lang="en-US" sz="2400" b="1" dirty="0"/>
              <a:t>high demand</a:t>
            </a:r>
            <a:r>
              <a:rPr lang="en-US" sz="2400" dirty="0"/>
              <a:t> for </a:t>
            </a:r>
            <a:r>
              <a:rPr lang="en-US" sz="2400" b="1" dirty="0"/>
              <a:t>software test engineers</a:t>
            </a:r>
            <a:r>
              <a:rPr lang="en-US" sz="2400" dirty="0"/>
              <a:t> in the industry.</a:t>
            </a:r>
          </a:p>
          <a:p>
            <a:pPr algn="just"/>
            <a:endParaRPr lang="en-US" sz="1400" b="1" u="sng" dirty="0"/>
          </a:p>
          <a:p>
            <a:pPr algn="just"/>
            <a:r>
              <a:rPr lang="en-US" sz="2400" b="1" u="sng" dirty="0"/>
              <a:t>❌ Misconception:</a:t>
            </a:r>
          </a:p>
          <a:p>
            <a:pPr marL="800100" lvl="1" indent="-342900" algn="just">
              <a:buFont typeface="Wingdings" panose="05000000000000000000" pitchFamily="2" charset="2"/>
              <a:buChar char="Ø"/>
            </a:pPr>
            <a:r>
              <a:rPr lang="en-US" sz="2400" dirty="0"/>
              <a:t>Some beginners think testing is </a:t>
            </a:r>
            <a:r>
              <a:rPr lang="en-US" sz="2400" b="1" dirty="0"/>
              <a:t>less intellectual</a:t>
            </a:r>
            <a:r>
              <a:rPr lang="en-US" sz="2400" dirty="0"/>
              <a:t> than design or coding.</a:t>
            </a:r>
          </a:p>
          <a:p>
            <a:pPr marL="800100" lvl="1" indent="-342900" algn="just">
              <a:buFont typeface="Wingdings" panose="05000000000000000000" pitchFamily="2" charset="2"/>
              <a:buChar char="Ø"/>
            </a:pPr>
            <a:r>
              <a:rPr lang="en-US" sz="2400" dirty="0"/>
              <a:t>However, </a:t>
            </a:r>
            <a:r>
              <a:rPr lang="en-US" sz="2400" b="1" dirty="0"/>
              <a:t>modern testing</a:t>
            </a:r>
            <a:r>
              <a:rPr lang="en-US" sz="2400" dirty="0"/>
              <a:t> requires strong understanding of:</a:t>
            </a:r>
          </a:p>
          <a:p>
            <a:pPr marL="1257300" lvl="2" indent="-342900" algn="just">
              <a:buFont typeface="Wingdings" panose="05000000000000000000" pitchFamily="2" charset="2"/>
              <a:buChar char="Ø"/>
            </a:pPr>
            <a:r>
              <a:rPr lang="en-US" sz="2400" dirty="0"/>
              <a:t>Testing </a:t>
            </a:r>
            <a:r>
              <a:rPr lang="en-US" sz="2400" b="1" dirty="0"/>
              <a:t>techniques</a:t>
            </a:r>
            <a:endParaRPr lang="en-US" sz="2400" dirty="0"/>
          </a:p>
          <a:p>
            <a:pPr marL="1257300" lvl="2" indent="-342900" algn="just">
              <a:buFont typeface="Wingdings" panose="05000000000000000000" pitchFamily="2" charset="2"/>
              <a:buChar char="Ø"/>
            </a:pPr>
            <a:r>
              <a:rPr lang="en-US" sz="2400" b="1" dirty="0"/>
              <a:t>Tools</a:t>
            </a:r>
            <a:endParaRPr lang="en-US" sz="2400" dirty="0"/>
          </a:p>
          <a:p>
            <a:pPr marL="1257300" lvl="2" indent="-342900" algn="just">
              <a:buFont typeface="Wingdings" panose="05000000000000000000" pitchFamily="2" charset="2"/>
              <a:buChar char="Ø"/>
            </a:pPr>
            <a:r>
              <a:rPr lang="en-US" sz="2400" b="1" dirty="0"/>
              <a:t>Creative thinking</a:t>
            </a:r>
            <a:r>
              <a:rPr lang="en-US" sz="2400" dirty="0"/>
              <a:t> to uncover bugs</a:t>
            </a:r>
          </a:p>
        </p:txBody>
      </p:sp>
      <p:sp>
        <p:nvSpPr>
          <p:cNvPr id="2" name="Date Placeholder 1">
            <a:extLst>
              <a:ext uri="{FF2B5EF4-FFF2-40B4-BE49-F238E27FC236}">
                <a16:creationId xmlns:a16="http://schemas.microsoft.com/office/drawing/2014/main" id="{F486CB7C-BA61-2019-A91F-1E4A21E6B9AF}"/>
              </a:ext>
            </a:extLst>
          </p:cNvPr>
          <p:cNvSpPr>
            <a:spLocks noGrp="1"/>
          </p:cNvSpPr>
          <p:nvPr>
            <p:ph type="dt" sz="half" idx="10"/>
          </p:nvPr>
        </p:nvSpPr>
        <p:spPr/>
        <p:txBody>
          <a:bodyPr/>
          <a:lstStyle/>
          <a:p>
            <a:fld id="{073E56FD-0657-42F3-8E26-EA15A14608E9}" type="datetime1">
              <a:rPr lang="en-IN" smtClean="0"/>
              <a:t>03-11-2025</a:t>
            </a:fld>
            <a:endParaRPr lang="en-IN"/>
          </a:p>
        </p:txBody>
      </p:sp>
      <p:sp>
        <p:nvSpPr>
          <p:cNvPr id="4" name="Footer Placeholder 3">
            <a:extLst>
              <a:ext uri="{FF2B5EF4-FFF2-40B4-BE49-F238E27FC236}">
                <a16:creationId xmlns:a16="http://schemas.microsoft.com/office/drawing/2014/main" id="{C6910136-83A0-1F97-411A-14F61CD70AD3}"/>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EC1172F1-8B83-A332-DC7D-1DD641B3817A}"/>
              </a:ext>
            </a:extLst>
          </p:cNvPr>
          <p:cNvSpPr>
            <a:spLocks noGrp="1"/>
          </p:cNvSpPr>
          <p:nvPr>
            <p:ph type="sldNum" sz="quarter" idx="12"/>
          </p:nvPr>
        </p:nvSpPr>
        <p:spPr/>
        <p:txBody>
          <a:bodyPr/>
          <a:lstStyle/>
          <a:p>
            <a:fld id="{157E8F69-36B6-4843-A9CE-6B9353F4DBAF}" type="slidenum">
              <a:rPr lang="en-IN" smtClean="0"/>
              <a:t>5</a:t>
            </a:fld>
            <a:endParaRPr lang="en-IN"/>
          </a:p>
        </p:txBody>
      </p:sp>
    </p:spTree>
    <p:extLst>
      <p:ext uri="{BB962C8B-B14F-4D97-AF65-F5344CB8AC3E}">
        <p14:creationId xmlns:p14="http://schemas.microsoft.com/office/powerpoint/2010/main" val="2707288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480" y="88452"/>
            <a:ext cx="11430000" cy="3262432"/>
          </a:xfrm>
          <a:prstGeom prst="rect">
            <a:avLst/>
          </a:prstGeom>
        </p:spPr>
        <p:txBody>
          <a:bodyPr wrap="square">
            <a:spAutoFit/>
          </a:bodyPr>
          <a:lstStyle/>
          <a:p>
            <a:pPr algn="ctr"/>
            <a:r>
              <a:rPr lang="en-US" sz="2400" b="1" u="sng" dirty="0"/>
              <a:t>7.1 CODING</a:t>
            </a:r>
          </a:p>
          <a:p>
            <a:pPr algn="just"/>
            <a:r>
              <a:rPr lang="en-US" sz="2400" b="1" u="sng" dirty="0"/>
              <a:t>🎯 Main Objective of the Coding Phase</a:t>
            </a:r>
          </a:p>
          <a:p>
            <a:pPr algn="just"/>
            <a:r>
              <a:rPr lang="en-US" sz="2400" dirty="0"/>
              <a:t>	To </a:t>
            </a:r>
            <a:r>
              <a:rPr lang="en-US" sz="2400" b="1" dirty="0"/>
              <a:t>transform the design document</a:t>
            </a:r>
            <a:r>
              <a:rPr lang="en-US" sz="2400" dirty="0"/>
              <a:t> into working </a:t>
            </a:r>
            <a:r>
              <a:rPr lang="en-US" sz="2400" b="1" dirty="0"/>
              <a:t>code in a high-level programming language</a:t>
            </a:r>
            <a:r>
              <a:rPr lang="en-US" sz="2400" dirty="0"/>
              <a:t>, followed by </a:t>
            </a:r>
            <a:r>
              <a:rPr lang="en-US" sz="2400" b="1" dirty="0"/>
              <a:t>unit testing</a:t>
            </a:r>
            <a:r>
              <a:rPr lang="en-US" sz="2400" dirty="0"/>
              <a:t> of each module.</a:t>
            </a:r>
          </a:p>
          <a:p>
            <a:pPr algn="just"/>
            <a:endParaRPr lang="en-US" sz="1200" b="1" u="sng" dirty="0"/>
          </a:p>
          <a:p>
            <a:pPr algn="just"/>
            <a:r>
              <a:rPr lang="en-US" sz="2400" b="1" u="sng" dirty="0"/>
              <a:t>🧾 Input to the Coding Phase</a:t>
            </a:r>
          </a:p>
          <a:p>
            <a:pPr algn="just"/>
            <a:r>
              <a:rPr lang="en-US" sz="2400" dirty="0"/>
              <a:t>The </a:t>
            </a:r>
            <a:r>
              <a:rPr lang="en-US" sz="2400" b="1" dirty="0"/>
              <a:t>Design Document</a:t>
            </a:r>
            <a:r>
              <a:rPr lang="en-US" sz="2400" dirty="0"/>
              <a:t>, which contains:</a:t>
            </a:r>
          </a:p>
          <a:p>
            <a:pPr marL="800100" lvl="1" indent="-342900" algn="just">
              <a:buFont typeface="Wingdings" panose="05000000000000000000" pitchFamily="2" charset="2"/>
              <a:buChar char="Ø"/>
            </a:pPr>
            <a:r>
              <a:rPr lang="en-US" sz="2400" b="1" dirty="0"/>
              <a:t>High-level design</a:t>
            </a:r>
            <a:r>
              <a:rPr lang="en-US" sz="2400" dirty="0"/>
              <a:t> (structure charts showing module call relationships)</a:t>
            </a:r>
          </a:p>
          <a:p>
            <a:pPr marL="800100" lvl="1" indent="-342900" algn="just">
              <a:buFont typeface="Wingdings" panose="05000000000000000000" pitchFamily="2" charset="2"/>
              <a:buChar char="Ø"/>
            </a:pPr>
            <a:r>
              <a:rPr lang="en-US" sz="2400" b="1" dirty="0"/>
              <a:t>Detailed design</a:t>
            </a:r>
            <a:r>
              <a:rPr lang="en-US" sz="2400" dirty="0"/>
              <a:t> (module specifications including algorithms and data structures)</a:t>
            </a:r>
          </a:p>
        </p:txBody>
      </p:sp>
      <p:sp>
        <p:nvSpPr>
          <p:cNvPr id="4" name="Rectangle 3"/>
          <p:cNvSpPr/>
          <p:nvPr/>
        </p:nvSpPr>
        <p:spPr>
          <a:xfrm>
            <a:off x="411480" y="4356724"/>
            <a:ext cx="11430000" cy="2308324"/>
          </a:xfrm>
          <a:prstGeom prst="rect">
            <a:avLst/>
          </a:prstGeom>
        </p:spPr>
        <p:txBody>
          <a:bodyPr wrap="square">
            <a:spAutoFit/>
          </a:bodyPr>
          <a:lstStyle/>
          <a:p>
            <a:pPr algn="just"/>
            <a:r>
              <a:rPr lang="en-US" sz="2400" b="1" u="sng" dirty="0"/>
              <a:t>💼 What Happens in the Coding Phase?</a:t>
            </a:r>
          </a:p>
          <a:p>
            <a:pPr marL="800100" lvl="1" indent="-342900" algn="just">
              <a:buFont typeface="Wingdings" panose="05000000000000000000" pitchFamily="2" charset="2"/>
              <a:buChar char="Ø"/>
            </a:pPr>
            <a:r>
              <a:rPr lang="en-US" sz="2400" dirty="0"/>
              <a:t>Every module identified in design is </a:t>
            </a:r>
            <a:r>
              <a:rPr lang="en-US" sz="2400" b="1" dirty="0"/>
              <a:t>coded</a:t>
            </a:r>
            <a:r>
              <a:rPr lang="en-US" sz="2400" dirty="0"/>
              <a:t> as per its </a:t>
            </a:r>
            <a:r>
              <a:rPr lang="en-US" sz="2400" b="1" dirty="0"/>
              <a:t>specifications</a:t>
            </a:r>
            <a:r>
              <a:rPr lang="en-US" sz="2400" dirty="0"/>
              <a:t>.</a:t>
            </a:r>
          </a:p>
          <a:p>
            <a:pPr marL="800100" lvl="1" indent="-342900" algn="just">
              <a:buFont typeface="Wingdings" panose="05000000000000000000" pitchFamily="2" charset="2"/>
              <a:buChar char="Ø"/>
            </a:pPr>
            <a:r>
              <a:rPr lang="en-US" sz="2400" b="1" dirty="0"/>
              <a:t>Unit testing</a:t>
            </a:r>
            <a:r>
              <a:rPr lang="en-US" sz="2400" dirty="0"/>
              <a:t> is done immediately after coding each module.</a:t>
            </a:r>
          </a:p>
          <a:p>
            <a:pPr marL="800100" lvl="1" indent="-342900" algn="just">
              <a:buFont typeface="Wingdings" panose="05000000000000000000" pitchFamily="2" charset="2"/>
              <a:buChar char="Ø"/>
            </a:pPr>
            <a:r>
              <a:rPr lang="en-US" sz="2400" b="1" dirty="0"/>
              <a:t>Code reviews</a:t>
            </a:r>
            <a:r>
              <a:rPr lang="en-US" sz="2400" dirty="0"/>
              <a:t> are conducted to:</a:t>
            </a:r>
          </a:p>
          <a:p>
            <a:pPr marL="1257300" lvl="2" indent="-342900" algn="just">
              <a:buFont typeface="Wingdings" panose="05000000000000000000" pitchFamily="2" charset="2"/>
              <a:buChar char="Ø"/>
            </a:pPr>
            <a:r>
              <a:rPr lang="en-US" sz="2400" dirty="0"/>
              <a:t>Check for </a:t>
            </a:r>
            <a:r>
              <a:rPr lang="en-US" sz="2400" b="1" dirty="0"/>
              <a:t>errors</a:t>
            </a:r>
            <a:endParaRPr lang="en-US" sz="2400" dirty="0"/>
          </a:p>
          <a:p>
            <a:pPr marL="1257300" lvl="2" indent="-342900" algn="just">
              <a:buFont typeface="Wingdings" panose="05000000000000000000" pitchFamily="2" charset="2"/>
              <a:buChar char="Ø"/>
            </a:pPr>
            <a:r>
              <a:rPr lang="en-US" sz="2400" dirty="0"/>
              <a:t>Ensure </a:t>
            </a:r>
            <a:r>
              <a:rPr lang="en-US" sz="2400" b="1" dirty="0"/>
              <a:t>coding standard compliance</a:t>
            </a:r>
            <a:endParaRPr lang="en-US" sz="2400" dirty="0"/>
          </a:p>
        </p:txBody>
      </p:sp>
      <p:sp>
        <p:nvSpPr>
          <p:cNvPr id="5" name="TextBox 4">
            <a:extLst>
              <a:ext uri="{FF2B5EF4-FFF2-40B4-BE49-F238E27FC236}">
                <a16:creationId xmlns:a16="http://schemas.microsoft.com/office/drawing/2014/main" id="{6DAC051B-5581-BEFD-CD86-EC7801B873E9}"/>
              </a:ext>
            </a:extLst>
          </p:cNvPr>
          <p:cNvSpPr txBox="1"/>
          <p:nvPr/>
        </p:nvSpPr>
        <p:spPr>
          <a:xfrm>
            <a:off x="580644" y="3429000"/>
            <a:ext cx="11091672" cy="830997"/>
          </a:xfrm>
          <a:prstGeom prst="rect">
            <a:avLst/>
          </a:prstGeom>
          <a:noFill/>
        </p:spPr>
        <p:txBody>
          <a:bodyPr wrap="square">
            <a:spAutoFit/>
          </a:bodyPr>
          <a:lstStyle/>
          <a:p>
            <a:r>
              <a:rPr lang="en-US" sz="2400" b="1" dirty="0">
                <a:latin typeface="Calibri (Body)"/>
                <a:cs typeface="Times New Roman" panose="02020603050405020304" pitchFamily="18" charset="0"/>
              </a:rPr>
              <a:t>Example:</a:t>
            </a:r>
            <a:r>
              <a:rPr lang="en-US" sz="2400" dirty="0">
                <a:solidFill>
                  <a:srgbClr val="EE0000"/>
                </a:solidFill>
                <a:latin typeface="Calibri (Body)"/>
                <a:cs typeface="Times New Roman" panose="02020603050405020304" pitchFamily="18" charset="0"/>
              </a:rPr>
              <a:t> Suppose your design includes </a:t>
            </a:r>
            <a:r>
              <a:rPr lang="en-US" sz="2400" b="1" i="1" dirty="0" err="1">
                <a:latin typeface="Calibri (Body)"/>
                <a:cs typeface="Times New Roman" panose="02020603050405020304" pitchFamily="18" charset="0"/>
              </a:rPr>
              <a:t>calculateBill</a:t>
            </a:r>
            <a:r>
              <a:rPr lang="en-US" sz="2400" b="1" i="1" dirty="0">
                <a:latin typeface="Calibri (Body)"/>
                <a:cs typeface="Times New Roman" panose="02020603050405020304" pitchFamily="18" charset="0"/>
              </a:rPr>
              <a:t>()</a:t>
            </a:r>
            <a:r>
              <a:rPr lang="en-US" sz="2400" dirty="0">
                <a:solidFill>
                  <a:srgbClr val="EE0000"/>
                </a:solidFill>
                <a:latin typeface="Calibri (Body)"/>
                <a:cs typeface="Times New Roman" panose="02020603050405020304" pitchFamily="18" charset="0"/>
              </a:rPr>
              <a:t> and </a:t>
            </a:r>
            <a:r>
              <a:rPr lang="en-US" sz="2400" b="1" i="1" dirty="0" err="1">
                <a:latin typeface="Calibri (Body)"/>
                <a:cs typeface="Times New Roman" panose="02020603050405020304" pitchFamily="18" charset="0"/>
              </a:rPr>
              <a:t>applyDiscount</a:t>
            </a:r>
            <a:r>
              <a:rPr lang="en-US" sz="2400" b="1" i="1" dirty="0">
                <a:latin typeface="Calibri (Body)"/>
                <a:cs typeface="Times New Roman" panose="02020603050405020304" pitchFamily="18" charset="0"/>
              </a:rPr>
              <a:t>()</a:t>
            </a:r>
            <a:r>
              <a:rPr lang="en-US" sz="2400" dirty="0">
                <a:solidFill>
                  <a:srgbClr val="EE0000"/>
                </a:solidFill>
                <a:latin typeface="Calibri (Body)"/>
                <a:cs typeface="Times New Roman" panose="02020603050405020304" pitchFamily="18" charset="0"/>
              </a:rPr>
              <a:t>. Each must now be coded separately and tested individually.</a:t>
            </a:r>
          </a:p>
        </p:txBody>
      </p:sp>
      <p:sp>
        <p:nvSpPr>
          <p:cNvPr id="2" name="Date Placeholder 1">
            <a:extLst>
              <a:ext uri="{FF2B5EF4-FFF2-40B4-BE49-F238E27FC236}">
                <a16:creationId xmlns:a16="http://schemas.microsoft.com/office/drawing/2014/main" id="{8276CD39-12CB-F966-1FE8-59430BF431BD}"/>
              </a:ext>
            </a:extLst>
          </p:cNvPr>
          <p:cNvSpPr>
            <a:spLocks noGrp="1"/>
          </p:cNvSpPr>
          <p:nvPr>
            <p:ph type="dt" sz="half" idx="10"/>
          </p:nvPr>
        </p:nvSpPr>
        <p:spPr/>
        <p:txBody>
          <a:bodyPr/>
          <a:lstStyle/>
          <a:p>
            <a:fld id="{DA4E297C-C5DD-4DF1-BD16-A4A9A77B8364}" type="datetime1">
              <a:rPr lang="en-IN" smtClean="0"/>
              <a:t>03-11-2025</a:t>
            </a:fld>
            <a:endParaRPr lang="en-IN"/>
          </a:p>
        </p:txBody>
      </p:sp>
      <p:sp>
        <p:nvSpPr>
          <p:cNvPr id="6" name="Footer Placeholder 5">
            <a:extLst>
              <a:ext uri="{FF2B5EF4-FFF2-40B4-BE49-F238E27FC236}">
                <a16:creationId xmlns:a16="http://schemas.microsoft.com/office/drawing/2014/main" id="{32D54B25-C0BA-F534-4BFE-F00CFA9222DA}"/>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3561B0CE-7D7A-6EB1-493E-70C6CF1C0324}"/>
              </a:ext>
            </a:extLst>
          </p:cNvPr>
          <p:cNvSpPr>
            <a:spLocks noGrp="1"/>
          </p:cNvSpPr>
          <p:nvPr>
            <p:ph type="sldNum" sz="quarter" idx="12"/>
          </p:nvPr>
        </p:nvSpPr>
        <p:spPr/>
        <p:txBody>
          <a:bodyPr/>
          <a:lstStyle/>
          <a:p>
            <a:fld id="{157E8F69-36B6-4843-A9CE-6B9353F4DBAF}" type="slidenum">
              <a:rPr lang="en-IN" smtClean="0"/>
              <a:t>6</a:t>
            </a:fld>
            <a:endParaRPr lang="en-IN"/>
          </a:p>
        </p:txBody>
      </p:sp>
    </p:spTree>
    <p:extLst>
      <p:ext uri="{BB962C8B-B14F-4D97-AF65-F5344CB8AC3E}">
        <p14:creationId xmlns:p14="http://schemas.microsoft.com/office/powerpoint/2010/main" val="2913566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7168" y="287774"/>
            <a:ext cx="5495735" cy="461665"/>
          </a:xfrm>
          <a:prstGeom prst="rect">
            <a:avLst/>
          </a:prstGeom>
        </p:spPr>
        <p:txBody>
          <a:bodyPr wrap="none">
            <a:spAutoFit/>
          </a:bodyPr>
          <a:lstStyle/>
          <a:p>
            <a:r>
              <a:rPr lang="en-IN" sz="2400" b="1" u="sng" dirty="0"/>
              <a:t>🔒 Coding Standards vs Coding Guidelines</a:t>
            </a:r>
          </a:p>
        </p:txBody>
      </p:sp>
      <p:graphicFrame>
        <p:nvGraphicFramePr>
          <p:cNvPr id="4" name="Table 3"/>
          <p:cNvGraphicFramePr>
            <a:graphicFrameLocks noGrp="1"/>
          </p:cNvGraphicFramePr>
          <p:nvPr>
            <p:extLst>
              <p:ext uri="{D42A27DB-BD31-4B8C-83A1-F6EECF244321}">
                <p14:modId xmlns:p14="http://schemas.microsoft.com/office/powerpoint/2010/main" val="3694435429"/>
              </p:ext>
            </p:extLst>
          </p:nvPr>
        </p:nvGraphicFramePr>
        <p:xfrm>
          <a:off x="267168" y="922814"/>
          <a:ext cx="11680992" cy="2954972"/>
        </p:xfrm>
        <a:graphic>
          <a:graphicData uri="http://schemas.openxmlformats.org/drawingml/2006/table">
            <a:tbl>
              <a:tblPr>
                <a:tableStyleId>{5DA37D80-6434-44D0-A028-1B22A696006F}</a:tableStyleId>
              </a:tblPr>
              <a:tblGrid>
                <a:gridCol w="2155992">
                  <a:extLst>
                    <a:ext uri="{9D8B030D-6E8A-4147-A177-3AD203B41FA5}">
                      <a16:colId xmlns:a16="http://schemas.microsoft.com/office/drawing/2014/main" val="2958591746"/>
                    </a:ext>
                  </a:extLst>
                </a:gridCol>
                <a:gridCol w="5181600">
                  <a:extLst>
                    <a:ext uri="{9D8B030D-6E8A-4147-A177-3AD203B41FA5}">
                      <a16:colId xmlns:a16="http://schemas.microsoft.com/office/drawing/2014/main" val="308745359"/>
                    </a:ext>
                  </a:extLst>
                </a:gridCol>
                <a:gridCol w="4343400">
                  <a:extLst>
                    <a:ext uri="{9D8B030D-6E8A-4147-A177-3AD203B41FA5}">
                      <a16:colId xmlns:a16="http://schemas.microsoft.com/office/drawing/2014/main" val="2105685256"/>
                    </a:ext>
                  </a:extLst>
                </a:gridCol>
              </a:tblGrid>
              <a:tr h="0">
                <a:tc>
                  <a:txBody>
                    <a:bodyPr/>
                    <a:lstStyle/>
                    <a:p>
                      <a:pPr algn="ctr"/>
                      <a:r>
                        <a:rPr lang="en-IN" sz="2400" b="1" u="sng" dirty="0"/>
                        <a:t>Feature</a:t>
                      </a:r>
                    </a:p>
                  </a:txBody>
                  <a:tcPr anchor="ctr"/>
                </a:tc>
                <a:tc>
                  <a:txBody>
                    <a:bodyPr/>
                    <a:lstStyle/>
                    <a:p>
                      <a:pPr algn="ctr"/>
                      <a:r>
                        <a:rPr lang="en-IN" sz="2400" b="1" u="sng" dirty="0"/>
                        <a:t>Coding Standards</a:t>
                      </a:r>
                    </a:p>
                  </a:txBody>
                  <a:tcPr anchor="ctr"/>
                </a:tc>
                <a:tc>
                  <a:txBody>
                    <a:bodyPr/>
                    <a:lstStyle/>
                    <a:p>
                      <a:pPr algn="ctr"/>
                      <a:r>
                        <a:rPr lang="en-IN" sz="2400" b="1" u="sng" dirty="0"/>
                        <a:t>Coding Guidelines</a:t>
                      </a:r>
                    </a:p>
                  </a:txBody>
                  <a:tcPr anchor="ctr"/>
                </a:tc>
                <a:extLst>
                  <a:ext uri="{0D108BD9-81ED-4DB2-BD59-A6C34878D82A}">
                    <a16:rowId xmlns:a16="http://schemas.microsoft.com/office/drawing/2014/main" val="1162885058"/>
                  </a:ext>
                </a:extLst>
              </a:tr>
              <a:tr h="540226">
                <a:tc>
                  <a:txBody>
                    <a:bodyPr/>
                    <a:lstStyle/>
                    <a:p>
                      <a:r>
                        <a:rPr lang="en-IN" sz="2000" dirty="0"/>
                        <a:t>Meaning</a:t>
                      </a:r>
                    </a:p>
                  </a:txBody>
                  <a:tcPr anchor="ctr"/>
                </a:tc>
                <a:tc>
                  <a:txBody>
                    <a:bodyPr/>
                    <a:lstStyle/>
                    <a:p>
                      <a:r>
                        <a:rPr lang="en-US" sz="2000" dirty="0"/>
                        <a:t>Rigid, formal rules that must be followed</a:t>
                      </a:r>
                    </a:p>
                  </a:txBody>
                  <a:tcPr anchor="ctr"/>
                </a:tc>
                <a:tc>
                  <a:txBody>
                    <a:bodyPr/>
                    <a:lstStyle/>
                    <a:p>
                      <a:r>
                        <a:rPr lang="en-IN" sz="2000" dirty="0"/>
                        <a:t>Suggestions or good practices</a:t>
                      </a:r>
                    </a:p>
                  </a:txBody>
                  <a:tcPr anchor="ctr"/>
                </a:tc>
                <a:extLst>
                  <a:ext uri="{0D108BD9-81ED-4DB2-BD59-A6C34878D82A}">
                    <a16:rowId xmlns:a16="http://schemas.microsoft.com/office/drawing/2014/main" val="1327795507"/>
                  </a:ext>
                </a:extLst>
              </a:tr>
              <a:tr h="555466">
                <a:tc>
                  <a:txBody>
                    <a:bodyPr/>
                    <a:lstStyle/>
                    <a:p>
                      <a:r>
                        <a:rPr lang="en-IN" sz="2000" dirty="0"/>
                        <a:t>Enforceability</a:t>
                      </a:r>
                    </a:p>
                  </a:txBody>
                  <a:tcPr anchor="ctr"/>
                </a:tc>
                <a:tc>
                  <a:txBody>
                    <a:bodyPr/>
                    <a:lstStyle/>
                    <a:p>
                      <a:r>
                        <a:rPr lang="en-US" sz="2000" dirty="0"/>
                        <a:t>Mandatory – checked during code review</a:t>
                      </a:r>
                    </a:p>
                  </a:txBody>
                  <a:tcPr anchor="ctr"/>
                </a:tc>
                <a:tc>
                  <a:txBody>
                    <a:bodyPr/>
                    <a:lstStyle/>
                    <a:p>
                      <a:r>
                        <a:rPr lang="en-IN" sz="2000" dirty="0"/>
                        <a:t>Optional – developer discretion</a:t>
                      </a:r>
                    </a:p>
                  </a:txBody>
                  <a:tcPr anchor="ctr"/>
                </a:tc>
                <a:extLst>
                  <a:ext uri="{0D108BD9-81ED-4DB2-BD59-A6C34878D82A}">
                    <a16:rowId xmlns:a16="http://schemas.microsoft.com/office/drawing/2014/main" val="2204896434"/>
                  </a:ext>
                </a:extLst>
              </a:tr>
              <a:tr h="0">
                <a:tc>
                  <a:txBody>
                    <a:bodyPr/>
                    <a:lstStyle/>
                    <a:p>
                      <a:r>
                        <a:rPr lang="en-IN" sz="2000"/>
                        <a:t>Purpose</a:t>
                      </a:r>
                    </a:p>
                  </a:txBody>
                  <a:tcPr anchor="ctr"/>
                </a:tc>
                <a:tc>
                  <a:txBody>
                    <a:bodyPr/>
                    <a:lstStyle/>
                    <a:p>
                      <a:r>
                        <a:rPr lang="en-IN" sz="2000" dirty="0"/>
                        <a:t>Ensure uniformity and consistency</a:t>
                      </a:r>
                    </a:p>
                  </a:txBody>
                  <a:tcPr anchor="ctr"/>
                </a:tc>
                <a:tc>
                  <a:txBody>
                    <a:bodyPr/>
                    <a:lstStyle/>
                    <a:p>
                      <a:r>
                        <a:rPr lang="en-US" sz="2000" dirty="0"/>
                        <a:t>Encourage clarity, maintainability, and efficiency</a:t>
                      </a:r>
                    </a:p>
                  </a:txBody>
                  <a:tcPr anchor="ctr"/>
                </a:tc>
                <a:extLst>
                  <a:ext uri="{0D108BD9-81ED-4DB2-BD59-A6C34878D82A}">
                    <a16:rowId xmlns:a16="http://schemas.microsoft.com/office/drawing/2014/main" val="1681635900"/>
                  </a:ext>
                </a:extLst>
              </a:tr>
              <a:tr h="616426">
                <a:tc>
                  <a:txBody>
                    <a:bodyPr/>
                    <a:lstStyle/>
                    <a:p>
                      <a:r>
                        <a:rPr lang="en-IN" sz="2000"/>
                        <a:t>Example</a:t>
                      </a:r>
                    </a:p>
                  </a:txBody>
                  <a:tcPr anchor="ctr"/>
                </a:tc>
                <a:tc>
                  <a:txBody>
                    <a:bodyPr/>
                    <a:lstStyle/>
                    <a:p>
                      <a:r>
                        <a:rPr lang="en-IN" sz="2000"/>
                        <a:t>Variable naming conventions, error codes</a:t>
                      </a:r>
                    </a:p>
                  </a:txBody>
                  <a:tcPr anchor="ctr"/>
                </a:tc>
                <a:tc>
                  <a:txBody>
                    <a:bodyPr/>
                    <a:lstStyle/>
                    <a:p>
                      <a:r>
                        <a:rPr lang="fr-FR" sz="2000" dirty="0" err="1"/>
                        <a:t>avoid</a:t>
                      </a:r>
                      <a:r>
                        <a:rPr lang="fr-FR" sz="2000" dirty="0"/>
                        <a:t> </a:t>
                      </a:r>
                      <a:r>
                        <a:rPr lang="fr-FR" sz="2000" dirty="0" err="1"/>
                        <a:t>cleavage</a:t>
                      </a:r>
                      <a:r>
                        <a:rPr lang="fr-FR" sz="2000" dirty="0"/>
                        <a:t> </a:t>
                      </a:r>
                      <a:r>
                        <a:rPr lang="fr-FR" sz="2000" dirty="0" err="1"/>
                        <a:t>coding</a:t>
                      </a:r>
                      <a:r>
                        <a:rPr lang="fr-FR" sz="2000" dirty="0"/>
                        <a:t>, Don't re-use variables</a:t>
                      </a:r>
                    </a:p>
                  </a:txBody>
                  <a:tcPr anchor="ctr"/>
                </a:tc>
                <a:extLst>
                  <a:ext uri="{0D108BD9-81ED-4DB2-BD59-A6C34878D82A}">
                    <a16:rowId xmlns:a16="http://schemas.microsoft.com/office/drawing/2014/main" val="67200069"/>
                  </a:ext>
                </a:extLst>
              </a:tr>
            </a:tbl>
          </a:graphicData>
        </a:graphic>
      </p:graphicFrame>
      <p:sp>
        <p:nvSpPr>
          <p:cNvPr id="5" name="Rectangle 4"/>
          <p:cNvSpPr/>
          <p:nvPr/>
        </p:nvSpPr>
        <p:spPr>
          <a:xfrm>
            <a:off x="267168" y="4092416"/>
            <a:ext cx="11680992" cy="1938992"/>
          </a:xfrm>
          <a:prstGeom prst="rect">
            <a:avLst/>
          </a:prstGeom>
        </p:spPr>
        <p:txBody>
          <a:bodyPr wrap="square">
            <a:spAutoFit/>
          </a:bodyPr>
          <a:lstStyle/>
          <a:p>
            <a:r>
              <a:rPr lang="en-US" sz="2400" b="1" u="sng" dirty="0"/>
              <a:t>📌 Benefits of Coding Standards</a:t>
            </a:r>
          </a:p>
          <a:p>
            <a:pPr lvl="1">
              <a:buFont typeface="+mj-lt"/>
              <a:buAutoNum type="arabicPeriod"/>
            </a:pPr>
            <a:r>
              <a:rPr lang="en-US" sz="2400" dirty="0"/>
              <a:t>Uniform appearance across the codebase</a:t>
            </a:r>
          </a:p>
          <a:p>
            <a:pPr lvl="1">
              <a:buFont typeface="+mj-lt"/>
              <a:buAutoNum type="arabicPeriod"/>
            </a:pPr>
            <a:r>
              <a:rPr lang="en-US" sz="2400" dirty="0"/>
              <a:t>Easier understanding, debugging, and maintenance</a:t>
            </a:r>
          </a:p>
          <a:p>
            <a:pPr lvl="1">
              <a:buFont typeface="+mj-lt"/>
              <a:buAutoNum type="arabicPeriod"/>
            </a:pPr>
            <a:r>
              <a:rPr lang="en-US" sz="2400" dirty="0"/>
              <a:t>Promotes </a:t>
            </a:r>
            <a:r>
              <a:rPr lang="en-US" sz="2400" b="1" dirty="0"/>
              <a:t>good programming practices</a:t>
            </a:r>
            <a:endParaRPr lang="en-US" sz="2400" dirty="0"/>
          </a:p>
          <a:p>
            <a:pPr lvl="1">
              <a:buFont typeface="+mj-lt"/>
              <a:buAutoNum type="arabicPeriod"/>
            </a:pPr>
            <a:r>
              <a:rPr lang="en-US" sz="2400" dirty="0"/>
              <a:t>Supports </a:t>
            </a:r>
            <a:r>
              <a:rPr lang="en-US" sz="2400" b="1" dirty="0"/>
              <a:t>code reuse</a:t>
            </a:r>
            <a:endParaRPr lang="en-US" sz="2400" dirty="0"/>
          </a:p>
        </p:txBody>
      </p:sp>
      <p:sp>
        <p:nvSpPr>
          <p:cNvPr id="2" name="Date Placeholder 1">
            <a:extLst>
              <a:ext uri="{FF2B5EF4-FFF2-40B4-BE49-F238E27FC236}">
                <a16:creationId xmlns:a16="http://schemas.microsoft.com/office/drawing/2014/main" id="{4DB785A1-316A-9B88-4C30-63611EB0FB02}"/>
              </a:ext>
            </a:extLst>
          </p:cNvPr>
          <p:cNvSpPr>
            <a:spLocks noGrp="1"/>
          </p:cNvSpPr>
          <p:nvPr>
            <p:ph type="dt" sz="half" idx="10"/>
          </p:nvPr>
        </p:nvSpPr>
        <p:spPr/>
        <p:txBody>
          <a:bodyPr/>
          <a:lstStyle/>
          <a:p>
            <a:fld id="{3C24DE33-8DB5-4CE1-8CF0-80F095E4B75C}" type="datetime1">
              <a:rPr lang="en-IN" smtClean="0"/>
              <a:t>03-11-2025</a:t>
            </a:fld>
            <a:endParaRPr lang="en-IN"/>
          </a:p>
        </p:txBody>
      </p:sp>
      <p:sp>
        <p:nvSpPr>
          <p:cNvPr id="6" name="Footer Placeholder 5">
            <a:extLst>
              <a:ext uri="{FF2B5EF4-FFF2-40B4-BE49-F238E27FC236}">
                <a16:creationId xmlns:a16="http://schemas.microsoft.com/office/drawing/2014/main" id="{4DAA62CD-5848-645D-4055-A23CF88883E5}"/>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702E7C34-BEC1-A6C0-6717-33FD96766732}"/>
              </a:ext>
            </a:extLst>
          </p:cNvPr>
          <p:cNvSpPr>
            <a:spLocks noGrp="1"/>
          </p:cNvSpPr>
          <p:nvPr>
            <p:ph type="sldNum" sz="quarter" idx="12"/>
          </p:nvPr>
        </p:nvSpPr>
        <p:spPr/>
        <p:txBody>
          <a:bodyPr/>
          <a:lstStyle/>
          <a:p>
            <a:fld id="{157E8F69-36B6-4843-A9CE-6B9353F4DBAF}" type="slidenum">
              <a:rPr lang="en-IN" smtClean="0"/>
              <a:t>7</a:t>
            </a:fld>
            <a:endParaRPr lang="en-IN"/>
          </a:p>
        </p:txBody>
      </p:sp>
    </p:spTree>
    <p:extLst>
      <p:ext uri="{BB962C8B-B14F-4D97-AF65-F5344CB8AC3E}">
        <p14:creationId xmlns:p14="http://schemas.microsoft.com/office/powerpoint/2010/main" val="3454209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381000" y="227826"/>
            <a:ext cx="11308080"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Example Coding Standards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Variable Naming</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Global variables</a:t>
            </a:r>
            <a:r>
              <a:rPr kumimoji="0" lang="en-US" altLang="en-US" sz="2400" b="0" i="0" u="none" strike="noStrike" cap="none" normalizeH="0" baseline="0" dirty="0">
                <a:ln>
                  <a:noFill/>
                </a:ln>
                <a:solidFill>
                  <a:schemeClr val="tx1"/>
                </a:solidFill>
                <a:effectLst/>
              </a:rPr>
              <a:t>: Start with uppercase (e.g., </a:t>
            </a:r>
            <a:r>
              <a:rPr kumimoji="0" lang="en-US" altLang="en-US" sz="2400" b="0" i="0" u="none" strike="noStrike" cap="none" normalizeH="0" baseline="0" dirty="0" err="1">
                <a:ln>
                  <a:noFill/>
                </a:ln>
                <a:solidFill>
                  <a:schemeClr val="tx1"/>
                </a:solidFill>
                <a:effectLst/>
              </a:rPr>
              <a:t>GlobalCount</a:t>
            </a:r>
            <a:r>
              <a:rPr kumimoji="0" lang="en-US" altLang="en-US" sz="2400" b="0" i="0" u="none" strike="noStrike" cap="none" normalizeH="0" baseline="0" dirty="0">
                <a:ln>
                  <a:noFill/>
                </a:ln>
                <a:solidFill>
                  <a:schemeClr val="tx1"/>
                </a:solidFill>
                <a:effectLst/>
              </a:rPr>
              <a:t>)</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Local variables</a:t>
            </a:r>
            <a:r>
              <a:rPr kumimoji="0" lang="en-US" altLang="en-US" sz="2400" b="0" i="0" u="none" strike="noStrike" cap="none" normalizeH="0" baseline="0" dirty="0">
                <a:ln>
                  <a:noFill/>
                </a:ln>
                <a:solidFill>
                  <a:schemeClr val="tx1"/>
                </a:solidFill>
                <a:effectLst/>
              </a:rPr>
              <a:t>: Start with lowercase (e.g., </a:t>
            </a:r>
            <a:r>
              <a:rPr kumimoji="0" lang="en-US" altLang="en-US" sz="2400" b="0" i="0" u="none" strike="noStrike" cap="none" normalizeH="0" baseline="0" dirty="0" err="1">
                <a:ln>
                  <a:noFill/>
                </a:ln>
                <a:solidFill>
                  <a:schemeClr val="tx1"/>
                </a:solidFill>
                <a:effectLst/>
              </a:rPr>
              <a:t>tempValue</a:t>
            </a:r>
            <a:r>
              <a:rPr kumimoji="0" lang="en-US" altLang="en-US" sz="2400" b="0" i="0" u="none" strike="noStrike" cap="none" normalizeH="0" baseline="0" dirty="0">
                <a:ln>
                  <a:noFill/>
                </a:ln>
                <a:solidFill>
                  <a:schemeClr val="tx1"/>
                </a:solidFill>
                <a:effectLst/>
              </a:rPr>
              <a:t>)</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Constants</a:t>
            </a:r>
            <a:r>
              <a:rPr kumimoji="0" lang="en-US" altLang="en-US" sz="2400" b="0" i="0" u="none" strike="noStrike" cap="none" normalizeH="0" baseline="0" dirty="0">
                <a:ln>
                  <a:noFill/>
                </a:ln>
                <a:solidFill>
                  <a:schemeClr val="tx1"/>
                </a:solidFill>
                <a:effectLst/>
              </a:rPr>
              <a:t>: All uppercase (e.g., MAX_SIZE)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 Module Header Format</a:t>
            </a:r>
          </a:p>
          <a:p>
            <a:pPr lvl="1" eaLnBrk="0" fontAlgn="base" hangingPunct="0">
              <a:spcBef>
                <a:spcPct val="0"/>
              </a:spcBef>
              <a:spcAft>
                <a:spcPct val="0"/>
              </a:spcAft>
            </a:pPr>
            <a:r>
              <a:rPr kumimoji="0" lang="en-US" altLang="en-US" sz="2400" b="0" i="0" u="none" strike="noStrike" cap="none" normalizeH="0" baseline="0" dirty="0">
                <a:ln>
                  <a:noFill/>
                </a:ln>
                <a:solidFill>
                  <a:schemeClr val="tx1"/>
                </a:solidFill>
                <a:effectLst/>
              </a:rPr>
              <a:t>Should include:</a:t>
            </a:r>
          </a:p>
          <a:p>
            <a:pPr lvl="2" eaLnBrk="0" fontAlgn="base" hangingPunct="0">
              <a:spcBef>
                <a:spcPct val="0"/>
              </a:spcBef>
              <a:spcAft>
                <a:spcPct val="0"/>
              </a:spcAft>
              <a:buFontTx/>
              <a:buChar char="•"/>
            </a:pPr>
            <a:r>
              <a:rPr kumimoji="0" lang="en-US" altLang="en-US" sz="2400" b="0" i="0" u="none" strike="noStrike" cap="none" normalizeH="0" baseline="0" dirty="0">
                <a:ln>
                  <a:noFill/>
                </a:ln>
                <a:solidFill>
                  <a:schemeClr val="tx1"/>
                </a:solidFill>
                <a:effectLst/>
              </a:rPr>
              <a:t>Module Name</a:t>
            </a:r>
          </a:p>
          <a:p>
            <a:pPr lvl="2" eaLnBrk="0" fontAlgn="base" hangingPunct="0">
              <a:spcBef>
                <a:spcPct val="0"/>
              </a:spcBef>
              <a:spcAft>
                <a:spcPct val="0"/>
              </a:spcAft>
              <a:buFontTx/>
              <a:buChar char="•"/>
            </a:pPr>
            <a:r>
              <a:rPr kumimoji="0" lang="en-US" altLang="en-US" sz="2400" b="0" i="0" u="none" strike="noStrike" cap="none" normalizeH="0" baseline="0" dirty="0">
                <a:ln>
                  <a:noFill/>
                </a:ln>
                <a:solidFill>
                  <a:schemeClr val="tx1"/>
                </a:solidFill>
                <a:effectLst/>
              </a:rPr>
              <a:t>Creation Date</a:t>
            </a:r>
          </a:p>
          <a:p>
            <a:pPr lvl="2" eaLnBrk="0" fontAlgn="base" hangingPunct="0">
              <a:spcBef>
                <a:spcPct val="0"/>
              </a:spcBef>
              <a:spcAft>
                <a:spcPct val="0"/>
              </a:spcAft>
              <a:buFontTx/>
              <a:buChar char="•"/>
            </a:pPr>
            <a:r>
              <a:rPr kumimoji="0" lang="en-US" altLang="en-US" sz="2400" b="0" i="0" u="none" strike="noStrike" cap="none" normalizeH="0" baseline="0" dirty="0">
                <a:ln>
                  <a:noFill/>
                </a:ln>
                <a:solidFill>
                  <a:schemeClr val="tx1"/>
                </a:solidFill>
                <a:effectLst/>
              </a:rPr>
              <a:t>Author Name</a:t>
            </a:r>
          </a:p>
          <a:p>
            <a:pPr lvl="2" eaLnBrk="0" fontAlgn="base" hangingPunct="0">
              <a:spcBef>
                <a:spcPct val="0"/>
              </a:spcBef>
              <a:spcAft>
                <a:spcPct val="0"/>
              </a:spcAft>
              <a:buFontTx/>
              <a:buChar char="•"/>
            </a:pPr>
            <a:r>
              <a:rPr kumimoji="0" lang="en-US" altLang="en-US" sz="2400" b="0" i="0" u="none" strike="noStrike" cap="none" normalizeH="0" baseline="0" dirty="0">
                <a:ln>
                  <a:noFill/>
                </a:ln>
                <a:solidFill>
                  <a:schemeClr val="tx1"/>
                </a:solidFill>
                <a:effectLst/>
              </a:rPr>
              <a:t>Modification History</a:t>
            </a:r>
          </a:p>
          <a:p>
            <a:pPr lvl="2" eaLnBrk="0" fontAlgn="base" hangingPunct="0">
              <a:spcBef>
                <a:spcPct val="0"/>
              </a:spcBef>
              <a:spcAft>
                <a:spcPct val="0"/>
              </a:spcAft>
              <a:buFontTx/>
              <a:buChar char="•"/>
            </a:pPr>
            <a:r>
              <a:rPr kumimoji="0" lang="en-US" altLang="en-US" sz="2400" b="0" i="0" u="none" strike="noStrike" cap="none" normalizeH="0" baseline="0" dirty="0">
                <a:ln>
                  <a:noFill/>
                </a:ln>
                <a:solidFill>
                  <a:schemeClr val="tx1"/>
                </a:solidFill>
                <a:effectLst/>
              </a:rPr>
              <a:t>Synopsis (short description)</a:t>
            </a:r>
          </a:p>
          <a:p>
            <a:pPr lvl="2" eaLnBrk="0" fontAlgn="base" hangingPunct="0">
              <a:spcBef>
                <a:spcPct val="0"/>
              </a:spcBef>
              <a:spcAft>
                <a:spcPct val="0"/>
              </a:spcAft>
              <a:buFontTx/>
              <a:buChar char="•"/>
            </a:pPr>
            <a:r>
              <a:rPr kumimoji="0" lang="en-US" altLang="en-US" sz="2400" b="0" i="0" u="none" strike="noStrike" cap="none" normalizeH="0" baseline="0" dirty="0">
                <a:ln>
                  <a:noFill/>
                </a:ln>
                <a:solidFill>
                  <a:schemeClr val="tx1"/>
                </a:solidFill>
                <a:effectLst/>
              </a:rPr>
              <a:t>Functions list with I/O</a:t>
            </a:r>
          </a:p>
          <a:p>
            <a:pPr lvl="2" eaLnBrk="0" fontAlgn="base" hangingPunct="0">
              <a:spcBef>
                <a:spcPct val="0"/>
              </a:spcBef>
              <a:spcAft>
                <a:spcPct val="0"/>
              </a:spcAft>
              <a:buFontTx/>
              <a:buChar char="•"/>
            </a:pPr>
            <a:r>
              <a:rPr kumimoji="0" lang="en-US" altLang="en-US" sz="2400" b="0" i="0" u="none" strike="noStrike" cap="none" normalizeH="0" baseline="0" dirty="0">
                <a:ln>
                  <a:noFill/>
                </a:ln>
                <a:solidFill>
                  <a:schemeClr val="tx1"/>
                </a:solidFill>
                <a:effectLst/>
              </a:rPr>
              <a:t>Global variables used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 Error and Exception Handling</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Consistent return values for errors (e.g., 0 for success, 1 for failure)</a:t>
            </a:r>
          </a:p>
        </p:txBody>
      </p:sp>
      <p:sp>
        <p:nvSpPr>
          <p:cNvPr id="2" name="Date Placeholder 1">
            <a:extLst>
              <a:ext uri="{FF2B5EF4-FFF2-40B4-BE49-F238E27FC236}">
                <a16:creationId xmlns:a16="http://schemas.microsoft.com/office/drawing/2014/main" id="{CC1F36EA-D1ED-848F-A22B-DFF4CF5F2EEE}"/>
              </a:ext>
            </a:extLst>
          </p:cNvPr>
          <p:cNvSpPr>
            <a:spLocks noGrp="1"/>
          </p:cNvSpPr>
          <p:nvPr>
            <p:ph type="dt" sz="half" idx="10"/>
          </p:nvPr>
        </p:nvSpPr>
        <p:spPr/>
        <p:txBody>
          <a:bodyPr/>
          <a:lstStyle/>
          <a:p>
            <a:fld id="{B781FD0E-32CE-49FD-9DC2-9B944FE70243}" type="datetime1">
              <a:rPr lang="en-IN" smtClean="0"/>
              <a:t>03-11-2025</a:t>
            </a:fld>
            <a:endParaRPr lang="en-IN"/>
          </a:p>
        </p:txBody>
      </p:sp>
      <p:sp>
        <p:nvSpPr>
          <p:cNvPr id="4" name="Footer Placeholder 3">
            <a:extLst>
              <a:ext uri="{FF2B5EF4-FFF2-40B4-BE49-F238E27FC236}">
                <a16:creationId xmlns:a16="http://schemas.microsoft.com/office/drawing/2014/main" id="{4FF88CA0-58D4-8AFA-3393-79AE022162B0}"/>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FAD9279E-3E7E-8C73-BE4F-02631F095472}"/>
              </a:ext>
            </a:extLst>
          </p:cNvPr>
          <p:cNvSpPr>
            <a:spLocks noGrp="1"/>
          </p:cNvSpPr>
          <p:nvPr>
            <p:ph type="sldNum" sz="quarter" idx="12"/>
          </p:nvPr>
        </p:nvSpPr>
        <p:spPr/>
        <p:txBody>
          <a:bodyPr/>
          <a:lstStyle/>
          <a:p>
            <a:fld id="{157E8F69-36B6-4843-A9CE-6B9353F4DBAF}" type="slidenum">
              <a:rPr lang="en-IN" smtClean="0"/>
              <a:t>8</a:t>
            </a:fld>
            <a:endParaRPr lang="en-IN"/>
          </a:p>
        </p:txBody>
      </p:sp>
    </p:spTree>
    <p:extLst>
      <p:ext uri="{BB962C8B-B14F-4D97-AF65-F5344CB8AC3E}">
        <p14:creationId xmlns:p14="http://schemas.microsoft.com/office/powerpoint/2010/main" val="1847781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1917" y="31879"/>
            <a:ext cx="6038256" cy="461665"/>
          </a:xfrm>
          <a:prstGeom prst="rect">
            <a:avLst/>
          </a:prstGeom>
        </p:spPr>
        <p:txBody>
          <a:bodyPr wrap="none">
            <a:spAutoFit/>
          </a:bodyPr>
          <a:lstStyle/>
          <a:p>
            <a:r>
              <a:rPr lang="en-US" sz="2400" b="1" u="sng" dirty="0"/>
              <a:t>📘 Example Coding Guidelines (Best Practices)</a:t>
            </a:r>
            <a:endParaRPr lang="en-IN" sz="2400" b="1" u="sng" dirty="0"/>
          </a:p>
        </p:txBody>
      </p:sp>
      <p:graphicFrame>
        <p:nvGraphicFramePr>
          <p:cNvPr id="4" name="Table 3"/>
          <p:cNvGraphicFramePr>
            <a:graphicFrameLocks noGrp="1"/>
          </p:cNvGraphicFramePr>
          <p:nvPr>
            <p:extLst>
              <p:ext uri="{D42A27DB-BD31-4B8C-83A1-F6EECF244321}">
                <p14:modId xmlns:p14="http://schemas.microsoft.com/office/powerpoint/2010/main" val="3513729127"/>
              </p:ext>
            </p:extLst>
          </p:nvPr>
        </p:nvGraphicFramePr>
        <p:xfrm>
          <a:off x="251917" y="685345"/>
          <a:ext cx="11482884" cy="3644900"/>
        </p:xfrm>
        <a:graphic>
          <a:graphicData uri="http://schemas.openxmlformats.org/drawingml/2006/table">
            <a:tbl>
              <a:tblPr>
                <a:tableStyleId>{5940675A-B579-460E-94D1-54222C63F5DA}</a:tableStyleId>
              </a:tblPr>
              <a:tblGrid>
                <a:gridCol w="5741442">
                  <a:extLst>
                    <a:ext uri="{9D8B030D-6E8A-4147-A177-3AD203B41FA5}">
                      <a16:colId xmlns:a16="http://schemas.microsoft.com/office/drawing/2014/main" val="2317768589"/>
                    </a:ext>
                  </a:extLst>
                </a:gridCol>
                <a:gridCol w="5741442">
                  <a:extLst>
                    <a:ext uri="{9D8B030D-6E8A-4147-A177-3AD203B41FA5}">
                      <a16:colId xmlns:a16="http://schemas.microsoft.com/office/drawing/2014/main" val="2105315103"/>
                    </a:ext>
                  </a:extLst>
                </a:gridCol>
              </a:tblGrid>
              <a:tr h="479732">
                <a:tc>
                  <a:txBody>
                    <a:bodyPr/>
                    <a:lstStyle/>
                    <a:p>
                      <a:pPr algn="ctr"/>
                      <a:r>
                        <a:rPr lang="en-IN" sz="2400" b="1" u="sng" dirty="0"/>
                        <a:t>Guideline</a:t>
                      </a:r>
                    </a:p>
                  </a:txBody>
                  <a:tcPr anchor="ctr"/>
                </a:tc>
                <a:tc>
                  <a:txBody>
                    <a:bodyPr/>
                    <a:lstStyle/>
                    <a:p>
                      <a:pPr algn="ctr"/>
                      <a:r>
                        <a:rPr lang="en-IN" sz="2400" b="1" u="sng" dirty="0"/>
                        <a:t>Reason</a:t>
                      </a:r>
                    </a:p>
                  </a:txBody>
                  <a:tcPr anchor="ctr"/>
                </a:tc>
                <a:extLst>
                  <a:ext uri="{0D108BD9-81ED-4DB2-BD59-A6C34878D82A}">
                    <a16:rowId xmlns:a16="http://schemas.microsoft.com/office/drawing/2014/main" val="2520518330"/>
                  </a:ext>
                </a:extLst>
              </a:tr>
              <a:tr h="415768">
                <a:tc>
                  <a:txBody>
                    <a:bodyPr/>
                    <a:lstStyle/>
                    <a:p>
                      <a:r>
                        <a:rPr lang="en-US" sz="2000" dirty="0"/>
                        <a:t>❌ Don’t write clever or cryptic code (</a:t>
                      </a:r>
                      <a:r>
                        <a:rPr lang="en-US" sz="1800" b="0" i="0" kern="1200" dirty="0">
                          <a:solidFill>
                            <a:schemeClr val="tx1"/>
                          </a:solidFill>
                          <a:effectLst/>
                          <a:latin typeface="+mn-lt"/>
                          <a:ea typeface="+mn-ea"/>
                          <a:cs typeface="+mn-cs"/>
                        </a:rPr>
                        <a:t>undesirable splitting or breaking up of code logic)</a:t>
                      </a:r>
                      <a:endParaRPr lang="en-US" sz="2000" dirty="0"/>
                    </a:p>
                  </a:txBody>
                  <a:tcPr anchor="ctr"/>
                </a:tc>
                <a:tc>
                  <a:txBody>
                    <a:bodyPr/>
                    <a:lstStyle/>
                    <a:p>
                      <a:r>
                        <a:rPr lang="en-US" sz="2000" dirty="0"/>
                        <a:t>Makes code hard to understand and maintain</a:t>
                      </a:r>
                    </a:p>
                  </a:txBody>
                  <a:tcPr anchor="ctr"/>
                </a:tc>
                <a:extLst>
                  <a:ext uri="{0D108BD9-81ED-4DB2-BD59-A6C34878D82A}">
                    <a16:rowId xmlns:a16="http://schemas.microsoft.com/office/drawing/2014/main" val="594511257"/>
                  </a:ext>
                </a:extLst>
              </a:tr>
              <a:tr h="415768">
                <a:tc>
                  <a:txBody>
                    <a:bodyPr/>
                    <a:lstStyle/>
                    <a:p>
                      <a:r>
                        <a:rPr lang="en-IN" sz="2000" dirty="0"/>
                        <a:t>❌ Avoid uncertain side effects</a:t>
                      </a:r>
                    </a:p>
                  </a:txBody>
                  <a:tcPr anchor="ctr"/>
                </a:tc>
                <a:tc>
                  <a:txBody>
                    <a:bodyPr/>
                    <a:lstStyle/>
                    <a:p>
                      <a:r>
                        <a:rPr lang="en-US" sz="2000" dirty="0"/>
                        <a:t>E.g., hidden global variable changes or I/O</a:t>
                      </a:r>
                    </a:p>
                  </a:txBody>
                  <a:tcPr anchor="ctr"/>
                </a:tc>
                <a:extLst>
                  <a:ext uri="{0D108BD9-81ED-4DB2-BD59-A6C34878D82A}">
                    <a16:rowId xmlns:a16="http://schemas.microsoft.com/office/drawing/2014/main" val="264711687"/>
                  </a:ext>
                </a:extLst>
              </a:tr>
              <a:tr h="415768">
                <a:tc>
                  <a:txBody>
                    <a:bodyPr/>
                    <a:lstStyle/>
                    <a:p>
                      <a:r>
                        <a:rPr lang="en-US" sz="2000" dirty="0"/>
                        <a:t>❌ Don’t use one variable for multiple purposes</a:t>
                      </a:r>
                    </a:p>
                  </a:txBody>
                  <a:tcPr anchor="ctr"/>
                </a:tc>
                <a:tc>
                  <a:txBody>
                    <a:bodyPr/>
                    <a:lstStyle/>
                    <a:p>
                      <a:r>
                        <a:rPr lang="en-US" sz="2000" dirty="0"/>
                        <a:t>Leads to confusion and bugs during enhancement</a:t>
                      </a:r>
                    </a:p>
                  </a:txBody>
                  <a:tcPr anchor="ctr"/>
                </a:tc>
                <a:extLst>
                  <a:ext uri="{0D108BD9-81ED-4DB2-BD59-A6C34878D82A}">
                    <a16:rowId xmlns:a16="http://schemas.microsoft.com/office/drawing/2014/main" val="772353073"/>
                  </a:ext>
                </a:extLst>
              </a:tr>
              <a:tr h="415768">
                <a:tc>
                  <a:txBody>
                    <a:bodyPr/>
                    <a:lstStyle/>
                    <a:p>
                      <a:r>
                        <a:rPr lang="en-IN" sz="2000"/>
                        <a:t>✅ Use meaningful variable names</a:t>
                      </a:r>
                    </a:p>
                  </a:txBody>
                  <a:tcPr anchor="ctr"/>
                </a:tc>
                <a:tc>
                  <a:txBody>
                    <a:bodyPr/>
                    <a:lstStyle/>
                    <a:p>
                      <a:r>
                        <a:rPr lang="en-IN" sz="2000" dirty="0"/>
                        <a:t>Enhances code readability</a:t>
                      </a:r>
                    </a:p>
                  </a:txBody>
                  <a:tcPr anchor="ctr"/>
                </a:tc>
                <a:extLst>
                  <a:ext uri="{0D108BD9-81ED-4DB2-BD59-A6C34878D82A}">
                    <a16:rowId xmlns:a16="http://schemas.microsoft.com/office/drawing/2014/main" val="2490564789"/>
                  </a:ext>
                </a:extLst>
              </a:tr>
              <a:tr h="415768">
                <a:tc>
                  <a:txBody>
                    <a:bodyPr/>
                    <a:lstStyle/>
                    <a:p>
                      <a:r>
                        <a:rPr lang="en-IN" sz="2000"/>
                        <a:t>✅ Add adequate comments</a:t>
                      </a:r>
                    </a:p>
                  </a:txBody>
                  <a:tcPr anchor="ctr"/>
                </a:tc>
                <a:tc>
                  <a:txBody>
                    <a:bodyPr/>
                    <a:lstStyle/>
                    <a:p>
                      <a:r>
                        <a:rPr lang="en-US" sz="2000" dirty="0"/>
                        <a:t>Rule of thumb: 1 comment per 3 lines of code</a:t>
                      </a:r>
                    </a:p>
                  </a:txBody>
                  <a:tcPr anchor="ctr"/>
                </a:tc>
                <a:extLst>
                  <a:ext uri="{0D108BD9-81ED-4DB2-BD59-A6C34878D82A}">
                    <a16:rowId xmlns:a16="http://schemas.microsoft.com/office/drawing/2014/main" val="2159328997"/>
                  </a:ext>
                </a:extLst>
              </a:tr>
              <a:tr h="415768">
                <a:tc>
                  <a:txBody>
                    <a:bodyPr/>
                    <a:lstStyle/>
                    <a:p>
                      <a:r>
                        <a:rPr lang="en-IN" sz="2000"/>
                        <a:t>❌ Avoid GO TO statements</a:t>
                      </a:r>
                    </a:p>
                  </a:txBody>
                  <a:tcPr anchor="ctr"/>
                </a:tc>
                <a:tc>
                  <a:txBody>
                    <a:bodyPr/>
                    <a:lstStyle/>
                    <a:p>
                      <a:r>
                        <a:rPr lang="en-US" sz="2000" dirty="0"/>
                        <a:t>Makes code unstructured and hard to debug</a:t>
                      </a:r>
                    </a:p>
                  </a:txBody>
                  <a:tcPr anchor="ctr"/>
                </a:tc>
                <a:extLst>
                  <a:ext uri="{0D108BD9-81ED-4DB2-BD59-A6C34878D82A}">
                    <a16:rowId xmlns:a16="http://schemas.microsoft.com/office/drawing/2014/main" val="3079857685"/>
                  </a:ext>
                </a:extLst>
              </a:tr>
              <a:tr h="415768">
                <a:tc>
                  <a:txBody>
                    <a:bodyPr/>
                    <a:lstStyle/>
                    <a:p>
                      <a:r>
                        <a:rPr lang="en-US" sz="2000"/>
                        <a:t>❌ Limit function size to 10 lines max</a:t>
                      </a:r>
                    </a:p>
                  </a:txBody>
                  <a:tcPr anchor="ctr"/>
                </a:tc>
                <a:tc>
                  <a:txBody>
                    <a:bodyPr/>
                    <a:lstStyle/>
                    <a:p>
                      <a:r>
                        <a:rPr lang="en-US" sz="2000" dirty="0"/>
                        <a:t>Keeps functions simple, modular, and testable</a:t>
                      </a:r>
                    </a:p>
                  </a:txBody>
                  <a:tcPr anchor="ctr"/>
                </a:tc>
                <a:extLst>
                  <a:ext uri="{0D108BD9-81ED-4DB2-BD59-A6C34878D82A}">
                    <a16:rowId xmlns:a16="http://schemas.microsoft.com/office/drawing/2014/main" val="3626831855"/>
                  </a:ext>
                </a:extLst>
              </a:tr>
            </a:tbl>
          </a:graphicData>
        </a:graphic>
      </p:graphicFrame>
      <p:sp>
        <p:nvSpPr>
          <p:cNvPr id="5" name="Rectangle 4"/>
          <p:cNvSpPr/>
          <p:nvPr/>
        </p:nvSpPr>
        <p:spPr>
          <a:xfrm>
            <a:off x="251917" y="4656296"/>
            <a:ext cx="11482884" cy="1938992"/>
          </a:xfrm>
          <a:prstGeom prst="rect">
            <a:avLst/>
          </a:prstGeom>
        </p:spPr>
        <p:txBody>
          <a:bodyPr wrap="square">
            <a:spAutoFit/>
          </a:bodyPr>
          <a:lstStyle/>
          <a:p>
            <a:r>
              <a:rPr lang="en-US" sz="2400" b="1" u="sng" dirty="0"/>
              <a:t>📌 Code Review</a:t>
            </a:r>
          </a:p>
          <a:p>
            <a:pPr marL="800100" lvl="1" indent="-342900">
              <a:buFont typeface="Wingdings" panose="05000000000000000000" pitchFamily="2" charset="2"/>
              <a:buChar char="v"/>
            </a:pPr>
            <a:r>
              <a:rPr lang="en-US" sz="2400" dirty="0"/>
              <a:t>Ensures compliance with coding standards</a:t>
            </a:r>
          </a:p>
          <a:p>
            <a:pPr marL="800100" lvl="1" indent="-342900">
              <a:buFont typeface="Wingdings" panose="05000000000000000000" pitchFamily="2" charset="2"/>
              <a:buChar char="v"/>
            </a:pPr>
            <a:r>
              <a:rPr lang="en-US" sz="2400" dirty="0"/>
              <a:t>Identifies errors early (before testing)</a:t>
            </a:r>
          </a:p>
          <a:p>
            <a:pPr marL="800100" lvl="1" indent="-342900">
              <a:buFont typeface="Wingdings" panose="05000000000000000000" pitchFamily="2" charset="2"/>
              <a:buChar char="v"/>
            </a:pPr>
            <a:r>
              <a:rPr lang="en-US" sz="2400" b="1" dirty="0"/>
              <a:t>Mandatory</a:t>
            </a:r>
            <a:r>
              <a:rPr lang="en-US" sz="2400" dirty="0"/>
              <a:t> in good software development practices</a:t>
            </a:r>
          </a:p>
          <a:p>
            <a:pPr marL="800100" lvl="1" indent="-342900">
              <a:buFont typeface="Wingdings" panose="05000000000000000000" pitchFamily="2" charset="2"/>
              <a:buChar char="v"/>
            </a:pPr>
            <a:r>
              <a:rPr lang="en-US" sz="2400" dirty="0"/>
              <a:t>Code that </a:t>
            </a:r>
            <a:r>
              <a:rPr lang="en-US" sz="2400" b="1" dirty="0"/>
              <a:t>violates standards</a:t>
            </a:r>
            <a:r>
              <a:rPr lang="en-US" sz="2400" dirty="0"/>
              <a:t> is </a:t>
            </a:r>
            <a:r>
              <a:rPr lang="en-US" sz="2400" b="1" dirty="0"/>
              <a:t>rejected</a:t>
            </a:r>
            <a:r>
              <a:rPr lang="en-US" sz="2400" dirty="0"/>
              <a:t> and reworked</a:t>
            </a:r>
          </a:p>
        </p:txBody>
      </p:sp>
      <p:sp>
        <p:nvSpPr>
          <p:cNvPr id="2" name="Date Placeholder 1">
            <a:extLst>
              <a:ext uri="{FF2B5EF4-FFF2-40B4-BE49-F238E27FC236}">
                <a16:creationId xmlns:a16="http://schemas.microsoft.com/office/drawing/2014/main" id="{E8C3044A-78C9-1201-9681-3B26859F2EA6}"/>
              </a:ext>
            </a:extLst>
          </p:cNvPr>
          <p:cNvSpPr>
            <a:spLocks noGrp="1"/>
          </p:cNvSpPr>
          <p:nvPr>
            <p:ph type="dt" sz="half" idx="10"/>
          </p:nvPr>
        </p:nvSpPr>
        <p:spPr/>
        <p:txBody>
          <a:bodyPr/>
          <a:lstStyle/>
          <a:p>
            <a:fld id="{75EE517E-F3DA-4415-B42F-5991F202B189}" type="datetime1">
              <a:rPr lang="en-IN" smtClean="0"/>
              <a:t>03-11-2025</a:t>
            </a:fld>
            <a:endParaRPr lang="en-IN"/>
          </a:p>
        </p:txBody>
      </p:sp>
      <p:sp>
        <p:nvSpPr>
          <p:cNvPr id="6" name="Footer Placeholder 5">
            <a:extLst>
              <a:ext uri="{FF2B5EF4-FFF2-40B4-BE49-F238E27FC236}">
                <a16:creationId xmlns:a16="http://schemas.microsoft.com/office/drawing/2014/main" id="{2E2791EE-B46D-D419-74B6-D718A1E78A14}"/>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F8451776-422E-4491-7F6E-DDFFF145B827}"/>
              </a:ext>
            </a:extLst>
          </p:cNvPr>
          <p:cNvSpPr>
            <a:spLocks noGrp="1"/>
          </p:cNvSpPr>
          <p:nvPr>
            <p:ph type="sldNum" sz="quarter" idx="12"/>
          </p:nvPr>
        </p:nvSpPr>
        <p:spPr/>
        <p:txBody>
          <a:bodyPr/>
          <a:lstStyle/>
          <a:p>
            <a:fld id="{157E8F69-36B6-4843-A9CE-6B9353F4DBAF}" type="slidenum">
              <a:rPr lang="en-IN" smtClean="0"/>
              <a:t>9</a:t>
            </a:fld>
            <a:endParaRPr lang="en-IN"/>
          </a:p>
        </p:txBody>
      </p:sp>
    </p:spTree>
    <p:extLst>
      <p:ext uri="{BB962C8B-B14F-4D97-AF65-F5344CB8AC3E}">
        <p14:creationId xmlns:p14="http://schemas.microsoft.com/office/powerpoint/2010/main" val="35466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9560" y="261819"/>
            <a:ext cx="11597640" cy="2677656"/>
          </a:xfrm>
          <a:prstGeom prst="rect">
            <a:avLst/>
          </a:prstGeom>
        </p:spPr>
        <p:txBody>
          <a:bodyPr wrap="square">
            <a:spAutoFit/>
          </a:bodyPr>
          <a:lstStyle/>
          <a:p>
            <a:pPr algn="ctr"/>
            <a:r>
              <a:rPr lang="en-US" sz="2400" b="1" u="sng" dirty="0"/>
              <a:t>✅ 7.2 CODE REVIEW</a:t>
            </a:r>
          </a:p>
          <a:p>
            <a:pPr algn="just"/>
            <a:r>
              <a:rPr lang="en-US" sz="2400" b="1" u="sng" dirty="0"/>
              <a:t>🎯 Objective</a:t>
            </a:r>
          </a:p>
          <a:p>
            <a:pPr algn="just"/>
            <a:r>
              <a:rPr lang="en-US" sz="2400" dirty="0"/>
              <a:t>To detect </a:t>
            </a:r>
            <a:r>
              <a:rPr lang="en-US" sz="2400" b="1" dirty="0"/>
              <a:t>logical, algorithmic, and programming errors</a:t>
            </a:r>
            <a:r>
              <a:rPr lang="en-US" sz="2400" dirty="0"/>
              <a:t> in the code </a:t>
            </a:r>
            <a:r>
              <a:rPr lang="en-US" sz="2400" b="1" dirty="0"/>
              <a:t>before testing</a:t>
            </a:r>
            <a:r>
              <a:rPr lang="en-US" sz="2400" dirty="0"/>
              <a:t> begins.</a:t>
            </a:r>
            <a:br>
              <a:rPr lang="en-US" sz="2400" dirty="0"/>
            </a:br>
            <a:endParaRPr lang="en-US" sz="2400" dirty="0"/>
          </a:p>
          <a:p>
            <a:pPr algn="just"/>
            <a:r>
              <a:rPr lang="en-US" sz="2400" dirty="0"/>
              <a:t>It is </a:t>
            </a:r>
            <a:r>
              <a:rPr lang="en-US" sz="2400" b="1" dirty="0"/>
              <a:t>more cost-effective</a:t>
            </a:r>
            <a:r>
              <a:rPr lang="en-US" sz="2400" dirty="0"/>
              <a:t> than testing because:</a:t>
            </a:r>
          </a:p>
          <a:p>
            <a:pPr marL="800100" lvl="1" indent="-342900" algn="just">
              <a:buFont typeface="Wingdings" panose="05000000000000000000" pitchFamily="2" charset="2"/>
              <a:buChar char="Ø"/>
            </a:pPr>
            <a:r>
              <a:rPr lang="en-US" sz="2400" dirty="0"/>
              <a:t>Reviews </a:t>
            </a:r>
            <a:r>
              <a:rPr lang="en-US" sz="2400" b="1" dirty="0"/>
              <a:t>directly detect errors</a:t>
            </a:r>
            <a:r>
              <a:rPr lang="en-US" sz="2400" dirty="0"/>
              <a:t>, skipping the lengthy debugging process.</a:t>
            </a:r>
          </a:p>
          <a:p>
            <a:pPr marL="800100" lvl="1" indent="-342900" algn="just">
              <a:buFont typeface="Wingdings" panose="05000000000000000000" pitchFamily="2" charset="2"/>
              <a:buChar char="Ø"/>
            </a:pPr>
            <a:r>
              <a:rPr lang="en-US" sz="2400" dirty="0"/>
              <a:t>Debugging after testing is </a:t>
            </a:r>
            <a:r>
              <a:rPr lang="en-US" sz="2400" b="1" dirty="0"/>
              <a:t>labor-intensive</a:t>
            </a:r>
            <a:r>
              <a:rPr lang="en-US" sz="2400" dirty="0"/>
              <a:t> and time-consuming.</a:t>
            </a:r>
          </a:p>
        </p:txBody>
      </p:sp>
      <p:sp>
        <p:nvSpPr>
          <p:cNvPr id="4" name="Rectangle 3"/>
          <p:cNvSpPr/>
          <p:nvPr/>
        </p:nvSpPr>
        <p:spPr>
          <a:xfrm>
            <a:off x="289560" y="3059550"/>
            <a:ext cx="11597640" cy="1200329"/>
          </a:xfrm>
          <a:prstGeom prst="rect">
            <a:avLst/>
          </a:prstGeom>
        </p:spPr>
        <p:txBody>
          <a:bodyPr wrap="square">
            <a:spAutoFit/>
          </a:bodyPr>
          <a:lstStyle/>
          <a:p>
            <a:pPr algn="just"/>
            <a:r>
              <a:rPr lang="en-US" sz="2400" b="1" u="sng" dirty="0"/>
              <a:t>📌 When is Code Review Performed?</a:t>
            </a:r>
          </a:p>
          <a:p>
            <a:pPr marL="800100" lvl="1" indent="-342900" algn="just">
              <a:buFont typeface="Wingdings" panose="05000000000000000000" pitchFamily="2" charset="2"/>
              <a:buChar char="Ø"/>
            </a:pPr>
            <a:r>
              <a:rPr lang="en-US" sz="2400" b="1" dirty="0"/>
              <a:t>After successful compilation</a:t>
            </a:r>
            <a:r>
              <a:rPr lang="en-US" sz="2400" dirty="0"/>
              <a:t> of a module (i.e., all syntax errors are fixed).</a:t>
            </a:r>
          </a:p>
          <a:p>
            <a:pPr marL="800100" lvl="1" indent="-342900" algn="just">
              <a:buFont typeface="Wingdings" panose="05000000000000000000" pitchFamily="2" charset="2"/>
              <a:buChar char="Ø"/>
            </a:pPr>
            <a:r>
              <a:rPr lang="en-US" sz="2400" dirty="0"/>
              <a:t>Targets </a:t>
            </a:r>
            <a:r>
              <a:rPr lang="en-US" sz="2400" b="1" dirty="0"/>
              <a:t>semantic</a:t>
            </a:r>
            <a:r>
              <a:rPr lang="en-US" sz="2400" dirty="0"/>
              <a:t> and </a:t>
            </a:r>
            <a:r>
              <a:rPr lang="en-US" sz="2400" b="1" dirty="0"/>
              <a:t>logical</a:t>
            </a:r>
            <a:r>
              <a:rPr lang="en-US" sz="2400" dirty="0"/>
              <a:t> errors, not syntax issues.</a:t>
            </a:r>
          </a:p>
        </p:txBody>
      </p:sp>
      <p:sp>
        <p:nvSpPr>
          <p:cNvPr id="5" name="Rectangle 4"/>
          <p:cNvSpPr/>
          <p:nvPr/>
        </p:nvSpPr>
        <p:spPr>
          <a:xfrm>
            <a:off x="289560" y="4577418"/>
            <a:ext cx="11597640" cy="1938992"/>
          </a:xfrm>
          <a:prstGeom prst="rect">
            <a:avLst/>
          </a:prstGeom>
        </p:spPr>
        <p:txBody>
          <a:bodyPr wrap="square">
            <a:spAutoFit/>
          </a:bodyPr>
          <a:lstStyle/>
          <a:p>
            <a:r>
              <a:rPr lang="en-US" sz="2400" b="1" u="sng" dirty="0"/>
              <a:t>Benefits of Code Review</a:t>
            </a:r>
          </a:p>
          <a:p>
            <a:pPr marL="800100" lvl="1" indent="-342900">
              <a:buFont typeface="Wingdings" panose="05000000000000000000" pitchFamily="2" charset="2"/>
              <a:buChar char="Ø"/>
            </a:pPr>
            <a:r>
              <a:rPr lang="en-US" sz="2400" dirty="0"/>
              <a:t>Reduces cost of error detection.</a:t>
            </a:r>
          </a:p>
          <a:p>
            <a:pPr marL="800100" lvl="1" indent="-342900">
              <a:buFont typeface="Wingdings" panose="05000000000000000000" pitchFamily="2" charset="2"/>
              <a:buChar char="Ø"/>
            </a:pPr>
            <a:r>
              <a:rPr lang="en-US" sz="2400" dirty="0"/>
              <a:t>Produces </a:t>
            </a:r>
            <a:r>
              <a:rPr lang="en-US" sz="2400" b="1" dirty="0"/>
              <a:t>high-quality, maintainable code</a:t>
            </a:r>
            <a:r>
              <a:rPr lang="en-US" sz="2400" dirty="0"/>
              <a:t>.</a:t>
            </a:r>
          </a:p>
          <a:p>
            <a:pPr marL="800100" lvl="1" indent="-342900">
              <a:buFont typeface="Wingdings" panose="05000000000000000000" pitchFamily="2" charset="2"/>
              <a:buChar char="Ø"/>
            </a:pPr>
            <a:r>
              <a:rPr lang="en-US" sz="2400" dirty="0"/>
              <a:t>Helps teams identify recurring coding issues and refine practices.</a:t>
            </a:r>
          </a:p>
          <a:p>
            <a:pPr marL="800100" lvl="1" indent="-342900">
              <a:buFont typeface="Wingdings" panose="05000000000000000000" pitchFamily="2" charset="2"/>
              <a:buChar char="Ø"/>
            </a:pPr>
            <a:r>
              <a:rPr lang="en-US" sz="2400" dirty="0"/>
              <a:t>Improves </a:t>
            </a:r>
            <a:r>
              <a:rPr lang="en-US" sz="2400" b="1" dirty="0"/>
              <a:t>coding style</a:t>
            </a:r>
            <a:r>
              <a:rPr lang="en-US" sz="2400" dirty="0"/>
              <a:t>, </a:t>
            </a:r>
            <a:r>
              <a:rPr lang="en-US" sz="2400" b="1" dirty="0"/>
              <a:t>algorithm selection</a:t>
            </a:r>
            <a:r>
              <a:rPr lang="en-US" sz="2400" dirty="0"/>
              <a:t>, and </a:t>
            </a:r>
            <a:r>
              <a:rPr lang="en-US" sz="2400" b="1" dirty="0"/>
              <a:t>design feedback</a:t>
            </a:r>
            <a:r>
              <a:rPr lang="en-US" sz="2400" dirty="0"/>
              <a:t>.</a:t>
            </a:r>
          </a:p>
        </p:txBody>
      </p:sp>
      <p:sp>
        <p:nvSpPr>
          <p:cNvPr id="2" name="Date Placeholder 1">
            <a:extLst>
              <a:ext uri="{FF2B5EF4-FFF2-40B4-BE49-F238E27FC236}">
                <a16:creationId xmlns:a16="http://schemas.microsoft.com/office/drawing/2014/main" id="{10EF14D1-611E-D512-E820-82D4313ABA1C}"/>
              </a:ext>
            </a:extLst>
          </p:cNvPr>
          <p:cNvSpPr>
            <a:spLocks noGrp="1"/>
          </p:cNvSpPr>
          <p:nvPr>
            <p:ph type="dt" sz="half" idx="10"/>
          </p:nvPr>
        </p:nvSpPr>
        <p:spPr/>
        <p:txBody>
          <a:bodyPr/>
          <a:lstStyle/>
          <a:p>
            <a:fld id="{96B14C25-68F2-4932-B88F-00A1907437FF}" type="datetime1">
              <a:rPr lang="en-IN" smtClean="0"/>
              <a:t>03-11-2025</a:t>
            </a:fld>
            <a:endParaRPr lang="en-IN"/>
          </a:p>
        </p:txBody>
      </p:sp>
      <p:sp>
        <p:nvSpPr>
          <p:cNvPr id="6" name="Footer Placeholder 5">
            <a:extLst>
              <a:ext uri="{FF2B5EF4-FFF2-40B4-BE49-F238E27FC236}">
                <a16:creationId xmlns:a16="http://schemas.microsoft.com/office/drawing/2014/main" id="{E548CA2C-6B1D-626D-FE6E-0E61CD223ECB}"/>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A649C1F9-B839-F4D6-0407-2CD1B0608257}"/>
              </a:ext>
            </a:extLst>
          </p:cNvPr>
          <p:cNvSpPr>
            <a:spLocks noGrp="1"/>
          </p:cNvSpPr>
          <p:nvPr>
            <p:ph type="sldNum" sz="quarter" idx="12"/>
          </p:nvPr>
        </p:nvSpPr>
        <p:spPr/>
        <p:txBody>
          <a:bodyPr/>
          <a:lstStyle/>
          <a:p>
            <a:fld id="{157E8F69-36B6-4843-A9CE-6B9353F4DBAF}" type="slidenum">
              <a:rPr lang="en-IN" smtClean="0"/>
              <a:t>10</a:t>
            </a:fld>
            <a:endParaRPr lang="en-IN"/>
          </a:p>
        </p:txBody>
      </p:sp>
    </p:spTree>
    <p:extLst>
      <p:ext uri="{BB962C8B-B14F-4D97-AF65-F5344CB8AC3E}">
        <p14:creationId xmlns:p14="http://schemas.microsoft.com/office/powerpoint/2010/main" val="1693777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5280" y="325964"/>
            <a:ext cx="11521440" cy="6370975"/>
          </a:xfrm>
          <a:prstGeom prst="rect">
            <a:avLst/>
          </a:prstGeom>
        </p:spPr>
        <p:txBody>
          <a:bodyPr wrap="square">
            <a:spAutoFit/>
          </a:bodyPr>
          <a:lstStyle/>
          <a:p>
            <a:pPr algn="just"/>
            <a:r>
              <a:rPr lang="en-US" sz="2400" b="1" u="sng" dirty="0"/>
              <a:t>🔍 Types of Code Review</a:t>
            </a:r>
          </a:p>
          <a:p>
            <a:pPr algn="just"/>
            <a:endParaRPr lang="en-US" sz="2400" b="1" u="sng" dirty="0"/>
          </a:p>
          <a:p>
            <a:pPr algn="just"/>
            <a:r>
              <a:rPr lang="en-US" sz="2400" b="1" u="sng" dirty="0"/>
              <a:t>1. Code Walkthrough</a:t>
            </a:r>
          </a:p>
          <a:p>
            <a:pPr algn="just"/>
            <a:r>
              <a:rPr lang="en-US" sz="2400" dirty="0"/>
              <a:t>An </a:t>
            </a:r>
            <a:r>
              <a:rPr lang="en-US" sz="2400" b="1" dirty="0"/>
              <a:t>informal</a:t>
            </a:r>
            <a:r>
              <a:rPr lang="en-US" sz="2400" dirty="0"/>
              <a:t> review technique.</a:t>
            </a:r>
          </a:p>
          <a:p>
            <a:pPr lvl="1" algn="just"/>
            <a:r>
              <a:rPr lang="en-US" sz="2400" b="1" u="sng" dirty="0"/>
              <a:t>️ How it works:</a:t>
            </a:r>
          </a:p>
          <a:p>
            <a:pPr marL="800100" lvl="1" indent="-342900" algn="just">
              <a:buFont typeface="Wingdings" panose="05000000000000000000" pitchFamily="2" charset="2"/>
              <a:buChar char="Ø"/>
            </a:pPr>
            <a:r>
              <a:rPr lang="en-US" sz="2400" dirty="0"/>
              <a:t>Small group of developers (ideally </a:t>
            </a:r>
            <a:r>
              <a:rPr lang="en-US" sz="2400" b="1" dirty="0"/>
              <a:t>3 to 7 members</a:t>
            </a:r>
            <a:r>
              <a:rPr lang="en-US" sz="2400" dirty="0"/>
              <a:t>).</a:t>
            </a:r>
          </a:p>
          <a:p>
            <a:pPr marL="800100" lvl="1" indent="-342900" algn="just">
              <a:buFont typeface="Wingdings" panose="05000000000000000000" pitchFamily="2" charset="2"/>
              <a:buChar char="Ø"/>
            </a:pPr>
            <a:r>
              <a:rPr lang="en-US" sz="2400" dirty="0"/>
              <a:t>Members review code a few days before the </a:t>
            </a:r>
            <a:r>
              <a:rPr lang="en-US" sz="2400" b="1" dirty="0"/>
              <a:t>walkthrough meeting</a:t>
            </a:r>
            <a:r>
              <a:rPr lang="en-US" sz="2400" dirty="0"/>
              <a:t>.</a:t>
            </a:r>
          </a:p>
          <a:p>
            <a:pPr marL="800100" lvl="1" indent="-342900" algn="just">
              <a:buFont typeface="Wingdings" panose="05000000000000000000" pitchFamily="2" charset="2"/>
              <a:buChar char="Ø"/>
            </a:pPr>
            <a:r>
              <a:rPr lang="en-US" sz="2400" dirty="0"/>
              <a:t>Each simulates execution of the code </a:t>
            </a:r>
            <a:r>
              <a:rPr lang="en-US" sz="2400" b="1" dirty="0"/>
              <a:t>by hand</a:t>
            </a:r>
            <a:r>
              <a:rPr lang="en-US" sz="2400" dirty="0"/>
              <a:t> using </a:t>
            </a:r>
            <a:r>
              <a:rPr lang="en-US" sz="2400" b="1" dirty="0"/>
              <a:t>selected test cases</a:t>
            </a:r>
            <a:r>
              <a:rPr lang="en-US" sz="2400" dirty="0"/>
              <a:t>.</a:t>
            </a:r>
          </a:p>
          <a:p>
            <a:pPr marL="800100" lvl="1" indent="-342900" algn="just">
              <a:buFont typeface="Wingdings" panose="05000000000000000000" pitchFamily="2" charset="2"/>
              <a:buChar char="Ø"/>
            </a:pPr>
            <a:r>
              <a:rPr lang="en-US" sz="2400" dirty="0"/>
              <a:t>Meeting is held to </a:t>
            </a:r>
            <a:r>
              <a:rPr lang="en-US" sz="2400" b="1" dirty="0"/>
              <a:t>discuss findings</a:t>
            </a:r>
            <a:r>
              <a:rPr lang="en-US" sz="2400" dirty="0"/>
              <a:t>.</a:t>
            </a:r>
          </a:p>
          <a:p>
            <a:pPr algn="just"/>
            <a:endParaRPr lang="en-US" sz="2400" b="1" dirty="0"/>
          </a:p>
          <a:p>
            <a:pPr algn="just"/>
            <a:r>
              <a:rPr lang="en-US" sz="2400" b="1" dirty="0"/>
              <a:t>✅ Guidelines for Effective Walkthroughs:</a:t>
            </a:r>
          </a:p>
          <a:p>
            <a:pPr marL="800100" lvl="1" indent="-342900" algn="just">
              <a:buFont typeface="Wingdings" panose="05000000000000000000" pitchFamily="2" charset="2"/>
              <a:buChar char="Ø"/>
            </a:pPr>
            <a:r>
              <a:rPr lang="en-US" sz="2400" dirty="0"/>
              <a:t>Focus on </a:t>
            </a:r>
            <a:r>
              <a:rPr lang="en-US" sz="2400" b="1" dirty="0"/>
              <a:t>error discovery</a:t>
            </a:r>
            <a:r>
              <a:rPr lang="en-US" sz="2400" dirty="0"/>
              <a:t>, not </a:t>
            </a:r>
            <a:r>
              <a:rPr lang="en-US" sz="2400" b="1" dirty="0"/>
              <a:t>error fixing</a:t>
            </a:r>
            <a:r>
              <a:rPr lang="en-US" sz="2400" dirty="0"/>
              <a:t>.</a:t>
            </a:r>
          </a:p>
          <a:p>
            <a:pPr marL="800100" lvl="1" indent="-342900" algn="just">
              <a:buFont typeface="Wingdings" panose="05000000000000000000" pitchFamily="2" charset="2"/>
              <a:buChar char="Ø"/>
            </a:pPr>
            <a:r>
              <a:rPr lang="en-US" sz="2400" b="1" dirty="0"/>
              <a:t>Managers should not attend</a:t>
            </a:r>
            <a:r>
              <a:rPr lang="en-US" sz="2400" dirty="0"/>
              <a:t>, to encourage open, non-judgmental discussion.</a:t>
            </a:r>
          </a:p>
          <a:p>
            <a:pPr marL="800100" lvl="1" indent="-342900" algn="just">
              <a:buFont typeface="Wingdings" panose="05000000000000000000" pitchFamily="2" charset="2"/>
              <a:buChar char="Ø"/>
            </a:pPr>
            <a:r>
              <a:rPr lang="en-US" sz="2400" dirty="0"/>
              <a:t>Avoid large teams; keep it small and focused.</a:t>
            </a:r>
          </a:p>
          <a:p>
            <a:pPr algn="just"/>
            <a:endParaRPr lang="en-US" sz="2400" b="1" u="sng" dirty="0"/>
          </a:p>
          <a:p>
            <a:pPr algn="just"/>
            <a:r>
              <a:rPr lang="en-US" sz="2400" b="1" u="sng" dirty="0"/>
              <a:t>🎯 Objective:</a:t>
            </a:r>
          </a:p>
          <a:p>
            <a:pPr algn="just"/>
            <a:r>
              <a:rPr lang="en-US" sz="2400" dirty="0"/>
              <a:t>	To uncover </a:t>
            </a:r>
            <a:r>
              <a:rPr lang="en-US" sz="2400" b="1" dirty="0"/>
              <a:t>algorithmic and logical flaws</a:t>
            </a:r>
            <a:r>
              <a:rPr lang="en-US" sz="2400" dirty="0"/>
              <a:t> through </a:t>
            </a:r>
            <a:r>
              <a:rPr lang="en-US" sz="2400" b="1" dirty="0"/>
              <a:t>mental simulation</a:t>
            </a:r>
            <a:r>
              <a:rPr lang="en-US" sz="2400" dirty="0"/>
              <a:t>.</a:t>
            </a:r>
          </a:p>
        </p:txBody>
      </p:sp>
      <p:sp>
        <p:nvSpPr>
          <p:cNvPr id="2" name="Date Placeholder 1">
            <a:extLst>
              <a:ext uri="{FF2B5EF4-FFF2-40B4-BE49-F238E27FC236}">
                <a16:creationId xmlns:a16="http://schemas.microsoft.com/office/drawing/2014/main" id="{AF079B93-7FA2-FFE2-1985-B310BA77E88B}"/>
              </a:ext>
            </a:extLst>
          </p:cNvPr>
          <p:cNvSpPr>
            <a:spLocks noGrp="1"/>
          </p:cNvSpPr>
          <p:nvPr>
            <p:ph type="dt" sz="half" idx="10"/>
          </p:nvPr>
        </p:nvSpPr>
        <p:spPr/>
        <p:txBody>
          <a:bodyPr/>
          <a:lstStyle/>
          <a:p>
            <a:fld id="{4A418514-1B21-442E-9E9D-723119D7D46D}" type="datetime1">
              <a:rPr lang="en-IN" smtClean="0"/>
              <a:t>03-11-2025</a:t>
            </a:fld>
            <a:endParaRPr lang="en-IN"/>
          </a:p>
        </p:txBody>
      </p:sp>
      <p:sp>
        <p:nvSpPr>
          <p:cNvPr id="4" name="Footer Placeholder 3">
            <a:extLst>
              <a:ext uri="{FF2B5EF4-FFF2-40B4-BE49-F238E27FC236}">
                <a16:creationId xmlns:a16="http://schemas.microsoft.com/office/drawing/2014/main" id="{D38D1BF1-D45F-64F4-A4C1-EE487C10F049}"/>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1658532F-F4B7-5DDE-6913-8C7CB9D8530C}"/>
              </a:ext>
            </a:extLst>
          </p:cNvPr>
          <p:cNvSpPr>
            <a:spLocks noGrp="1"/>
          </p:cNvSpPr>
          <p:nvPr>
            <p:ph type="sldNum" sz="quarter" idx="12"/>
          </p:nvPr>
        </p:nvSpPr>
        <p:spPr/>
        <p:txBody>
          <a:bodyPr/>
          <a:lstStyle/>
          <a:p>
            <a:fld id="{157E8F69-36B6-4843-A9CE-6B9353F4DBAF}" type="slidenum">
              <a:rPr lang="en-IN" smtClean="0"/>
              <a:t>11</a:t>
            </a:fld>
            <a:endParaRPr lang="en-IN"/>
          </a:p>
        </p:txBody>
      </p:sp>
    </p:spTree>
    <p:extLst>
      <p:ext uri="{BB962C8B-B14F-4D97-AF65-F5344CB8AC3E}">
        <p14:creationId xmlns:p14="http://schemas.microsoft.com/office/powerpoint/2010/main" val="4093289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5280" y="234524"/>
            <a:ext cx="11506200" cy="6401753"/>
          </a:xfrm>
          <a:prstGeom prst="rect">
            <a:avLst/>
          </a:prstGeom>
        </p:spPr>
        <p:txBody>
          <a:bodyPr wrap="square">
            <a:spAutoFit/>
          </a:bodyPr>
          <a:lstStyle/>
          <a:p>
            <a:r>
              <a:rPr lang="en-US" sz="2400" b="1" u="sng" dirty="0"/>
              <a:t>2. Code Inspection</a:t>
            </a:r>
          </a:p>
          <a:p>
            <a:r>
              <a:rPr lang="en-US" sz="2400" dirty="0"/>
              <a:t>A </a:t>
            </a:r>
            <a:r>
              <a:rPr lang="en-US" sz="2400" b="1" dirty="0"/>
              <a:t>formal review</a:t>
            </a:r>
            <a:r>
              <a:rPr lang="en-US" sz="2400" dirty="0"/>
              <a:t> technique aimed at detecting:</a:t>
            </a:r>
          </a:p>
          <a:p>
            <a:pPr marL="800100" lvl="1" indent="-342900">
              <a:buFont typeface="Wingdings" panose="05000000000000000000" pitchFamily="2" charset="2"/>
              <a:buChar char="Ø"/>
            </a:pPr>
            <a:r>
              <a:rPr lang="en-US" sz="2200" dirty="0"/>
              <a:t>Common coding errors</a:t>
            </a:r>
          </a:p>
          <a:p>
            <a:pPr marL="800100" lvl="1" indent="-342900">
              <a:buFont typeface="Wingdings" panose="05000000000000000000" pitchFamily="2" charset="2"/>
              <a:buChar char="Ø"/>
            </a:pPr>
            <a:r>
              <a:rPr lang="en-US" sz="2200" dirty="0"/>
              <a:t>Violations of </a:t>
            </a:r>
            <a:r>
              <a:rPr lang="en-US" sz="2200" b="1" dirty="0"/>
              <a:t>coding standards</a:t>
            </a:r>
            <a:endParaRPr lang="en-US" sz="2200" dirty="0"/>
          </a:p>
          <a:p>
            <a:pPr marL="800100" lvl="1" indent="-342900">
              <a:buFont typeface="Wingdings" panose="05000000000000000000" pitchFamily="2" charset="2"/>
              <a:buChar char="Ø"/>
            </a:pPr>
            <a:r>
              <a:rPr lang="en-US" sz="2200" dirty="0"/>
              <a:t>Programming oversights</a:t>
            </a:r>
          </a:p>
          <a:p>
            <a:r>
              <a:rPr lang="en-US" sz="2400" b="1" dirty="0"/>
              <a:t>🧰 Inspection Checklist (Sample Errors):</a:t>
            </a:r>
          </a:p>
          <a:p>
            <a:pPr marL="800100" lvl="1" indent="-342900">
              <a:buFont typeface="Wingdings" panose="05000000000000000000" pitchFamily="2" charset="2"/>
              <a:buChar char="Ø"/>
            </a:pPr>
            <a:r>
              <a:rPr lang="en-US" sz="2200" dirty="0"/>
              <a:t>Use of </a:t>
            </a:r>
            <a:r>
              <a:rPr lang="en-US" sz="2200" b="1" dirty="0"/>
              <a:t>uninitialized variables</a:t>
            </a:r>
            <a:endParaRPr lang="en-US" sz="2200" dirty="0"/>
          </a:p>
          <a:p>
            <a:pPr marL="800100" lvl="1" indent="-342900">
              <a:buFont typeface="Wingdings" panose="05000000000000000000" pitchFamily="2" charset="2"/>
              <a:buChar char="Ø"/>
            </a:pPr>
            <a:r>
              <a:rPr lang="en-US" sz="2200" b="1" dirty="0"/>
              <a:t>Infinite loops</a:t>
            </a:r>
            <a:r>
              <a:rPr lang="en-US" sz="2200" dirty="0"/>
              <a:t> or incorrect loop conditions</a:t>
            </a:r>
          </a:p>
          <a:p>
            <a:pPr marL="800100" lvl="1" indent="-342900">
              <a:buFont typeface="Wingdings" panose="05000000000000000000" pitchFamily="2" charset="2"/>
              <a:buChar char="Ø"/>
            </a:pPr>
            <a:r>
              <a:rPr lang="en-US" sz="2200" b="1" dirty="0"/>
              <a:t>Array out-of-bounds</a:t>
            </a:r>
            <a:r>
              <a:rPr lang="en-US" sz="2200" dirty="0"/>
              <a:t> access</a:t>
            </a:r>
          </a:p>
          <a:p>
            <a:pPr marL="800100" lvl="1" indent="-342900">
              <a:buFont typeface="Wingdings" panose="05000000000000000000" pitchFamily="2" charset="2"/>
              <a:buChar char="Ø"/>
            </a:pPr>
            <a:r>
              <a:rPr lang="en-US" sz="2200" b="1" dirty="0"/>
              <a:t>Incorrect parameter</a:t>
            </a:r>
            <a:r>
              <a:rPr lang="en-US" sz="2200" dirty="0"/>
              <a:t> passing</a:t>
            </a:r>
          </a:p>
          <a:p>
            <a:pPr marL="800100" lvl="1" indent="-342900">
              <a:buFont typeface="Wingdings" panose="05000000000000000000" pitchFamily="2" charset="2"/>
              <a:buChar char="Ø"/>
            </a:pPr>
            <a:r>
              <a:rPr lang="en-US" sz="2200" b="1" dirty="0"/>
              <a:t>Improper memory</a:t>
            </a:r>
            <a:r>
              <a:rPr lang="en-US" sz="2200" dirty="0"/>
              <a:t> allocation/deallocation</a:t>
            </a:r>
          </a:p>
          <a:p>
            <a:pPr marL="800100" lvl="1" indent="-342900">
              <a:buFont typeface="Wingdings" panose="05000000000000000000" pitchFamily="2" charset="2"/>
              <a:buChar char="Ø"/>
            </a:pPr>
            <a:r>
              <a:rPr lang="en-US" sz="2200" dirty="0"/>
              <a:t>Use of </a:t>
            </a:r>
            <a:r>
              <a:rPr lang="en-US" sz="2200" b="1" dirty="0"/>
              <a:t>wrong logical operators</a:t>
            </a:r>
            <a:r>
              <a:rPr lang="en-US" sz="2200" dirty="0"/>
              <a:t> or precedence</a:t>
            </a:r>
          </a:p>
          <a:p>
            <a:pPr marL="800100" lvl="1" indent="-342900">
              <a:buFont typeface="Wingdings" panose="05000000000000000000" pitchFamily="2" charset="2"/>
              <a:buChar char="Ø"/>
            </a:pPr>
            <a:r>
              <a:rPr lang="en-US" sz="2200" b="1" dirty="0"/>
              <a:t>Dangling references</a:t>
            </a:r>
            <a:r>
              <a:rPr lang="en-US" sz="2200" dirty="0"/>
              <a:t> (use of unallocated memory)</a:t>
            </a:r>
          </a:p>
          <a:p>
            <a:pPr marL="800100" lvl="1" indent="-342900">
              <a:buFont typeface="Wingdings" panose="05000000000000000000" pitchFamily="2" charset="2"/>
              <a:buChar char="Ø"/>
            </a:pPr>
            <a:r>
              <a:rPr lang="en-US" sz="2200" b="1" dirty="0"/>
              <a:t>Floating-point comparison</a:t>
            </a:r>
            <a:r>
              <a:rPr lang="en-US" sz="2200" dirty="0"/>
              <a:t> issues</a:t>
            </a:r>
          </a:p>
          <a:p>
            <a:r>
              <a:rPr lang="en-US" sz="2400" b="1" dirty="0"/>
              <a:t>📈 Benefits Beyond Bug Detection:</a:t>
            </a:r>
          </a:p>
          <a:p>
            <a:pPr marL="800100" lvl="1" indent="-342900">
              <a:buFont typeface="Wingdings" panose="05000000000000000000" pitchFamily="2" charset="2"/>
              <a:buChar char="Ø"/>
            </a:pPr>
            <a:r>
              <a:rPr lang="en-US" sz="2200" dirty="0"/>
              <a:t>Educates developers through </a:t>
            </a:r>
            <a:r>
              <a:rPr lang="en-US" sz="2200" b="1" dirty="0"/>
              <a:t>exposure to others’ mistakes</a:t>
            </a:r>
            <a:endParaRPr lang="en-US" sz="2200" dirty="0"/>
          </a:p>
          <a:p>
            <a:pPr marL="800100" lvl="1" indent="-342900">
              <a:buFont typeface="Wingdings" panose="05000000000000000000" pitchFamily="2" charset="2"/>
              <a:buChar char="Ø"/>
            </a:pPr>
            <a:r>
              <a:rPr lang="en-US" sz="2200" dirty="0"/>
              <a:t>Improves </a:t>
            </a:r>
            <a:r>
              <a:rPr lang="en-US" sz="2200" b="1" dirty="0"/>
              <a:t>design thinking</a:t>
            </a:r>
            <a:r>
              <a:rPr lang="en-US" sz="2200" dirty="0"/>
              <a:t> and </a:t>
            </a:r>
            <a:r>
              <a:rPr lang="en-US" sz="2200" b="1" dirty="0"/>
              <a:t>coding practices</a:t>
            </a:r>
            <a:endParaRPr lang="en-US" sz="2200" dirty="0"/>
          </a:p>
          <a:p>
            <a:pPr marL="800100" lvl="1" indent="-342900">
              <a:buFont typeface="Wingdings" panose="05000000000000000000" pitchFamily="2" charset="2"/>
              <a:buChar char="Ø"/>
            </a:pPr>
            <a:r>
              <a:rPr lang="en-US" sz="2200" dirty="0"/>
              <a:t>Enhances </a:t>
            </a:r>
            <a:r>
              <a:rPr lang="en-US" sz="2200" b="1" dirty="0"/>
              <a:t>code maintainability</a:t>
            </a:r>
            <a:endParaRPr lang="en-US" sz="2200" dirty="0"/>
          </a:p>
        </p:txBody>
      </p:sp>
      <p:sp>
        <p:nvSpPr>
          <p:cNvPr id="2" name="Date Placeholder 1">
            <a:extLst>
              <a:ext uri="{FF2B5EF4-FFF2-40B4-BE49-F238E27FC236}">
                <a16:creationId xmlns:a16="http://schemas.microsoft.com/office/drawing/2014/main" id="{19080E5F-B6A1-6527-ABC6-FE8CDF054A0F}"/>
              </a:ext>
            </a:extLst>
          </p:cNvPr>
          <p:cNvSpPr>
            <a:spLocks noGrp="1"/>
          </p:cNvSpPr>
          <p:nvPr>
            <p:ph type="dt" sz="half" idx="10"/>
          </p:nvPr>
        </p:nvSpPr>
        <p:spPr/>
        <p:txBody>
          <a:bodyPr/>
          <a:lstStyle/>
          <a:p>
            <a:fld id="{AB040AE9-DFE6-4C1E-BB99-41DC098C1128}" type="datetime1">
              <a:rPr lang="en-IN" smtClean="0"/>
              <a:t>03-11-2025</a:t>
            </a:fld>
            <a:endParaRPr lang="en-IN"/>
          </a:p>
        </p:txBody>
      </p:sp>
      <p:sp>
        <p:nvSpPr>
          <p:cNvPr id="4" name="Footer Placeholder 3">
            <a:extLst>
              <a:ext uri="{FF2B5EF4-FFF2-40B4-BE49-F238E27FC236}">
                <a16:creationId xmlns:a16="http://schemas.microsoft.com/office/drawing/2014/main" id="{F18944DE-09EF-E75A-9139-5B092F1AEA67}"/>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A01B7DC0-06AE-16DA-FBD3-32611EEA5EF5}"/>
              </a:ext>
            </a:extLst>
          </p:cNvPr>
          <p:cNvSpPr>
            <a:spLocks noGrp="1"/>
          </p:cNvSpPr>
          <p:nvPr>
            <p:ph type="sldNum" sz="quarter" idx="12"/>
          </p:nvPr>
        </p:nvSpPr>
        <p:spPr/>
        <p:txBody>
          <a:bodyPr/>
          <a:lstStyle/>
          <a:p>
            <a:fld id="{157E8F69-36B6-4843-A9CE-6B9353F4DBAF}" type="slidenum">
              <a:rPr lang="en-IN" smtClean="0"/>
              <a:t>12</a:t>
            </a:fld>
            <a:endParaRPr lang="en-IN"/>
          </a:p>
        </p:txBody>
      </p:sp>
    </p:spTree>
    <p:extLst>
      <p:ext uri="{BB962C8B-B14F-4D97-AF65-F5344CB8AC3E}">
        <p14:creationId xmlns:p14="http://schemas.microsoft.com/office/powerpoint/2010/main" val="1072712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 y="256461"/>
            <a:ext cx="11597640" cy="5632311"/>
          </a:xfrm>
          <a:prstGeom prst="rect">
            <a:avLst/>
          </a:prstGeom>
        </p:spPr>
        <p:txBody>
          <a:bodyPr wrap="square">
            <a:spAutoFit/>
          </a:bodyPr>
          <a:lstStyle/>
          <a:p>
            <a:pPr algn="just"/>
            <a:r>
              <a:rPr lang="en-US" sz="2400" b="1" u="sng" dirty="0"/>
              <a:t>3. Cleanroom Technique</a:t>
            </a:r>
          </a:p>
          <a:p>
            <a:pPr algn="just"/>
            <a:r>
              <a:rPr lang="en-US" sz="2400" dirty="0"/>
              <a:t>Developed by </a:t>
            </a:r>
            <a:r>
              <a:rPr lang="en-US" sz="2400" b="1" dirty="0"/>
              <a:t>IBM;</a:t>
            </a:r>
            <a:r>
              <a:rPr lang="en-US" sz="2400" dirty="0"/>
              <a:t> prevents defects instead of finding them later. Inspired by semiconductor "clean rooms."</a:t>
            </a:r>
          </a:p>
          <a:p>
            <a:pPr algn="just"/>
            <a:endParaRPr lang="en-US" sz="2400" b="1" u="sng" dirty="0"/>
          </a:p>
          <a:p>
            <a:pPr algn="just"/>
            <a:r>
              <a:rPr lang="en-US" sz="2400" b="1" u="sng" dirty="0"/>
              <a:t>🚫 Key Feature:</a:t>
            </a:r>
          </a:p>
          <a:p>
            <a:pPr marL="800100" lvl="1" indent="-342900" algn="just">
              <a:buFont typeface="Wingdings" panose="05000000000000000000" pitchFamily="2" charset="2"/>
              <a:buChar char="Ø"/>
            </a:pPr>
            <a:r>
              <a:rPr lang="en-US" sz="2400" b="1" dirty="0"/>
              <a:t>No code execution-based testing</a:t>
            </a:r>
            <a:r>
              <a:rPr lang="en-US" sz="2400" dirty="0"/>
              <a:t> allowed by the programmer.</a:t>
            </a:r>
          </a:p>
          <a:p>
            <a:pPr marL="800100" lvl="1" indent="-342900" algn="just">
              <a:buFont typeface="Wingdings" panose="05000000000000000000" pitchFamily="2" charset="2"/>
              <a:buChar char="Ø"/>
            </a:pPr>
            <a:r>
              <a:rPr lang="en-US" sz="2400" dirty="0"/>
              <a:t>Only </a:t>
            </a:r>
            <a:r>
              <a:rPr lang="en-US" sz="2400" b="1" dirty="0"/>
              <a:t>formal verification</a:t>
            </a:r>
            <a:r>
              <a:rPr lang="en-US" sz="2400" dirty="0"/>
              <a:t>, </a:t>
            </a:r>
            <a:r>
              <a:rPr lang="en-US" sz="2400" b="1" dirty="0"/>
              <a:t>walkthroughs</a:t>
            </a:r>
            <a:r>
              <a:rPr lang="en-US" sz="2400" dirty="0"/>
              <a:t>, and </a:t>
            </a:r>
            <a:r>
              <a:rPr lang="en-US" sz="2400" b="1" dirty="0"/>
              <a:t>inspections</a:t>
            </a:r>
            <a:r>
              <a:rPr lang="en-US" sz="2400" dirty="0"/>
              <a:t> are used to remove bugs.</a:t>
            </a:r>
          </a:p>
          <a:p>
            <a:pPr algn="just"/>
            <a:endParaRPr lang="en-US" sz="2400" b="1" u="sng" dirty="0"/>
          </a:p>
          <a:p>
            <a:pPr algn="just"/>
            <a:r>
              <a:rPr lang="en-US" sz="2400" b="1" u="sng" dirty="0"/>
              <a:t>✅ Benefits:</a:t>
            </a:r>
          </a:p>
          <a:p>
            <a:pPr marL="800100" lvl="1" indent="-342900" algn="just">
              <a:buFont typeface="Wingdings" panose="05000000000000000000" pitchFamily="2" charset="2"/>
              <a:buChar char="Ø"/>
            </a:pPr>
            <a:r>
              <a:rPr lang="en-US" sz="2400" dirty="0"/>
              <a:t>Highly </a:t>
            </a:r>
            <a:r>
              <a:rPr lang="en-US" sz="2400" b="1" dirty="0"/>
              <a:t>reliable and maintainable code</a:t>
            </a:r>
            <a:endParaRPr lang="en-US" sz="2400" dirty="0"/>
          </a:p>
          <a:p>
            <a:pPr marL="800100" lvl="1" indent="-342900" algn="just">
              <a:buFont typeface="Wingdings" panose="05000000000000000000" pitchFamily="2" charset="2"/>
              <a:buChar char="Ø"/>
            </a:pPr>
            <a:r>
              <a:rPr lang="en-US" sz="2400" dirty="0"/>
              <a:t>Strong emphasis on </a:t>
            </a:r>
            <a:r>
              <a:rPr lang="en-US" sz="2400" b="1" dirty="0"/>
              <a:t>defect prevention</a:t>
            </a:r>
            <a:endParaRPr lang="en-US" sz="2400" dirty="0"/>
          </a:p>
          <a:p>
            <a:pPr algn="just"/>
            <a:endParaRPr lang="en-US" sz="2400" b="1" u="sng" dirty="0"/>
          </a:p>
          <a:p>
            <a:pPr algn="just"/>
            <a:r>
              <a:rPr lang="en-US" sz="2400" b="1" u="sng" dirty="0"/>
              <a:t>⚠️ Drawbacks:</a:t>
            </a:r>
          </a:p>
          <a:p>
            <a:pPr marL="800100" lvl="1" indent="-342900" algn="just">
              <a:buFont typeface="Wingdings" panose="05000000000000000000" pitchFamily="2" charset="2"/>
              <a:buChar char="Ø"/>
            </a:pPr>
            <a:r>
              <a:rPr lang="en-US" sz="2400" b="1" dirty="0"/>
              <a:t>Time-consuming</a:t>
            </a:r>
            <a:endParaRPr lang="en-US" sz="2400" dirty="0"/>
          </a:p>
          <a:p>
            <a:pPr marL="800100" lvl="1" indent="-342900" algn="just">
              <a:buFont typeface="Wingdings" panose="05000000000000000000" pitchFamily="2" charset="2"/>
              <a:buChar char="Ø"/>
            </a:pPr>
            <a:r>
              <a:rPr lang="en-US" sz="2400" dirty="0"/>
              <a:t>May miss </a:t>
            </a:r>
            <a:r>
              <a:rPr lang="en-US" sz="2400" b="1" dirty="0"/>
              <a:t>runtime</a:t>
            </a:r>
            <a:r>
              <a:rPr lang="en-US" sz="2400" dirty="0"/>
              <a:t> or </a:t>
            </a:r>
            <a:r>
              <a:rPr lang="en-US" sz="2400" b="1" dirty="0"/>
              <a:t>environment-specific</a:t>
            </a:r>
            <a:r>
              <a:rPr lang="en-US" sz="2400" dirty="0"/>
              <a:t> bugs that only show during real execution</a:t>
            </a:r>
          </a:p>
        </p:txBody>
      </p:sp>
      <p:sp>
        <p:nvSpPr>
          <p:cNvPr id="2" name="Date Placeholder 1">
            <a:extLst>
              <a:ext uri="{FF2B5EF4-FFF2-40B4-BE49-F238E27FC236}">
                <a16:creationId xmlns:a16="http://schemas.microsoft.com/office/drawing/2014/main" id="{C8FF2B03-1E34-6917-7E97-77A992C970FB}"/>
              </a:ext>
            </a:extLst>
          </p:cNvPr>
          <p:cNvSpPr>
            <a:spLocks noGrp="1"/>
          </p:cNvSpPr>
          <p:nvPr>
            <p:ph type="dt" sz="half" idx="10"/>
          </p:nvPr>
        </p:nvSpPr>
        <p:spPr/>
        <p:txBody>
          <a:bodyPr/>
          <a:lstStyle/>
          <a:p>
            <a:fld id="{2FC5E9CD-A300-49D1-876A-FE12FDE31DD6}" type="datetime1">
              <a:rPr lang="en-IN" smtClean="0"/>
              <a:t>03-11-2025</a:t>
            </a:fld>
            <a:endParaRPr lang="en-IN"/>
          </a:p>
        </p:txBody>
      </p:sp>
      <p:sp>
        <p:nvSpPr>
          <p:cNvPr id="4" name="Footer Placeholder 3">
            <a:extLst>
              <a:ext uri="{FF2B5EF4-FFF2-40B4-BE49-F238E27FC236}">
                <a16:creationId xmlns:a16="http://schemas.microsoft.com/office/drawing/2014/main" id="{10710FB3-4F92-45FA-7508-DC7A2AB7A9A5}"/>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FC24A200-48C0-6765-3995-0EC517E12AE7}"/>
              </a:ext>
            </a:extLst>
          </p:cNvPr>
          <p:cNvSpPr>
            <a:spLocks noGrp="1"/>
          </p:cNvSpPr>
          <p:nvPr>
            <p:ph type="sldNum" sz="quarter" idx="12"/>
          </p:nvPr>
        </p:nvSpPr>
        <p:spPr/>
        <p:txBody>
          <a:bodyPr/>
          <a:lstStyle/>
          <a:p>
            <a:fld id="{157E8F69-36B6-4843-A9CE-6B9353F4DBAF}" type="slidenum">
              <a:rPr lang="en-IN" smtClean="0"/>
              <a:t>13</a:t>
            </a:fld>
            <a:endParaRPr lang="en-IN"/>
          </a:p>
        </p:txBody>
      </p:sp>
    </p:spTree>
    <p:extLst>
      <p:ext uri="{BB962C8B-B14F-4D97-AF65-F5344CB8AC3E}">
        <p14:creationId xmlns:p14="http://schemas.microsoft.com/office/powerpoint/2010/main" val="894293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5280" y="179809"/>
            <a:ext cx="11521440" cy="6498382"/>
          </a:xfrm>
          <a:prstGeom prst="rect">
            <a:avLst/>
          </a:prstGeom>
        </p:spPr>
        <p:txBody>
          <a:bodyPr wrap="square">
            <a:spAutoFit/>
          </a:bodyPr>
          <a:lstStyle/>
          <a:p>
            <a:pPr algn="ctr">
              <a:lnSpc>
                <a:spcPct val="150000"/>
              </a:lnSpc>
            </a:pPr>
            <a:r>
              <a:rPr lang="en-US" sz="2400" b="1" u="sng" dirty="0"/>
              <a:t>7.3 SOFTWARE DOCUMENTATION</a:t>
            </a:r>
          </a:p>
          <a:p>
            <a:pPr algn="just">
              <a:lnSpc>
                <a:spcPct val="150000"/>
              </a:lnSpc>
            </a:pPr>
            <a:r>
              <a:rPr lang="en-US" sz="2400" b="1" u="sng" dirty="0"/>
              <a:t>🎯 Purpose</a:t>
            </a:r>
          </a:p>
          <a:p>
            <a:pPr algn="just">
              <a:lnSpc>
                <a:spcPct val="150000"/>
              </a:lnSpc>
            </a:pPr>
            <a:r>
              <a:rPr lang="en-US" sz="2400" dirty="0"/>
              <a:t>	Software documentation refers to all supporting documents created during the development lifecycle, alongside source code and executables.</a:t>
            </a:r>
          </a:p>
          <a:p>
            <a:pPr algn="just">
              <a:lnSpc>
                <a:spcPct val="150000"/>
              </a:lnSpc>
            </a:pPr>
            <a:endParaRPr lang="en-US" sz="2400" dirty="0"/>
          </a:p>
          <a:p>
            <a:pPr algn="just">
              <a:lnSpc>
                <a:spcPct val="150000"/>
              </a:lnSpc>
            </a:pPr>
            <a:r>
              <a:rPr lang="en-US" sz="2000" b="1" i="1" dirty="0"/>
              <a:t>Documentation = all supporting texts accompanying software.</a:t>
            </a:r>
          </a:p>
          <a:p>
            <a:pPr algn="just">
              <a:lnSpc>
                <a:spcPct val="150000"/>
              </a:lnSpc>
            </a:pPr>
            <a:endParaRPr lang="en-US" sz="2000" b="1" i="1" dirty="0"/>
          </a:p>
          <a:p>
            <a:pPr algn="just">
              <a:lnSpc>
                <a:spcPct val="150000"/>
              </a:lnSpc>
            </a:pPr>
            <a:r>
              <a:rPr lang="en-US" sz="2400" b="1" u="sng" dirty="0"/>
              <a:t>📌 Importance of Documentation</a:t>
            </a:r>
          </a:p>
          <a:p>
            <a:pPr marL="800100" lvl="1" indent="-342900" algn="just">
              <a:lnSpc>
                <a:spcPct val="150000"/>
              </a:lnSpc>
              <a:buFont typeface="Wingdings" panose="05000000000000000000" pitchFamily="2" charset="2"/>
              <a:buChar char="Ø"/>
            </a:pPr>
            <a:r>
              <a:rPr lang="en-US" sz="2400" dirty="0"/>
              <a:t>Helps </a:t>
            </a:r>
            <a:r>
              <a:rPr lang="en-US" sz="2400" b="1" dirty="0"/>
              <a:t>understand and maintain</a:t>
            </a:r>
            <a:r>
              <a:rPr lang="en-US" sz="2400" dirty="0"/>
              <a:t> code.</a:t>
            </a:r>
          </a:p>
          <a:p>
            <a:pPr marL="800100" lvl="1" indent="-342900" algn="just">
              <a:lnSpc>
                <a:spcPct val="150000"/>
              </a:lnSpc>
              <a:buFont typeface="Wingdings" panose="05000000000000000000" pitchFamily="2" charset="2"/>
              <a:buChar char="Ø"/>
            </a:pPr>
            <a:r>
              <a:rPr lang="en-US" sz="2400" dirty="0"/>
              <a:t>Assists </a:t>
            </a:r>
            <a:r>
              <a:rPr lang="en-US" sz="2400" b="1" dirty="0"/>
              <a:t>users</a:t>
            </a:r>
            <a:r>
              <a:rPr lang="en-US" sz="2400" dirty="0"/>
              <a:t> in operating the software effectively.</a:t>
            </a:r>
          </a:p>
          <a:p>
            <a:pPr marL="800100" lvl="1" indent="-342900" algn="just">
              <a:lnSpc>
                <a:spcPct val="150000"/>
              </a:lnSpc>
              <a:buFont typeface="Wingdings" panose="05000000000000000000" pitchFamily="2" charset="2"/>
              <a:buChar char="Ø"/>
            </a:pPr>
            <a:r>
              <a:rPr lang="en-US" sz="2400" dirty="0"/>
              <a:t>Mitigates the </a:t>
            </a:r>
            <a:r>
              <a:rPr lang="en-US" sz="2400" b="1" dirty="0"/>
              <a:t>manpower turnover</a:t>
            </a:r>
            <a:r>
              <a:rPr lang="en-US" sz="2400" dirty="0"/>
              <a:t> issue by ensuring knowledge transfer.</a:t>
            </a:r>
          </a:p>
          <a:p>
            <a:pPr marL="800100" lvl="1" indent="-342900" algn="just">
              <a:lnSpc>
                <a:spcPct val="150000"/>
              </a:lnSpc>
              <a:buFont typeface="Wingdings" panose="05000000000000000000" pitchFamily="2" charset="2"/>
              <a:buChar char="Ø"/>
            </a:pPr>
            <a:r>
              <a:rPr lang="en-US" sz="2400" dirty="0"/>
              <a:t>Provides </a:t>
            </a:r>
            <a:r>
              <a:rPr lang="en-US" sz="2400" b="1" dirty="0"/>
              <a:t>project tracking evidence</a:t>
            </a:r>
            <a:r>
              <a:rPr lang="en-US" sz="2400" dirty="0"/>
              <a:t> to managers.</a:t>
            </a:r>
          </a:p>
        </p:txBody>
      </p:sp>
      <p:sp>
        <p:nvSpPr>
          <p:cNvPr id="2" name="Date Placeholder 1">
            <a:extLst>
              <a:ext uri="{FF2B5EF4-FFF2-40B4-BE49-F238E27FC236}">
                <a16:creationId xmlns:a16="http://schemas.microsoft.com/office/drawing/2014/main" id="{E1631715-E995-1A93-C7F9-75FDB46E57AC}"/>
              </a:ext>
            </a:extLst>
          </p:cNvPr>
          <p:cNvSpPr>
            <a:spLocks noGrp="1"/>
          </p:cNvSpPr>
          <p:nvPr>
            <p:ph type="dt" sz="half" idx="10"/>
          </p:nvPr>
        </p:nvSpPr>
        <p:spPr/>
        <p:txBody>
          <a:bodyPr/>
          <a:lstStyle/>
          <a:p>
            <a:fld id="{4D28D4E8-06B5-4498-B065-C8687E713C56}" type="datetime1">
              <a:rPr lang="en-IN" smtClean="0"/>
              <a:t>03-11-2025</a:t>
            </a:fld>
            <a:endParaRPr lang="en-IN"/>
          </a:p>
        </p:txBody>
      </p:sp>
      <p:sp>
        <p:nvSpPr>
          <p:cNvPr id="4" name="Footer Placeholder 3">
            <a:extLst>
              <a:ext uri="{FF2B5EF4-FFF2-40B4-BE49-F238E27FC236}">
                <a16:creationId xmlns:a16="http://schemas.microsoft.com/office/drawing/2014/main" id="{6EA979F9-8604-3F6A-0761-BD825B2576D7}"/>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6406DE7B-F78D-F5D5-0F51-E5D2045C3AB7}"/>
              </a:ext>
            </a:extLst>
          </p:cNvPr>
          <p:cNvSpPr>
            <a:spLocks noGrp="1"/>
          </p:cNvSpPr>
          <p:nvPr>
            <p:ph type="sldNum" sz="quarter" idx="12"/>
          </p:nvPr>
        </p:nvSpPr>
        <p:spPr/>
        <p:txBody>
          <a:bodyPr/>
          <a:lstStyle/>
          <a:p>
            <a:fld id="{157E8F69-36B6-4843-A9CE-6B9353F4DBAF}" type="slidenum">
              <a:rPr lang="en-IN" smtClean="0"/>
              <a:t>14</a:t>
            </a:fld>
            <a:endParaRPr lang="en-IN"/>
          </a:p>
        </p:txBody>
      </p:sp>
    </p:spTree>
    <p:extLst>
      <p:ext uri="{BB962C8B-B14F-4D97-AF65-F5344CB8AC3E}">
        <p14:creationId xmlns:p14="http://schemas.microsoft.com/office/powerpoint/2010/main" val="1075287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0520" y="191483"/>
            <a:ext cx="11551920" cy="6001643"/>
          </a:xfrm>
          <a:prstGeom prst="rect">
            <a:avLst/>
          </a:prstGeom>
        </p:spPr>
        <p:txBody>
          <a:bodyPr wrap="square">
            <a:spAutoFit/>
          </a:bodyPr>
          <a:lstStyle/>
          <a:p>
            <a:pPr algn="just"/>
            <a:r>
              <a:rPr lang="en-IN" sz="2400" b="1" u="sng" dirty="0"/>
              <a:t>Types of Documentation</a:t>
            </a:r>
          </a:p>
          <a:p>
            <a:pPr algn="just"/>
            <a:r>
              <a:rPr lang="en-IN" sz="2400" b="1" u="sng" dirty="0"/>
              <a:t>1. internal Documentation</a:t>
            </a:r>
          </a:p>
          <a:p>
            <a:pPr algn="just"/>
            <a:r>
              <a:rPr lang="en-IN" sz="2400" dirty="0"/>
              <a:t>Located </a:t>
            </a:r>
            <a:r>
              <a:rPr lang="en-IN" sz="2400" i="1" dirty="0"/>
              <a:t>within</a:t>
            </a:r>
            <a:r>
              <a:rPr lang="en-IN" sz="2400" dirty="0"/>
              <a:t> the source code. Aimed at making the code more understandable to developers.</a:t>
            </a:r>
          </a:p>
          <a:p>
            <a:pPr algn="just"/>
            <a:r>
              <a:rPr lang="en-US" sz="2400" dirty="0"/>
              <a:t>🛠️ </a:t>
            </a:r>
            <a:r>
              <a:rPr lang="en-US" sz="2400" b="1" dirty="0">
                <a:solidFill>
                  <a:srgbClr val="EE0000"/>
                </a:solidFill>
              </a:rPr>
              <a:t>Common Forms:</a:t>
            </a:r>
          </a:p>
          <a:p>
            <a:pPr marL="800100" lvl="1" indent="-342900" algn="just">
              <a:buFont typeface="Wingdings" panose="05000000000000000000" pitchFamily="2" charset="2"/>
              <a:buChar char="Ø"/>
            </a:pPr>
            <a:r>
              <a:rPr lang="en-IN" sz="2400" b="1" dirty="0"/>
              <a:t>Comments</a:t>
            </a:r>
            <a:r>
              <a:rPr lang="en-IN" sz="2400" dirty="0"/>
              <a:t> in code</a:t>
            </a:r>
          </a:p>
          <a:p>
            <a:pPr marL="800100" lvl="1" indent="-342900" algn="just">
              <a:buFont typeface="Wingdings" panose="05000000000000000000" pitchFamily="2" charset="2"/>
              <a:buChar char="Ø"/>
            </a:pPr>
            <a:r>
              <a:rPr lang="en-IN" sz="2400" b="1" dirty="0"/>
              <a:t>Meaningful variable names</a:t>
            </a:r>
            <a:r>
              <a:rPr lang="en-IN" sz="2400" dirty="0"/>
              <a:t> ✅ </a:t>
            </a:r>
            <a:r>
              <a:rPr lang="en-IN" sz="2400" i="1" dirty="0"/>
              <a:t>Most useful</a:t>
            </a:r>
            <a:r>
              <a:rPr lang="en-IN" sz="2400" dirty="0"/>
              <a:t> for understanding</a:t>
            </a:r>
          </a:p>
          <a:p>
            <a:pPr marL="800100" lvl="1" indent="-342900" algn="just">
              <a:buFont typeface="Wingdings" panose="05000000000000000000" pitchFamily="2" charset="2"/>
              <a:buChar char="Ø"/>
            </a:pPr>
            <a:r>
              <a:rPr lang="en-IN" sz="2400" b="1" dirty="0"/>
              <a:t>Function/module headers</a:t>
            </a:r>
            <a:endParaRPr lang="en-IN" sz="2400" dirty="0"/>
          </a:p>
          <a:p>
            <a:pPr marL="800100" lvl="1" indent="-342900" algn="just">
              <a:buFont typeface="Wingdings" panose="05000000000000000000" pitchFamily="2" charset="2"/>
              <a:buChar char="Ø"/>
            </a:pPr>
            <a:r>
              <a:rPr lang="en-IN" sz="2400" b="1" dirty="0"/>
              <a:t>Code indentation</a:t>
            </a:r>
            <a:endParaRPr lang="en-IN" sz="2400" dirty="0"/>
          </a:p>
          <a:p>
            <a:pPr marL="800100" lvl="1" indent="-342900" algn="just">
              <a:buFont typeface="Wingdings" panose="05000000000000000000" pitchFamily="2" charset="2"/>
              <a:buChar char="Ø"/>
            </a:pPr>
            <a:r>
              <a:rPr lang="en-IN" sz="2400" b="1" dirty="0"/>
              <a:t>Modular structure</a:t>
            </a:r>
            <a:endParaRPr lang="en-IN" sz="2400" dirty="0"/>
          </a:p>
          <a:p>
            <a:pPr marL="800100" lvl="1" indent="-342900" algn="just">
              <a:buFont typeface="Wingdings" panose="05000000000000000000" pitchFamily="2" charset="2"/>
              <a:buChar char="Ø"/>
            </a:pPr>
            <a:r>
              <a:rPr lang="en-IN" sz="2400" dirty="0"/>
              <a:t>Use of:</a:t>
            </a:r>
          </a:p>
          <a:p>
            <a:pPr marL="1257300" lvl="2" indent="-342900" algn="just">
              <a:buFont typeface="Wingdings" panose="05000000000000000000" pitchFamily="2" charset="2"/>
              <a:buChar char="Ø"/>
            </a:pPr>
            <a:r>
              <a:rPr lang="en-IN" sz="2400" b="1" dirty="0"/>
              <a:t>Enumerated types</a:t>
            </a:r>
            <a:endParaRPr lang="en-IN" sz="2400" dirty="0"/>
          </a:p>
          <a:p>
            <a:pPr marL="1257300" lvl="2" indent="-342900" algn="just">
              <a:buFont typeface="Wingdings" panose="05000000000000000000" pitchFamily="2" charset="2"/>
              <a:buChar char="Ø"/>
            </a:pPr>
            <a:r>
              <a:rPr lang="en-IN" sz="2400" b="1" dirty="0"/>
              <a:t>Constant identifiers</a:t>
            </a:r>
            <a:endParaRPr lang="en-IN" sz="2400" dirty="0"/>
          </a:p>
          <a:p>
            <a:pPr marL="1257300" lvl="2" indent="-342900" algn="just">
              <a:buFont typeface="Wingdings" panose="05000000000000000000" pitchFamily="2" charset="2"/>
              <a:buChar char="Ø"/>
            </a:pPr>
            <a:r>
              <a:rPr lang="en-IN" sz="2400" b="1" dirty="0"/>
              <a:t>User-defined data types</a:t>
            </a:r>
            <a:endParaRPr lang="en-IN" sz="2400" dirty="0"/>
          </a:p>
          <a:p>
            <a:pPr algn="just"/>
            <a:r>
              <a:rPr lang="en-IN" sz="2400" b="1" u="sng" dirty="0"/>
              <a:t>⚠️ Commenting Tip:</a:t>
            </a:r>
          </a:p>
          <a:p>
            <a:pPr algn="just"/>
            <a:r>
              <a:rPr lang="en-IN" sz="2400" dirty="0"/>
              <a:t>Avoid trivial comments like:</a:t>
            </a:r>
          </a:p>
        </p:txBody>
      </p:sp>
      <p:sp>
        <p:nvSpPr>
          <p:cNvPr id="4" name="Rectangle 3"/>
          <p:cNvSpPr/>
          <p:nvPr/>
        </p:nvSpPr>
        <p:spPr>
          <a:xfrm>
            <a:off x="1228763" y="6132166"/>
            <a:ext cx="5367816" cy="461665"/>
          </a:xfrm>
          <a:prstGeom prst="rect">
            <a:avLst/>
          </a:prstGeom>
        </p:spPr>
        <p:txBody>
          <a:bodyPr wrap="none">
            <a:spAutoFit/>
          </a:bodyPr>
          <a:lstStyle/>
          <a:p>
            <a:r>
              <a:rPr lang="en-IN" sz="2400" dirty="0"/>
              <a:t>a = 10;  /* a made 10 */  // ❌ Not helpful</a:t>
            </a:r>
          </a:p>
        </p:txBody>
      </p:sp>
      <p:sp>
        <p:nvSpPr>
          <p:cNvPr id="5" name="Rectangle 4"/>
          <p:cNvSpPr/>
          <p:nvPr/>
        </p:nvSpPr>
        <p:spPr>
          <a:xfrm>
            <a:off x="7157123" y="6009353"/>
            <a:ext cx="4745317" cy="707886"/>
          </a:xfrm>
          <a:prstGeom prst="rect">
            <a:avLst/>
          </a:prstGeom>
        </p:spPr>
        <p:txBody>
          <a:bodyPr wrap="square">
            <a:spAutoFit/>
          </a:bodyPr>
          <a:lstStyle/>
          <a:p>
            <a:r>
              <a:rPr lang="en-US" sz="2000" dirty="0">
                <a:solidFill>
                  <a:srgbClr val="002060"/>
                </a:solidFill>
              </a:rPr>
              <a:t>Prefer comments that explain </a:t>
            </a:r>
            <a:r>
              <a:rPr lang="en-US" sz="2000" b="1" dirty="0">
                <a:solidFill>
                  <a:srgbClr val="002060"/>
                </a:solidFill>
              </a:rPr>
              <a:t>non-obvious logic</a:t>
            </a:r>
            <a:r>
              <a:rPr lang="en-US" sz="2000" dirty="0">
                <a:solidFill>
                  <a:srgbClr val="002060"/>
                </a:solidFill>
              </a:rPr>
              <a:t> or design decisions.</a:t>
            </a:r>
            <a:endParaRPr lang="en-IN" sz="2000" dirty="0">
              <a:solidFill>
                <a:srgbClr val="002060"/>
              </a:solidFill>
            </a:endParaRPr>
          </a:p>
        </p:txBody>
      </p:sp>
      <p:sp>
        <p:nvSpPr>
          <p:cNvPr id="2" name="Date Placeholder 1">
            <a:extLst>
              <a:ext uri="{FF2B5EF4-FFF2-40B4-BE49-F238E27FC236}">
                <a16:creationId xmlns:a16="http://schemas.microsoft.com/office/drawing/2014/main" id="{E9336A0B-733C-E34C-353F-7F4F4801B13E}"/>
              </a:ext>
            </a:extLst>
          </p:cNvPr>
          <p:cNvSpPr>
            <a:spLocks noGrp="1"/>
          </p:cNvSpPr>
          <p:nvPr>
            <p:ph type="dt" sz="half" idx="10"/>
          </p:nvPr>
        </p:nvSpPr>
        <p:spPr/>
        <p:txBody>
          <a:bodyPr/>
          <a:lstStyle/>
          <a:p>
            <a:fld id="{0E130B88-70AC-4086-BE8C-B695638E32E3}" type="datetime1">
              <a:rPr lang="en-IN" smtClean="0"/>
              <a:t>03-11-2025</a:t>
            </a:fld>
            <a:endParaRPr lang="en-IN"/>
          </a:p>
        </p:txBody>
      </p:sp>
      <p:sp>
        <p:nvSpPr>
          <p:cNvPr id="6" name="Footer Placeholder 5">
            <a:extLst>
              <a:ext uri="{FF2B5EF4-FFF2-40B4-BE49-F238E27FC236}">
                <a16:creationId xmlns:a16="http://schemas.microsoft.com/office/drawing/2014/main" id="{68D42A87-A9A4-52CF-F3DD-474D1E59CFA0}"/>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59B195ED-3D48-9637-BDE9-B980FA16134B}"/>
              </a:ext>
            </a:extLst>
          </p:cNvPr>
          <p:cNvSpPr>
            <a:spLocks noGrp="1"/>
          </p:cNvSpPr>
          <p:nvPr>
            <p:ph type="sldNum" sz="quarter" idx="12"/>
          </p:nvPr>
        </p:nvSpPr>
        <p:spPr/>
        <p:txBody>
          <a:bodyPr/>
          <a:lstStyle/>
          <a:p>
            <a:fld id="{157E8F69-36B6-4843-A9CE-6B9353F4DBAF}" type="slidenum">
              <a:rPr lang="en-IN" smtClean="0"/>
              <a:t>15</a:t>
            </a:fld>
            <a:endParaRPr lang="en-IN"/>
          </a:p>
        </p:txBody>
      </p:sp>
    </p:spTree>
    <p:extLst>
      <p:ext uri="{BB962C8B-B14F-4D97-AF65-F5344CB8AC3E}">
        <p14:creationId xmlns:p14="http://schemas.microsoft.com/office/powerpoint/2010/main" val="380843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1000" y="303520"/>
            <a:ext cx="11551920" cy="4893647"/>
          </a:xfrm>
          <a:prstGeom prst="rect">
            <a:avLst/>
          </a:prstGeom>
        </p:spPr>
        <p:txBody>
          <a:bodyPr wrap="square">
            <a:spAutoFit/>
          </a:bodyPr>
          <a:lstStyle/>
          <a:p>
            <a:pPr algn="just"/>
            <a:r>
              <a:rPr lang="en-US" sz="2400" b="1" u="sng" dirty="0"/>
              <a:t>2. External Documentation</a:t>
            </a:r>
          </a:p>
          <a:p>
            <a:pPr algn="just"/>
            <a:r>
              <a:rPr lang="en-US" sz="2400" dirty="0"/>
              <a:t>Created </a:t>
            </a:r>
            <a:r>
              <a:rPr lang="en-US" sz="2400" i="1" dirty="0"/>
              <a:t>outside</a:t>
            </a:r>
            <a:r>
              <a:rPr lang="en-US" sz="2400" dirty="0"/>
              <a:t> of code and shared with stakeholders.</a:t>
            </a:r>
          </a:p>
          <a:p>
            <a:pPr algn="just"/>
            <a:endParaRPr lang="en-US" sz="2400" b="1" u="sng" dirty="0"/>
          </a:p>
          <a:p>
            <a:pPr algn="just"/>
            <a:r>
              <a:rPr lang="en-US" sz="2400" b="1" u="sng" dirty="0"/>
              <a:t>📄 Examples:</a:t>
            </a:r>
          </a:p>
          <a:p>
            <a:pPr marL="800100" lvl="1" indent="-342900" algn="just">
              <a:buFont typeface="Wingdings" panose="05000000000000000000" pitchFamily="2" charset="2"/>
              <a:buChar char="Ø"/>
            </a:pPr>
            <a:r>
              <a:rPr lang="en-US" sz="2400" dirty="0"/>
              <a:t>SRS (Software Requirements Specification)</a:t>
            </a:r>
          </a:p>
          <a:p>
            <a:pPr marL="800100" lvl="1" indent="-342900" algn="just">
              <a:buFont typeface="Wingdings" panose="05000000000000000000" pitchFamily="2" charset="2"/>
              <a:buChar char="Ø"/>
            </a:pPr>
            <a:r>
              <a:rPr lang="en-US" sz="2400" dirty="0"/>
              <a:t>Design document</a:t>
            </a:r>
          </a:p>
          <a:p>
            <a:pPr marL="800100" lvl="1" indent="-342900" algn="just">
              <a:buFont typeface="Wingdings" panose="05000000000000000000" pitchFamily="2" charset="2"/>
              <a:buChar char="Ø"/>
            </a:pPr>
            <a:r>
              <a:rPr lang="en-US" sz="2400" dirty="0"/>
              <a:t>Test document</a:t>
            </a:r>
          </a:p>
          <a:p>
            <a:pPr marL="800100" lvl="1" indent="-342900" algn="just">
              <a:buFont typeface="Wingdings" panose="05000000000000000000" pitchFamily="2" charset="2"/>
              <a:buChar char="Ø"/>
            </a:pPr>
            <a:r>
              <a:rPr lang="en-US" sz="2400" dirty="0"/>
              <a:t>User manual</a:t>
            </a:r>
          </a:p>
          <a:p>
            <a:pPr marL="800100" lvl="1" indent="-342900" algn="just">
              <a:buFont typeface="Wingdings" panose="05000000000000000000" pitchFamily="2" charset="2"/>
              <a:buChar char="Ø"/>
            </a:pPr>
            <a:r>
              <a:rPr lang="en-US" sz="2400" dirty="0"/>
              <a:t>Installation guide</a:t>
            </a:r>
          </a:p>
          <a:p>
            <a:pPr algn="just"/>
            <a:endParaRPr lang="en-US" sz="2400" b="1" dirty="0"/>
          </a:p>
          <a:p>
            <a:pPr algn="just"/>
            <a:r>
              <a:rPr lang="en-US" sz="2400" b="1" dirty="0"/>
              <a:t>🧭 Key Qualities:</a:t>
            </a:r>
          </a:p>
          <a:p>
            <a:pPr marL="800100" lvl="1" indent="-342900" algn="just">
              <a:buFont typeface="Wingdings" panose="05000000000000000000" pitchFamily="2" charset="2"/>
              <a:buChar char="Ø"/>
            </a:pPr>
            <a:r>
              <a:rPr lang="en-US" sz="2400" dirty="0"/>
              <a:t>Must be </a:t>
            </a:r>
            <a:r>
              <a:rPr lang="en-US" sz="2400" b="1" dirty="0"/>
              <a:t>up-to-date</a:t>
            </a:r>
            <a:r>
              <a:rPr lang="en-US" sz="2400" dirty="0"/>
              <a:t> with code changes (to ensure </a:t>
            </a:r>
            <a:r>
              <a:rPr lang="en-US" sz="2400" b="1" dirty="0"/>
              <a:t>consistency</a:t>
            </a:r>
            <a:r>
              <a:rPr lang="en-US" sz="2400" dirty="0"/>
              <a:t>).</a:t>
            </a:r>
          </a:p>
          <a:p>
            <a:pPr marL="800100" lvl="1" indent="-342900" algn="just">
              <a:buFont typeface="Wingdings" panose="05000000000000000000" pitchFamily="2" charset="2"/>
              <a:buChar char="Ø"/>
            </a:pPr>
            <a:r>
              <a:rPr lang="en-US" sz="2400" dirty="0"/>
              <a:t>Should be </a:t>
            </a:r>
            <a:r>
              <a:rPr lang="en-US" sz="2400" b="1" dirty="0"/>
              <a:t>understandable</a:t>
            </a:r>
            <a:r>
              <a:rPr lang="en-US" sz="2400" dirty="0"/>
              <a:t> by its target audience.</a:t>
            </a:r>
          </a:p>
        </p:txBody>
      </p:sp>
      <p:sp>
        <p:nvSpPr>
          <p:cNvPr id="2" name="Date Placeholder 1">
            <a:extLst>
              <a:ext uri="{FF2B5EF4-FFF2-40B4-BE49-F238E27FC236}">
                <a16:creationId xmlns:a16="http://schemas.microsoft.com/office/drawing/2014/main" id="{84431791-913E-DE0D-B889-1A60F96629DD}"/>
              </a:ext>
            </a:extLst>
          </p:cNvPr>
          <p:cNvSpPr>
            <a:spLocks noGrp="1"/>
          </p:cNvSpPr>
          <p:nvPr>
            <p:ph type="dt" sz="half" idx="10"/>
          </p:nvPr>
        </p:nvSpPr>
        <p:spPr/>
        <p:txBody>
          <a:bodyPr/>
          <a:lstStyle/>
          <a:p>
            <a:fld id="{0365228E-0B69-45EF-8251-886AA65001BE}" type="datetime1">
              <a:rPr lang="en-IN" smtClean="0"/>
              <a:t>03-11-2025</a:t>
            </a:fld>
            <a:endParaRPr lang="en-IN"/>
          </a:p>
        </p:txBody>
      </p:sp>
      <p:sp>
        <p:nvSpPr>
          <p:cNvPr id="4" name="Footer Placeholder 3">
            <a:extLst>
              <a:ext uri="{FF2B5EF4-FFF2-40B4-BE49-F238E27FC236}">
                <a16:creationId xmlns:a16="http://schemas.microsoft.com/office/drawing/2014/main" id="{6C6A1B32-403B-8A2C-5BDC-A1EC26CE8DE0}"/>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495C984E-ACC9-A27F-49AB-337662BD1BEF}"/>
              </a:ext>
            </a:extLst>
          </p:cNvPr>
          <p:cNvSpPr>
            <a:spLocks noGrp="1"/>
          </p:cNvSpPr>
          <p:nvPr>
            <p:ph type="sldNum" sz="quarter" idx="12"/>
          </p:nvPr>
        </p:nvSpPr>
        <p:spPr/>
        <p:txBody>
          <a:bodyPr/>
          <a:lstStyle/>
          <a:p>
            <a:fld id="{157E8F69-36B6-4843-A9CE-6B9353F4DBAF}" type="slidenum">
              <a:rPr lang="en-IN" smtClean="0"/>
              <a:t>16</a:t>
            </a:fld>
            <a:endParaRPr lang="en-IN"/>
          </a:p>
        </p:txBody>
      </p:sp>
    </p:spTree>
    <p:extLst>
      <p:ext uri="{BB962C8B-B14F-4D97-AF65-F5344CB8AC3E}">
        <p14:creationId xmlns:p14="http://schemas.microsoft.com/office/powerpoint/2010/main" val="3175389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396765" y="335845"/>
            <a:ext cx="11398469"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 Gunning’s Fog Index</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rPr>
              <a:t>🧠 What is it?</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	A </a:t>
            </a:r>
            <a:r>
              <a:rPr kumimoji="0" lang="en-US" altLang="en-US" sz="2400" b="1" i="0" u="none" strike="noStrike" cap="none" normalizeH="0" baseline="0" dirty="0">
                <a:ln>
                  <a:noFill/>
                </a:ln>
                <a:solidFill>
                  <a:schemeClr val="tx1"/>
                </a:solidFill>
                <a:effectLst/>
              </a:rPr>
              <a:t>readability metric</a:t>
            </a:r>
            <a:r>
              <a:rPr kumimoji="0" lang="en-US" altLang="en-US" sz="2400" b="0" i="0" u="none" strike="noStrike" cap="none" normalizeH="0" baseline="0" dirty="0">
                <a:ln>
                  <a:noFill/>
                </a:ln>
                <a:solidFill>
                  <a:schemeClr val="tx1"/>
                </a:solidFill>
                <a:effectLst/>
              </a:rPr>
              <a:t> that tells how many years of education someone needs to understand a document.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rPr>
              <a:t>For example, a fog index of </a:t>
            </a:r>
            <a:r>
              <a:rPr kumimoji="0" lang="en-US" altLang="en-US" sz="2400" b="1" i="0" u="none" strike="noStrike" cap="none" normalizeH="0" baseline="0" dirty="0">
                <a:ln>
                  <a:noFill/>
                </a:ln>
                <a:solidFill>
                  <a:schemeClr val="tx1"/>
                </a:solidFill>
                <a:effectLst/>
              </a:rPr>
              <a:t>12</a:t>
            </a:r>
            <a:r>
              <a:rPr kumimoji="0" lang="en-US" altLang="en-US" sz="2400" b="0" i="0" u="none" strike="noStrike" cap="none" normalizeH="0" baseline="0" dirty="0">
                <a:ln>
                  <a:noFill/>
                </a:ln>
                <a:solidFill>
                  <a:schemeClr val="tx1"/>
                </a:solidFill>
                <a:effectLst/>
              </a:rPr>
              <a:t> means a person with </a:t>
            </a:r>
            <a:r>
              <a:rPr kumimoji="0" lang="en-US" altLang="en-US" sz="2400" b="1" i="0" u="none" strike="noStrike" cap="none" normalizeH="0" baseline="0" dirty="0">
                <a:ln>
                  <a:noFill/>
                </a:ln>
                <a:solidFill>
                  <a:schemeClr val="tx1"/>
                </a:solidFill>
                <a:effectLst/>
              </a:rPr>
              <a:t>12th-grade education</a:t>
            </a:r>
            <a:r>
              <a:rPr kumimoji="0" lang="en-US" altLang="en-US" sz="2400" b="0" i="0" u="none" strike="noStrike" cap="none" normalizeH="0" baseline="0" dirty="0">
                <a:ln>
                  <a:noFill/>
                </a:ln>
                <a:solidFill>
                  <a:schemeClr val="tx1"/>
                </a:solidFill>
                <a:effectLst/>
              </a:rPr>
              <a:t> can understand it comfortably.</a:t>
            </a:r>
            <a:endParaRPr kumimoji="0" lang="en-US" altLang="en-US" sz="2400" b="1"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 Formula:</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rPr>
              <a:t>Complex words</a:t>
            </a:r>
            <a:r>
              <a:rPr kumimoji="0" lang="en-US" altLang="en-US" sz="2400" b="0" i="0" u="none" strike="noStrike" cap="none" normalizeH="0" baseline="0" dirty="0">
                <a:ln>
                  <a:noFill/>
                </a:ln>
                <a:solidFill>
                  <a:schemeClr val="tx1"/>
                </a:solidFill>
                <a:effectLst/>
              </a:rPr>
              <a:t>: Words with </a:t>
            </a:r>
            <a:r>
              <a:rPr kumimoji="0" lang="en-US" altLang="en-US" sz="2400" b="1" i="0" u="none" strike="noStrike" cap="none" normalizeH="0" baseline="0" dirty="0">
                <a:ln>
                  <a:noFill/>
                </a:ln>
                <a:solidFill>
                  <a:schemeClr val="tx1"/>
                </a:solidFill>
                <a:effectLst/>
              </a:rPr>
              <a:t>3 or more syllables</a:t>
            </a:r>
            <a:endParaRPr kumimoji="0" lang="en-US" altLang="en-US" sz="24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rPr>
              <a:t>Syllables</a:t>
            </a:r>
            <a:r>
              <a:rPr kumimoji="0" lang="en-US" altLang="en-US" sz="2400" b="0" i="0" u="none" strike="noStrike" cap="none" normalizeH="0" baseline="0" dirty="0">
                <a:ln>
                  <a:noFill/>
                </a:ln>
                <a:solidFill>
                  <a:schemeClr val="tx1"/>
                </a:solidFill>
                <a:effectLst/>
              </a:rPr>
              <a:t> are individual sounds, e.g., “understand” = </a:t>
            </a:r>
            <a:r>
              <a:rPr kumimoji="0" lang="en-US" altLang="en-US" sz="2400" b="0" i="1" u="none" strike="noStrike" cap="none" normalizeH="0" baseline="0" dirty="0">
                <a:ln>
                  <a:noFill/>
                </a:ln>
                <a:solidFill>
                  <a:schemeClr val="tx1"/>
                </a:solidFill>
                <a:effectLst/>
              </a:rPr>
              <a:t>un-der-stand</a:t>
            </a:r>
            <a:r>
              <a:rPr kumimoji="0" lang="en-US" altLang="en-US" sz="2400" b="0" i="0" u="none" strike="noStrike" cap="none" normalizeH="0" baseline="0" dirty="0">
                <a:ln>
                  <a:noFill/>
                </a:ln>
                <a:solidFill>
                  <a:schemeClr val="tx1"/>
                </a:solidFill>
                <a:effectLst/>
              </a:rPr>
              <a:t> (3 syllables)</a:t>
            </a:r>
          </a:p>
        </p:txBody>
      </p:sp>
      <p:pic>
        <p:nvPicPr>
          <p:cNvPr id="4" name="Picture 3"/>
          <p:cNvPicPr>
            <a:picLocks noChangeAspect="1"/>
          </p:cNvPicPr>
          <p:nvPr/>
        </p:nvPicPr>
        <p:blipFill>
          <a:blip r:embed="rId2"/>
          <a:stretch>
            <a:fillRect/>
          </a:stretch>
        </p:blipFill>
        <p:spPr>
          <a:xfrm>
            <a:off x="2255520" y="4138249"/>
            <a:ext cx="6544099" cy="963975"/>
          </a:xfrm>
          <a:prstGeom prst="rect">
            <a:avLst/>
          </a:prstGeom>
        </p:spPr>
      </p:pic>
      <p:sp>
        <p:nvSpPr>
          <p:cNvPr id="2" name="Date Placeholder 1">
            <a:extLst>
              <a:ext uri="{FF2B5EF4-FFF2-40B4-BE49-F238E27FC236}">
                <a16:creationId xmlns:a16="http://schemas.microsoft.com/office/drawing/2014/main" id="{A2268098-E331-41D4-6829-546DC7838DF1}"/>
              </a:ext>
            </a:extLst>
          </p:cNvPr>
          <p:cNvSpPr>
            <a:spLocks noGrp="1"/>
          </p:cNvSpPr>
          <p:nvPr>
            <p:ph type="dt" sz="half" idx="10"/>
          </p:nvPr>
        </p:nvSpPr>
        <p:spPr/>
        <p:txBody>
          <a:bodyPr/>
          <a:lstStyle/>
          <a:p>
            <a:fld id="{BFEA0E21-FA1A-490A-8997-6FE20CC9312D}" type="datetime1">
              <a:rPr lang="en-IN" smtClean="0"/>
              <a:t>03-11-2025</a:t>
            </a:fld>
            <a:endParaRPr lang="en-IN"/>
          </a:p>
        </p:txBody>
      </p:sp>
      <p:sp>
        <p:nvSpPr>
          <p:cNvPr id="5" name="Footer Placeholder 4">
            <a:extLst>
              <a:ext uri="{FF2B5EF4-FFF2-40B4-BE49-F238E27FC236}">
                <a16:creationId xmlns:a16="http://schemas.microsoft.com/office/drawing/2014/main" id="{BE6CF328-5F05-71A6-F0C5-2AEA718069DC}"/>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9014FF62-8800-6A61-D05D-092BBDF3A8D6}"/>
              </a:ext>
            </a:extLst>
          </p:cNvPr>
          <p:cNvSpPr>
            <a:spLocks noGrp="1"/>
          </p:cNvSpPr>
          <p:nvPr>
            <p:ph type="sldNum" sz="quarter" idx="12"/>
          </p:nvPr>
        </p:nvSpPr>
        <p:spPr/>
        <p:txBody>
          <a:bodyPr/>
          <a:lstStyle/>
          <a:p>
            <a:fld id="{157E8F69-36B6-4843-A9CE-6B9353F4DBAF}" type="slidenum">
              <a:rPr lang="en-IN" smtClean="0"/>
              <a:t>17</a:t>
            </a:fld>
            <a:endParaRPr lang="en-IN"/>
          </a:p>
        </p:txBody>
      </p:sp>
    </p:spTree>
    <p:extLst>
      <p:ext uri="{BB962C8B-B14F-4D97-AF65-F5344CB8AC3E}">
        <p14:creationId xmlns:p14="http://schemas.microsoft.com/office/powerpoint/2010/main" val="2282593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2712" y="342783"/>
            <a:ext cx="6275832" cy="3913059"/>
          </a:xfrm>
          <a:prstGeom prst="rect">
            <a:avLst/>
          </a:prstGeom>
        </p:spPr>
        <p:txBody>
          <a:bodyPr wrap="square">
            <a:spAutoFit/>
          </a:bodyPr>
          <a:lstStyle/>
          <a:p>
            <a:pPr>
              <a:lnSpc>
                <a:spcPct val="150000"/>
              </a:lnSpc>
            </a:pPr>
            <a:r>
              <a:rPr lang="en-US" sz="2400" b="1" u="sng" dirty="0"/>
              <a:t>✅ Example:</a:t>
            </a:r>
          </a:p>
          <a:p>
            <a:pPr>
              <a:lnSpc>
                <a:spcPct val="150000"/>
              </a:lnSpc>
            </a:pPr>
            <a:r>
              <a:rPr lang="en-US" sz="2400" b="1" u="sng" dirty="0"/>
              <a:t>Sentence</a:t>
            </a:r>
            <a:r>
              <a:rPr lang="en-US" sz="2400" u="sng" dirty="0"/>
              <a:t>:</a:t>
            </a:r>
            <a:br>
              <a:rPr lang="en-US" sz="2400" u="sng" dirty="0"/>
            </a:br>
            <a:r>
              <a:rPr lang="en-US" sz="2400" dirty="0"/>
              <a:t>“The Gunning’s fog index is based on the premise that use of short sentences and simple words makes a document easy to understand.”</a:t>
            </a:r>
          </a:p>
          <a:p>
            <a:pPr marL="800100" lvl="1" indent="-342900">
              <a:lnSpc>
                <a:spcPct val="150000"/>
              </a:lnSpc>
              <a:buFont typeface="Wingdings" panose="05000000000000000000" pitchFamily="2" charset="2"/>
              <a:buChar char="Ø"/>
            </a:pPr>
            <a:r>
              <a:rPr lang="en-US" sz="2400" dirty="0"/>
              <a:t>Total words: </a:t>
            </a:r>
            <a:r>
              <a:rPr lang="en-US" sz="2400" b="1" dirty="0"/>
              <a:t>23</a:t>
            </a:r>
            <a:endParaRPr lang="en-US" sz="2400" dirty="0"/>
          </a:p>
          <a:p>
            <a:pPr marL="800100" lvl="1" indent="-342900">
              <a:lnSpc>
                <a:spcPct val="150000"/>
              </a:lnSpc>
              <a:buFont typeface="Wingdings" panose="05000000000000000000" pitchFamily="2" charset="2"/>
              <a:buChar char="Ø"/>
            </a:pPr>
            <a:r>
              <a:rPr lang="en-US" sz="2400" dirty="0"/>
              <a:t>Complex words (≥3 syllables): </a:t>
            </a:r>
            <a:r>
              <a:rPr lang="en-US" sz="2400" b="1" dirty="0"/>
              <a:t>4</a:t>
            </a:r>
            <a:endParaRPr lang="en-US" sz="2400" dirty="0"/>
          </a:p>
        </p:txBody>
      </p:sp>
      <p:sp>
        <p:nvSpPr>
          <p:cNvPr id="5" name="Rectangle 4"/>
          <p:cNvSpPr/>
          <p:nvPr/>
        </p:nvSpPr>
        <p:spPr>
          <a:xfrm>
            <a:off x="890016" y="4969682"/>
            <a:ext cx="4645152" cy="1429622"/>
          </a:xfrm>
          <a:prstGeom prst="rect">
            <a:avLst/>
          </a:prstGeom>
        </p:spPr>
        <p:txBody>
          <a:bodyPr wrap="square">
            <a:spAutoFit/>
          </a:bodyPr>
          <a:lstStyle/>
          <a:p>
            <a:pPr algn="just">
              <a:lnSpc>
                <a:spcPct val="150000"/>
              </a:lnSpc>
            </a:pPr>
            <a:r>
              <a:rPr lang="en-US" sz="2000" b="1" u="sng" dirty="0"/>
              <a:t>🎯 Application:</a:t>
            </a:r>
          </a:p>
          <a:p>
            <a:pPr algn="just">
              <a:lnSpc>
                <a:spcPct val="150000"/>
              </a:lnSpc>
            </a:pPr>
            <a:r>
              <a:rPr lang="en-US" sz="2000" dirty="0"/>
              <a:t>If you’re writing a manual for users with </a:t>
            </a:r>
            <a:r>
              <a:rPr lang="en-US" sz="2000" b="1" dirty="0"/>
              <a:t>class 8 education</a:t>
            </a:r>
            <a:r>
              <a:rPr lang="en-US" sz="2000" dirty="0"/>
              <a:t>, ensure </a:t>
            </a:r>
            <a:r>
              <a:rPr lang="en-US" sz="2000" b="1" dirty="0"/>
              <a:t>fog index ≤ 8</a:t>
            </a:r>
            <a:r>
              <a:rPr lang="en-US" sz="2000" dirty="0"/>
              <a:t>.</a:t>
            </a:r>
          </a:p>
        </p:txBody>
      </p:sp>
      <p:sp>
        <p:nvSpPr>
          <p:cNvPr id="6" name="TextBox 5">
            <a:extLst>
              <a:ext uri="{FF2B5EF4-FFF2-40B4-BE49-F238E27FC236}">
                <a16:creationId xmlns:a16="http://schemas.microsoft.com/office/drawing/2014/main" id="{EF26AC40-D69A-0DA3-91D8-EE1B86CACA70}"/>
              </a:ext>
            </a:extLst>
          </p:cNvPr>
          <p:cNvSpPr txBox="1"/>
          <p:nvPr/>
        </p:nvSpPr>
        <p:spPr>
          <a:xfrm>
            <a:off x="6921246" y="342783"/>
            <a:ext cx="5270754" cy="5847755"/>
          </a:xfrm>
          <a:prstGeom prst="rect">
            <a:avLst/>
          </a:prstGeom>
          <a:noFill/>
        </p:spPr>
        <p:txBody>
          <a:bodyPr wrap="square">
            <a:spAutoFit/>
          </a:bodyPr>
          <a:lstStyle/>
          <a:p>
            <a:pPr>
              <a:buNone/>
            </a:pPr>
            <a:r>
              <a:rPr lang="en-US" sz="2200" b="1" dirty="0"/>
              <a:t>Count Complex Words</a:t>
            </a:r>
          </a:p>
          <a:p>
            <a:pPr>
              <a:buNone/>
            </a:pPr>
            <a:r>
              <a:rPr lang="en-US" sz="2200" dirty="0"/>
              <a:t>A </a:t>
            </a:r>
            <a:r>
              <a:rPr lang="en-US" sz="2200" b="1" dirty="0"/>
              <a:t>complex word</a:t>
            </a:r>
            <a:r>
              <a:rPr lang="en-US" sz="2200" dirty="0"/>
              <a:t> means a word with </a:t>
            </a:r>
            <a:r>
              <a:rPr lang="en-US" sz="2200" b="1" dirty="0"/>
              <a:t>three or more syllables</a:t>
            </a:r>
            <a:r>
              <a:rPr lang="en-US" sz="2200" dirty="0"/>
              <a:t>.</a:t>
            </a:r>
            <a:br>
              <a:rPr lang="en-US" sz="2200" dirty="0"/>
            </a:br>
            <a:r>
              <a:rPr lang="en-US" sz="2200" dirty="0"/>
              <a:t>In this sentence, the complex words (≥3 syllables) are:</a:t>
            </a:r>
          </a:p>
          <a:p>
            <a:pPr>
              <a:buFont typeface="+mj-lt"/>
              <a:buAutoNum type="arabicPeriod"/>
            </a:pPr>
            <a:r>
              <a:rPr lang="en-US" sz="2200" i="1" dirty="0"/>
              <a:t>Gunning’s</a:t>
            </a:r>
            <a:r>
              <a:rPr lang="en-US" sz="2200" dirty="0"/>
              <a:t> – (Gun-</a:t>
            </a:r>
            <a:r>
              <a:rPr lang="en-US" sz="2200" dirty="0" err="1"/>
              <a:t>ning’s</a:t>
            </a:r>
            <a:r>
              <a:rPr lang="en-US" sz="2200" dirty="0"/>
              <a:t> → 2 syllables) ❌ Not complex</a:t>
            </a:r>
          </a:p>
          <a:p>
            <a:pPr>
              <a:buFont typeface="+mj-lt"/>
              <a:buAutoNum type="arabicPeriod"/>
            </a:pPr>
            <a:r>
              <a:rPr lang="en-US" sz="2200" i="1" dirty="0"/>
              <a:t>premise</a:t>
            </a:r>
            <a:r>
              <a:rPr lang="en-US" sz="2200" dirty="0"/>
              <a:t> – (pre-mise → 2 syllables) ❌</a:t>
            </a:r>
          </a:p>
          <a:p>
            <a:pPr>
              <a:buFont typeface="+mj-lt"/>
              <a:buAutoNum type="arabicPeriod"/>
            </a:pPr>
            <a:r>
              <a:rPr lang="en-US" sz="2200" i="1" dirty="0"/>
              <a:t>sentences</a:t>
            </a:r>
            <a:r>
              <a:rPr lang="en-US" sz="2200" dirty="0"/>
              <a:t> – (</a:t>
            </a:r>
            <a:r>
              <a:rPr lang="en-US" sz="2200" dirty="0" err="1"/>
              <a:t>sen</a:t>
            </a:r>
            <a:r>
              <a:rPr lang="en-US" sz="2200" dirty="0"/>
              <a:t>-ten-</a:t>
            </a:r>
            <a:r>
              <a:rPr lang="en-US" sz="2200" dirty="0" err="1"/>
              <a:t>ces</a:t>
            </a:r>
            <a:r>
              <a:rPr lang="en-US" sz="2200" dirty="0"/>
              <a:t> → 3 syllables) ✅</a:t>
            </a:r>
          </a:p>
          <a:p>
            <a:pPr>
              <a:buFont typeface="+mj-lt"/>
              <a:buAutoNum type="arabicPeriod"/>
            </a:pPr>
            <a:r>
              <a:rPr lang="en-US" sz="2200" i="1" dirty="0"/>
              <a:t>simple</a:t>
            </a:r>
            <a:r>
              <a:rPr lang="en-US" sz="2200" dirty="0"/>
              <a:t> – (sim-</a:t>
            </a:r>
            <a:r>
              <a:rPr lang="en-US" sz="2200" dirty="0" err="1"/>
              <a:t>ple</a:t>
            </a:r>
            <a:r>
              <a:rPr lang="en-US" sz="2200" dirty="0"/>
              <a:t> → 2 syllables) ❌</a:t>
            </a:r>
          </a:p>
          <a:p>
            <a:pPr>
              <a:buFont typeface="+mj-lt"/>
              <a:buAutoNum type="arabicPeriod"/>
            </a:pPr>
            <a:r>
              <a:rPr lang="en-US" sz="2200" i="1" dirty="0"/>
              <a:t>document</a:t>
            </a:r>
            <a:r>
              <a:rPr lang="en-US" sz="2200" dirty="0"/>
              <a:t> – (doc-u-</a:t>
            </a:r>
            <a:r>
              <a:rPr lang="en-US" sz="2200" dirty="0" err="1"/>
              <a:t>ment</a:t>
            </a:r>
            <a:r>
              <a:rPr lang="en-US" sz="2200" dirty="0"/>
              <a:t> → 3 syllables) ✅</a:t>
            </a:r>
          </a:p>
          <a:p>
            <a:pPr>
              <a:buFont typeface="+mj-lt"/>
              <a:buAutoNum type="arabicPeriod"/>
            </a:pPr>
            <a:r>
              <a:rPr lang="en-US" sz="2200" i="1" dirty="0"/>
              <a:t>understand</a:t>
            </a:r>
            <a:r>
              <a:rPr lang="en-US" sz="2200" dirty="0"/>
              <a:t> – (un-der-stand → 3 syllables) ✅</a:t>
            </a:r>
          </a:p>
          <a:p>
            <a:pPr>
              <a:buFont typeface="+mj-lt"/>
              <a:buAutoNum type="arabicPeriod"/>
            </a:pPr>
            <a:r>
              <a:rPr lang="en-US" sz="2200" i="1" dirty="0"/>
              <a:t>index</a:t>
            </a:r>
            <a:r>
              <a:rPr lang="en-US" sz="2200" dirty="0"/>
              <a:t> – (in-</a:t>
            </a:r>
            <a:r>
              <a:rPr lang="en-US" sz="2200" dirty="0" err="1"/>
              <a:t>dex</a:t>
            </a:r>
            <a:r>
              <a:rPr lang="en-US" sz="2200" dirty="0"/>
              <a:t> → 2 syllables) ❌</a:t>
            </a:r>
          </a:p>
          <a:p>
            <a:pPr>
              <a:buFont typeface="+mj-lt"/>
              <a:buAutoNum type="arabicPeriod"/>
            </a:pPr>
            <a:r>
              <a:rPr lang="en-US" sz="2200" i="1" dirty="0"/>
              <a:t>based</a:t>
            </a:r>
            <a:r>
              <a:rPr lang="en-US" sz="2200" dirty="0"/>
              <a:t> – (1 syllable) ❌</a:t>
            </a:r>
          </a:p>
          <a:p>
            <a:pPr>
              <a:buNone/>
            </a:pPr>
            <a:r>
              <a:rPr lang="en-US" sz="2200" dirty="0"/>
              <a:t>So, there are </a:t>
            </a:r>
            <a:r>
              <a:rPr lang="en-US" sz="2200" b="1" dirty="0"/>
              <a:t>4 complex words</a:t>
            </a:r>
            <a:r>
              <a:rPr lang="en-US" sz="2200" dirty="0"/>
              <a:t> total.</a:t>
            </a:r>
          </a:p>
        </p:txBody>
      </p:sp>
      <p:sp>
        <p:nvSpPr>
          <p:cNvPr id="2" name="Date Placeholder 1">
            <a:extLst>
              <a:ext uri="{FF2B5EF4-FFF2-40B4-BE49-F238E27FC236}">
                <a16:creationId xmlns:a16="http://schemas.microsoft.com/office/drawing/2014/main" id="{C8CD7BFF-E587-CE1C-34A3-43D6332E4153}"/>
              </a:ext>
            </a:extLst>
          </p:cNvPr>
          <p:cNvSpPr>
            <a:spLocks noGrp="1"/>
          </p:cNvSpPr>
          <p:nvPr>
            <p:ph type="dt" sz="half" idx="10"/>
          </p:nvPr>
        </p:nvSpPr>
        <p:spPr/>
        <p:txBody>
          <a:bodyPr/>
          <a:lstStyle/>
          <a:p>
            <a:fld id="{BBDE7EB0-CD1E-4577-BD93-2E208038A6DB}" type="datetime1">
              <a:rPr lang="en-IN" smtClean="0"/>
              <a:t>03-11-2025</a:t>
            </a:fld>
            <a:endParaRPr lang="en-IN"/>
          </a:p>
        </p:txBody>
      </p:sp>
      <p:sp>
        <p:nvSpPr>
          <p:cNvPr id="4" name="Footer Placeholder 3">
            <a:extLst>
              <a:ext uri="{FF2B5EF4-FFF2-40B4-BE49-F238E27FC236}">
                <a16:creationId xmlns:a16="http://schemas.microsoft.com/office/drawing/2014/main" id="{41A586DB-0408-BFE2-0ACC-C1A5DAAE6E4B}"/>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EE087C49-5CFB-C803-05EB-B93B7CA5862E}"/>
              </a:ext>
            </a:extLst>
          </p:cNvPr>
          <p:cNvSpPr>
            <a:spLocks noGrp="1"/>
          </p:cNvSpPr>
          <p:nvPr>
            <p:ph type="sldNum" sz="quarter" idx="12"/>
          </p:nvPr>
        </p:nvSpPr>
        <p:spPr/>
        <p:txBody>
          <a:bodyPr/>
          <a:lstStyle/>
          <a:p>
            <a:fld id="{157E8F69-36B6-4843-A9CE-6B9353F4DBAF}" type="slidenum">
              <a:rPr lang="en-IN" smtClean="0"/>
              <a:t>18</a:t>
            </a:fld>
            <a:endParaRPr lang="en-IN"/>
          </a:p>
        </p:txBody>
      </p:sp>
    </p:spTree>
    <p:extLst>
      <p:ext uri="{BB962C8B-B14F-4D97-AF65-F5344CB8AC3E}">
        <p14:creationId xmlns:p14="http://schemas.microsoft.com/office/powerpoint/2010/main" val="1749109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838BEB-E6F8-685F-6B5A-B1D2D82BD79F}"/>
              </a:ext>
            </a:extLst>
          </p:cNvPr>
          <p:cNvSpPr txBox="1"/>
          <p:nvPr/>
        </p:nvSpPr>
        <p:spPr>
          <a:xfrm>
            <a:off x="294894" y="4080224"/>
            <a:ext cx="11449050" cy="1938992"/>
          </a:xfrm>
          <a:prstGeom prst="rect">
            <a:avLst/>
          </a:prstGeom>
          <a:noFill/>
        </p:spPr>
        <p:txBody>
          <a:bodyPr wrap="square">
            <a:spAutoFit/>
          </a:bodyPr>
          <a:lstStyle/>
          <a:p>
            <a:pPr marL="342900" indent="-342900">
              <a:buFont typeface="Wingdings" panose="05000000000000000000" pitchFamily="2" charset="2"/>
              <a:buChar char="ü"/>
            </a:pPr>
            <a:r>
              <a:rPr lang="en-US" sz="2400" dirty="0"/>
              <a:t>A fog index of </a:t>
            </a:r>
            <a:r>
              <a:rPr lang="en-US" sz="2400" b="1" dirty="0"/>
              <a:t>16</a:t>
            </a:r>
            <a:r>
              <a:rPr lang="en-US" sz="2400" dirty="0"/>
              <a:t> means the document would be easily understood by someone with </a:t>
            </a:r>
            <a:r>
              <a:rPr lang="en-US" sz="2400" b="1" dirty="0"/>
              <a:t>16 years of formal education</a:t>
            </a:r>
            <a:r>
              <a:rPr lang="en-US" sz="2400" dirty="0"/>
              <a:t> (roughly a </a:t>
            </a:r>
            <a:r>
              <a:rPr lang="en-US" sz="2400" b="1" dirty="0"/>
              <a:t>college graduate</a:t>
            </a:r>
            <a:r>
              <a:rPr lang="en-US" sz="2400" dirty="0"/>
              <a:t>).</a:t>
            </a:r>
          </a:p>
          <a:p>
            <a:pPr marL="342900" indent="-342900">
              <a:buFont typeface="Wingdings" panose="05000000000000000000" pitchFamily="2" charset="2"/>
              <a:buChar char="ü"/>
            </a:pPr>
            <a:endParaRPr lang="en-US" sz="2400" b="1" dirty="0"/>
          </a:p>
          <a:p>
            <a:pPr marL="342900" indent="-342900">
              <a:buFont typeface="Wingdings" panose="05000000000000000000" pitchFamily="2" charset="2"/>
              <a:buChar char="ü"/>
            </a:pPr>
            <a:r>
              <a:rPr lang="en-US" sz="2400" b="1" dirty="0"/>
              <a:t>Simpler writing</a:t>
            </a:r>
            <a:r>
              <a:rPr lang="en-US" sz="2400" dirty="0"/>
              <a:t> (shorter sentences, fewer complex words) would lower the index and make it easier for a wider audience.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3182CF6-055D-014A-79F8-5C82FF3F8375}"/>
                  </a:ext>
                </a:extLst>
              </p:cNvPr>
              <p:cNvSpPr txBox="1"/>
              <p:nvPr/>
            </p:nvSpPr>
            <p:spPr>
              <a:xfrm>
                <a:off x="496062" y="382012"/>
                <a:ext cx="11247882" cy="2677656"/>
              </a:xfrm>
              <a:prstGeom prst="rect">
                <a:avLst/>
              </a:prstGeom>
              <a:noFill/>
            </p:spPr>
            <p:txBody>
              <a:bodyPr wrap="square">
                <a:spAutoFit/>
              </a:bodyPr>
              <a:lstStyle/>
              <a:p>
                <a:r>
                  <a:rPr lang="en-US" sz="2400" dirty="0"/>
                  <a:t>Fog index = 0.4×(Average Sentence Length+%of Complex Words) </a:t>
                </a:r>
              </a:p>
              <a:p>
                <a:r>
                  <a:rPr lang="en-US" sz="2400" dirty="0"/>
                  <a:t>Since we have only one sentence:</a:t>
                </a:r>
              </a:p>
              <a:p>
                <a:r>
                  <a:rPr lang="en-US" sz="2400" b="1" dirty="0"/>
                  <a:t>Average sentence length</a:t>
                </a:r>
                <a:r>
                  <a:rPr lang="en-US" sz="2400" dirty="0"/>
                  <a:t> = 23 words.</a:t>
                </a:r>
              </a:p>
              <a:p>
                <a:r>
                  <a:rPr lang="en-US" sz="2400" b="1" dirty="0"/>
                  <a:t>% of complex words</a:t>
                </a:r>
                <a:r>
                  <a:rPr lang="en-US" sz="2400" dirty="0"/>
                  <a:t> = (4 ÷ 23) × 100 = 17.39%.</a:t>
                </a:r>
              </a:p>
              <a:p>
                <a:r>
                  <a:rPr lang="en-US" sz="2400" dirty="0"/>
                  <a:t>Now calculate:</a:t>
                </a:r>
              </a:p>
              <a:p>
                <a:pPr/>
                <a14:m>
                  <m:oMathPara xmlns:m="http://schemas.openxmlformats.org/officeDocument/2006/math">
                    <m:oMathParaPr>
                      <m:jc m:val="centerGroup"/>
                    </m:oMathParaPr>
                    <m:oMath xmlns:m="http://schemas.openxmlformats.org/officeDocument/2006/math">
                      <m:r>
                        <m:rPr>
                          <m:nor/>
                        </m:rPr>
                        <a:rPr lang="en-US" sz="2400" b="0"/>
                        <m:t>Fog</m:t>
                      </m:r>
                      <m:r>
                        <m:rPr>
                          <m:nor/>
                        </m:rPr>
                        <a:rPr lang="en-US" sz="2400" b="0" i="1"/>
                        <m:t> </m:t>
                      </m:r>
                      <m:r>
                        <m:rPr>
                          <m:nor/>
                        </m:rPr>
                        <a:rPr lang="en-US" sz="2400" b="0" i="1"/>
                        <m:t>Index</m:t>
                      </m:r>
                      <m:r>
                        <a:rPr lang="en-US" sz="2400">
                          <a:latin typeface="Cambria Math" panose="02040503050406030204" pitchFamily="18" charset="0"/>
                        </a:rPr>
                        <m:t>=</m:t>
                      </m:r>
                      <m:r>
                        <a:rPr lang="en-US" sz="2400">
                          <a:latin typeface="Cambria Math" panose="02040503050406030204" pitchFamily="18" charset="0"/>
                        </a:rPr>
                        <m:t>0</m:t>
                      </m:r>
                      <m:r>
                        <a:rPr lang="en-US" sz="2400">
                          <a:latin typeface="Cambria Math" panose="02040503050406030204" pitchFamily="18" charset="0"/>
                        </a:rPr>
                        <m:t>.</m:t>
                      </m:r>
                      <m:r>
                        <a:rPr lang="en-US" sz="2400">
                          <a:latin typeface="Cambria Math" panose="02040503050406030204" pitchFamily="18" charset="0"/>
                        </a:rPr>
                        <m:t>4</m:t>
                      </m:r>
                      <m:r>
                        <a:rPr lang="en-US" sz="2400">
                          <a:latin typeface="Cambria Math" panose="02040503050406030204" pitchFamily="18" charset="0"/>
                        </a:rPr>
                        <m:t>×</m:t>
                      </m:r>
                      <m:d>
                        <m:dPr>
                          <m:ctrlPr>
                            <a:rPr lang="ar-AE" sz="2400" i="1">
                              <a:latin typeface="Cambria Math" panose="02040503050406030204" pitchFamily="18" charset="0"/>
                            </a:rPr>
                          </m:ctrlPr>
                        </m:dPr>
                        <m:e>
                          <m:r>
                            <a:rPr lang="ar-AE" sz="2400">
                              <a:latin typeface="Cambria Math" panose="02040503050406030204" pitchFamily="18" charset="0"/>
                            </a:rPr>
                            <m:t>23</m:t>
                          </m:r>
                          <m:r>
                            <a:rPr lang="ar-AE" sz="2400">
                              <a:latin typeface="Cambria Math" panose="02040503050406030204" pitchFamily="18" charset="0"/>
                            </a:rPr>
                            <m:t>+</m:t>
                          </m:r>
                          <m:r>
                            <a:rPr lang="ar-AE" sz="2400">
                              <a:latin typeface="Cambria Math" panose="02040503050406030204" pitchFamily="18" charset="0"/>
                            </a:rPr>
                            <m:t>17</m:t>
                          </m:r>
                          <m:r>
                            <a:rPr lang="ar-AE" sz="2400">
                              <a:latin typeface="Cambria Math" panose="02040503050406030204" pitchFamily="18" charset="0"/>
                            </a:rPr>
                            <m:t>.</m:t>
                          </m:r>
                          <m:r>
                            <a:rPr lang="ar-AE" sz="2400">
                              <a:latin typeface="Cambria Math" panose="02040503050406030204" pitchFamily="18" charset="0"/>
                            </a:rPr>
                            <m:t>39</m:t>
                          </m:r>
                        </m:e>
                      </m:d>
                    </m:oMath>
                  </m:oMathPara>
                </a14:m>
                <a:endParaRPr lang="ar-AE" sz="2400" b="0" dirty="0"/>
              </a:p>
              <a:p>
                <a:pPr/>
                <a14:m>
                  <m:oMathPara xmlns:m="http://schemas.openxmlformats.org/officeDocument/2006/math">
                    <m:oMathParaPr>
                      <m:jc m:val="centerGroup"/>
                    </m:oMathParaPr>
                    <m:oMath xmlns:m="http://schemas.openxmlformats.org/officeDocument/2006/math">
                      <m:r>
                        <a:rPr lang="ar-AE" sz="2400">
                          <a:latin typeface="Cambria Math" panose="02040503050406030204" pitchFamily="18" charset="0"/>
                        </a:rPr>
                        <m:t>=</m:t>
                      </m:r>
                      <m:r>
                        <a:rPr lang="ar-AE" sz="2400">
                          <a:latin typeface="Cambria Math" panose="02040503050406030204" pitchFamily="18" charset="0"/>
                        </a:rPr>
                        <m:t>0</m:t>
                      </m:r>
                      <m:r>
                        <a:rPr lang="ar-AE" sz="2400">
                          <a:latin typeface="Cambria Math" panose="02040503050406030204" pitchFamily="18" charset="0"/>
                        </a:rPr>
                        <m:t>.</m:t>
                      </m:r>
                      <m:r>
                        <a:rPr lang="ar-AE" sz="2400">
                          <a:latin typeface="Cambria Math" panose="02040503050406030204" pitchFamily="18" charset="0"/>
                        </a:rPr>
                        <m:t>4</m:t>
                      </m:r>
                      <m:r>
                        <a:rPr lang="ar-AE" sz="2400">
                          <a:latin typeface="Cambria Math" panose="02040503050406030204" pitchFamily="18" charset="0"/>
                        </a:rPr>
                        <m:t>×</m:t>
                      </m:r>
                      <m:r>
                        <a:rPr lang="ar-AE" sz="2400">
                          <a:latin typeface="Cambria Math" panose="02040503050406030204" pitchFamily="18" charset="0"/>
                        </a:rPr>
                        <m:t>40</m:t>
                      </m:r>
                      <m:r>
                        <a:rPr lang="ar-AE" sz="2400">
                          <a:latin typeface="Cambria Math" panose="02040503050406030204" pitchFamily="18" charset="0"/>
                        </a:rPr>
                        <m:t>.</m:t>
                      </m:r>
                      <m:r>
                        <a:rPr lang="ar-AE" sz="2400">
                          <a:latin typeface="Cambria Math" panose="02040503050406030204" pitchFamily="18" charset="0"/>
                        </a:rPr>
                        <m:t>39</m:t>
                      </m:r>
                      <m:r>
                        <a:rPr lang="ar-AE" sz="2400">
                          <a:latin typeface="Cambria Math" panose="02040503050406030204" pitchFamily="18" charset="0"/>
                        </a:rPr>
                        <m:t>=</m:t>
                      </m:r>
                      <m:r>
                        <a:rPr lang="ar-AE" sz="2400">
                          <a:latin typeface="Cambria Math" panose="02040503050406030204" pitchFamily="18" charset="0"/>
                        </a:rPr>
                        <m:t>16</m:t>
                      </m:r>
                      <m:r>
                        <a:rPr lang="ar-AE" sz="2400">
                          <a:latin typeface="Cambria Math" panose="02040503050406030204" pitchFamily="18" charset="0"/>
                        </a:rPr>
                        <m:t>.</m:t>
                      </m:r>
                      <m:r>
                        <a:rPr lang="ar-AE" sz="2400">
                          <a:latin typeface="Cambria Math" panose="02040503050406030204" pitchFamily="18" charset="0"/>
                        </a:rPr>
                        <m:t>156</m:t>
                      </m:r>
                    </m:oMath>
                  </m:oMathPara>
                </a14:m>
                <a:endParaRPr lang="ar-AE" sz="2400" dirty="0"/>
              </a:p>
            </p:txBody>
          </p:sp>
        </mc:Choice>
        <mc:Fallback xmlns="">
          <p:sp>
            <p:nvSpPr>
              <p:cNvPr id="6" name="TextBox 5">
                <a:extLst>
                  <a:ext uri="{FF2B5EF4-FFF2-40B4-BE49-F238E27FC236}">
                    <a16:creationId xmlns:a16="http://schemas.microsoft.com/office/drawing/2014/main" id="{33182CF6-055D-014A-79F8-5C82FF3F8375}"/>
                  </a:ext>
                </a:extLst>
              </p:cNvPr>
              <p:cNvSpPr txBox="1">
                <a:spLocks noRot="1" noChangeAspect="1" noMove="1" noResize="1" noEditPoints="1" noAdjustHandles="1" noChangeArrowheads="1" noChangeShapeType="1" noTextEdit="1"/>
              </p:cNvSpPr>
              <p:nvPr/>
            </p:nvSpPr>
            <p:spPr>
              <a:xfrm>
                <a:off x="496062" y="382012"/>
                <a:ext cx="11247882" cy="2677656"/>
              </a:xfrm>
              <a:prstGeom prst="rect">
                <a:avLst/>
              </a:prstGeom>
              <a:blipFill>
                <a:blip r:embed="rId2"/>
                <a:stretch>
                  <a:fillRect l="-813" t="-1822"/>
                </a:stretch>
              </a:blipFill>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id="{4D102274-7DE8-8E30-DEC7-E249B5ADABB8}"/>
              </a:ext>
            </a:extLst>
          </p:cNvPr>
          <p:cNvSpPr>
            <a:spLocks noGrp="1"/>
          </p:cNvSpPr>
          <p:nvPr>
            <p:ph type="dt" sz="half" idx="10"/>
          </p:nvPr>
        </p:nvSpPr>
        <p:spPr/>
        <p:txBody>
          <a:bodyPr/>
          <a:lstStyle/>
          <a:p>
            <a:fld id="{74FC07F0-E02C-41FA-BBB0-041A67F6E3E5}" type="datetime1">
              <a:rPr lang="en-IN" smtClean="0"/>
              <a:t>03-11-2025</a:t>
            </a:fld>
            <a:endParaRPr lang="en-IN"/>
          </a:p>
        </p:txBody>
      </p:sp>
      <p:sp>
        <p:nvSpPr>
          <p:cNvPr id="3" name="Footer Placeholder 2">
            <a:extLst>
              <a:ext uri="{FF2B5EF4-FFF2-40B4-BE49-F238E27FC236}">
                <a16:creationId xmlns:a16="http://schemas.microsoft.com/office/drawing/2014/main" id="{16B0B737-DFCD-AF7A-B19C-0182849E8983}"/>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951232A0-1824-6128-3152-34C22FF2CE51}"/>
              </a:ext>
            </a:extLst>
          </p:cNvPr>
          <p:cNvSpPr>
            <a:spLocks noGrp="1"/>
          </p:cNvSpPr>
          <p:nvPr>
            <p:ph type="sldNum" sz="quarter" idx="12"/>
          </p:nvPr>
        </p:nvSpPr>
        <p:spPr/>
        <p:txBody>
          <a:bodyPr/>
          <a:lstStyle/>
          <a:p>
            <a:fld id="{157E8F69-36B6-4843-A9CE-6B9353F4DBAF}" type="slidenum">
              <a:rPr lang="en-IN" smtClean="0"/>
              <a:t>19</a:t>
            </a:fld>
            <a:endParaRPr lang="en-IN"/>
          </a:p>
        </p:txBody>
      </p:sp>
    </p:spTree>
    <p:extLst>
      <p:ext uri="{BB962C8B-B14F-4D97-AF65-F5344CB8AC3E}">
        <p14:creationId xmlns:p14="http://schemas.microsoft.com/office/powerpoint/2010/main" val="2610246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272743" y="212909"/>
            <a:ext cx="11751617" cy="280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50000"/>
              </a:lnSpc>
              <a:spcBef>
                <a:spcPct val="0"/>
              </a:spcBef>
              <a:spcAft>
                <a:spcPct val="0"/>
              </a:spcAft>
              <a:buClrTx/>
              <a:buSzTx/>
              <a:buFontTx/>
              <a:buNone/>
              <a:tabLst/>
            </a:pPr>
            <a:r>
              <a:rPr lang="en-US" altLang="en-US" sz="2400" b="1" u="sng" dirty="0"/>
              <a:t>7</a:t>
            </a:r>
            <a:r>
              <a:rPr kumimoji="0" lang="en-US" altLang="en-US" sz="2400" b="1" i="0" u="sng" strike="noStrike" cap="none" normalizeH="0" baseline="0" dirty="0">
                <a:ln>
                  <a:noFill/>
                </a:ln>
                <a:solidFill>
                  <a:schemeClr val="tx1"/>
                </a:solidFill>
                <a:effectLst/>
              </a:rPr>
              <a:t>.4 TESTING</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 Goal of Testing</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rPr>
              <a:t>To identify and eliminate </a:t>
            </a:r>
            <a:r>
              <a:rPr kumimoji="0" lang="en-US" altLang="en-US" sz="2400" b="1" i="0" u="none" strike="noStrike" cap="none" normalizeH="0" baseline="0" dirty="0">
                <a:ln>
                  <a:noFill/>
                </a:ln>
                <a:solidFill>
                  <a:schemeClr val="tx1"/>
                </a:solidFill>
                <a:effectLst/>
              </a:rPr>
              <a:t>defects</a:t>
            </a:r>
            <a:r>
              <a:rPr kumimoji="0" lang="en-US" altLang="en-US" sz="2400" b="0" i="0" u="none" strike="noStrike" cap="none" normalizeH="0" baseline="0" dirty="0">
                <a:ln>
                  <a:noFill/>
                </a:ln>
                <a:solidFill>
                  <a:schemeClr val="tx1"/>
                </a:solidFill>
                <a:effectLst/>
              </a:rPr>
              <a:t> in software.</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rPr>
              <a:t>However, </a:t>
            </a:r>
            <a:r>
              <a:rPr kumimoji="0" lang="en-US" altLang="en-US" sz="2400" b="1" i="0" u="none" strike="noStrike" cap="none" normalizeH="0" baseline="0" dirty="0">
                <a:ln>
                  <a:noFill/>
                </a:ln>
                <a:solidFill>
                  <a:schemeClr val="tx1"/>
                </a:solidFill>
                <a:effectLst/>
              </a:rPr>
              <a:t>exhaustive testing is impossible</a:t>
            </a:r>
            <a:r>
              <a:rPr kumimoji="0" lang="en-US" altLang="en-US" sz="2400" b="0" i="0" u="none" strike="noStrike" cap="none" normalizeH="0" baseline="0" dirty="0">
                <a:ln>
                  <a:noFill/>
                </a:ln>
                <a:solidFill>
                  <a:schemeClr val="tx1"/>
                </a:solidFill>
                <a:effectLst/>
              </a:rPr>
              <a:t> due to large input domains (e.g., floating-point numbers), but </a:t>
            </a:r>
            <a:r>
              <a:rPr kumimoji="0" lang="en-US" altLang="en-US" sz="2400" b="1" i="0" u="none" strike="noStrike" cap="none" normalizeH="0" baseline="0" dirty="0">
                <a:ln>
                  <a:noFill/>
                </a:ln>
                <a:solidFill>
                  <a:schemeClr val="tx1"/>
                </a:solidFill>
                <a:effectLst/>
              </a:rPr>
              <a:t>careful testing</a:t>
            </a:r>
            <a:r>
              <a:rPr kumimoji="0" lang="en-US" altLang="en-US" sz="2400" b="0" i="0" u="none" strike="noStrike" cap="none" normalizeH="0" baseline="0" dirty="0">
                <a:ln>
                  <a:noFill/>
                </a:ln>
                <a:solidFill>
                  <a:schemeClr val="tx1"/>
                </a:solidFill>
                <a:effectLst/>
              </a:rPr>
              <a:t> can still expose most bugs.</a:t>
            </a:r>
          </a:p>
        </p:txBody>
      </p:sp>
      <p:sp>
        <p:nvSpPr>
          <p:cNvPr id="4" name="Rectangle 3"/>
          <p:cNvSpPr/>
          <p:nvPr/>
        </p:nvSpPr>
        <p:spPr>
          <a:xfrm>
            <a:off x="272743" y="2965936"/>
            <a:ext cx="11751617" cy="3416320"/>
          </a:xfrm>
          <a:prstGeom prst="rect">
            <a:avLst/>
          </a:prstGeom>
        </p:spPr>
        <p:txBody>
          <a:bodyPr wrap="square">
            <a:spAutoFit/>
          </a:bodyPr>
          <a:lstStyle/>
          <a:p>
            <a:pPr algn="just">
              <a:lnSpc>
                <a:spcPct val="150000"/>
              </a:lnSpc>
            </a:pPr>
            <a:r>
              <a:rPr lang="en-US" sz="2400" b="1" u="sng" dirty="0"/>
              <a:t>🔑 7.4.1 Basic Concepts &amp; Terminologies</a:t>
            </a:r>
          </a:p>
          <a:p>
            <a:pPr algn="just">
              <a:lnSpc>
                <a:spcPct val="150000"/>
              </a:lnSpc>
            </a:pPr>
            <a:r>
              <a:rPr lang="en-US" sz="2400" b="1" u="sng" dirty="0"/>
              <a:t>🧪 Testing Process</a:t>
            </a:r>
          </a:p>
          <a:p>
            <a:pPr algn="just">
              <a:lnSpc>
                <a:spcPct val="150000"/>
              </a:lnSpc>
            </a:pPr>
            <a:r>
              <a:rPr lang="en-US" sz="2400" dirty="0"/>
              <a:t>Involves:</a:t>
            </a:r>
          </a:p>
          <a:p>
            <a:pPr lvl="1" algn="just">
              <a:lnSpc>
                <a:spcPct val="150000"/>
              </a:lnSpc>
              <a:buFont typeface="+mj-lt"/>
              <a:buAutoNum type="arabicPeriod"/>
            </a:pPr>
            <a:r>
              <a:rPr lang="en-US" sz="2400" dirty="0"/>
              <a:t>Executing the program with </a:t>
            </a:r>
            <a:r>
              <a:rPr lang="en-US" sz="2400" b="1" dirty="0"/>
              <a:t>test inputs</a:t>
            </a:r>
            <a:r>
              <a:rPr lang="en-US" sz="2400" dirty="0"/>
              <a:t>.</a:t>
            </a:r>
          </a:p>
          <a:p>
            <a:pPr lvl="1" algn="just">
              <a:lnSpc>
                <a:spcPct val="150000"/>
              </a:lnSpc>
              <a:buFont typeface="+mj-lt"/>
              <a:buAutoNum type="arabicPeriod"/>
            </a:pPr>
            <a:r>
              <a:rPr lang="en-US" sz="2400" dirty="0"/>
              <a:t>Comparing </a:t>
            </a:r>
            <a:r>
              <a:rPr lang="en-US" sz="2400" b="1" dirty="0"/>
              <a:t>actual vs expected output</a:t>
            </a:r>
            <a:r>
              <a:rPr lang="en-US" sz="2400" dirty="0"/>
              <a:t>.</a:t>
            </a:r>
          </a:p>
          <a:p>
            <a:pPr lvl="1" algn="just">
              <a:lnSpc>
                <a:spcPct val="150000"/>
              </a:lnSpc>
              <a:buFont typeface="+mj-lt"/>
              <a:buAutoNum type="arabicPeriod"/>
            </a:pPr>
            <a:r>
              <a:rPr lang="en-US" sz="2400" dirty="0"/>
              <a:t>Noting down </a:t>
            </a:r>
            <a:r>
              <a:rPr lang="en-US" sz="2400" b="1" dirty="0"/>
              <a:t>failures and conditions</a:t>
            </a:r>
            <a:r>
              <a:rPr lang="en-US" sz="2400" dirty="0"/>
              <a:t> for </a:t>
            </a:r>
            <a:r>
              <a:rPr lang="en-US" sz="2400" b="1" dirty="0"/>
              <a:t>debugging</a:t>
            </a:r>
            <a:r>
              <a:rPr lang="en-US" sz="2400" dirty="0"/>
              <a:t>.</a:t>
            </a:r>
          </a:p>
        </p:txBody>
      </p:sp>
      <p:sp>
        <p:nvSpPr>
          <p:cNvPr id="2" name="Date Placeholder 1">
            <a:extLst>
              <a:ext uri="{FF2B5EF4-FFF2-40B4-BE49-F238E27FC236}">
                <a16:creationId xmlns:a16="http://schemas.microsoft.com/office/drawing/2014/main" id="{7CF99AAC-B6FB-14D7-70A9-CEC5AB37EF7D}"/>
              </a:ext>
            </a:extLst>
          </p:cNvPr>
          <p:cNvSpPr>
            <a:spLocks noGrp="1"/>
          </p:cNvSpPr>
          <p:nvPr>
            <p:ph type="dt" sz="half" idx="10"/>
          </p:nvPr>
        </p:nvSpPr>
        <p:spPr/>
        <p:txBody>
          <a:bodyPr/>
          <a:lstStyle/>
          <a:p>
            <a:fld id="{20AB92D9-73D6-4678-85DB-F465B9335913}" type="datetime1">
              <a:rPr lang="en-IN" smtClean="0"/>
              <a:t>03-11-2025</a:t>
            </a:fld>
            <a:endParaRPr lang="en-IN"/>
          </a:p>
        </p:txBody>
      </p:sp>
      <p:sp>
        <p:nvSpPr>
          <p:cNvPr id="5" name="Footer Placeholder 4">
            <a:extLst>
              <a:ext uri="{FF2B5EF4-FFF2-40B4-BE49-F238E27FC236}">
                <a16:creationId xmlns:a16="http://schemas.microsoft.com/office/drawing/2014/main" id="{816BED75-E50F-C634-F32E-3A8C921F779E}"/>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C489AF98-B0C6-AAE7-DDEB-683A8FB8A25E}"/>
              </a:ext>
            </a:extLst>
          </p:cNvPr>
          <p:cNvSpPr>
            <a:spLocks noGrp="1"/>
          </p:cNvSpPr>
          <p:nvPr>
            <p:ph type="sldNum" sz="quarter" idx="12"/>
          </p:nvPr>
        </p:nvSpPr>
        <p:spPr/>
        <p:txBody>
          <a:bodyPr/>
          <a:lstStyle/>
          <a:p>
            <a:fld id="{157E8F69-36B6-4843-A9CE-6B9353F4DBAF}" type="slidenum">
              <a:rPr lang="en-IN" smtClean="0"/>
              <a:t>20</a:t>
            </a:fld>
            <a:endParaRPr lang="en-IN"/>
          </a:p>
        </p:txBody>
      </p:sp>
    </p:spTree>
    <p:extLst>
      <p:ext uri="{BB962C8B-B14F-4D97-AF65-F5344CB8AC3E}">
        <p14:creationId xmlns:p14="http://schemas.microsoft.com/office/powerpoint/2010/main" val="175242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499360" y="1402080"/>
            <a:ext cx="7482840" cy="3566159"/>
          </a:xfrm>
          <a:prstGeom prst="rect">
            <a:avLst/>
          </a:prstGeom>
        </p:spPr>
      </p:pic>
      <p:sp>
        <p:nvSpPr>
          <p:cNvPr id="4" name="Rectangle 3"/>
          <p:cNvSpPr/>
          <p:nvPr/>
        </p:nvSpPr>
        <p:spPr>
          <a:xfrm>
            <a:off x="3647730" y="5606534"/>
            <a:ext cx="5186100" cy="369332"/>
          </a:xfrm>
          <a:prstGeom prst="rect">
            <a:avLst/>
          </a:prstGeom>
        </p:spPr>
        <p:txBody>
          <a:bodyPr wrap="none">
            <a:spAutoFit/>
          </a:bodyPr>
          <a:lstStyle/>
          <a:p>
            <a:r>
              <a:rPr lang="en-US" b="1" dirty="0">
                <a:solidFill>
                  <a:srgbClr val="2F3193"/>
                </a:solidFill>
                <a:latin typeface="OfficinaSans-Bold"/>
              </a:rPr>
              <a:t>FIGURE 7.1 </a:t>
            </a:r>
            <a:r>
              <a:rPr lang="en-US" dirty="0">
                <a:solidFill>
                  <a:srgbClr val="2F3193"/>
                </a:solidFill>
                <a:latin typeface="OfficinaSans-Book"/>
              </a:rPr>
              <a:t>A simplified view of program testing.</a:t>
            </a:r>
            <a:endParaRPr lang="en-IN" dirty="0"/>
          </a:p>
        </p:txBody>
      </p:sp>
      <p:sp>
        <p:nvSpPr>
          <p:cNvPr id="5" name="Rectangle 4"/>
          <p:cNvSpPr/>
          <p:nvPr/>
        </p:nvSpPr>
        <p:spPr>
          <a:xfrm>
            <a:off x="535610" y="400138"/>
            <a:ext cx="11290630" cy="461665"/>
          </a:xfrm>
          <a:prstGeom prst="rect">
            <a:avLst/>
          </a:prstGeom>
        </p:spPr>
        <p:txBody>
          <a:bodyPr wrap="square">
            <a:spAutoFit/>
          </a:bodyPr>
          <a:lstStyle/>
          <a:p>
            <a:pPr algn="just"/>
            <a:r>
              <a:rPr lang="en-US" sz="2400" dirty="0"/>
              <a:t>A highly simplified view of program testing is schematically shown in </a:t>
            </a:r>
            <a:r>
              <a:rPr lang="en-IN" sz="2400" dirty="0"/>
              <a:t>Figure 7.1.</a:t>
            </a:r>
          </a:p>
        </p:txBody>
      </p:sp>
      <p:sp>
        <p:nvSpPr>
          <p:cNvPr id="2" name="Date Placeholder 1">
            <a:extLst>
              <a:ext uri="{FF2B5EF4-FFF2-40B4-BE49-F238E27FC236}">
                <a16:creationId xmlns:a16="http://schemas.microsoft.com/office/drawing/2014/main" id="{A1E22110-0C88-F8DA-1F86-965635F9F0CB}"/>
              </a:ext>
            </a:extLst>
          </p:cNvPr>
          <p:cNvSpPr>
            <a:spLocks noGrp="1"/>
          </p:cNvSpPr>
          <p:nvPr>
            <p:ph type="dt" sz="half" idx="10"/>
          </p:nvPr>
        </p:nvSpPr>
        <p:spPr/>
        <p:txBody>
          <a:bodyPr/>
          <a:lstStyle/>
          <a:p>
            <a:fld id="{77720933-CA4E-4F38-B13B-AC9FA30CBE62}" type="datetime1">
              <a:rPr lang="en-IN" smtClean="0"/>
              <a:t>03-11-2025</a:t>
            </a:fld>
            <a:endParaRPr lang="en-IN"/>
          </a:p>
        </p:txBody>
      </p:sp>
      <p:sp>
        <p:nvSpPr>
          <p:cNvPr id="6" name="Footer Placeholder 5">
            <a:extLst>
              <a:ext uri="{FF2B5EF4-FFF2-40B4-BE49-F238E27FC236}">
                <a16:creationId xmlns:a16="http://schemas.microsoft.com/office/drawing/2014/main" id="{0A6AD2C2-E7A6-41D7-3E8A-FD4591022B74}"/>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902356A3-08E1-F006-D65B-2A83D2E3945C}"/>
              </a:ext>
            </a:extLst>
          </p:cNvPr>
          <p:cNvSpPr>
            <a:spLocks noGrp="1"/>
          </p:cNvSpPr>
          <p:nvPr>
            <p:ph type="sldNum" sz="quarter" idx="12"/>
          </p:nvPr>
        </p:nvSpPr>
        <p:spPr/>
        <p:txBody>
          <a:bodyPr/>
          <a:lstStyle/>
          <a:p>
            <a:fld id="{157E8F69-36B6-4843-A9CE-6B9353F4DBAF}" type="slidenum">
              <a:rPr lang="en-IN" smtClean="0"/>
              <a:t>21</a:t>
            </a:fld>
            <a:endParaRPr lang="en-IN"/>
          </a:p>
        </p:txBody>
      </p:sp>
    </p:spTree>
    <p:extLst>
      <p:ext uri="{BB962C8B-B14F-4D97-AF65-F5344CB8AC3E}">
        <p14:creationId xmlns:p14="http://schemas.microsoft.com/office/powerpoint/2010/main" val="217348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7037" y="318254"/>
            <a:ext cx="2691314" cy="461665"/>
          </a:xfrm>
          <a:prstGeom prst="rect">
            <a:avLst/>
          </a:prstGeom>
        </p:spPr>
        <p:txBody>
          <a:bodyPr wrap="none">
            <a:spAutoFit/>
          </a:bodyPr>
          <a:lstStyle/>
          <a:p>
            <a:r>
              <a:rPr lang="en-IN" sz="2400" u="sng" dirty="0"/>
              <a:t>📘 </a:t>
            </a:r>
            <a:r>
              <a:rPr lang="en-IN" sz="2400" b="1" u="sng" dirty="0"/>
              <a:t>Important Terms</a:t>
            </a:r>
            <a:endParaRPr lang="en-IN" sz="2400" u="sng" dirty="0"/>
          </a:p>
        </p:txBody>
      </p:sp>
      <p:graphicFrame>
        <p:nvGraphicFramePr>
          <p:cNvPr id="4" name="Table 3"/>
          <p:cNvGraphicFramePr>
            <a:graphicFrameLocks noGrp="1"/>
          </p:cNvGraphicFramePr>
          <p:nvPr>
            <p:extLst>
              <p:ext uri="{D42A27DB-BD31-4B8C-83A1-F6EECF244321}">
                <p14:modId xmlns:p14="http://schemas.microsoft.com/office/powerpoint/2010/main" val="2717642227"/>
              </p:ext>
            </p:extLst>
          </p:nvPr>
        </p:nvGraphicFramePr>
        <p:xfrm>
          <a:off x="417035" y="779919"/>
          <a:ext cx="11439684" cy="5731871"/>
        </p:xfrm>
        <a:graphic>
          <a:graphicData uri="http://schemas.openxmlformats.org/drawingml/2006/table">
            <a:tbl>
              <a:tblPr>
                <a:tableStyleId>{BC89EF96-8CEA-46FF-86C4-4CE0E7609802}</a:tableStyleId>
              </a:tblPr>
              <a:tblGrid>
                <a:gridCol w="2981485">
                  <a:extLst>
                    <a:ext uri="{9D8B030D-6E8A-4147-A177-3AD203B41FA5}">
                      <a16:colId xmlns:a16="http://schemas.microsoft.com/office/drawing/2014/main" val="2756132685"/>
                    </a:ext>
                  </a:extLst>
                </a:gridCol>
                <a:gridCol w="8458199">
                  <a:extLst>
                    <a:ext uri="{9D8B030D-6E8A-4147-A177-3AD203B41FA5}">
                      <a16:colId xmlns:a16="http://schemas.microsoft.com/office/drawing/2014/main" val="13877818"/>
                    </a:ext>
                  </a:extLst>
                </a:gridCol>
              </a:tblGrid>
              <a:tr h="259781">
                <a:tc>
                  <a:txBody>
                    <a:bodyPr/>
                    <a:lstStyle/>
                    <a:p>
                      <a:pPr algn="ctr"/>
                      <a:r>
                        <a:rPr lang="en-IN" sz="2400" b="1" u="sng" dirty="0"/>
                        <a:t>Term</a:t>
                      </a:r>
                    </a:p>
                  </a:txBody>
                  <a:tcPr marL="64945" marR="64945" marT="32473" marB="32473" anchor="ctr"/>
                </a:tc>
                <a:tc>
                  <a:txBody>
                    <a:bodyPr/>
                    <a:lstStyle/>
                    <a:p>
                      <a:pPr algn="ctr"/>
                      <a:r>
                        <a:rPr lang="en-IN" sz="2400" b="1" u="sng" dirty="0"/>
                        <a:t>Definition</a:t>
                      </a:r>
                    </a:p>
                  </a:txBody>
                  <a:tcPr marL="64945" marR="64945" marT="32473" marB="32473" anchor="ctr"/>
                </a:tc>
                <a:extLst>
                  <a:ext uri="{0D108BD9-81ED-4DB2-BD59-A6C34878D82A}">
                    <a16:rowId xmlns:a16="http://schemas.microsoft.com/office/drawing/2014/main" val="2500705076"/>
                  </a:ext>
                </a:extLst>
              </a:tr>
              <a:tr h="454617">
                <a:tc>
                  <a:txBody>
                    <a:bodyPr/>
                    <a:lstStyle/>
                    <a:p>
                      <a:r>
                        <a:rPr lang="en-IN" sz="2000" dirty="0"/>
                        <a:t>Mistake</a:t>
                      </a:r>
                    </a:p>
                  </a:txBody>
                  <a:tcPr marL="64945" marR="64945" marT="32473" marB="32473" anchor="ctr"/>
                </a:tc>
                <a:tc>
                  <a:txBody>
                    <a:bodyPr/>
                    <a:lstStyle/>
                    <a:p>
                      <a:r>
                        <a:rPr lang="en-US" sz="2000" dirty="0"/>
                        <a:t>Human error during development (e.g., not initializing a variable).</a:t>
                      </a:r>
                    </a:p>
                  </a:txBody>
                  <a:tcPr marL="64945" marR="64945" marT="32473" marB="32473" anchor="ctr"/>
                </a:tc>
                <a:extLst>
                  <a:ext uri="{0D108BD9-81ED-4DB2-BD59-A6C34878D82A}">
                    <a16:rowId xmlns:a16="http://schemas.microsoft.com/office/drawing/2014/main" val="2898971543"/>
                  </a:ext>
                </a:extLst>
              </a:tr>
              <a:tr h="259781">
                <a:tc>
                  <a:txBody>
                    <a:bodyPr/>
                    <a:lstStyle/>
                    <a:p>
                      <a:r>
                        <a:rPr lang="en-IN" sz="2000" dirty="0"/>
                        <a:t>Error / Fault / Bug / Defect</a:t>
                      </a:r>
                    </a:p>
                  </a:txBody>
                  <a:tcPr marL="64945" marR="64945" marT="32473" marB="32473" anchor="ctr"/>
                </a:tc>
                <a:tc>
                  <a:txBody>
                    <a:bodyPr/>
                    <a:lstStyle/>
                    <a:p>
                      <a:r>
                        <a:rPr lang="en-US" sz="2000" dirty="0"/>
                        <a:t>The result of a mistake. All considered synonymous.</a:t>
                      </a:r>
                    </a:p>
                  </a:txBody>
                  <a:tcPr marL="64945" marR="64945" marT="32473" marB="32473" anchor="ctr"/>
                </a:tc>
                <a:extLst>
                  <a:ext uri="{0D108BD9-81ED-4DB2-BD59-A6C34878D82A}">
                    <a16:rowId xmlns:a16="http://schemas.microsoft.com/office/drawing/2014/main" val="4259683423"/>
                  </a:ext>
                </a:extLst>
              </a:tr>
              <a:tr h="454617">
                <a:tc>
                  <a:txBody>
                    <a:bodyPr/>
                    <a:lstStyle/>
                    <a:p>
                      <a:r>
                        <a:rPr lang="en-IN" sz="2000" dirty="0"/>
                        <a:t>Failure</a:t>
                      </a:r>
                    </a:p>
                  </a:txBody>
                  <a:tcPr marL="64945" marR="64945" marT="32473" marB="32473" anchor="ctr"/>
                </a:tc>
                <a:tc>
                  <a:txBody>
                    <a:bodyPr/>
                    <a:lstStyle/>
                    <a:p>
                      <a:r>
                        <a:rPr lang="en-US" sz="2000" dirty="0"/>
                        <a:t>Incorrect behavior during execution due to bugs. Example: Program crash or incorrect result.</a:t>
                      </a:r>
                    </a:p>
                  </a:txBody>
                  <a:tcPr marL="64945" marR="64945" marT="32473" marB="32473" anchor="ctr"/>
                </a:tc>
                <a:extLst>
                  <a:ext uri="{0D108BD9-81ED-4DB2-BD59-A6C34878D82A}">
                    <a16:rowId xmlns:a16="http://schemas.microsoft.com/office/drawing/2014/main" val="786294774"/>
                  </a:ext>
                </a:extLst>
              </a:tr>
              <a:tr h="259781">
                <a:tc>
                  <a:txBody>
                    <a:bodyPr/>
                    <a:lstStyle/>
                    <a:p>
                      <a:r>
                        <a:rPr lang="en-IN" sz="2000"/>
                        <a:t>Test Case</a:t>
                      </a:r>
                    </a:p>
                  </a:txBody>
                  <a:tcPr marL="64945" marR="64945" marT="32473" marB="32473" anchor="ctr"/>
                </a:tc>
                <a:tc>
                  <a:txBody>
                    <a:bodyPr/>
                    <a:lstStyle/>
                    <a:p>
                      <a:r>
                        <a:rPr lang="en-US" sz="2000" dirty="0"/>
                        <a:t>A triplet [Input (I), State (S), Expected Result (R)].</a:t>
                      </a:r>
                    </a:p>
                  </a:txBody>
                  <a:tcPr marL="64945" marR="64945" marT="32473" marB="32473" anchor="ctr"/>
                </a:tc>
                <a:extLst>
                  <a:ext uri="{0D108BD9-81ED-4DB2-BD59-A6C34878D82A}">
                    <a16:rowId xmlns:a16="http://schemas.microsoft.com/office/drawing/2014/main" val="3809205899"/>
                  </a:ext>
                </a:extLst>
              </a:tr>
              <a:tr h="454617">
                <a:tc>
                  <a:txBody>
                    <a:bodyPr/>
                    <a:lstStyle/>
                    <a:p>
                      <a:r>
                        <a:rPr lang="en-IN" sz="2000"/>
                        <a:t>Test Scenario</a:t>
                      </a:r>
                    </a:p>
                  </a:txBody>
                  <a:tcPr marL="64945" marR="64945" marT="32473" marB="32473" anchor="ctr"/>
                </a:tc>
                <a:tc>
                  <a:txBody>
                    <a:bodyPr/>
                    <a:lstStyle/>
                    <a:p>
                      <a:r>
                        <a:rPr lang="en-US" sz="2000" dirty="0"/>
                        <a:t>High-level idea of what to test; doesn’t include specific input/output.</a:t>
                      </a:r>
                    </a:p>
                  </a:txBody>
                  <a:tcPr marL="64945" marR="64945" marT="32473" marB="32473" anchor="ctr"/>
                </a:tc>
                <a:extLst>
                  <a:ext uri="{0D108BD9-81ED-4DB2-BD59-A6C34878D82A}">
                    <a16:rowId xmlns:a16="http://schemas.microsoft.com/office/drawing/2014/main" val="767061895"/>
                  </a:ext>
                </a:extLst>
              </a:tr>
              <a:tr h="259781">
                <a:tc>
                  <a:txBody>
                    <a:bodyPr/>
                    <a:lstStyle/>
                    <a:p>
                      <a:r>
                        <a:rPr lang="en-IN" sz="2000"/>
                        <a:t>Test Script</a:t>
                      </a:r>
                    </a:p>
                  </a:txBody>
                  <a:tcPr marL="64945" marR="64945" marT="32473" marB="32473" anchor="ctr"/>
                </a:tc>
                <a:tc>
                  <a:txBody>
                    <a:bodyPr/>
                    <a:lstStyle/>
                    <a:p>
                      <a:r>
                        <a:rPr lang="en-US" sz="2000" dirty="0"/>
                        <a:t>Programmatic version of a test case for automation.</a:t>
                      </a:r>
                    </a:p>
                  </a:txBody>
                  <a:tcPr marL="64945" marR="64945" marT="32473" marB="32473" anchor="ctr"/>
                </a:tc>
                <a:extLst>
                  <a:ext uri="{0D108BD9-81ED-4DB2-BD59-A6C34878D82A}">
                    <a16:rowId xmlns:a16="http://schemas.microsoft.com/office/drawing/2014/main" val="719093551"/>
                  </a:ext>
                </a:extLst>
              </a:tr>
              <a:tr h="259781">
                <a:tc>
                  <a:txBody>
                    <a:bodyPr/>
                    <a:lstStyle/>
                    <a:p>
                      <a:r>
                        <a:rPr lang="en-IN" sz="2000"/>
                        <a:t>Positive Test Case</a:t>
                      </a:r>
                    </a:p>
                  </a:txBody>
                  <a:tcPr marL="64945" marR="64945" marT="32473" marB="32473" anchor="ctr"/>
                </a:tc>
                <a:tc>
                  <a:txBody>
                    <a:bodyPr/>
                    <a:lstStyle/>
                    <a:p>
                      <a:r>
                        <a:rPr lang="en-US" sz="2000" dirty="0"/>
                        <a:t>Tests correct functionality (e.g., correct login).</a:t>
                      </a:r>
                    </a:p>
                  </a:txBody>
                  <a:tcPr marL="64945" marR="64945" marT="32473" marB="32473" anchor="ctr"/>
                </a:tc>
                <a:extLst>
                  <a:ext uri="{0D108BD9-81ED-4DB2-BD59-A6C34878D82A}">
                    <a16:rowId xmlns:a16="http://schemas.microsoft.com/office/drawing/2014/main" val="3687912772"/>
                  </a:ext>
                </a:extLst>
              </a:tr>
              <a:tr h="259781">
                <a:tc>
                  <a:txBody>
                    <a:bodyPr/>
                    <a:lstStyle/>
                    <a:p>
                      <a:r>
                        <a:rPr lang="en-IN" sz="2000"/>
                        <a:t>Negative Test Case</a:t>
                      </a:r>
                    </a:p>
                  </a:txBody>
                  <a:tcPr marL="64945" marR="64945" marT="32473" marB="32473" anchor="ctr"/>
                </a:tc>
                <a:tc>
                  <a:txBody>
                    <a:bodyPr/>
                    <a:lstStyle/>
                    <a:p>
                      <a:r>
                        <a:rPr lang="en-US" sz="2000" dirty="0"/>
                        <a:t>Tests undesired functionality (e.g., invalid login).</a:t>
                      </a:r>
                    </a:p>
                  </a:txBody>
                  <a:tcPr marL="64945" marR="64945" marT="32473" marB="32473" anchor="ctr"/>
                </a:tc>
                <a:extLst>
                  <a:ext uri="{0D108BD9-81ED-4DB2-BD59-A6C34878D82A}">
                    <a16:rowId xmlns:a16="http://schemas.microsoft.com/office/drawing/2014/main" val="4041307367"/>
                  </a:ext>
                </a:extLst>
              </a:tr>
              <a:tr h="259781">
                <a:tc>
                  <a:txBody>
                    <a:bodyPr/>
                    <a:lstStyle/>
                    <a:p>
                      <a:r>
                        <a:rPr lang="en-IN" sz="2000"/>
                        <a:t>Test Suite</a:t>
                      </a:r>
                    </a:p>
                  </a:txBody>
                  <a:tcPr marL="64945" marR="64945" marT="32473" marB="32473" anchor="ctr"/>
                </a:tc>
                <a:tc>
                  <a:txBody>
                    <a:bodyPr/>
                    <a:lstStyle/>
                    <a:p>
                      <a:r>
                        <a:rPr lang="en-IN" sz="2000" dirty="0"/>
                        <a:t>Collection of test cases.</a:t>
                      </a:r>
                    </a:p>
                  </a:txBody>
                  <a:tcPr marL="64945" marR="64945" marT="32473" marB="32473" anchor="ctr"/>
                </a:tc>
                <a:extLst>
                  <a:ext uri="{0D108BD9-81ED-4DB2-BD59-A6C34878D82A}">
                    <a16:rowId xmlns:a16="http://schemas.microsoft.com/office/drawing/2014/main" val="1966293126"/>
                  </a:ext>
                </a:extLst>
              </a:tr>
              <a:tr h="259781">
                <a:tc>
                  <a:txBody>
                    <a:bodyPr/>
                    <a:lstStyle/>
                    <a:p>
                      <a:r>
                        <a:rPr lang="en-IN" sz="2000"/>
                        <a:t>Testability</a:t>
                      </a:r>
                    </a:p>
                  </a:txBody>
                  <a:tcPr marL="64945" marR="64945" marT="32473" marB="32473" anchor="ctr"/>
                </a:tc>
                <a:tc>
                  <a:txBody>
                    <a:bodyPr/>
                    <a:lstStyle/>
                    <a:p>
                      <a:r>
                        <a:rPr lang="en-US" sz="2000" dirty="0"/>
                        <a:t>How easily a system can be tested.</a:t>
                      </a:r>
                    </a:p>
                  </a:txBody>
                  <a:tcPr marL="64945" marR="64945" marT="32473" marB="32473" anchor="ctr"/>
                </a:tc>
                <a:extLst>
                  <a:ext uri="{0D108BD9-81ED-4DB2-BD59-A6C34878D82A}">
                    <a16:rowId xmlns:a16="http://schemas.microsoft.com/office/drawing/2014/main" val="34888204"/>
                  </a:ext>
                </a:extLst>
              </a:tr>
              <a:tr h="454617">
                <a:tc>
                  <a:txBody>
                    <a:bodyPr/>
                    <a:lstStyle/>
                    <a:p>
                      <a:r>
                        <a:rPr lang="en-IN" sz="2000"/>
                        <a:t>Failure Mode</a:t>
                      </a:r>
                    </a:p>
                  </a:txBody>
                  <a:tcPr marL="64945" marR="64945" marT="32473" marB="32473" anchor="ctr"/>
                </a:tc>
                <a:tc>
                  <a:txBody>
                    <a:bodyPr/>
                    <a:lstStyle/>
                    <a:p>
                      <a:r>
                        <a:rPr lang="en-US" sz="2000" dirty="0"/>
                        <a:t>Observable form of failure (e.g., crash, incorrect output).</a:t>
                      </a:r>
                    </a:p>
                  </a:txBody>
                  <a:tcPr marL="64945" marR="64945" marT="32473" marB="32473" anchor="ctr"/>
                </a:tc>
                <a:extLst>
                  <a:ext uri="{0D108BD9-81ED-4DB2-BD59-A6C34878D82A}">
                    <a16:rowId xmlns:a16="http://schemas.microsoft.com/office/drawing/2014/main" val="1692476360"/>
                  </a:ext>
                </a:extLst>
              </a:tr>
              <a:tr h="454617">
                <a:tc>
                  <a:txBody>
                    <a:bodyPr/>
                    <a:lstStyle/>
                    <a:p>
                      <a:r>
                        <a:rPr lang="en-IN" sz="2000"/>
                        <a:t>Equivalent Faults</a:t>
                      </a:r>
                    </a:p>
                  </a:txBody>
                  <a:tcPr marL="64945" marR="64945" marT="32473" marB="32473" anchor="ctr"/>
                </a:tc>
                <a:tc>
                  <a:txBody>
                    <a:bodyPr/>
                    <a:lstStyle/>
                    <a:p>
                      <a:r>
                        <a:rPr lang="en-US" sz="2000" dirty="0"/>
                        <a:t>Different bugs that lead to the same failure (e.g., division by zero and illegal memory access → crash).</a:t>
                      </a:r>
                    </a:p>
                  </a:txBody>
                  <a:tcPr marL="64945" marR="64945" marT="32473" marB="32473" anchor="ctr"/>
                </a:tc>
                <a:extLst>
                  <a:ext uri="{0D108BD9-81ED-4DB2-BD59-A6C34878D82A}">
                    <a16:rowId xmlns:a16="http://schemas.microsoft.com/office/drawing/2014/main" val="425493458"/>
                  </a:ext>
                </a:extLst>
              </a:tr>
            </a:tbl>
          </a:graphicData>
        </a:graphic>
      </p:graphicFrame>
      <p:sp>
        <p:nvSpPr>
          <p:cNvPr id="2" name="Date Placeholder 1">
            <a:extLst>
              <a:ext uri="{FF2B5EF4-FFF2-40B4-BE49-F238E27FC236}">
                <a16:creationId xmlns:a16="http://schemas.microsoft.com/office/drawing/2014/main" id="{9231BC90-C9E9-772F-EB5B-261066B525F3}"/>
              </a:ext>
            </a:extLst>
          </p:cNvPr>
          <p:cNvSpPr>
            <a:spLocks noGrp="1"/>
          </p:cNvSpPr>
          <p:nvPr>
            <p:ph type="dt" sz="half" idx="10"/>
          </p:nvPr>
        </p:nvSpPr>
        <p:spPr/>
        <p:txBody>
          <a:bodyPr/>
          <a:lstStyle/>
          <a:p>
            <a:fld id="{6DC54281-20BA-4C81-AFD7-CF0C807886FF}" type="datetime1">
              <a:rPr lang="en-IN" smtClean="0"/>
              <a:t>03-11-2025</a:t>
            </a:fld>
            <a:endParaRPr lang="en-IN"/>
          </a:p>
        </p:txBody>
      </p:sp>
      <p:sp>
        <p:nvSpPr>
          <p:cNvPr id="5" name="Footer Placeholder 4">
            <a:extLst>
              <a:ext uri="{FF2B5EF4-FFF2-40B4-BE49-F238E27FC236}">
                <a16:creationId xmlns:a16="http://schemas.microsoft.com/office/drawing/2014/main" id="{D1805A44-D7AE-B469-B70D-BA2CD39E2F0E}"/>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63DEF725-E920-CDA5-E44E-736C299295AD}"/>
              </a:ext>
            </a:extLst>
          </p:cNvPr>
          <p:cNvSpPr>
            <a:spLocks noGrp="1"/>
          </p:cNvSpPr>
          <p:nvPr>
            <p:ph type="sldNum" sz="quarter" idx="12"/>
          </p:nvPr>
        </p:nvSpPr>
        <p:spPr/>
        <p:txBody>
          <a:bodyPr/>
          <a:lstStyle/>
          <a:p>
            <a:fld id="{157E8F69-36B6-4843-A9CE-6B9353F4DBAF}" type="slidenum">
              <a:rPr lang="en-IN" smtClean="0"/>
              <a:t>22</a:t>
            </a:fld>
            <a:endParaRPr lang="en-IN"/>
          </a:p>
        </p:txBody>
      </p:sp>
    </p:spTree>
    <p:extLst>
      <p:ext uri="{BB962C8B-B14F-4D97-AF65-F5344CB8AC3E}">
        <p14:creationId xmlns:p14="http://schemas.microsoft.com/office/powerpoint/2010/main" val="19694584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1765" y="242054"/>
            <a:ext cx="3732560" cy="461665"/>
          </a:xfrm>
          <a:prstGeom prst="rect">
            <a:avLst/>
          </a:prstGeom>
        </p:spPr>
        <p:txBody>
          <a:bodyPr wrap="none">
            <a:spAutoFit/>
          </a:bodyPr>
          <a:lstStyle/>
          <a:p>
            <a:r>
              <a:rPr lang="en-IN" sz="2400" b="1" u="sng" dirty="0"/>
              <a:t>🔄 Verification vs Validation</a:t>
            </a:r>
          </a:p>
        </p:txBody>
      </p:sp>
      <p:graphicFrame>
        <p:nvGraphicFramePr>
          <p:cNvPr id="4" name="Table 3"/>
          <p:cNvGraphicFramePr>
            <a:graphicFrameLocks noGrp="1"/>
          </p:cNvGraphicFramePr>
          <p:nvPr>
            <p:extLst>
              <p:ext uri="{D42A27DB-BD31-4B8C-83A1-F6EECF244321}">
                <p14:modId xmlns:p14="http://schemas.microsoft.com/office/powerpoint/2010/main" val="2037696366"/>
              </p:ext>
            </p:extLst>
          </p:nvPr>
        </p:nvGraphicFramePr>
        <p:xfrm>
          <a:off x="241763" y="764678"/>
          <a:ext cx="11599716" cy="4355961"/>
        </p:xfrm>
        <a:graphic>
          <a:graphicData uri="http://schemas.openxmlformats.org/drawingml/2006/table">
            <a:tbl>
              <a:tblPr>
                <a:tableStyleId>{BC89EF96-8CEA-46FF-86C4-4CE0E7609802}</a:tableStyleId>
              </a:tblPr>
              <a:tblGrid>
                <a:gridCol w="2059477">
                  <a:extLst>
                    <a:ext uri="{9D8B030D-6E8A-4147-A177-3AD203B41FA5}">
                      <a16:colId xmlns:a16="http://schemas.microsoft.com/office/drawing/2014/main" val="1947586814"/>
                    </a:ext>
                  </a:extLst>
                </a:gridCol>
                <a:gridCol w="5673667">
                  <a:extLst>
                    <a:ext uri="{9D8B030D-6E8A-4147-A177-3AD203B41FA5}">
                      <a16:colId xmlns:a16="http://schemas.microsoft.com/office/drawing/2014/main" val="1374255872"/>
                    </a:ext>
                  </a:extLst>
                </a:gridCol>
                <a:gridCol w="3866572">
                  <a:extLst>
                    <a:ext uri="{9D8B030D-6E8A-4147-A177-3AD203B41FA5}">
                      <a16:colId xmlns:a16="http://schemas.microsoft.com/office/drawing/2014/main" val="602980271"/>
                    </a:ext>
                  </a:extLst>
                </a:gridCol>
              </a:tblGrid>
              <a:tr h="578225">
                <a:tc>
                  <a:txBody>
                    <a:bodyPr/>
                    <a:lstStyle/>
                    <a:p>
                      <a:pPr algn="ctr"/>
                      <a:r>
                        <a:rPr lang="en-IN" sz="2400" b="1" u="sng" dirty="0"/>
                        <a:t>Aspect</a:t>
                      </a:r>
                    </a:p>
                  </a:txBody>
                  <a:tcPr anchor="ctr"/>
                </a:tc>
                <a:tc>
                  <a:txBody>
                    <a:bodyPr/>
                    <a:lstStyle/>
                    <a:p>
                      <a:pPr algn="ctr"/>
                      <a:r>
                        <a:rPr lang="en-IN" sz="2400" b="1" u="sng" dirty="0"/>
                        <a:t>Verification</a:t>
                      </a:r>
                    </a:p>
                  </a:txBody>
                  <a:tcPr anchor="ctr"/>
                </a:tc>
                <a:tc>
                  <a:txBody>
                    <a:bodyPr/>
                    <a:lstStyle/>
                    <a:p>
                      <a:pPr algn="ctr"/>
                      <a:r>
                        <a:rPr lang="en-IN" sz="2400" b="1" u="sng" dirty="0"/>
                        <a:t>Validation</a:t>
                      </a:r>
                    </a:p>
                  </a:txBody>
                  <a:tcPr anchor="ctr"/>
                </a:tc>
                <a:extLst>
                  <a:ext uri="{0D108BD9-81ED-4DB2-BD59-A6C34878D82A}">
                    <a16:rowId xmlns:a16="http://schemas.microsoft.com/office/drawing/2014/main" val="495589286"/>
                  </a:ext>
                </a:extLst>
              </a:tr>
              <a:tr h="501128">
                <a:tc>
                  <a:txBody>
                    <a:bodyPr/>
                    <a:lstStyle/>
                    <a:p>
                      <a:r>
                        <a:rPr lang="en-IN" sz="2000" dirty="0"/>
                        <a:t>Purpose</a:t>
                      </a:r>
                    </a:p>
                  </a:txBody>
                  <a:tcPr anchor="ctr"/>
                </a:tc>
                <a:tc>
                  <a:txBody>
                    <a:bodyPr/>
                    <a:lstStyle/>
                    <a:p>
                      <a:r>
                        <a:rPr lang="en-US" sz="2000" dirty="0"/>
                        <a:t>Are we building </a:t>
                      </a:r>
                      <a:r>
                        <a:rPr lang="en-US" sz="2000"/>
                        <a:t>the product </a:t>
                      </a:r>
                      <a:r>
                        <a:rPr lang="en-US" sz="2000" dirty="0"/>
                        <a:t>right?</a:t>
                      </a:r>
                    </a:p>
                  </a:txBody>
                  <a:tcPr anchor="ctr"/>
                </a:tc>
                <a:tc>
                  <a:txBody>
                    <a:bodyPr/>
                    <a:lstStyle/>
                    <a:p>
                      <a:r>
                        <a:rPr lang="en-US" sz="2000" dirty="0"/>
                        <a:t>Are we building the right product?</a:t>
                      </a:r>
                    </a:p>
                  </a:txBody>
                  <a:tcPr anchor="ctr"/>
                </a:tc>
                <a:extLst>
                  <a:ext uri="{0D108BD9-81ED-4DB2-BD59-A6C34878D82A}">
                    <a16:rowId xmlns:a16="http://schemas.microsoft.com/office/drawing/2014/main" val="3695179748"/>
                  </a:ext>
                </a:extLst>
              </a:tr>
              <a:tr h="886612">
                <a:tc>
                  <a:txBody>
                    <a:bodyPr/>
                    <a:lstStyle/>
                    <a:p>
                      <a:r>
                        <a:rPr lang="en-IN" sz="2000"/>
                        <a:t>Focus</a:t>
                      </a:r>
                    </a:p>
                  </a:txBody>
                  <a:tcPr anchor="ctr"/>
                </a:tc>
                <a:tc>
                  <a:txBody>
                    <a:bodyPr/>
                    <a:lstStyle/>
                    <a:p>
                      <a:r>
                        <a:rPr lang="en-US" sz="2000" dirty="0"/>
                        <a:t>Checks if one phase output conforms to the previous.</a:t>
                      </a:r>
                    </a:p>
                  </a:txBody>
                  <a:tcPr anchor="ctr"/>
                </a:tc>
                <a:tc>
                  <a:txBody>
                    <a:bodyPr/>
                    <a:lstStyle/>
                    <a:p>
                      <a:r>
                        <a:rPr lang="en-US" sz="2000" dirty="0"/>
                        <a:t>Checks if final software meets requirements.</a:t>
                      </a:r>
                    </a:p>
                  </a:txBody>
                  <a:tcPr anchor="ctr"/>
                </a:tc>
                <a:extLst>
                  <a:ext uri="{0D108BD9-81ED-4DB2-BD59-A6C34878D82A}">
                    <a16:rowId xmlns:a16="http://schemas.microsoft.com/office/drawing/2014/main" val="324499215"/>
                  </a:ext>
                </a:extLst>
              </a:tr>
              <a:tr h="886612">
                <a:tc>
                  <a:txBody>
                    <a:bodyPr/>
                    <a:lstStyle/>
                    <a:p>
                      <a:r>
                        <a:rPr lang="en-IN" sz="2000"/>
                        <a:t>Methods</a:t>
                      </a:r>
                    </a:p>
                  </a:txBody>
                  <a:tcPr anchor="ctr"/>
                </a:tc>
                <a:tc>
                  <a:txBody>
                    <a:bodyPr/>
                    <a:lstStyle/>
                    <a:p>
                      <a:r>
                        <a:rPr lang="en-IN" sz="2000" dirty="0"/>
                        <a:t>Review, simulation, formal verification, unit/integration testing.</a:t>
                      </a:r>
                    </a:p>
                  </a:txBody>
                  <a:tcPr anchor="ctr"/>
                </a:tc>
                <a:tc>
                  <a:txBody>
                    <a:bodyPr/>
                    <a:lstStyle/>
                    <a:p>
                      <a:r>
                        <a:rPr lang="en-IN" sz="2000" dirty="0"/>
                        <a:t>Primarily system testing.</a:t>
                      </a:r>
                    </a:p>
                  </a:txBody>
                  <a:tcPr anchor="ctr"/>
                </a:tc>
                <a:extLst>
                  <a:ext uri="{0D108BD9-81ED-4DB2-BD59-A6C34878D82A}">
                    <a16:rowId xmlns:a16="http://schemas.microsoft.com/office/drawing/2014/main" val="1326022094"/>
                  </a:ext>
                </a:extLst>
              </a:tr>
              <a:tr h="501128">
                <a:tc>
                  <a:txBody>
                    <a:bodyPr/>
                    <a:lstStyle/>
                    <a:p>
                      <a:r>
                        <a:rPr lang="en-IN" sz="2000"/>
                        <a:t>Execution</a:t>
                      </a:r>
                    </a:p>
                  </a:txBody>
                  <a:tcPr anchor="ctr"/>
                </a:tc>
                <a:tc>
                  <a:txBody>
                    <a:bodyPr/>
                    <a:lstStyle/>
                    <a:p>
                      <a:r>
                        <a:rPr lang="en-IN" sz="2000" dirty="0"/>
                        <a:t>Doesn’t require running code.</a:t>
                      </a:r>
                    </a:p>
                  </a:txBody>
                  <a:tcPr anchor="ctr"/>
                </a:tc>
                <a:tc>
                  <a:txBody>
                    <a:bodyPr/>
                    <a:lstStyle/>
                    <a:p>
                      <a:r>
                        <a:rPr lang="en-IN" sz="2000" dirty="0"/>
                        <a:t>Requires software execution.</a:t>
                      </a:r>
                    </a:p>
                  </a:txBody>
                  <a:tcPr anchor="ctr"/>
                </a:tc>
                <a:extLst>
                  <a:ext uri="{0D108BD9-81ED-4DB2-BD59-A6C34878D82A}">
                    <a16:rowId xmlns:a16="http://schemas.microsoft.com/office/drawing/2014/main" val="832076376"/>
                  </a:ext>
                </a:extLst>
              </a:tr>
              <a:tr h="501128">
                <a:tc>
                  <a:txBody>
                    <a:bodyPr/>
                    <a:lstStyle/>
                    <a:p>
                      <a:r>
                        <a:rPr lang="en-IN" sz="2000"/>
                        <a:t>Example</a:t>
                      </a:r>
                    </a:p>
                  </a:txBody>
                  <a:tcPr anchor="ctr"/>
                </a:tc>
                <a:tc>
                  <a:txBody>
                    <a:bodyPr/>
                    <a:lstStyle/>
                    <a:p>
                      <a:r>
                        <a:rPr lang="en-IN" sz="2000"/>
                        <a:t>Design vs SRS match.</a:t>
                      </a:r>
                    </a:p>
                  </a:txBody>
                  <a:tcPr anchor="ctr"/>
                </a:tc>
                <a:tc>
                  <a:txBody>
                    <a:bodyPr/>
                    <a:lstStyle/>
                    <a:p>
                      <a:r>
                        <a:rPr lang="en-IN" sz="2000" dirty="0"/>
                        <a:t>Code vs user requirement match.</a:t>
                      </a:r>
                    </a:p>
                  </a:txBody>
                  <a:tcPr anchor="ctr"/>
                </a:tc>
                <a:extLst>
                  <a:ext uri="{0D108BD9-81ED-4DB2-BD59-A6C34878D82A}">
                    <a16:rowId xmlns:a16="http://schemas.microsoft.com/office/drawing/2014/main" val="1713352109"/>
                  </a:ext>
                </a:extLst>
              </a:tr>
              <a:tr h="501128">
                <a:tc>
                  <a:txBody>
                    <a:bodyPr/>
                    <a:lstStyle/>
                    <a:p>
                      <a:r>
                        <a:rPr lang="en-IN" sz="2000"/>
                        <a:t>Goal</a:t>
                      </a:r>
                    </a:p>
                  </a:txBody>
                  <a:tcPr anchor="ctr"/>
                </a:tc>
                <a:tc>
                  <a:txBody>
                    <a:bodyPr/>
                    <a:lstStyle/>
                    <a:p>
                      <a:r>
                        <a:rPr lang="en-US" sz="2000" dirty="0"/>
                        <a:t>Early bug detection (phase containment).</a:t>
                      </a:r>
                    </a:p>
                  </a:txBody>
                  <a:tcPr anchor="ctr"/>
                </a:tc>
                <a:tc>
                  <a:txBody>
                    <a:bodyPr/>
                    <a:lstStyle/>
                    <a:p>
                      <a:r>
                        <a:rPr lang="en-US" sz="2000" dirty="0"/>
                        <a:t>Ensure software meets user needs.</a:t>
                      </a:r>
                    </a:p>
                  </a:txBody>
                  <a:tcPr anchor="ctr"/>
                </a:tc>
                <a:extLst>
                  <a:ext uri="{0D108BD9-81ED-4DB2-BD59-A6C34878D82A}">
                    <a16:rowId xmlns:a16="http://schemas.microsoft.com/office/drawing/2014/main" val="1068151217"/>
                  </a:ext>
                </a:extLst>
              </a:tr>
            </a:tbl>
          </a:graphicData>
        </a:graphic>
      </p:graphicFrame>
      <p:sp>
        <p:nvSpPr>
          <p:cNvPr id="5" name="Rectangle 4"/>
          <p:cNvSpPr/>
          <p:nvPr/>
        </p:nvSpPr>
        <p:spPr>
          <a:xfrm>
            <a:off x="441959" y="5452795"/>
            <a:ext cx="11399519" cy="461665"/>
          </a:xfrm>
          <a:prstGeom prst="rect">
            <a:avLst/>
          </a:prstGeom>
        </p:spPr>
        <p:txBody>
          <a:bodyPr wrap="square">
            <a:spAutoFit/>
          </a:bodyPr>
          <a:lstStyle/>
          <a:p>
            <a:pPr algn="just"/>
            <a:r>
              <a:rPr lang="en-US" sz="2400" b="1" dirty="0">
                <a:solidFill>
                  <a:srgbClr val="002060"/>
                </a:solidFill>
              </a:rPr>
              <a:t>📝 </a:t>
            </a:r>
            <a:r>
              <a:rPr lang="en-US" sz="2400" b="1" i="1" dirty="0">
                <a:solidFill>
                  <a:srgbClr val="002060"/>
                </a:solidFill>
              </a:rPr>
              <a:t>Both together form the “V &amp; V” (Verification and Validation) activities.</a:t>
            </a:r>
            <a:endParaRPr lang="en-IN" sz="2400" b="1" dirty="0">
              <a:solidFill>
                <a:srgbClr val="002060"/>
              </a:solidFill>
            </a:endParaRPr>
          </a:p>
        </p:txBody>
      </p:sp>
      <p:sp>
        <p:nvSpPr>
          <p:cNvPr id="2" name="Date Placeholder 1">
            <a:extLst>
              <a:ext uri="{FF2B5EF4-FFF2-40B4-BE49-F238E27FC236}">
                <a16:creationId xmlns:a16="http://schemas.microsoft.com/office/drawing/2014/main" id="{DE8C6B68-2E69-C965-0356-1AE85EF149AA}"/>
              </a:ext>
            </a:extLst>
          </p:cNvPr>
          <p:cNvSpPr>
            <a:spLocks noGrp="1"/>
          </p:cNvSpPr>
          <p:nvPr>
            <p:ph type="dt" sz="half" idx="10"/>
          </p:nvPr>
        </p:nvSpPr>
        <p:spPr/>
        <p:txBody>
          <a:bodyPr/>
          <a:lstStyle/>
          <a:p>
            <a:fld id="{9A428616-C3D1-4048-B265-F91A4D170D47}" type="datetime1">
              <a:rPr lang="en-IN" smtClean="0"/>
              <a:t>03-11-2025</a:t>
            </a:fld>
            <a:endParaRPr lang="en-IN"/>
          </a:p>
        </p:txBody>
      </p:sp>
      <p:sp>
        <p:nvSpPr>
          <p:cNvPr id="6" name="Footer Placeholder 5">
            <a:extLst>
              <a:ext uri="{FF2B5EF4-FFF2-40B4-BE49-F238E27FC236}">
                <a16:creationId xmlns:a16="http://schemas.microsoft.com/office/drawing/2014/main" id="{35F587A8-1F60-B4B1-E3E8-EF65B137A69A}"/>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8E6096BE-97B8-922E-0A16-3137B92AC64F}"/>
              </a:ext>
            </a:extLst>
          </p:cNvPr>
          <p:cNvSpPr>
            <a:spLocks noGrp="1"/>
          </p:cNvSpPr>
          <p:nvPr>
            <p:ph type="sldNum" sz="quarter" idx="12"/>
          </p:nvPr>
        </p:nvSpPr>
        <p:spPr/>
        <p:txBody>
          <a:bodyPr/>
          <a:lstStyle/>
          <a:p>
            <a:fld id="{157E8F69-36B6-4843-A9CE-6B9353F4DBAF}" type="slidenum">
              <a:rPr lang="en-IN" smtClean="0"/>
              <a:t>23</a:t>
            </a:fld>
            <a:endParaRPr lang="en-IN"/>
          </a:p>
        </p:txBody>
      </p:sp>
    </p:spTree>
    <p:extLst>
      <p:ext uri="{BB962C8B-B14F-4D97-AF65-F5344CB8AC3E}">
        <p14:creationId xmlns:p14="http://schemas.microsoft.com/office/powerpoint/2010/main" val="17743779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18160" y="346055"/>
            <a:ext cx="11308080" cy="830997"/>
          </a:xfrm>
          <a:prstGeom prst="rect">
            <a:avLst/>
          </a:prstGeom>
        </p:spPr>
        <p:txBody>
          <a:bodyPr wrap="square">
            <a:spAutoFit/>
          </a:bodyPr>
          <a:lstStyle/>
          <a:p>
            <a:pPr algn="just"/>
            <a:r>
              <a:rPr lang="en-US" sz="2400" dirty="0"/>
              <a:t>A typical testing process in terms of the activities that are carried out has been shown</a:t>
            </a:r>
          </a:p>
          <a:p>
            <a:pPr algn="just"/>
            <a:r>
              <a:rPr lang="en-IN" sz="2400" dirty="0"/>
              <a:t>schematically in Figure 7.2.</a:t>
            </a:r>
          </a:p>
        </p:txBody>
      </p:sp>
      <p:pic>
        <p:nvPicPr>
          <p:cNvPr id="4" name="Picture 3"/>
          <p:cNvPicPr>
            <a:picLocks noChangeAspect="1"/>
          </p:cNvPicPr>
          <p:nvPr/>
        </p:nvPicPr>
        <p:blipFill>
          <a:blip r:embed="rId2"/>
          <a:stretch>
            <a:fillRect/>
          </a:stretch>
        </p:blipFill>
        <p:spPr>
          <a:xfrm>
            <a:off x="965322" y="1397082"/>
            <a:ext cx="10388477" cy="4576997"/>
          </a:xfrm>
          <a:prstGeom prst="rect">
            <a:avLst/>
          </a:prstGeom>
        </p:spPr>
      </p:pic>
      <p:sp>
        <p:nvSpPr>
          <p:cNvPr id="5" name="Rectangle 4"/>
          <p:cNvSpPr/>
          <p:nvPr/>
        </p:nvSpPr>
        <p:spPr>
          <a:xfrm>
            <a:off x="4521716" y="6194109"/>
            <a:ext cx="3172728" cy="369332"/>
          </a:xfrm>
          <a:prstGeom prst="rect">
            <a:avLst/>
          </a:prstGeom>
        </p:spPr>
        <p:txBody>
          <a:bodyPr wrap="none">
            <a:spAutoFit/>
          </a:bodyPr>
          <a:lstStyle/>
          <a:p>
            <a:r>
              <a:rPr lang="en-IN" b="1" dirty="0">
                <a:solidFill>
                  <a:srgbClr val="2F3193"/>
                </a:solidFill>
                <a:latin typeface="OfficinaSans-Bold"/>
              </a:rPr>
              <a:t>FIGURE 7.2 </a:t>
            </a:r>
            <a:r>
              <a:rPr lang="en-IN" dirty="0">
                <a:solidFill>
                  <a:srgbClr val="2F3193"/>
                </a:solidFill>
                <a:latin typeface="OfficinaSans-Book"/>
              </a:rPr>
              <a:t>Testing process.</a:t>
            </a:r>
            <a:endParaRPr lang="en-IN" dirty="0"/>
          </a:p>
        </p:txBody>
      </p:sp>
      <p:sp>
        <p:nvSpPr>
          <p:cNvPr id="2" name="Date Placeholder 1">
            <a:extLst>
              <a:ext uri="{FF2B5EF4-FFF2-40B4-BE49-F238E27FC236}">
                <a16:creationId xmlns:a16="http://schemas.microsoft.com/office/drawing/2014/main" id="{01E5405E-9104-C421-F1EF-F983CFB0C53D}"/>
              </a:ext>
            </a:extLst>
          </p:cNvPr>
          <p:cNvSpPr>
            <a:spLocks noGrp="1"/>
          </p:cNvSpPr>
          <p:nvPr>
            <p:ph type="dt" sz="half" idx="10"/>
          </p:nvPr>
        </p:nvSpPr>
        <p:spPr/>
        <p:txBody>
          <a:bodyPr/>
          <a:lstStyle/>
          <a:p>
            <a:fld id="{1CB0A722-B64D-4B07-B1E5-438ED7FB40F6}" type="datetime1">
              <a:rPr lang="en-IN" smtClean="0"/>
              <a:t>03-11-2025</a:t>
            </a:fld>
            <a:endParaRPr lang="en-IN"/>
          </a:p>
        </p:txBody>
      </p:sp>
      <p:sp>
        <p:nvSpPr>
          <p:cNvPr id="6" name="Footer Placeholder 5">
            <a:extLst>
              <a:ext uri="{FF2B5EF4-FFF2-40B4-BE49-F238E27FC236}">
                <a16:creationId xmlns:a16="http://schemas.microsoft.com/office/drawing/2014/main" id="{C0BFFC35-1542-A530-4CAB-394BB4A845AA}"/>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C06E419D-DB5E-60CC-F95B-E937CD695EEA}"/>
              </a:ext>
            </a:extLst>
          </p:cNvPr>
          <p:cNvSpPr>
            <a:spLocks noGrp="1"/>
          </p:cNvSpPr>
          <p:nvPr>
            <p:ph type="sldNum" sz="quarter" idx="12"/>
          </p:nvPr>
        </p:nvSpPr>
        <p:spPr/>
        <p:txBody>
          <a:bodyPr/>
          <a:lstStyle/>
          <a:p>
            <a:fld id="{157E8F69-36B6-4843-A9CE-6B9353F4DBAF}" type="slidenum">
              <a:rPr lang="en-IN" smtClean="0"/>
              <a:t>24</a:t>
            </a:fld>
            <a:endParaRPr lang="en-IN"/>
          </a:p>
        </p:txBody>
      </p:sp>
    </p:spTree>
    <p:extLst>
      <p:ext uri="{BB962C8B-B14F-4D97-AF65-F5344CB8AC3E}">
        <p14:creationId xmlns:p14="http://schemas.microsoft.com/office/powerpoint/2010/main" val="2637461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335280" y="212081"/>
            <a:ext cx="115824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 7.4.2 Testing Activities</a:t>
            </a:r>
          </a:p>
          <a:p>
            <a:pPr lvl="1" algn="just" eaLnBrk="0" fontAlgn="base" hangingPunct="0">
              <a:lnSpc>
                <a:spcPct val="150000"/>
              </a:lnSpc>
              <a:spcBef>
                <a:spcPct val="0"/>
              </a:spcBef>
              <a:spcAft>
                <a:spcPct val="0"/>
              </a:spcAft>
              <a:buFontTx/>
              <a:buAutoNum type="arabicPeriod"/>
            </a:pPr>
            <a:r>
              <a:rPr kumimoji="0" lang="en-US" altLang="en-US" sz="2400" b="1" i="0" u="none" strike="noStrike" cap="none" normalizeH="0" baseline="0" dirty="0">
                <a:ln>
                  <a:noFill/>
                </a:ln>
                <a:solidFill>
                  <a:schemeClr val="tx1"/>
                </a:solidFill>
                <a:effectLst/>
              </a:rPr>
              <a:t>Test Suite Design</a:t>
            </a:r>
            <a:r>
              <a:rPr kumimoji="0" lang="en-US" altLang="en-US" sz="2400" b="0" i="0" u="none" strike="noStrike" cap="none" normalizeH="0" baseline="0" dirty="0">
                <a:ln>
                  <a:noFill/>
                </a:ln>
                <a:solidFill>
                  <a:schemeClr val="tx1"/>
                </a:solidFill>
                <a:effectLst/>
              </a:rPr>
              <a:t> – Create test cases using strategies.</a:t>
            </a:r>
          </a:p>
          <a:p>
            <a:pPr lvl="1" algn="just" eaLnBrk="0" fontAlgn="base" hangingPunct="0">
              <a:lnSpc>
                <a:spcPct val="150000"/>
              </a:lnSpc>
              <a:spcBef>
                <a:spcPct val="0"/>
              </a:spcBef>
              <a:spcAft>
                <a:spcPct val="0"/>
              </a:spcAft>
              <a:buFontTx/>
              <a:buAutoNum type="arabicPeriod"/>
            </a:pPr>
            <a:r>
              <a:rPr kumimoji="0" lang="en-US" altLang="en-US" sz="2400" b="1" i="0" u="none" strike="noStrike" cap="none" normalizeH="0" baseline="0" dirty="0">
                <a:ln>
                  <a:noFill/>
                </a:ln>
                <a:solidFill>
                  <a:schemeClr val="tx1"/>
                </a:solidFill>
                <a:effectLst/>
              </a:rPr>
              <a:t>Run Test Cases</a:t>
            </a:r>
            <a:r>
              <a:rPr kumimoji="0" lang="en-US" altLang="en-US" sz="2400" b="0" i="0" u="none" strike="noStrike" cap="none" normalizeH="0" baseline="0" dirty="0">
                <a:ln>
                  <a:noFill/>
                </a:ln>
                <a:solidFill>
                  <a:schemeClr val="tx1"/>
                </a:solidFill>
                <a:effectLst/>
              </a:rPr>
              <a:t> – Execute them and compare results.</a:t>
            </a:r>
          </a:p>
          <a:p>
            <a:pPr lvl="1" algn="just" eaLnBrk="0" fontAlgn="base" hangingPunct="0">
              <a:lnSpc>
                <a:spcPct val="150000"/>
              </a:lnSpc>
              <a:spcBef>
                <a:spcPct val="0"/>
              </a:spcBef>
              <a:spcAft>
                <a:spcPct val="0"/>
              </a:spcAft>
              <a:buFontTx/>
              <a:buAutoNum type="arabicPeriod"/>
            </a:pPr>
            <a:r>
              <a:rPr kumimoji="0" lang="en-US" altLang="en-US" sz="2400" b="1" i="0" u="none" strike="noStrike" cap="none" normalizeH="0" baseline="0" dirty="0">
                <a:ln>
                  <a:noFill/>
                </a:ln>
                <a:solidFill>
                  <a:schemeClr val="tx1"/>
                </a:solidFill>
                <a:effectLst/>
              </a:rPr>
              <a:t>Locate Error (Debugging)</a:t>
            </a:r>
            <a:r>
              <a:rPr kumimoji="0" lang="en-US" altLang="en-US" sz="2400" b="0" i="0" u="none" strike="noStrike" cap="none" normalizeH="0" baseline="0" dirty="0">
                <a:ln>
                  <a:noFill/>
                </a:ln>
                <a:solidFill>
                  <a:schemeClr val="tx1"/>
                </a:solidFill>
                <a:effectLst/>
              </a:rPr>
              <a:t> – Trace failures back to bugs.</a:t>
            </a:r>
          </a:p>
          <a:p>
            <a:pPr lvl="1" algn="just" eaLnBrk="0" fontAlgn="base" hangingPunct="0">
              <a:lnSpc>
                <a:spcPct val="150000"/>
              </a:lnSpc>
              <a:spcBef>
                <a:spcPct val="0"/>
              </a:spcBef>
              <a:spcAft>
                <a:spcPct val="0"/>
              </a:spcAft>
              <a:buFontTx/>
              <a:buAutoNum type="arabicPeriod"/>
            </a:pPr>
            <a:r>
              <a:rPr kumimoji="0" lang="en-US" altLang="en-US" sz="2400" b="1" i="0" u="none" strike="noStrike" cap="none" normalizeH="0" baseline="0" dirty="0">
                <a:ln>
                  <a:noFill/>
                </a:ln>
                <a:solidFill>
                  <a:schemeClr val="tx1"/>
                </a:solidFill>
                <a:effectLst/>
              </a:rPr>
              <a:t>Correct Error</a:t>
            </a:r>
            <a:r>
              <a:rPr kumimoji="0" lang="en-US" altLang="en-US" sz="2400" b="0" i="0" u="none" strike="noStrike" cap="none" normalizeH="0" baseline="0" dirty="0">
                <a:ln>
                  <a:noFill/>
                </a:ln>
                <a:solidFill>
                  <a:schemeClr val="tx1"/>
                </a:solidFill>
                <a:effectLst/>
              </a:rPr>
              <a:t> – Modify code and re-test.</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 </a:t>
            </a:r>
            <a:r>
              <a:rPr kumimoji="0" lang="en-US" altLang="en-US" sz="2400" b="0" i="1" u="none" strike="noStrike" cap="none" normalizeH="0" baseline="0" dirty="0">
                <a:ln>
                  <a:noFill/>
                </a:ln>
                <a:solidFill>
                  <a:schemeClr val="tx1"/>
                </a:solidFill>
                <a:effectLst/>
              </a:rPr>
              <a:t>Debugging is often the most time-consuming activity.</a:t>
            </a:r>
            <a:endParaRPr kumimoji="0" lang="en-US" altLang="en-US" sz="2400" b="0" i="0" u="none" strike="noStrike" cap="none" normalizeH="0" baseline="0" dirty="0">
              <a:ln>
                <a:noFill/>
              </a:ln>
              <a:solidFill>
                <a:schemeClr val="tx1"/>
              </a:solidFill>
              <a:effectLst/>
            </a:endParaRPr>
          </a:p>
        </p:txBody>
      </p:sp>
      <p:sp>
        <p:nvSpPr>
          <p:cNvPr id="4" name="Rectangle 2"/>
          <p:cNvSpPr>
            <a:spLocks noChangeArrowheads="1"/>
          </p:cNvSpPr>
          <p:nvPr/>
        </p:nvSpPr>
        <p:spPr bwMode="auto">
          <a:xfrm>
            <a:off x="335280" y="3843070"/>
            <a:ext cx="11582400" cy="261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ts val="600"/>
              </a:spcBef>
              <a:spcAft>
                <a:spcPct val="0"/>
              </a:spcAft>
              <a:buClrTx/>
              <a:buSzTx/>
              <a:buFontTx/>
              <a:buNone/>
              <a:tabLst/>
            </a:pPr>
            <a:r>
              <a:rPr kumimoji="0" lang="en-US" altLang="en-US" sz="2400" b="1" i="0" u="sng" strike="noStrike" cap="none" normalizeH="0" baseline="0" dirty="0">
                <a:ln>
                  <a:noFill/>
                </a:ln>
                <a:solidFill>
                  <a:schemeClr val="tx1"/>
                </a:solidFill>
                <a:effectLst/>
              </a:rPr>
              <a:t>❓ 7.4.3 Why Design Test Cases?</a:t>
            </a:r>
          </a:p>
          <a:p>
            <a:pPr marL="800100" lvl="1" indent="-342900" algn="just" eaLnBrk="0" fontAlgn="base" hangingPunct="0">
              <a:spcBef>
                <a:spcPts val="60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Random inputs ≠ effective testing</a:t>
            </a:r>
            <a:r>
              <a:rPr kumimoji="0" lang="en-US" altLang="en-US" sz="2400" b="0" i="0" u="none" strike="noStrike" cap="none" normalizeH="0" baseline="0" dirty="0">
                <a:ln>
                  <a:noFill/>
                </a:ln>
                <a:solidFill>
                  <a:schemeClr val="tx1"/>
                </a:solidFill>
                <a:effectLst/>
              </a:rPr>
              <a:t>.</a:t>
            </a:r>
          </a:p>
          <a:p>
            <a:pPr marL="800100" lvl="1" indent="-342900" algn="just" eaLnBrk="0" fontAlgn="base" hangingPunct="0">
              <a:spcBef>
                <a:spcPts val="60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Carefully designed test cases find </a:t>
            </a:r>
            <a:r>
              <a:rPr kumimoji="0" lang="en-US" altLang="en-US" sz="2400" b="1" i="0" u="none" strike="noStrike" cap="none" normalizeH="0" baseline="0" dirty="0">
                <a:ln>
                  <a:noFill/>
                </a:ln>
                <a:solidFill>
                  <a:schemeClr val="tx1"/>
                </a:solidFill>
                <a:effectLst/>
              </a:rPr>
              <a:t>unique errors</a:t>
            </a:r>
            <a:r>
              <a:rPr kumimoji="0" lang="en-US" altLang="en-US" sz="2400" b="0" i="0" u="none" strike="noStrike" cap="none" normalizeH="0" baseline="0" dirty="0">
                <a:ln>
                  <a:noFill/>
                </a:ln>
                <a:solidFill>
                  <a:schemeClr val="tx1"/>
                </a:solidFill>
                <a:effectLst/>
              </a:rPr>
              <a:t>.</a:t>
            </a:r>
          </a:p>
          <a:p>
            <a:pPr marL="800100" lvl="1" indent="-342900" algn="just" eaLnBrk="0" fontAlgn="base" hangingPunct="0">
              <a:spcBef>
                <a:spcPts val="60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Example: A wrong else block (max = x instead of max = y) may go undetected if only tested with inputs where x &gt; y.</a:t>
            </a:r>
          </a:p>
          <a:p>
            <a:pPr marL="0" marR="0" lvl="0" indent="0" algn="just" defTabSz="914400" rtl="0" eaLnBrk="0" fontAlgn="base" latinLnBrk="0" hangingPunct="0">
              <a:lnSpc>
                <a:spcPct val="100000"/>
              </a:lnSpc>
              <a:spcBef>
                <a:spcPts val="600"/>
              </a:spcBef>
              <a:spcAft>
                <a:spcPct val="0"/>
              </a:spcAft>
              <a:buClrTx/>
              <a:buSzTx/>
              <a:buFontTx/>
              <a:buNone/>
              <a:tabLst/>
            </a:pPr>
            <a:r>
              <a:rPr kumimoji="0" lang="en-US" altLang="en-US" sz="2400" b="0" i="0" u="none" strike="noStrike" cap="none" normalizeH="0" baseline="0" dirty="0">
                <a:ln>
                  <a:noFill/>
                </a:ln>
                <a:solidFill>
                  <a:schemeClr val="tx1"/>
                </a:solidFill>
                <a:effectLst/>
              </a:rPr>
              <a:t>🧠 </a:t>
            </a:r>
            <a:r>
              <a:rPr kumimoji="0" lang="en-US" altLang="en-US" sz="2400" b="1" i="0" u="none" strike="noStrike" cap="none" normalizeH="0" baseline="0" dirty="0">
                <a:ln>
                  <a:noFill/>
                </a:ln>
                <a:solidFill>
                  <a:schemeClr val="tx1"/>
                </a:solidFill>
                <a:effectLst/>
              </a:rPr>
              <a:t>Goal</a:t>
            </a:r>
            <a:r>
              <a:rPr kumimoji="0" lang="en-US" altLang="en-US" sz="2400" b="0" i="0" u="none" strike="noStrike" cap="none" normalizeH="0" baseline="0" dirty="0">
                <a:ln>
                  <a:noFill/>
                </a:ln>
                <a:solidFill>
                  <a:schemeClr val="tx1"/>
                </a:solidFill>
                <a:effectLst/>
              </a:rPr>
              <a:t>: A </a:t>
            </a:r>
            <a:r>
              <a:rPr kumimoji="0" lang="en-US" altLang="en-US" sz="2400" b="1" i="0" u="none" strike="noStrike" cap="none" normalizeH="0" baseline="0" dirty="0">
                <a:ln>
                  <a:noFill/>
                </a:ln>
                <a:solidFill>
                  <a:schemeClr val="tx1"/>
                </a:solidFill>
                <a:effectLst/>
              </a:rPr>
              <a:t>minimal</a:t>
            </a:r>
            <a:r>
              <a:rPr kumimoji="0" lang="en-US" altLang="en-US" sz="2400" b="0" i="0" u="none" strike="noStrike" cap="none" normalizeH="0" baseline="0" dirty="0">
                <a:ln>
                  <a:noFill/>
                </a:ln>
                <a:solidFill>
                  <a:schemeClr val="tx1"/>
                </a:solidFill>
                <a:effectLst/>
              </a:rPr>
              <a:t>, well-designed test suite that finds </a:t>
            </a:r>
            <a:r>
              <a:rPr kumimoji="0" lang="en-US" altLang="en-US" sz="2400" b="1" i="0" u="none" strike="noStrike" cap="none" normalizeH="0" baseline="0" dirty="0">
                <a:ln>
                  <a:noFill/>
                </a:ln>
                <a:solidFill>
                  <a:schemeClr val="tx1"/>
                </a:solidFill>
                <a:effectLst/>
              </a:rPr>
              <a:t>as many errors as possible</a:t>
            </a:r>
            <a:r>
              <a:rPr kumimoji="0" lang="en-US" altLang="en-US" sz="2400" b="0" i="0" u="none" strike="noStrike" cap="none" normalizeH="0" baseline="0" dirty="0">
                <a:ln>
                  <a:noFill/>
                </a:ln>
                <a:solidFill>
                  <a:schemeClr val="tx1"/>
                </a:solidFill>
                <a:effectLst/>
              </a:rPr>
              <a:t>.</a:t>
            </a:r>
          </a:p>
        </p:txBody>
      </p:sp>
      <p:sp>
        <p:nvSpPr>
          <p:cNvPr id="2" name="Date Placeholder 1">
            <a:extLst>
              <a:ext uri="{FF2B5EF4-FFF2-40B4-BE49-F238E27FC236}">
                <a16:creationId xmlns:a16="http://schemas.microsoft.com/office/drawing/2014/main" id="{E5CD9B94-BB53-E1E8-4AE8-775073E19F27}"/>
              </a:ext>
            </a:extLst>
          </p:cNvPr>
          <p:cNvSpPr>
            <a:spLocks noGrp="1"/>
          </p:cNvSpPr>
          <p:nvPr>
            <p:ph type="dt" sz="half" idx="10"/>
          </p:nvPr>
        </p:nvSpPr>
        <p:spPr/>
        <p:txBody>
          <a:bodyPr/>
          <a:lstStyle/>
          <a:p>
            <a:fld id="{C950336A-4C48-4C6C-ABC2-CE8C3504B7EC}" type="datetime1">
              <a:rPr lang="en-IN" smtClean="0"/>
              <a:t>03-11-2025</a:t>
            </a:fld>
            <a:endParaRPr lang="en-IN"/>
          </a:p>
        </p:txBody>
      </p:sp>
      <p:sp>
        <p:nvSpPr>
          <p:cNvPr id="5" name="Footer Placeholder 4">
            <a:extLst>
              <a:ext uri="{FF2B5EF4-FFF2-40B4-BE49-F238E27FC236}">
                <a16:creationId xmlns:a16="http://schemas.microsoft.com/office/drawing/2014/main" id="{9F627A70-8E30-98C0-45A7-CC74FA5F9DA6}"/>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07DE1A39-2DC5-22C2-19B1-C420D7741B87}"/>
              </a:ext>
            </a:extLst>
          </p:cNvPr>
          <p:cNvSpPr>
            <a:spLocks noGrp="1"/>
          </p:cNvSpPr>
          <p:nvPr>
            <p:ph type="sldNum" sz="quarter" idx="12"/>
          </p:nvPr>
        </p:nvSpPr>
        <p:spPr/>
        <p:txBody>
          <a:bodyPr/>
          <a:lstStyle/>
          <a:p>
            <a:fld id="{157E8F69-36B6-4843-A9CE-6B9353F4DBAF}" type="slidenum">
              <a:rPr lang="en-IN" smtClean="0"/>
              <a:t>25</a:t>
            </a:fld>
            <a:endParaRPr lang="en-IN"/>
          </a:p>
        </p:txBody>
      </p:sp>
    </p:spTree>
    <p:extLst>
      <p:ext uri="{BB962C8B-B14F-4D97-AF65-F5344CB8AC3E}">
        <p14:creationId xmlns:p14="http://schemas.microsoft.com/office/powerpoint/2010/main" val="24516622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7119" y="348734"/>
            <a:ext cx="4821128" cy="461665"/>
          </a:xfrm>
          <a:prstGeom prst="rect">
            <a:avLst/>
          </a:prstGeom>
        </p:spPr>
        <p:txBody>
          <a:bodyPr wrap="none">
            <a:spAutoFit/>
          </a:bodyPr>
          <a:lstStyle/>
          <a:p>
            <a:r>
              <a:rPr lang="en-US" sz="2400" b="1" u="sng" dirty="0"/>
              <a:t>🎯 7.4.4 Testing in the Large vs Small</a:t>
            </a:r>
            <a:endParaRPr lang="en-IN" sz="2400" b="1" u="sng" dirty="0"/>
          </a:p>
        </p:txBody>
      </p:sp>
      <p:graphicFrame>
        <p:nvGraphicFramePr>
          <p:cNvPr id="4" name="Table 3"/>
          <p:cNvGraphicFramePr>
            <a:graphicFrameLocks noGrp="1"/>
          </p:cNvGraphicFramePr>
          <p:nvPr>
            <p:extLst>
              <p:ext uri="{D42A27DB-BD31-4B8C-83A1-F6EECF244321}">
                <p14:modId xmlns:p14="http://schemas.microsoft.com/office/powerpoint/2010/main" val="984874519"/>
              </p:ext>
            </p:extLst>
          </p:nvPr>
        </p:nvGraphicFramePr>
        <p:xfrm>
          <a:off x="337117" y="953294"/>
          <a:ext cx="11489122" cy="1645920"/>
        </p:xfrm>
        <a:graphic>
          <a:graphicData uri="http://schemas.openxmlformats.org/drawingml/2006/table">
            <a:tbl>
              <a:tblPr>
                <a:tableStyleId>{BC89EF96-8CEA-46FF-86C4-4CE0E7609802}</a:tableStyleId>
              </a:tblPr>
              <a:tblGrid>
                <a:gridCol w="5744561">
                  <a:extLst>
                    <a:ext uri="{9D8B030D-6E8A-4147-A177-3AD203B41FA5}">
                      <a16:colId xmlns:a16="http://schemas.microsoft.com/office/drawing/2014/main" val="3101656829"/>
                    </a:ext>
                  </a:extLst>
                </a:gridCol>
                <a:gridCol w="5744561">
                  <a:extLst>
                    <a:ext uri="{9D8B030D-6E8A-4147-A177-3AD203B41FA5}">
                      <a16:colId xmlns:a16="http://schemas.microsoft.com/office/drawing/2014/main" val="3539168286"/>
                    </a:ext>
                  </a:extLst>
                </a:gridCol>
              </a:tblGrid>
              <a:tr h="0">
                <a:tc>
                  <a:txBody>
                    <a:bodyPr/>
                    <a:lstStyle/>
                    <a:p>
                      <a:pPr algn="ctr"/>
                      <a:r>
                        <a:rPr lang="en-IN" sz="2400" b="1" u="sng" dirty="0"/>
                        <a:t>Type</a:t>
                      </a:r>
                    </a:p>
                  </a:txBody>
                  <a:tcPr anchor="ctr"/>
                </a:tc>
                <a:tc>
                  <a:txBody>
                    <a:bodyPr/>
                    <a:lstStyle/>
                    <a:p>
                      <a:pPr algn="ctr"/>
                      <a:r>
                        <a:rPr lang="en-IN" sz="2400" b="1" u="sng" dirty="0"/>
                        <a:t>Definition</a:t>
                      </a:r>
                    </a:p>
                  </a:txBody>
                  <a:tcPr anchor="ctr"/>
                </a:tc>
                <a:extLst>
                  <a:ext uri="{0D108BD9-81ED-4DB2-BD59-A6C34878D82A}">
                    <a16:rowId xmlns:a16="http://schemas.microsoft.com/office/drawing/2014/main" val="2308824530"/>
                  </a:ext>
                </a:extLst>
              </a:tr>
              <a:tr h="0">
                <a:tc>
                  <a:txBody>
                    <a:bodyPr/>
                    <a:lstStyle/>
                    <a:p>
                      <a:r>
                        <a:rPr lang="en-IN" sz="2000" dirty="0"/>
                        <a:t>Unit Testing</a:t>
                      </a:r>
                    </a:p>
                  </a:txBody>
                  <a:tcPr anchor="ctr"/>
                </a:tc>
                <a:tc>
                  <a:txBody>
                    <a:bodyPr/>
                    <a:lstStyle/>
                    <a:p>
                      <a:r>
                        <a:rPr lang="en-IN" sz="2000" dirty="0"/>
                        <a:t>Testing individual modules (functions/classes).</a:t>
                      </a:r>
                    </a:p>
                  </a:txBody>
                  <a:tcPr anchor="ctr"/>
                </a:tc>
                <a:extLst>
                  <a:ext uri="{0D108BD9-81ED-4DB2-BD59-A6C34878D82A}">
                    <a16:rowId xmlns:a16="http://schemas.microsoft.com/office/drawing/2014/main" val="1309140650"/>
                  </a:ext>
                </a:extLst>
              </a:tr>
              <a:tr h="0">
                <a:tc>
                  <a:txBody>
                    <a:bodyPr/>
                    <a:lstStyle/>
                    <a:p>
                      <a:r>
                        <a:rPr lang="en-IN" sz="2000"/>
                        <a:t>Integration Testing</a:t>
                      </a:r>
                    </a:p>
                  </a:txBody>
                  <a:tcPr anchor="ctr"/>
                </a:tc>
                <a:tc>
                  <a:txBody>
                    <a:bodyPr/>
                    <a:lstStyle/>
                    <a:p>
                      <a:r>
                        <a:rPr lang="en-US" sz="2000" dirty="0"/>
                        <a:t>Testing combined modules and their interactions.</a:t>
                      </a:r>
                    </a:p>
                  </a:txBody>
                  <a:tcPr anchor="ctr"/>
                </a:tc>
                <a:extLst>
                  <a:ext uri="{0D108BD9-81ED-4DB2-BD59-A6C34878D82A}">
                    <a16:rowId xmlns:a16="http://schemas.microsoft.com/office/drawing/2014/main" val="3128701059"/>
                  </a:ext>
                </a:extLst>
              </a:tr>
              <a:tr h="0">
                <a:tc>
                  <a:txBody>
                    <a:bodyPr/>
                    <a:lstStyle/>
                    <a:p>
                      <a:r>
                        <a:rPr lang="en-IN" sz="2000"/>
                        <a:t>System Testing</a:t>
                      </a:r>
                    </a:p>
                  </a:txBody>
                  <a:tcPr anchor="ctr"/>
                </a:tc>
                <a:tc>
                  <a:txBody>
                    <a:bodyPr/>
                    <a:lstStyle/>
                    <a:p>
                      <a:r>
                        <a:rPr lang="en-US" sz="2000" dirty="0"/>
                        <a:t>Testing the complete integrated system.</a:t>
                      </a:r>
                    </a:p>
                  </a:txBody>
                  <a:tcPr anchor="ctr"/>
                </a:tc>
                <a:extLst>
                  <a:ext uri="{0D108BD9-81ED-4DB2-BD59-A6C34878D82A}">
                    <a16:rowId xmlns:a16="http://schemas.microsoft.com/office/drawing/2014/main" val="3485618812"/>
                  </a:ext>
                </a:extLst>
              </a:tr>
            </a:tbl>
          </a:graphicData>
        </a:graphic>
      </p:graphicFrame>
      <p:sp>
        <p:nvSpPr>
          <p:cNvPr id="6" name="Rectangle 5"/>
          <p:cNvSpPr/>
          <p:nvPr/>
        </p:nvSpPr>
        <p:spPr>
          <a:xfrm>
            <a:off x="396239" y="2961978"/>
            <a:ext cx="11429999" cy="3046988"/>
          </a:xfrm>
          <a:prstGeom prst="rect">
            <a:avLst/>
          </a:prstGeom>
        </p:spPr>
        <p:txBody>
          <a:bodyPr wrap="square">
            <a:spAutoFit/>
          </a:bodyPr>
          <a:lstStyle/>
          <a:p>
            <a:pPr lvl="1" eaLnBrk="0" fontAlgn="base" hangingPunct="0">
              <a:spcBef>
                <a:spcPct val="0"/>
              </a:spcBef>
              <a:spcAft>
                <a:spcPct val="0"/>
              </a:spcAft>
            </a:pPr>
            <a:r>
              <a:rPr lang="en-US" altLang="en-US" sz="2400" dirty="0"/>
              <a:t>🔹 </a:t>
            </a:r>
            <a:r>
              <a:rPr lang="en-US" altLang="en-US" sz="2400" i="1" dirty="0"/>
              <a:t>Unit testing = Testing in the Small</a:t>
            </a:r>
            <a:br>
              <a:rPr lang="en-US" altLang="en-US" sz="2400" dirty="0"/>
            </a:br>
            <a:r>
              <a:rPr lang="en-US" altLang="en-US" sz="2400" dirty="0"/>
              <a:t>🔹 </a:t>
            </a:r>
            <a:r>
              <a:rPr lang="en-US" altLang="en-US" sz="2400" i="1" dirty="0"/>
              <a:t>Integration + System testing = Testing in the Large</a:t>
            </a:r>
            <a:endParaRPr lang="en-US" altLang="en-US" sz="2400" dirty="0"/>
          </a:p>
          <a:p>
            <a:pPr lvl="0" eaLnBrk="0" fontAlgn="base" hangingPunct="0">
              <a:spcBef>
                <a:spcPct val="0"/>
              </a:spcBef>
              <a:spcAft>
                <a:spcPct val="0"/>
              </a:spcAft>
            </a:pPr>
            <a:endParaRPr lang="en-US" altLang="en-US" sz="2400" dirty="0"/>
          </a:p>
          <a:p>
            <a:pPr lvl="0" eaLnBrk="0" fontAlgn="base" hangingPunct="0">
              <a:spcBef>
                <a:spcPct val="0"/>
              </a:spcBef>
              <a:spcAft>
                <a:spcPct val="0"/>
              </a:spcAft>
            </a:pPr>
            <a:r>
              <a:rPr lang="en-US" altLang="en-US" sz="2400" u="sng" dirty="0"/>
              <a:t>📌 </a:t>
            </a:r>
            <a:r>
              <a:rPr lang="en-US" altLang="en-US" sz="2400" b="1" u="sng" dirty="0"/>
              <a:t>Why not test the system as a whole?</a:t>
            </a:r>
          </a:p>
          <a:p>
            <a:pPr lvl="0" eaLnBrk="0" fontAlgn="base" hangingPunct="0">
              <a:spcBef>
                <a:spcPct val="0"/>
              </a:spcBef>
              <a:spcAft>
                <a:spcPct val="0"/>
              </a:spcAft>
            </a:pPr>
            <a:endParaRPr lang="en-US" altLang="en-US" sz="2400" u="sng" dirty="0"/>
          </a:p>
          <a:p>
            <a:pPr marL="800100" lvl="1" indent="-342900" eaLnBrk="0" fontAlgn="base" hangingPunct="0">
              <a:spcBef>
                <a:spcPct val="0"/>
              </a:spcBef>
              <a:spcAft>
                <a:spcPct val="0"/>
              </a:spcAft>
              <a:buFont typeface="Wingdings" panose="05000000000000000000" pitchFamily="2" charset="2"/>
              <a:buChar char="Ø"/>
            </a:pPr>
            <a:r>
              <a:rPr lang="en-US" altLang="en-US" sz="2400" dirty="0"/>
              <a:t>Other modules may not be ready.</a:t>
            </a:r>
          </a:p>
          <a:p>
            <a:pPr marL="800100" lvl="1" indent="-342900" eaLnBrk="0" fontAlgn="base" hangingPunct="0">
              <a:spcBef>
                <a:spcPct val="0"/>
              </a:spcBef>
              <a:spcAft>
                <a:spcPct val="0"/>
              </a:spcAft>
              <a:buFont typeface="Wingdings" panose="05000000000000000000" pitchFamily="2" charset="2"/>
              <a:buChar char="Ø"/>
            </a:pPr>
            <a:r>
              <a:rPr lang="en-US" altLang="en-US" sz="2400" dirty="0"/>
              <a:t>Easier debugging at unit level.</a:t>
            </a:r>
          </a:p>
          <a:p>
            <a:pPr marL="800100" lvl="1" indent="-342900" eaLnBrk="0" fontAlgn="base" hangingPunct="0">
              <a:spcBef>
                <a:spcPct val="0"/>
              </a:spcBef>
              <a:spcAft>
                <a:spcPct val="0"/>
              </a:spcAft>
              <a:buFont typeface="Wingdings" panose="05000000000000000000" pitchFamily="2" charset="2"/>
              <a:buChar char="Ø"/>
            </a:pPr>
            <a:r>
              <a:rPr lang="en-US" altLang="en-US" sz="2400" dirty="0"/>
              <a:t>Helps localize errors faster.</a:t>
            </a:r>
          </a:p>
        </p:txBody>
      </p:sp>
      <p:sp>
        <p:nvSpPr>
          <p:cNvPr id="2" name="Date Placeholder 1">
            <a:extLst>
              <a:ext uri="{FF2B5EF4-FFF2-40B4-BE49-F238E27FC236}">
                <a16:creationId xmlns:a16="http://schemas.microsoft.com/office/drawing/2014/main" id="{BEDD02B9-50C9-8FF4-DB51-7CF48D121BF9}"/>
              </a:ext>
            </a:extLst>
          </p:cNvPr>
          <p:cNvSpPr>
            <a:spLocks noGrp="1"/>
          </p:cNvSpPr>
          <p:nvPr>
            <p:ph type="dt" sz="half" idx="10"/>
          </p:nvPr>
        </p:nvSpPr>
        <p:spPr/>
        <p:txBody>
          <a:bodyPr/>
          <a:lstStyle/>
          <a:p>
            <a:fld id="{778D85F8-4A76-4559-9815-3221DD759F68}" type="datetime1">
              <a:rPr lang="en-IN" smtClean="0"/>
              <a:t>03-11-2025</a:t>
            </a:fld>
            <a:endParaRPr lang="en-IN"/>
          </a:p>
        </p:txBody>
      </p:sp>
      <p:sp>
        <p:nvSpPr>
          <p:cNvPr id="5" name="Footer Placeholder 4">
            <a:extLst>
              <a:ext uri="{FF2B5EF4-FFF2-40B4-BE49-F238E27FC236}">
                <a16:creationId xmlns:a16="http://schemas.microsoft.com/office/drawing/2014/main" id="{31ACF1B3-F2DA-7AAC-F0D6-DC196F44889F}"/>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887E7861-9819-9AA6-84E7-42E024AEADDF}"/>
              </a:ext>
            </a:extLst>
          </p:cNvPr>
          <p:cNvSpPr>
            <a:spLocks noGrp="1"/>
          </p:cNvSpPr>
          <p:nvPr>
            <p:ph type="sldNum" sz="quarter" idx="12"/>
          </p:nvPr>
        </p:nvSpPr>
        <p:spPr/>
        <p:txBody>
          <a:bodyPr/>
          <a:lstStyle/>
          <a:p>
            <a:fld id="{157E8F69-36B6-4843-A9CE-6B9353F4DBAF}" type="slidenum">
              <a:rPr lang="en-IN" smtClean="0"/>
              <a:t>26</a:t>
            </a:fld>
            <a:endParaRPr lang="en-IN"/>
          </a:p>
        </p:txBody>
      </p:sp>
    </p:spTree>
    <p:extLst>
      <p:ext uri="{BB962C8B-B14F-4D97-AF65-F5344CB8AC3E}">
        <p14:creationId xmlns:p14="http://schemas.microsoft.com/office/powerpoint/2010/main" val="4625520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9080" y="277059"/>
            <a:ext cx="11567160" cy="3293209"/>
          </a:xfrm>
          <a:prstGeom prst="rect">
            <a:avLst/>
          </a:prstGeom>
        </p:spPr>
        <p:txBody>
          <a:bodyPr wrap="square">
            <a:spAutoFit/>
          </a:bodyPr>
          <a:lstStyle/>
          <a:p>
            <a:pPr algn="just">
              <a:spcBef>
                <a:spcPts val="1200"/>
              </a:spcBef>
            </a:pPr>
            <a:r>
              <a:rPr lang="en-US" sz="2400" b="1" u="sng" dirty="0"/>
              <a:t>7.4.5 Tests as Bug Filters</a:t>
            </a:r>
          </a:p>
          <a:p>
            <a:pPr algn="just">
              <a:spcBef>
                <a:spcPts val="1200"/>
              </a:spcBef>
            </a:pPr>
            <a:r>
              <a:rPr lang="en-US" sz="2400" b="1" u="sng" dirty="0"/>
              <a:t>📉 Diminishing Returns</a:t>
            </a:r>
          </a:p>
          <a:p>
            <a:pPr algn="just">
              <a:spcBef>
                <a:spcPts val="1200"/>
              </a:spcBef>
            </a:pPr>
            <a:r>
              <a:rPr lang="en-US" sz="2400" dirty="0"/>
              <a:t>	Once a test suite covers most defects, adding similar test cases won’t help much.</a:t>
            </a:r>
            <a:br>
              <a:rPr lang="en-US" sz="2400" dirty="0"/>
            </a:br>
            <a:r>
              <a:rPr lang="en-US" sz="2400" dirty="0"/>
              <a:t>Each new </a:t>
            </a:r>
            <a:r>
              <a:rPr lang="en-US" sz="2400" b="1" dirty="0"/>
              <a:t>test strategy</a:t>
            </a:r>
            <a:r>
              <a:rPr lang="en-US" sz="2400" dirty="0"/>
              <a:t> filters more bugs, but </a:t>
            </a:r>
            <a:r>
              <a:rPr lang="en-US" sz="2400" b="1" dirty="0"/>
              <a:t>returns diminish</a:t>
            </a:r>
            <a:r>
              <a:rPr lang="en-US" sz="2400" dirty="0"/>
              <a:t>.</a:t>
            </a:r>
          </a:p>
          <a:p>
            <a:pPr algn="just">
              <a:spcBef>
                <a:spcPts val="1200"/>
              </a:spcBef>
            </a:pPr>
            <a:r>
              <a:rPr lang="en-US" sz="2400" b="1" u="sng" dirty="0"/>
              <a:t>🐛 Bug Filter Analogy (</a:t>
            </a:r>
            <a:r>
              <a:rPr lang="en-US" sz="2400" b="1" u="sng" dirty="0" err="1"/>
              <a:t>Beizer</a:t>
            </a:r>
            <a:r>
              <a:rPr lang="en-US" sz="2400" b="1" u="sng" dirty="0"/>
              <a:t>, 1990):</a:t>
            </a:r>
          </a:p>
          <a:p>
            <a:pPr algn="just">
              <a:spcBef>
                <a:spcPts val="1200"/>
              </a:spcBef>
            </a:pPr>
            <a:r>
              <a:rPr lang="en-US" sz="2400" dirty="0"/>
              <a:t>	Like using pesticides — first spray kills many bugs, survivors become resistant. You need </a:t>
            </a:r>
            <a:r>
              <a:rPr lang="en-US" sz="2400" b="1" dirty="0"/>
              <a:t>different sprays (test strategies)</a:t>
            </a:r>
            <a:r>
              <a:rPr lang="en-US" sz="2400" dirty="0"/>
              <a:t> to catch remaining bugs.</a:t>
            </a:r>
          </a:p>
        </p:txBody>
      </p:sp>
      <p:sp>
        <p:nvSpPr>
          <p:cNvPr id="5" name="Rectangle 4"/>
          <p:cNvSpPr/>
          <p:nvPr/>
        </p:nvSpPr>
        <p:spPr>
          <a:xfrm>
            <a:off x="259080" y="3947428"/>
            <a:ext cx="5278048" cy="461665"/>
          </a:xfrm>
          <a:prstGeom prst="rect">
            <a:avLst/>
          </a:prstGeom>
        </p:spPr>
        <p:txBody>
          <a:bodyPr wrap="none">
            <a:spAutoFit/>
          </a:bodyPr>
          <a:lstStyle/>
          <a:p>
            <a:pPr algn="just"/>
            <a:r>
              <a:rPr lang="en-US" sz="2400" b="1" u="sng" dirty="0"/>
              <a:t>📐 Example Calculation – Bug Reduction</a:t>
            </a:r>
            <a:endParaRPr lang="en-IN" sz="2400" b="1" u="sng" dirty="0"/>
          </a:p>
        </p:txBody>
      </p:sp>
      <p:sp>
        <p:nvSpPr>
          <p:cNvPr id="6" name="Rectangle 5"/>
          <p:cNvSpPr/>
          <p:nvPr/>
        </p:nvSpPr>
        <p:spPr>
          <a:xfrm>
            <a:off x="449580" y="4695839"/>
            <a:ext cx="11186160" cy="1015663"/>
          </a:xfrm>
          <a:prstGeom prst="rect">
            <a:avLst/>
          </a:prstGeom>
        </p:spPr>
        <p:txBody>
          <a:bodyPr wrap="square">
            <a:spAutoFit/>
          </a:bodyPr>
          <a:lstStyle/>
          <a:p>
            <a:r>
              <a:rPr lang="en-US" sz="2000" b="1" dirty="0"/>
              <a:t>Suppose: 10 test strategies, each removes 30% of current bugs.</a:t>
            </a:r>
            <a:br>
              <a:rPr lang="en-US" sz="2000" b="1" dirty="0"/>
            </a:br>
            <a:r>
              <a:rPr lang="en-US" sz="2000" b="1" dirty="0"/>
              <a:t>Initial bugs = 1000</a:t>
            </a:r>
            <a:br>
              <a:rPr lang="en-US" sz="2000" b="1" dirty="0"/>
            </a:br>
            <a:r>
              <a:rPr lang="en-US" sz="2000" b="1" dirty="0"/>
              <a:t>Remaining after each step = 70% of previous bugs</a:t>
            </a:r>
            <a:endParaRPr lang="en-IN" sz="2000" b="1" dirty="0"/>
          </a:p>
        </p:txBody>
      </p:sp>
      <p:sp>
        <p:nvSpPr>
          <p:cNvPr id="7" name="Rectangle 6"/>
          <p:cNvSpPr/>
          <p:nvPr/>
        </p:nvSpPr>
        <p:spPr>
          <a:xfrm>
            <a:off x="1405097" y="5998249"/>
            <a:ext cx="9275126" cy="461665"/>
          </a:xfrm>
          <a:prstGeom prst="rect">
            <a:avLst/>
          </a:prstGeom>
        </p:spPr>
        <p:txBody>
          <a:bodyPr wrap="square">
            <a:spAutoFit/>
          </a:bodyPr>
          <a:lstStyle/>
          <a:p>
            <a:pPr algn="ctr"/>
            <a:r>
              <a:rPr lang="en-US" sz="2400" b="1" dirty="0"/>
              <a:t>Bugs after 10 rounds = 1000 × (0.7) 10 = 1000×0.028 = 28 bugs left​</a:t>
            </a:r>
            <a:endParaRPr lang="en-IN" sz="2400" b="1" dirty="0"/>
          </a:p>
        </p:txBody>
      </p:sp>
      <p:sp>
        <p:nvSpPr>
          <p:cNvPr id="2" name="Date Placeholder 1">
            <a:extLst>
              <a:ext uri="{FF2B5EF4-FFF2-40B4-BE49-F238E27FC236}">
                <a16:creationId xmlns:a16="http://schemas.microsoft.com/office/drawing/2014/main" id="{178E8C43-3A74-0F6B-2B2C-B64AB18DFC84}"/>
              </a:ext>
            </a:extLst>
          </p:cNvPr>
          <p:cNvSpPr>
            <a:spLocks noGrp="1"/>
          </p:cNvSpPr>
          <p:nvPr>
            <p:ph type="dt" sz="half" idx="10"/>
          </p:nvPr>
        </p:nvSpPr>
        <p:spPr/>
        <p:txBody>
          <a:bodyPr/>
          <a:lstStyle/>
          <a:p>
            <a:fld id="{DB89F7BD-C1AD-493D-80A9-C6AAF6672533}" type="datetime1">
              <a:rPr lang="en-IN" smtClean="0"/>
              <a:t>03-11-2025</a:t>
            </a:fld>
            <a:endParaRPr lang="en-IN"/>
          </a:p>
        </p:txBody>
      </p:sp>
      <p:sp>
        <p:nvSpPr>
          <p:cNvPr id="4" name="Footer Placeholder 3">
            <a:extLst>
              <a:ext uri="{FF2B5EF4-FFF2-40B4-BE49-F238E27FC236}">
                <a16:creationId xmlns:a16="http://schemas.microsoft.com/office/drawing/2014/main" id="{2927A7C4-9E3F-0DF5-D640-456E9F2B4354}"/>
              </a:ext>
            </a:extLst>
          </p:cNvPr>
          <p:cNvSpPr>
            <a:spLocks noGrp="1"/>
          </p:cNvSpPr>
          <p:nvPr>
            <p:ph type="ftr" sz="quarter" idx="11"/>
          </p:nvPr>
        </p:nvSpPr>
        <p:spPr/>
        <p:txBody>
          <a:bodyPr/>
          <a:lstStyle/>
          <a:p>
            <a:r>
              <a:rPr lang="en-IN"/>
              <a:t>MIT</a:t>
            </a:r>
          </a:p>
        </p:txBody>
      </p:sp>
      <p:sp>
        <p:nvSpPr>
          <p:cNvPr id="8" name="Slide Number Placeholder 7">
            <a:extLst>
              <a:ext uri="{FF2B5EF4-FFF2-40B4-BE49-F238E27FC236}">
                <a16:creationId xmlns:a16="http://schemas.microsoft.com/office/drawing/2014/main" id="{A634D764-CDA6-7F83-349C-A98C010BA597}"/>
              </a:ext>
            </a:extLst>
          </p:cNvPr>
          <p:cNvSpPr>
            <a:spLocks noGrp="1"/>
          </p:cNvSpPr>
          <p:nvPr>
            <p:ph type="sldNum" sz="quarter" idx="12"/>
          </p:nvPr>
        </p:nvSpPr>
        <p:spPr/>
        <p:txBody>
          <a:bodyPr/>
          <a:lstStyle/>
          <a:p>
            <a:fld id="{157E8F69-36B6-4843-A9CE-6B9353F4DBAF}" type="slidenum">
              <a:rPr lang="en-IN" smtClean="0"/>
              <a:t>27</a:t>
            </a:fld>
            <a:endParaRPr lang="en-IN"/>
          </a:p>
        </p:txBody>
      </p:sp>
    </p:spTree>
    <p:extLst>
      <p:ext uri="{BB962C8B-B14F-4D97-AF65-F5344CB8AC3E}">
        <p14:creationId xmlns:p14="http://schemas.microsoft.com/office/powerpoint/2010/main" val="33600569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Number Placeholder 5">
            <a:extLst>
              <a:ext uri="{FF2B5EF4-FFF2-40B4-BE49-F238E27FC236}">
                <a16:creationId xmlns:a16="http://schemas.microsoft.com/office/drawing/2014/main" id="{4DAFBDFF-3A46-A0E9-D25A-12452230BF66}"/>
              </a:ext>
            </a:extLst>
          </p:cNvPr>
          <p:cNvSpPr>
            <a:spLocks noGrp="1"/>
          </p:cNvSpPr>
          <p:nvPr>
            <p:ph type="sldNum" sz="quarter" idx="11"/>
          </p:nvPr>
        </p:nvSpPr>
        <p:spPr>
          <a:xfrm>
            <a:off x="8077649" y="6248818"/>
            <a:ext cx="2134304" cy="45652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lIns="91438" tIns="45719" rIns="91438" bIns="45719" rtlCol="0" anchor="ctr"/>
          <a:lstStyle>
            <a:lvl1pPr>
              <a:lnSpc>
                <a:spcPct val="91000"/>
              </a:lnSpc>
              <a:spcBef>
                <a:spcPts val="885"/>
              </a:spcBef>
              <a:buClr>
                <a:srgbClr val="000000"/>
              </a:buClr>
              <a:buSzPct val="100000"/>
              <a:buFont typeface="Comic Sans MS" panose="030F0702030302020204" pitchFamily="66" charset="0"/>
              <a:buChar char="•"/>
              <a:tabLst>
                <a:tab pos="0" algn="l"/>
                <a:tab pos="414772" algn="l"/>
                <a:tab pos="829544" algn="l"/>
                <a:tab pos="1244316" algn="l"/>
                <a:tab pos="1659087" algn="l"/>
                <a:tab pos="2073859" algn="l"/>
                <a:tab pos="2488631" algn="l"/>
                <a:tab pos="2903403" algn="l"/>
                <a:tab pos="3318175" algn="l"/>
                <a:tab pos="3732947" algn="l"/>
                <a:tab pos="4147718" algn="l"/>
                <a:tab pos="4562490" algn="l"/>
                <a:tab pos="4977262" algn="l"/>
                <a:tab pos="5392034" algn="l"/>
                <a:tab pos="5806806" algn="l"/>
                <a:tab pos="6221578" algn="l"/>
                <a:tab pos="6636349" algn="l"/>
                <a:tab pos="7051121" algn="l"/>
                <a:tab pos="7465893" algn="l"/>
                <a:tab pos="7880665" algn="l"/>
                <a:tab pos="8295437" algn="l"/>
              </a:tabLst>
              <a:defRPr sz="3538">
                <a:solidFill>
                  <a:srgbClr val="000000"/>
                </a:solidFill>
                <a:latin typeface="Comic Sans MS" panose="030F0702030302020204" pitchFamily="66" charset="0"/>
              </a:defRPr>
            </a:lvl1pPr>
            <a:lvl2pPr marL="674004" indent="-259232">
              <a:lnSpc>
                <a:spcPct val="91000"/>
              </a:lnSpc>
              <a:spcBef>
                <a:spcPts val="783"/>
              </a:spcBef>
              <a:buClr>
                <a:srgbClr val="000000"/>
              </a:buClr>
              <a:buSzPct val="100000"/>
              <a:buFont typeface="Wingdings" panose="05000000000000000000" pitchFamily="2" charset="2"/>
              <a:buChar char=""/>
              <a:tabLst>
                <a:tab pos="0" algn="l"/>
                <a:tab pos="414772" algn="l"/>
                <a:tab pos="829544" algn="l"/>
                <a:tab pos="1244316" algn="l"/>
                <a:tab pos="1659087" algn="l"/>
                <a:tab pos="2073859" algn="l"/>
                <a:tab pos="2488631" algn="l"/>
                <a:tab pos="2903403" algn="l"/>
                <a:tab pos="3318175" algn="l"/>
                <a:tab pos="3732947" algn="l"/>
                <a:tab pos="4147718" algn="l"/>
                <a:tab pos="4562490" algn="l"/>
                <a:tab pos="4977262" algn="l"/>
                <a:tab pos="5392034" algn="l"/>
                <a:tab pos="5806806" algn="l"/>
                <a:tab pos="6221578" algn="l"/>
                <a:tab pos="6636349" algn="l"/>
                <a:tab pos="7051121" algn="l"/>
                <a:tab pos="7465893" algn="l"/>
                <a:tab pos="7880665" algn="l"/>
                <a:tab pos="8295437" algn="l"/>
              </a:tabLst>
              <a:defRPr sz="3175">
                <a:solidFill>
                  <a:srgbClr val="000000"/>
                </a:solidFill>
                <a:latin typeface="Comic Sans MS" panose="030F0702030302020204" pitchFamily="66" charset="0"/>
              </a:defRPr>
            </a:lvl2pPr>
            <a:lvl3pPr marL="1036930" indent="-207386">
              <a:lnSpc>
                <a:spcPct val="91000"/>
              </a:lnSpc>
              <a:spcBef>
                <a:spcPts val="680"/>
              </a:spcBef>
              <a:buClr>
                <a:srgbClr val="000000"/>
              </a:buClr>
              <a:buSzPct val="100000"/>
              <a:buFont typeface="Comic Sans MS" panose="030F0702030302020204" pitchFamily="66" charset="0"/>
              <a:buChar char="•"/>
              <a:tabLst>
                <a:tab pos="0" algn="l"/>
                <a:tab pos="414772" algn="l"/>
                <a:tab pos="829544" algn="l"/>
                <a:tab pos="1244316" algn="l"/>
                <a:tab pos="1659087" algn="l"/>
                <a:tab pos="2073859" algn="l"/>
                <a:tab pos="2488631" algn="l"/>
                <a:tab pos="2903403" algn="l"/>
                <a:tab pos="3318175" algn="l"/>
                <a:tab pos="3732947" algn="l"/>
                <a:tab pos="4147718" algn="l"/>
                <a:tab pos="4562490" algn="l"/>
                <a:tab pos="4977262" algn="l"/>
                <a:tab pos="5392034" algn="l"/>
                <a:tab pos="5806806" algn="l"/>
                <a:tab pos="6221578" algn="l"/>
                <a:tab pos="6636349" algn="l"/>
                <a:tab pos="7051121" algn="l"/>
                <a:tab pos="7465893" algn="l"/>
                <a:tab pos="7880665" algn="l"/>
                <a:tab pos="8295437" algn="l"/>
              </a:tabLst>
              <a:defRPr sz="2722">
                <a:solidFill>
                  <a:srgbClr val="000000"/>
                </a:solidFill>
                <a:latin typeface="Comic Sans MS" panose="030F0702030302020204" pitchFamily="66" charset="0"/>
              </a:defRPr>
            </a:lvl3pPr>
            <a:lvl4pPr marL="1451701" indent="-207386">
              <a:lnSpc>
                <a:spcPct val="91000"/>
              </a:lnSpc>
              <a:spcBef>
                <a:spcPts val="590"/>
              </a:spcBef>
              <a:buClr>
                <a:srgbClr val="000000"/>
              </a:buClr>
              <a:buSzPct val="100000"/>
              <a:buFont typeface="Comic Sans MS" panose="030F0702030302020204" pitchFamily="66" charset="0"/>
              <a:buChar char="–"/>
              <a:tabLst>
                <a:tab pos="0" algn="l"/>
                <a:tab pos="414772" algn="l"/>
                <a:tab pos="829544" algn="l"/>
                <a:tab pos="1244316" algn="l"/>
                <a:tab pos="1659087" algn="l"/>
                <a:tab pos="2073859" algn="l"/>
                <a:tab pos="2488631" algn="l"/>
                <a:tab pos="2903403" algn="l"/>
                <a:tab pos="3318175" algn="l"/>
                <a:tab pos="3732947" algn="l"/>
                <a:tab pos="4147718" algn="l"/>
                <a:tab pos="4562490" algn="l"/>
                <a:tab pos="4977262" algn="l"/>
                <a:tab pos="5392034" algn="l"/>
                <a:tab pos="5806806" algn="l"/>
                <a:tab pos="6221578" algn="l"/>
                <a:tab pos="6636349" algn="l"/>
                <a:tab pos="7051121" algn="l"/>
                <a:tab pos="7465893" algn="l"/>
                <a:tab pos="7880665" algn="l"/>
                <a:tab pos="8295437" algn="l"/>
              </a:tabLst>
              <a:defRPr sz="2359">
                <a:solidFill>
                  <a:srgbClr val="000000"/>
                </a:solidFill>
                <a:latin typeface="Comic Sans MS" panose="030F0702030302020204" pitchFamily="66" charset="0"/>
              </a:defRPr>
            </a:lvl4pPr>
            <a:lvl5pPr marL="1866473" indent="-207386">
              <a:lnSpc>
                <a:spcPct val="91000"/>
              </a:lnSpc>
              <a:spcBef>
                <a:spcPts val="590"/>
              </a:spcBef>
              <a:buClr>
                <a:srgbClr val="000000"/>
              </a:buClr>
              <a:buSzPct val="100000"/>
              <a:buFont typeface="Comic Sans MS" panose="030F0702030302020204" pitchFamily="66" charset="0"/>
              <a:buChar char="»"/>
              <a:tabLst>
                <a:tab pos="0" algn="l"/>
                <a:tab pos="414772" algn="l"/>
                <a:tab pos="829544" algn="l"/>
                <a:tab pos="1244316" algn="l"/>
                <a:tab pos="1659087" algn="l"/>
                <a:tab pos="2073859" algn="l"/>
                <a:tab pos="2488631" algn="l"/>
                <a:tab pos="2903403" algn="l"/>
                <a:tab pos="3318175" algn="l"/>
                <a:tab pos="3732947" algn="l"/>
                <a:tab pos="4147718" algn="l"/>
                <a:tab pos="4562490" algn="l"/>
                <a:tab pos="4977262" algn="l"/>
                <a:tab pos="5392034" algn="l"/>
                <a:tab pos="5806806" algn="l"/>
                <a:tab pos="6221578" algn="l"/>
                <a:tab pos="6636349" algn="l"/>
                <a:tab pos="7051121" algn="l"/>
                <a:tab pos="7465893" algn="l"/>
                <a:tab pos="7880665" algn="l"/>
                <a:tab pos="8295437" algn="l"/>
              </a:tabLst>
              <a:defRPr sz="2359">
                <a:solidFill>
                  <a:srgbClr val="000000"/>
                </a:solidFill>
                <a:latin typeface="Comic Sans MS" panose="030F0702030302020204" pitchFamily="66" charset="0"/>
              </a:defRPr>
            </a:lvl5pPr>
            <a:lvl6pPr marL="2281245" indent="-207386" defTabSz="414772" eaLnBrk="0" fontAlgn="base" hangingPunct="0">
              <a:lnSpc>
                <a:spcPct val="91000"/>
              </a:lnSpc>
              <a:spcBef>
                <a:spcPts val="590"/>
              </a:spcBef>
              <a:spcAft>
                <a:spcPct val="0"/>
              </a:spcAft>
              <a:buClr>
                <a:srgbClr val="000000"/>
              </a:buClr>
              <a:buSzPct val="100000"/>
              <a:buFont typeface="Comic Sans MS" panose="030F0702030302020204" pitchFamily="66" charset="0"/>
              <a:buChar char="»"/>
              <a:tabLst>
                <a:tab pos="0" algn="l"/>
                <a:tab pos="414772" algn="l"/>
                <a:tab pos="829544" algn="l"/>
                <a:tab pos="1244316" algn="l"/>
                <a:tab pos="1659087" algn="l"/>
                <a:tab pos="2073859" algn="l"/>
                <a:tab pos="2488631" algn="l"/>
                <a:tab pos="2903403" algn="l"/>
                <a:tab pos="3318175" algn="l"/>
                <a:tab pos="3732947" algn="l"/>
                <a:tab pos="4147718" algn="l"/>
                <a:tab pos="4562490" algn="l"/>
                <a:tab pos="4977262" algn="l"/>
                <a:tab pos="5392034" algn="l"/>
                <a:tab pos="5806806" algn="l"/>
                <a:tab pos="6221578" algn="l"/>
                <a:tab pos="6636349" algn="l"/>
                <a:tab pos="7051121" algn="l"/>
                <a:tab pos="7465893" algn="l"/>
                <a:tab pos="7880665" algn="l"/>
                <a:tab pos="8295437" algn="l"/>
              </a:tabLst>
              <a:defRPr sz="2359">
                <a:solidFill>
                  <a:srgbClr val="000000"/>
                </a:solidFill>
                <a:latin typeface="Comic Sans MS" panose="030F0702030302020204" pitchFamily="66" charset="0"/>
              </a:defRPr>
            </a:lvl6pPr>
            <a:lvl7pPr marL="2696017" indent="-207386" defTabSz="414772" eaLnBrk="0" fontAlgn="base" hangingPunct="0">
              <a:lnSpc>
                <a:spcPct val="91000"/>
              </a:lnSpc>
              <a:spcBef>
                <a:spcPts val="590"/>
              </a:spcBef>
              <a:spcAft>
                <a:spcPct val="0"/>
              </a:spcAft>
              <a:buClr>
                <a:srgbClr val="000000"/>
              </a:buClr>
              <a:buSzPct val="100000"/>
              <a:buFont typeface="Comic Sans MS" panose="030F0702030302020204" pitchFamily="66" charset="0"/>
              <a:buChar char="»"/>
              <a:tabLst>
                <a:tab pos="0" algn="l"/>
                <a:tab pos="414772" algn="l"/>
                <a:tab pos="829544" algn="l"/>
                <a:tab pos="1244316" algn="l"/>
                <a:tab pos="1659087" algn="l"/>
                <a:tab pos="2073859" algn="l"/>
                <a:tab pos="2488631" algn="l"/>
                <a:tab pos="2903403" algn="l"/>
                <a:tab pos="3318175" algn="l"/>
                <a:tab pos="3732947" algn="l"/>
                <a:tab pos="4147718" algn="l"/>
                <a:tab pos="4562490" algn="l"/>
                <a:tab pos="4977262" algn="l"/>
                <a:tab pos="5392034" algn="l"/>
                <a:tab pos="5806806" algn="l"/>
                <a:tab pos="6221578" algn="l"/>
                <a:tab pos="6636349" algn="l"/>
                <a:tab pos="7051121" algn="l"/>
                <a:tab pos="7465893" algn="l"/>
                <a:tab pos="7880665" algn="l"/>
                <a:tab pos="8295437" algn="l"/>
              </a:tabLst>
              <a:defRPr sz="2359">
                <a:solidFill>
                  <a:srgbClr val="000000"/>
                </a:solidFill>
                <a:latin typeface="Comic Sans MS" panose="030F0702030302020204" pitchFamily="66" charset="0"/>
              </a:defRPr>
            </a:lvl7pPr>
            <a:lvl8pPr marL="3110789" indent="-207386" defTabSz="414772" eaLnBrk="0" fontAlgn="base" hangingPunct="0">
              <a:lnSpc>
                <a:spcPct val="91000"/>
              </a:lnSpc>
              <a:spcBef>
                <a:spcPts val="590"/>
              </a:spcBef>
              <a:spcAft>
                <a:spcPct val="0"/>
              </a:spcAft>
              <a:buClr>
                <a:srgbClr val="000000"/>
              </a:buClr>
              <a:buSzPct val="100000"/>
              <a:buFont typeface="Comic Sans MS" panose="030F0702030302020204" pitchFamily="66" charset="0"/>
              <a:buChar char="»"/>
              <a:tabLst>
                <a:tab pos="0" algn="l"/>
                <a:tab pos="414772" algn="l"/>
                <a:tab pos="829544" algn="l"/>
                <a:tab pos="1244316" algn="l"/>
                <a:tab pos="1659087" algn="l"/>
                <a:tab pos="2073859" algn="l"/>
                <a:tab pos="2488631" algn="l"/>
                <a:tab pos="2903403" algn="l"/>
                <a:tab pos="3318175" algn="l"/>
                <a:tab pos="3732947" algn="l"/>
                <a:tab pos="4147718" algn="l"/>
                <a:tab pos="4562490" algn="l"/>
                <a:tab pos="4977262" algn="l"/>
                <a:tab pos="5392034" algn="l"/>
                <a:tab pos="5806806" algn="l"/>
                <a:tab pos="6221578" algn="l"/>
                <a:tab pos="6636349" algn="l"/>
                <a:tab pos="7051121" algn="l"/>
                <a:tab pos="7465893" algn="l"/>
                <a:tab pos="7880665" algn="l"/>
                <a:tab pos="8295437" algn="l"/>
              </a:tabLst>
              <a:defRPr sz="2359">
                <a:solidFill>
                  <a:srgbClr val="000000"/>
                </a:solidFill>
                <a:latin typeface="Comic Sans MS" panose="030F0702030302020204" pitchFamily="66" charset="0"/>
              </a:defRPr>
            </a:lvl8pPr>
            <a:lvl9pPr marL="3525561" indent="-207386" defTabSz="414772" eaLnBrk="0" fontAlgn="base" hangingPunct="0">
              <a:lnSpc>
                <a:spcPct val="91000"/>
              </a:lnSpc>
              <a:spcBef>
                <a:spcPts val="590"/>
              </a:spcBef>
              <a:spcAft>
                <a:spcPct val="0"/>
              </a:spcAft>
              <a:buClr>
                <a:srgbClr val="000000"/>
              </a:buClr>
              <a:buSzPct val="100000"/>
              <a:buFont typeface="Comic Sans MS" panose="030F0702030302020204" pitchFamily="66" charset="0"/>
              <a:buChar char="»"/>
              <a:tabLst>
                <a:tab pos="0" algn="l"/>
                <a:tab pos="414772" algn="l"/>
                <a:tab pos="829544" algn="l"/>
                <a:tab pos="1244316" algn="l"/>
                <a:tab pos="1659087" algn="l"/>
                <a:tab pos="2073859" algn="l"/>
                <a:tab pos="2488631" algn="l"/>
                <a:tab pos="2903403" algn="l"/>
                <a:tab pos="3318175" algn="l"/>
                <a:tab pos="3732947" algn="l"/>
                <a:tab pos="4147718" algn="l"/>
                <a:tab pos="4562490" algn="l"/>
                <a:tab pos="4977262" algn="l"/>
                <a:tab pos="5392034" algn="l"/>
                <a:tab pos="5806806" algn="l"/>
                <a:tab pos="6221578" algn="l"/>
                <a:tab pos="6636349" algn="l"/>
                <a:tab pos="7051121" algn="l"/>
                <a:tab pos="7465893" algn="l"/>
                <a:tab pos="7880665" algn="l"/>
                <a:tab pos="8295437" algn="l"/>
              </a:tabLst>
              <a:defRPr sz="2359">
                <a:solidFill>
                  <a:srgbClr val="000000"/>
                </a:solidFill>
                <a:latin typeface="Comic Sans MS" panose="030F0702030302020204" pitchFamily="66" charset="0"/>
              </a:defRPr>
            </a:lvl9pPr>
          </a:lstStyle>
          <a:p>
            <a:pPr>
              <a:lnSpc>
                <a:spcPct val="100000"/>
              </a:lnSpc>
              <a:spcBef>
                <a:spcPct val="0"/>
              </a:spcBef>
              <a:buFont typeface="Arial" panose="020B0604020202020204" pitchFamily="34" charset="0"/>
              <a:buNone/>
            </a:pPr>
            <a:fld id="{C61CD871-BD56-46AD-9547-CAEB0AC67FF0}" type="slidenum">
              <a:rPr lang="ko-KR" altLang="en-US" sz="1361">
                <a:latin typeface="Arial" panose="020B0604020202020204" pitchFamily="34" charset="0"/>
                <a:ea typeface="Gulim" panose="020B0600000101010101" pitchFamily="34" charset="-127"/>
              </a:rPr>
              <a:pPr>
                <a:lnSpc>
                  <a:spcPct val="100000"/>
                </a:lnSpc>
                <a:spcBef>
                  <a:spcPct val="0"/>
                </a:spcBef>
                <a:buFont typeface="Arial" panose="020B0604020202020204" pitchFamily="34" charset="0"/>
                <a:buNone/>
              </a:pPr>
              <a:t>28</a:t>
            </a:fld>
            <a:endParaRPr lang="en-US" altLang="ko-KR" sz="1361">
              <a:latin typeface="Arial" panose="020B0604020202020204" pitchFamily="34" charset="0"/>
              <a:ea typeface="Gulim" panose="020B0600000101010101" pitchFamily="34" charset="-127"/>
            </a:endParaRPr>
          </a:p>
        </p:txBody>
      </p:sp>
      <p:sp>
        <p:nvSpPr>
          <p:cNvPr id="92163" name="Rectangle 2">
            <a:extLst>
              <a:ext uri="{FF2B5EF4-FFF2-40B4-BE49-F238E27FC236}">
                <a16:creationId xmlns:a16="http://schemas.microsoft.com/office/drawing/2014/main" id="{A3757C80-E3D4-DE19-6726-08BB11FDA7A9}"/>
              </a:ext>
            </a:extLst>
          </p:cNvPr>
          <p:cNvSpPr>
            <a:spLocks noGrp="1" noChangeArrowheads="1"/>
          </p:cNvSpPr>
          <p:nvPr>
            <p:ph type="title"/>
          </p:nvPr>
        </p:nvSpPr>
        <p:spPr>
          <a:xfrm>
            <a:off x="1879238" y="-442126"/>
            <a:ext cx="8224703" cy="1774267"/>
          </a:xfrm>
        </p:spPr>
        <p:txBody>
          <a:bodyPr/>
          <a:lstStyle/>
          <a:p>
            <a:r>
              <a:rPr lang="en-US" altLang="ko-KR" sz="4899">
                <a:ea typeface="Gulim" panose="020B0600000101010101" pitchFamily="34" charset="-127"/>
              </a:rPr>
              <a:t>Test  Levels</a:t>
            </a:r>
          </a:p>
        </p:txBody>
      </p:sp>
      <p:sp>
        <p:nvSpPr>
          <p:cNvPr id="25604" name="Rectangle 3">
            <a:extLst>
              <a:ext uri="{FF2B5EF4-FFF2-40B4-BE49-F238E27FC236}">
                <a16:creationId xmlns:a16="http://schemas.microsoft.com/office/drawing/2014/main" id="{8CCF939E-252E-8F31-B29B-EC55AB92B16B}"/>
              </a:ext>
            </a:extLst>
          </p:cNvPr>
          <p:cNvSpPr>
            <a:spLocks noGrp="1" noChangeArrowheads="1"/>
          </p:cNvSpPr>
          <p:nvPr>
            <p:ph type="body" idx="1"/>
          </p:nvPr>
        </p:nvSpPr>
        <p:spPr>
          <a:xfrm>
            <a:off x="457200" y="932687"/>
            <a:ext cx="11375135" cy="5468785"/>
          </a:xfrm>
        </p:spPr>
        <p:txBody>
          <a:bodyPr>
            <a:normAutofit/>
          </a:bodyPr>
          <a:lstStyle/>
          <a:p>
            <a:pPr>
              <a:lnSpc>
                <a:spcPct val="100000"/>
              </a:lnSpc>
              <a:spcBef>
                <a:spcPct val="0"/>
              </a:spcBef>
            </a:pPr>
            <a:r>
              <a:rPr lang="en-GB" altLang="en-US" sz="3629" b="1" dirty="0">
                <a:solidFill>
                  <a:srgbClr val="0000CC"/>
                </a:solidFill>
              </a:rPr>
              <a:t>Unit testing</a:t>
            </a:r>
          </a:p>
          <a:p>
            <a:pPr lvl="1">
              <a:lnSpc>
                <a:spcPct val="100000"/>
              </a:lnSpc>
              <a:spcBef>
                <a:spcPct val="0"/>
              </a:spcBef>
            </a:pPr>
            <a:r>
              <a:rPr lang="en-GB" altLang="en-US" sz="2903" dirty="0"/>
              <a:t>Test each module (unit, or component) independently</a:t>
            </a:r>
          </a:p>
          <a:p>
            <a:pPr lvl="1">
              <a:lnSpc>
                <a:spcPct val="100000"/>
              </a:lnSpc>
              <a:spcBef>
                <a:spcPct val="0"/>
              </a:spcBef>
            </a:pPr>
            <a:r>
              <a:rPr lang="en-GB" altLang="en-US" sz="2903" b="1" dirty="0">
                <a:solidFill>
                  <a:srgbClr val="006600"/>
                </a:solidFill>
              </a:rPr>
              <a:t>Mostly done by developers of the modules</a:t>
            </a:r>
          </a:p>
          <a:p>
            <a:pPr>
              <a:lnSpc>
                <a:spcPct val="100000"/>
              </a:lnSpc>
              <a:spcBef>
                <a:spcPct val="0"/>
              </a:spcBef>
            </a:pPr>
            <a:r>
              <a:rPr lang="en-GB" altLang="en-US" sz="3629" b="1" dirty="0">
                <a:solidFill>
                  <a:srgbClr val="0000CC"/>
                </a:solidFill>
              </a:rPr>
              <a:t>Integration testing</a:t>
            </a:r>
          </a:p>
          <a:p>
            <a:pPr lvl="1">
              <a:lnSpc>
                <a:spcPct val="100000"/>
              </a:lnSpc>
              <a:spcBef>
                <a:spcPct val="0"/>
              </a:spcBef>
            </a:pPr>
            <a:r>
              <a:rPr lang="en-GB" altLang="en-US" sz="2903" dirty="0"/>
              <a:t>Modules are integrated in steps according to an integration plan</a:t>
            </a:r>
          </a:p>
          <a:p>
            <a:pPr lvl="1">
              <a:lnSpc>
                <a:spcPct val="100000"/>
              </a:lnSpc>
              <a:spcBef>
                <a:spcPct val="0"/>
              </a:spcBef>
            </a:pPr>
            <a:r>
              <a:rPr lang="en-GB" altLang="en-US" sz="2903" dirty="0"/>
              <a:t>The partially integrated system is tested at each integration step </a:t>
            </a:r>
          </a:p>
          <a:p>
            <a:pPr>
              <a:lnSpc>
                <a:spcPct val="100000"/>
              </a:lnSpc>
              <a:spcBef>
                <a:spcPct val="0"/>
              </a:spcBef>
            </a:pPr>
            <a:r>
              <a:rPr lang="en-GB" altLang="en-US" sz="3266" b="1" dirty="0">
                <a:solidFill>
                  <a:srgbClr val="0000CC"/>
                </a:solidFill>
              </a:rPr>
              <a:t>system testing</a:t>
            </a:r>
          </a:p>
          <a:p>
            <a:pPr lvl="1">
              <a:lnSpc>
                <a:spcPct val="100000"/>
              </a:lnSpc>
              <a:spcBef>
                <a:spcPct val="0"/>
              </a:spcBef>
            </a:pPr>
            <a:r>
              <a:rPr lang="en-GB" altLang="en-US" sz="2903" dirty="0"/>
              <a:t>Test the system as a whole</a:t>
            </a:r>
          </a:p>
          <a:p>
            <a:pPr lvl="1">
              <a:lnSpc>
                <a:spcPct val="100000"/>
              </a:lnSpc>
              <a:spcBef>
                <a:spcPct val="0"/>
              </a:spcBef>
            </a:pPr>
            <a:r>
              <a:rPr lang="en-GB" altLang="en-US" sz="2903" b="1" dirty="0">
                <a:solidFill>
                  <a:srgbClr val="006600"/>
                </a:solidFill>
              </a:rPr>
              <a:t>Often done by separate testing or QA team</a:t>
            </a:r>
          </a:p>
          <a:p>
            <a:pPr>
              <a:lnSpc>
                <a:spcPct val="115000"/>
              </a:lnSpc>
              <a:spcBef>
                <a:spcPts val="454"/>
              </a:spcBef>
              <a:spcAft>
                <a:spcPts val="363"/>
              </a:spcAft>
              <a:buNone/>
            </a:pPr>
            <a:r>
              <a:rPr lang="en-GB" altLang="en-US" sz="3629" b="1" dirty="0">
                <a:solidFill>
                  <a:srgbClr val="0000CC"/>
                </a:solidFill>
              </a:rPr>
              <a:t> </a:t>
            </a:r>
            <a:endParaRPr lang="en-US" altLang="ko-KR" sz="2177" b="1" dirty="0">
              <a:solidFill>
                <a:srgbClr val="006600"/>
              </a:solidFill>
              <a:ea typeface="Gulim" panose="020B0600000101010101" pitchFamily="34" charset="-127"/>
            </a:endParaRPr>
          </a:p>
        </p:txBody>
      </p:sp>
      <p:sp>
        <p:nvSpPr>
          <p:cNvPr id="2" name="Date Placeholder 1">
            <a:extLst>
              <a:ext uri="{FF2B5EF4-FFF2-40B4-BE49-F238E27FC236}">
                <a16:creationId xmlns:a16="http://schemas.microsoft.com/office/drawing/2014/main" id="{1F0E3ACE-CF9C-99E8-C9D5-4EEB06BA6241}"/>
              </a:ext>
            </a:extLst>
          </p:cNvPr>
          <p:cNvSpPr>
            <a:spLocks noGrp="1"/>
          </p:cNvSpPr>
          <p:nvPr>
            <p:ph type="dt" sz="half" idx="10"/>
          </p:nvPr>
        </p:nvSpPr>
        <p:spPr/>
        <p:txBody>
          <a:bodyPr/>
          <a:lstStyle/>
          <a:p>
            <a:fld id="{29F19CF4-8F28-4A28-A95D-3BB2E634E8E9}" type="datetime1">
              <a:rPr lang="en-IN" smtClean="0"/>
              <a:t>03-11-2025</a:t>
            </a:fld>
            <a:endParaRPr lang="en-IN"/>
          </a:p>
        </p:txBody>
      </p:sp>
      <p:sp>
        <p:nvSpPr>
          <p:cNvPr id="3" name="Footer Placeholder 2">
            <a:extLst>
              <a:ext uri="{FF2B5EF4-FFF2-40B4-BE49-F238E27FC236}">
                <a16:creationId xmlns:a16="http://schemas.microsoft.com/office/drawing/2014/main" id="{CFC0753C-8573-812F-0459-0CC80C5629F1}"/>
              </a:ext>
            </a:extLst>
          </p:cNvPr>
          <p:cNvSpPr>
            <a:spLocks noGrp="1"/>
          </p:cNvSpPr>
          <p:nvPr>
            <p:ph type="ftr" sz="quarter" idx="11"/>
          </p:nvPr>
        </p:nvSpPr>
        <p:spPr/>
        <p:txBody>
          <a:bodyPr/>
          <a:lstStyle/>
          <a:p>
            <a:r>
              <a:rPr lang="en-IN"/>
              <a:t>MIT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5604">
                                            <p:txEl>
                                              <p:pRg st="9" end="9"/>
                                            </p:txEl>
                                          </p:spTgt>
                                        </p:tgtEl>
                                        <p:attrNameLst>
                                          <p:attrName>style.visibility</p:attrName>
                                        </p:attrNameLst>
                                      </p:cBhvr>
                                      <p:to>
                                        <p:strVal val="visible"/>
                                      </p:to>
                                    </p:set>
                                    <p:animEffect transition="in" filter="wipe(down)">
                                      <p:cBhvr>
                                        <p:cTn id="7" dur="500"/>
                                        <p:tgtEl>
                                          <p:spTgt spid="2560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66A2A6B0-9494-A4A2-203C-94485E6BEAED}"/>
              </a:ext>
            </a:extLst>
          </p:cNvPr>
          <p:cNvSpPr>
            <a:spLocks noGrp="1" noChangeArrowheads="1"/>
          </p:cNvSpPr>
          <p:nvPr>
            <p:ph type="title"/>
          </p:nvPr>
        </p:nvSpPr>
        <p:spPr>
          <a:xfrm>
            <a:off x="152882" y="-442126"/>
            <a:ext cx="11898910" cy="1774267"/>
          </a:xfrm>
        </p:spPr>
        <p:txBody>
          <a:bodyPr/>
          <a:lstStyle/>
          <a:p>
            <a:r>
              <a:rPr lang="en-US" altLang="en-US" sz="3629" dirty="0"/>
              <a:t>Overview of Activities During System and Integration Testing</a:t>
            </a:r>
          </a:p>
        </p:txBody>
      </p:sp>
      <p:sp>
        <p:nvSpPr>
          <p:cNvPr id="705539" name="Rectangle 3">
            <a:extLst>
              <a:ext uri="{FF2B5EF4-FFF2-40B4-BE49-F238E27FC236}">
                <a16:creationId xmlns:a16="http://schemas.microsoft.com/office/drawing/2014/main" id="{4478FB28-0309-E88A-CBBD-19669257EC9C}"/>
              </a:ext>
            </a:extLst>
          </p:cNvPr>
          <p:cNvSpPr>
            <a:spLocks noGrp="1" noChangeArrowheads="1"/>
          </p:cNvSpPr>
          <p:nvPr>
            <p:ph type="body" idx="1"/>
          </p:nvPr>
        </p:nvSpPr>
        <p:spPr>
          <a:xfrm>
            <a:off x="448056" y="960120"/>
            <a:ext cx="10515599" cy="5897880"/>
          </a:xfrm>
        </p:spPr>
        <p:txBody>
          <a:bodyPr>
            <a:normAutofit/>
          </a:bodyPr>
          <a:lstStyle/>
          <a:p>
            <a:pPr>
              <a:lnSpc>
                <a:spcPct val="123000"/>
              </a:lnSpc>
              <a:spcBef>
                <a:spcPct val="20000"/>
              </a:spcBef>
              <a:spcAft>
                <a:spcPts val="998"/>
              </a:spcAft>
            </a:pPr>
            <a:r>
              <a:rPr lang="en-US" altLang="en-US" sz="3992" dirty="0"/>
              <a:t>Test Suite Design</a:t>
            </a:r>
          </a:p>
          <a:p>
            <a:pPr>
              <a:lnSpc>
                <a:spcPct val="123000"/>
              </a:lnSpc>
              <a:spcBef>
                <a:spcPct val="20000"/>
              </a:spcBef>
              <a:spcAft>
                <a:spcPts val="998"/>
              </a:spcAft>
            </a:pPr>
            <a:r>
              <a:rPr lang="en-US" altLang="en-US" sz="3992" dirty="0"/>
              <a:t>Run test cases </a:t>
            </a:r>
          </a:p>
          <a:p>
            <a:pPr>
              <a:lnSpc>
                <a:spcPct val="123000"/>
              </a:lnSpc>
              <a:spcBef>
                <a:spcPct val="20000"/>
              </a:spcBef>
              <a:spcAft>
                <a:spcPts val="998"/>
              </a:spcAft>
            </a:pPr>
            <a:r>
              <a:rPr lang="en-US" altLang="en-US" sz="3992" dirty="0"/>
              <a:t>Check results to detect failures.</a:t>
            </a:r>
          </a:p>
          <a:p>
            <a:pPr>
              <a:lnSpc>
                <a:spcPct val="123000"/>
              </a:lnSpc>
              <a:spcBef>
                <a:spcPct val="20000"/>
              </a:spcBef>
              <a:spcAft>
                <a:spcPts val="998"/>
              </a:spcAft>
            </a:pPr>
            <a:r>
              <a:rPr lang="en-US" altLang="en-US" sz="3992" dirty="0"/>
              <a:t>Prepare failure list</a:t>
            </a:r>
          </a:p>
          <a:p>
            <a:pPr>
              <a:lnSpc>
                <a:spcPct val="123000"/>
              </a:lnSpc>
              <a:spcBef>
                <a:spcPct val="20000"/>
              </a:spcBef>
              <a:spcAft>
                <a:spcPts val="998"/>
              </a:spcAft>
            </a:pPr>
            <a:r>
              <a:rPr lang="en-US" altLang="en-US" sz="3992" dirty="0">
                <a:solidFill>
                  <a:srgbClr val="FF0000"/>
                </a:solidFill>
              </a:rPr>
              <a:t>Debug to locate errors</a:t>
            </a:r>
          </a:p>
          <a:p>
            <a:pPr>
              <a:lnSpc>
                <a:spcPct val="123000"/>
              </a:lnSpc>
              <a:spcBef>
                <a:spcPct val="20000"/>
              </a:spcBef>
              <a:spcAft>
                <a:spcPts val="998"/>
              </a:spcAft>
            </a:pPr>
            <a:r>
              <a:rPr lang="en-US" altLang="en-US" sz="3992" dirty="0">
                <a:solidFill>
                  <a:srgbClr val="FF0000"/>
                </a:solidFill>
              </a:rPr>
              <a:t>Correct errors.</a:t>
            </a:r>
          </a:p>
        </p:txBody>
      </p:sp>
      <p:sp>
        <p:nvSpPr>
          <p:cNvPr id="93188" name="Right Brace 3">
            <a:extLst>
              <a:ext uri="{FF2B5EF4-FFF2-40B4-BE49-F238E27FC236}">
                <a16:creationId xmlns:a16="http://schemas.microsoft.com/office/drawing/2014/main" id="{0D66A718-CDC6-40A1-D79E-4AF3DB089B18}"/>
              </a:ext>
            </a:extLst>
          </p:cNvPr>
          <p:cNvSpPr>
            <a:spLocks/>
          </p:cNvSpPr>
          <p:nvPr/>
        </p:nvSpPr>
        <p:spPr bwMode="auto">
          <a:xfrm>
            <a:off x="6649019" y="1147801"/>
            <a:ext cx="967782" cy="3387236"/>
          </a:xfrm>
          <a:prstGeom prst="rightBrace">
            <a:avLst>
              <a:gd name="adj1" fmla="val 8329"/>
              <a:gd name="adj2" fmla="val 50000"/>
            </a:avLst>
          </a:prstGeom>
          <a:noFill/>
          <a:ln w="28575"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91000"/>
              </a:lnSpc>
              <a:spcBef>
                <a:spcPts val="975"/>
              </a:spcBef>
              <a:buClr>
                <a:srgbClr val="000000"/>
              </a:buClr>
              <a:buSzPct val="100000"/>
              <a:buFont typeface="Comic Sans MS" panose="030F0702030302020204" pitchFamily="66" charset="0"/>
              <a:buChar char="•"/>
              <a:defRPr sz="3900">
                <a:solidFill>
                  <a:srgbClr val="000000"/>
                </a:solidFill>
                <a:latin typeface="Comic Sans MS" panose="030F0702030302020204" pitchFamily="66" charset="0"/>
              </a:defRPr>
            </a:lvl1pPr>
            <a:lvl2pPr marL="742950" indent="-285750">
              <a:lnSpc>
                <a:spcPct val="91000"/>
              </a:lnSpc>
              <a:spcBef>
                <a:spcPts val="863"/>
              </a:spcBef>
              <a:buClr>
                <a:srgbClr val="000000"/>
              </a:buClr>
              <a:buSzPct val="100000"/>
              <a:buFont typeface="Wingdings" panose="05000000000000000000" pitchFamily="2" charset="2"/>
              <a:buChar char=""/>
              <a:defRPr sz="3500">
                <a:solidFill>
                  <a:srgbClr val="000000"/>
                </a:solidFill>
                <a:latin typeface="Comic Sans MS" panose="030F0702030302020204" pitchFamily="66" charset="0"/>
              </a:defRPr>
            </a:lvl2pPr>
            <a:lvl3pPr marL="1143000" indent="-228600">
              <a:lnSpc>
                <a:spcPct val="91000"/>
              </a:lnSpc>
              <a:spcBef>
                <a:spcPts val="750"/>
              </a:spcBef>
              <a:buClr>
                <a:srgbClr val="000000"/>
              </a:buClr>
              <a:buSzPct val="100000"/>
              <a:buFont typeface="Comic Sans MS" panose="030F0702030302020204" pitchFamily="66" charset="0"/>
              <a:buChar char="•"/>
              <a:defRPr sz="3000">
                <a:solidFill>
                  <a:srgbClr val="000000"/>
                </a:solidFill>
                <a:latin typeface="Comic Sans MS" panose="030F0702030302020204" pitchFamily="66" charset="0"/>
              </a:defRPr>
            </a:lvl3pPr>
            <a:lvl4pPr marL="1600200" indent="-228600">
              <a:lnSpc>
                <a:spcPct val="91000"/>
              </a:lnSpc>
              <a:spcBef>
                <a:spcPts val="650"/>
              </a:spcBef>
              <a:buClr>
                <a:srgbClr val="000000"/>
              </a:buClr>
              <a:buSzPct val="100000"/>
              <a:buFont typeface="Comic Sans MS" panose="030F0702030302020204" pitchFamily="66" charset="0"/>
              <a:buChar char="–"/>
              <a:defRPr sz="2600">
                <a:solidFill>
                  <a:srgbClr val="000000"/>
                </a:solidFill>
                <a:latin typeface="Comic Sans MS" panose="030F0702030302020204" pitchFamily="66" charset="0"/>
              </a:defRPr>
            </a:lvl4pPr>
            <a:lvl5pPr marL="2057400" indent="-228600">
              <a:lnSpc>
                <a:spcPct val="91000"/>
              </a:lnSpc>
              <a:spcBef>
                <a:spcPts val="650"/>
              </a:spcBef>
              <a:buClr>
                <a:srgbClr val="000000"/>
              </a:buClr>
              <a:buSzPct val="100000"/>
              <a:buFont typeface="Comic Sans MS" panose="030F0702030302020204" pitchFamily="66" charset="0"/>
              <a:buChar char="»"/>
              <a:defRPr sz="2600">
                <a:solidFill>
                  <a:srgbClr val="000000"/>
                </a:solidFill>
                <a:latin typeface="Comic Sans MS" panose="030F0702030302020204" pitchFamily="66" charset="0"/>
              </a:defRPr>
            </a:lvl5pPr>
            <a:lvl6pPr marL="2514600" indent="-228600" defTabSz="457200" eaLnBrk="0" fontAlgn="base" hangingPunct="0">
              <a:lnSpc>
                <a:spcPct val="91000"/>
              </a:lnSpc>
              <a:spcBef>
                <a:spcPts val="650"/>
              </a:spcBef>
              <a:spcAft>
                <a:spcPct val="0"/>
              </a:spcAft>
              <a:buClr>
                <a:srgbClr val="000000"/>
              </a:buClr>
              <a:buSzPct val="100000"/>
              <a:buFont typeface="Comic Sans MS" panose="030F0702030302020204" pitchFamily="66" charset="0"/>
              <a:buChar char="»"/>
              <a:defRPr sz="2600">
                <a:solidFill>
                  <a:srgbClr val="000000"/>
                </a:solidFill>
                <a:latin typeface="Comic Sans MS" panose="030F0702030302020204" pitchFamily="66" charset="0"/>
              </a:defRPr>
            </a:lvl6pPr>
            <a:lvl7pPr marL="2971800" indent="-228600" defTabSz="457200" eaLnBrk="0" fontAlgn="base" hangingPunct="0">
              <a:lnSpc>
                <a:spcPct val="91000"/>
              </a:lnSpc>
              <a:spcBef>
                <a:spcPts val="650"/>
              </a:spcBef>
              <a:spcAft>
                <a:spcPct val="0"/>
              </a:spcAft>
              <a:buClr>
                <a:srgbClr val="000000"/>
              </a:buClr>
              <a:buSzPct val="100000"/>
              <a:buFont typeface="Comic Sans MS" panose="030F0702030302020204" pitchFamily="66" charset="0"/>
              <a:buChar char="»"/>
              <a:defRPr sz="2600">
                <a:solidFill>
                  <a:srgbClr val="000000"/>
                </a:solidFill>
                <a:latin typeface="Comic Sans MS" panose="030F0702030302020204" pitchFamily="66" charset="0"/>
              </a:defRPr>
            </a:lvl7pPr>
            <a:lvl8pPr marL="3429000" indent="-228600" defTabSz="457200" eaLnBrk="0" fontAlgn="base" hangingPunct="0">
              <a:lnSpc>
                <a:spcPct val="91000"/>
              </a:lnSpc>
              <a:spcBef>
                <a:spcPts val="650"/>
              </a:spcBef>
              <a:spcAft>
                <a:spcPct val="0"/>
              </a:spcAft>
              <a:buClr>
                <a:srgbClr val="000000"/>
              </a:buClr>
              <a:buSzPct val="100000"/>
              <a:buFont typeface="Comic Sans MS" panose="030F0702030302020204" pitchFamily="66" charset="0"/>
              <a:buChar char="»"/>
              <a:defRPr sz="2600">
                <a:solidFill>
                  <a:srgbClr val="000000"/>
                </a:solidFill>
                <a:latin typeface="Comic Sans MS" panose="030F0702030302020204" pitchFamily="66" charset="0"/>
              </a:defRPr>
            </a:lvl8pPr>
            <a:lvl9pPr marL="3886200" indent="-228600" defTabSz="457200" eaLnBrk="0" fontAlgn="base" hangingPunct="0">
              <a:lnSpc>
                <a:spcPct val="91000"/>
              </a:lnSpc>
              <a:spcBef>
                <a:spcPts val="650"/>
              </a:spcBef>
              <a:spcAft>
                <a:spcPct val="0"/>
              </a:spcAft>
              <a:buClr>
                <a:srgbClr val="000000"/>
              </a:buClr>
              <a:buSzPct val="100000"/>
              <a:buFont typeface="Comic Sans MS" panose="030F0702030302020204" pitchFamily="66" charset="0"/>
              <a:buChar char="»"/>
              <a:defRPr sz="2600">
                <a:solidFill>
                  <a:srgbClr val="000000"/>
                </a:solidFill>
                <a:latin typeface="Comic Sans MS" panose="030F0702030302020204" pitchFamily="66" charset="0"/>
              </a:defRPr>
            </a:lvl9pPr>
          </a:lstStyle>
          <a:p>
            <a:pPr algn="ctr" eaLnBrk="1" hangingPunct="1">
              <a:lnSpc>
                <a:spcPct val="74000"/>
              </a:lnSpc>
              <a:spcBef>
                <a:spcPct val="0"/>
              </a:spcBef>
              <a:buFont typeface="Times New Roman" panose="02020603050405020304" pitchFamily="18" charset="0"/>
              <a:buNone/>
            </a:pPr>
            <a:endParaRPr lang="en-US" altLang="en-US" sz="2177">
              <a:solidFill>
                <a:schemeClr val="bg1"/>
              </a:solidFill>
              <a:latin typeface="Times New Roman" panose="02020603050405020304" pitchFamily="18" charset="0"/>
            </a:endParaRPr>
          </a:p>
        </p:txBody>
      </p:sp>
      <p:sp>
        <p:nvSpPr>
          <p:cNvPr id="5" name="TextBox 4">
            <a:extLst>
              <a:ext uri="{FF2B5EF4-FFF2-40B4-BE49-F238E27FC236}">
                <a16:creationId xmlns:a16="http://schemas.microsoft.com/office/drawing/2014/main" id="{ACA87D97-5161-5B11-E3B7-1D8A421C9D92}"/>
              </a:ext>
            </a:extLst>
          </p:cNvPr>
          <p:cNvSpPr txBox="1"/>
          <p:nvPr/>
        </p:nvSpPr>
        <p:spPr>
          <a:xfrm>
            <a:off x="7202037" y="2269679"/>
            <a:ext cx="1797309" cy="481799"/>
          </a:xfrm>
          <a:prstGeom prst="rect">
            <a:avLst/>
          </a:prstGeom>
          <a:noFill/>
        </p:spPr>
        <p:txBody>
          <a:bodyPr>
            <a:spAutoFit/>
          </a:bodyPr>
          <a:lstStyle/>
          <a:p>
            <a:pPr algn="ctr" eaLnBrk="1" hangingPunct="1">
              <a:lnSpc>
                <a:spcPct val="74000"/>
              </a:lnSpc>
              <a:buClr>
                <a:srgbClr val="000000"/>
              </a:buClr>
              <a:buSzPct val="100000"/>
              <a:buFont typeface="Times New Roman" panose="02020603050405020304" pitchFamily="18" charset="0"/>
              <a:buNone/>
              <a:defRPr/>
            </a:pPr>
            <a:r>
              <a:rPr lang="en-US" sz="3266" b="1" dirty="0">
                <a:solidFill>
                  <a:srgbClr val="0000CC"/>
                </a:solidFill>
              </a:rPr>
              <a:t>Tester</a:t>
            </a:r>
          </a:p>
        </p:txBody>
      </p:sp>
      <p:sp>
        <p:nvSpPr>
          <p:cNvPr id="93190" name="Right Brace 5">
            <a:extLst>
              <a:ext uri="{FF2B5EF4-FFF2-40B4-BE49-F238E27FC236}">
                <a16:creationId xmlns:a16="http://schemas.microsoft.com/office/drawing/2014/main" id="{F767209A-1E23-EEAF-3534-7BFB7E756FF2}"/>
              </a:ext>
            </a:extLst>
          </p:cNvPr>
          <p:cNvSpPr>
            <a:spLocks/>
          </p:cNvSpPr>
          <p:nvPr/>
        </p:nvSpPr>
        <p:spPr bwMode="auto">
          <a:xfrm>
            <a:off x="7271164" y="4811547"/>
            <a:ext cx="760400" cy="1977327"/>
          </a:xfrm>
          <a:prstGeom prst="rightBrace">
            <a:avLst>
              <a:gd name="adj1" fmla="val 8331"/>
              <a:gd name="adj2" fmla="val 50000"/>
            </a:avLst>
          </a:prstGeom>
          <a:noFill/>
          <a:ln w="28575"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91000"/>
              </a:lnSpc>
              <a:spcBef>
                <a:spcPts val="975"/>
              </a:spcBef>
              <a:buClr>
                <a:srgbClr val="000000"/>
              </a:buClr>
              <a:buSzPct val="100000"/>
              <a:buFont typeface="Comic Sans MS" panose="030F0702030302020204" pitchFamily="66" charset="0"/>
              <a:buChar char="•"/>
              <a:defRPr sz="3900">
                <a:solidFill>
                  <a:srgbClr val="000000"/>
                </a:solidFill>
                <a:latin typeface="Comic Sans MS" panose="030F0702030302020204" pitchFamily="66" charset="0"/>
              </a:defRPr>
            </a:lvl1pPr>
            <a:lvl2pPr marL="742950" indent="-285750">
              <a:lnSpc>
                <a:spcPct val="91000"/>
              </a:lnSpc>
              <a:spcBef>
                <a:spcPts val="863"/>
              </a:spcBef>
              <a:buClr>
                <a:srgbClr val="000000"/>
              </a:buClr>
              <a:buSzPct val="100000"/>
              <a:buFont typeface="Wingdings" panose="05000000000000000000" pitchFamily="2" charset="2"/>
              <a:buChar char=""/>
              <a:defRPr sz="3500">
                <a:solidFill>
                  <a:srgbClr val="000000"/>
                </a:solidFill>
                <a:latin typeface="Comic Sans MS" panose="030F0702030302020204" pitchFamily="66" charset="0"/>
              </a:defRPr>
            </a:lvl2pPr>
            <a:lvl3pPr marL="1143000" indent="-228600">
              <a:lnSpc>
                <a:spcPct val="91000"/>
              </a:lnSpc>
              <a:spcBef>
                <a:spcPts val="750"/>
              </a:spcBef>
              <a:buClr>
                <a:srgbClr val="000000"/>
              </a:buClr>
              <a:buSzPct val="100000"/>
              <a:buFont typeface="Comic Sans MS" panose="030F0702030302020204" pitchFamily="66" charset="0"/>
              <a:buChar char="•"/>
              <a:defRPr sz="3000">
                <a:solidFill>
                  <a:srgbClr val="000000"/>
                </a:solidFill>
                <a:latin typeface="Comic Sans MS" panose="030F0702030302020204" pitchFamily="66" charset="0"/>
              </a:defRPr>
            </a:lvl3pPr>
            <a:lvl4pPr marL="1600200" indent="-228600">
              <a:lnSpc>
                <a:spcPct val="91000"/>
              </a:lnSpc>
              <a:spcBef>
                <a:spcPts val="650"/>
              </a:spcBef>
              <a:buClr>
                <a:srgbClr val="000000"/>
              </a:buClr>
              <a:buSzPct val="100000"/>
              <a:buFont typeface="Comic Sans MS" panose="030F0702030302020204" pitchFamily="66" charset="0"/>
              <a:buChar char="–"/>
              <a:defRPr sz="2600">
                <a:solidFill>
                  <a:srgbClr val="000000"/>
                </a:solidFill>
                <a:latin typeface="Comic Sans MS" panose="030F0702030302020204" pitchFamily="66" charset="0"/>
              </a:defRPr>
            </a:lvl4pPr>
            <a:lvl5pPr marL="2057400" indent="-228600">
              <a:lnSpc>
                <a:spcPct val="91000"/>
              </a:lnSpc>
              <a:spcBef>
                <a:spcPts val="650"/>
              </a:spcBef>
              <a:buClr>
                <a:srgbClr val="000000"/>
              </a:buClr>
              <a:buSzPct val="100000"/>
              <a:buFont typeface="Comic Sans MS" panose="030F0702030302020204" pitchFamily="66" charset="0"/>
              <a:buChar char="»"/>
              <a:defRPr sz="2600">
                <a:solidFill>
                  <a:srgbClr val="000000"/>
                </a:solidFill>
                <a:latin typeface="Comic Sans MS" panose="030F0702030302020204" pitchFamily="66" charset="0"/>
              </a:defRPr>
            </a:lvl5pPr>
            <a:lvl6pPr marL="2514600" indent="-228600" defTabSz="457200" eaLnBrk="0" fontAlgn="base" hangingPunct="0">
              <a:lnSpc>
                <a:spcPct val="91000"/>
              </a:lnSpc>
              <a:spcBef>
                <a:spcPts val="650"/>
              </a:spcBef>
              <a:spcAft>
                <a:spcPct val="0"/>
              </a:spcAft>
              <a:buClr>
                <a:srgbClr val="000000"/>
              </a:buClr>
              <a:buSzPct val="100000"/>
              <a:buFont typeface="Comic Sans MS" panose="030F0702030302020204" pitchFamily="66" charset="0"/>
              <a:buChar char="»"/>
              <a:defRPr sz="2600">
                <a:solidFill>
                  <a:srgbClr val="000000"/>
                </a:solidFill>
                <a:latin typeface="Comic Sans MS" panose="030F0702030302020204" pitchFamily="66" charset="0"/>
              </a:defRPr>
            </a:lvl6pPr>
            <a:lvl7pPr marL="2971800" indent="-228600" defTabSz="457200" eaLnBrk="0" fontAlgn="base" hangingPunct="0">
              <a:lnSpc>
                <a:spcPct val="91000"/>
              </a:lnSpc>
              <a:spcBef>
                <a:spcPts val="650"/>
              </a:spcBef>
              <a:spcAft>
                <a:spcPct val="0"/>
              </a:spcAft>
              <a:buClr>
                <a:srgbClr val="000000"/>
              </a:buClr>
              <a:buSzPct val="100000"/>
              <a:buFont typeface="Comic Sans MS" panose="030F0702030302020204" pitchFamily="66" charset="0"/>
              <a:buChar char="»"/>
              <a:defRPr sz="2600">
                <a:solidFill>
                  <a:srgbClr val="000000"/>
                </a:solidFill>
                <a:latin typeface="Comic Sans MS" panose="030F0702030302020204" pitchFamily="66" charset="0"/>
              </a:defRPr>
            </a:lvl7pPr>
            <a:lvl8pPr marL="3429000" indent="-228600" defTabSz="457200" eaLnBrk="0" fontAlgn="base" hangingPunct="0">
              <a:lnSpc>
                <a:spcPct val="91000"/>
              </a:lnSpc>
              <a:spcBef>
                <a:spcPts val="650"/>
              </a:spcBef>
              <a:spcAft>
                <a:spcPct val="0"/>
              </a:spcAft>
              <a:buClr>
                <a:srgbClr val="000000"/>
              </a:buClr>
              <a:buSzPct val="100000"/>
              <a:buFont typeface="Comic Sans MS" panose="030F0702030302020204" pitchFamily="66" charset="0"/>
              <a:buChar char="»"/>
              <a:defRPr sz="2600">
                <a:solidFill>
                  <a:srgbClr val="000000"/>
                </a:solidFill>
                <a:latin typeface="Comic Sans MS" panose="030F0702030302020204" pitchFamily="66" charset="0"/>
              </a:defRPr>
            </a:lvl8pPr>
            <a:lvl9pPr marL="3886200" indent="-228600" defTabSz="457200" eaLnBrk="0" fontAlgn="base" hangingPunct="0">
              <a:lnSpc>
                <a:spcPct val="91000"/>
              </a:lnSpc>
              <a:spcBef>
                <a:spcPts val="650"/>
              </a:spcBef>
              <a:spcAft>
                <a:spcPct val="0"/>
              </a:spcAft>
              <a:buClr>
                <a:srgbClr val="000000"/>
              </a:buClr>
              <a:buSzPct val="100000"/>
              <a:buFont typeface="Comic Sans MS" panose="030F0702030302020204" pitchFamily="66" charset="0"/>
              <a:buChar char="»"/>
              <a:defRPr sz="2600">
                <a:solidFill>
                  <a:srgbClr val="000000"/>
                </a:solidFill>
                <a:latin typeface="Comic Sans MS" panose="030F0702030302020204" pitchFamily="66" charset="0"/>
              </a:defRPr>
            </a:lvl9pPr>
          </a:lstStyle>
          <a:p>
            <a:pPr algn="ctr" eaLnBrk="1" hangingPunct="1">
              <a:lnSpc>
                <a:spcPct val="74000"/>
              </a:lnSpc>
              <a:spcBef>
                <a:spcPct val="0"/>
              </a:spcBef>
              <a:buFont typeface="Times New Roman" panose="02020603050405020304" pitchFamily="18" charset="0"/>
              <a:buNone/>
            </a:pPr>
            <a:endParaRPr lang="en-US" altLang="en-US" sz="2177">
              <a:solidFill>
                <a:schemeClr val="bg1"/>
              </a:solidFill>
              <a:latin typeface="Times New Roman" panose="02020603050405020304" pitchFamily="18" charset="0"/>
            </a:endParaRPr>
          </a:p>
        </p:txBody>
      </p:sp>
      <p:sp>
        <p:nvSpPr>
          <p:cNvPr id="7" name="TextBox 6">
            <a:extLst>
              <a:ext uri="{FF2B5EF4-FFF2-40B4-BE49-F238E27FC236}">
                <a16:creationId xmlns:a16="http://schemas.microsoft.com/office/drawing/2014/main" id="{DA024D88-93F8-FD01-1EFB-DBE52D242B76}"/>
              </a:ext>
            </a:extLst>
          </p:cNvPr>
          <p:cNvSpPr txBox="1"/>
          <p:nvPr/>
        </p:nvSpPr>
        <p:spPr>
          <a:xfrm>
            <a:off x="8169819" y="5571946"/>
            <a:ext cx="2281199" cy="481799"/>
          </a:xfrm>
          <a:prstGeom prst="rect">
            <a:avLst/>
          </a:prstGeom>
          <a:noFill/>
        </p:spPr>
        <p:txBody>
          <a:bodyPr>
            <a:spAutoFit/>
          </a:bodyPr>
          <a:lstStyle/>
          <a:p>
            <a:pPr algn="ctr" eaLnBrk="1" hangingPunct="1">
              <a:lnSpc>
                <a:spcPct val="74000"/>
              </a:lnSpc>
              <a:buClr>
                <a:srgbClr val="000000"/>
              </a:buClr>
              <a:buSzPct val="100000"/>
              <a:buFont typeface="Times New Roman" panose="02020603050405020304" pitchFamily="18" charset="0"/>
              <a:buNone/>
              <a:defRPr/>
            </a:pPr>
            <a:r>
              <a:rPr lang="en-US" sz="3266" b="1" dirty="0">
                <a:solidFill>
                  <a:srgbClr val="0000CC"/>
                </a:solidFill>
              </a:rPr>
              <a:t>Developer</a:t>
            </a:r>
          </a:p>
        </p:txBody>
      </p:sp>
      <p:sp>
        <p:nvSpPr>
          <p:cNvPr id="2" name="Date Placeholder 1">
            <a:extLst>
              <a:ext uri="{FF2B5EF4-FFF2-40B4-BE49-F238E27FC236}">
                <a16:creationId xmlns:a16="http://schemas.microsoft.com/office/drawing/2014/main" id="{671E6AFF-522D-B351-5BC3-C53FC813E5B5}"/>
              </a:ext>
            </a:extLst>
          </p:cNvPr>
          <p:cNvSpPr>
            <a:spLocks noGrp="1"/>
          </p:cNvSpPr>
          <p:nvPr>
            <p:ph type="dt" sz="half" idx="10"/>
          </p:nvPr>
        </p:nvSpPr>
        <p:spPr/>
        <p:txBody>
          <a:bodyPr/>
          <a:lstStyle/>
          <a:p>
            <a:fld id="{77A8F6BF-0A72-465F-A4C4-376C4F742179}" type="datetime1">
              <a:rPr lang="en-IN" smtClean="0"/>
              <a:t>03-11-2025</a:t>
            </a:fld>
            <a:endParaRPr lang="en-IN"/>
          </a:p>
        </p:txBody>
      </p:sp>
      <p:sp>
        <p:nvSpPr>
          <p:cNvPr id="3" name="Footer Placeholder 2">
            <a:extLst>
              <a:ext uri="{FF2B5EF4-FFF2-40B4-BE49-F238E27FC236}">
                <a16:creationId xmlns:a16="http://schemas.microsoft.com/office/drawing/2014/main" id="{EFFEB7D7-69EA-8207-BC51-B090A04F953D}"/>
              </a:ext>
            </a:extLst>
          </p:cNvPr>
          <p:cNvSpPr>
            <a:spLocks noGrp="1"/>
          </p:cNvSpPr>
          <p:nvPr>
            <p:ph type="ftr" sz="quarter" idx="11"/>
          </p:nvPr>
        </p:nvSpPr>
        <p:spPr/>
        <p:txBody>
          <a:bodyPr/>
          <a:lstStyle/>
          <a:p>
            <a:r>
              <a:rPr lang="en-IN"/>
              <a:t>MIT</a:t>
            </a:r>
          </a:p>
        </p:txBody>
      </p:sp>
      <p:sp>
        <p:nvSpPr>
          <p:cNvPr id="4" name="Slide Number Placeholder 3">
            <a:extLst>
              <a:ext uri="{FF2B5EF4-FFF2-40B4-BE49-F238E27FC236}">
                <a16:creationId xmlns:a16="http://schemas.microsoft.com/office/drawing/2014/main" id="{6366A0A5-A081-FB19-0ECB-1E094D5BCDFB}"/>
              </a:ext>
            </a:extLst>
          </p:cNvPr>
          <p:cNvSpPr>
            <a:spLocks noGrp="1"/>
          </p:cNvSpPr>
          <p:nvPr>
            <p:ph type="sldNum" sz="quarter" idx="12"/>
          </p:nvPr>
        </p:nvSpPr>
        <p:spPr/>
        <p:txBody>
          <a:bodyPr/>
          <a:lstStyle/>
          <a:p>
            <a:fld id="{157E8F69-36B6-4843-A9CE-6B9353F4DBAF}" type="slidenum">
              <a:rPr lang="en-IN" smtClean="0"/>
              <a:t>29</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05539">
                                            <p:txEl>
                                              <p:pRg st="0" end="0"/>
                                            </p:txEl>
                                          </p:spTgt>
                                        </p:tgtEl>
                                        <p:attrNameLst>
                                          <p:attrName>style.visibility</p:attrName>
                                        </p:attrNameLst>
                                      </p:cBhvr>
                                      <p:to>
                                        <p:strVal val="visible"/>
                                      </p:to>
                                    </p:set>
                                    <p:anim calcmode="lin" valueType="num">
                                      <p:cBhvr additive="base">
                                        <p:cTn id="7" dur="500" fill="hold"/>
                                        <p:tgtEl>
                                          <p:spTgt spid="7055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055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05539">
                                            <p:txEl>
                                              <p:pRg st="1" end="1"/>
                                            </p:txEl>
                                          </p:spTgt>
                                        </p:tgtEl>
                                        <p:attrNameLst>
                                          <p:attrName>style.visibility</p:attrName>
                                        </p:attrNameLst>
                                      </p:cBhvr>
                                      <p:to>
                                        <p:strVal val="visible"/>
                                      </p:to>
                                    </p:set>
                                    <p:anim calcmode="lin" valueType="num">
                                      <p:cBhvr additive="base">
                                        <p:cTn id="13" dur="500" fill="hold"/>
                                        <p:tgtEl>
                                          <p:spTgt spid="7055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055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05539">
                                            <p:txEl>
                                              <p:pRg st="2" end="2"/>
                                            </p:txEl>
                                          </p:spTgt>
                                        </p:tgtEl>
                                        <p:attrNameLst>
                                          <p:attrName>style.visibility</p:attrName>
                                        </p:attrNameLst>
                                      </p:cBhvr>
                                      <p:to>
                                        <p:strVal val="visible"/>
                                      </p:to>
                                    </p:set>
                                    <p:anim calcmode="lin" valueType="num">
                                      <p:cBhvr additive="base">
                                        <p:cTn id="19" dur="500" fill="hold"/>
                                        <p:tgtEl>
                                          <p:spTgt spid="70553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0553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05539">
                                            <p:txEl>
                                              <p:pRg st="3" end="3"/>
                                            </p:txEl>
                                          </p:spTgt>
                                        </p:tgtEl>
                                        <p:attrNameLst>
                                          <p:attrName>style.visibility</p:attrName>
                                        </p:attrNameLst>
                                      </p:cBhvr>
                                      <p:to>
                                        <p:strVal val="visible"/>
                                      </p:to>
                                    </p:set>
                                    <p:anim calcmode="lin" valueType="num">
                                      <p:cBhvr additive="base">
                                        <p:cTn id="25" dur="500" fill="hold"/>
                                        <p:tgtEl>
                                          <p:spTgt spid="70553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055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05539">
                                            <p:txEl>
                                              <p:pRg st="4" end="4"/>
                                            </p:txEl>
                                          </p:spTgt>
                                        </p:tgtEl>
                                        <p:attrNameLst>
                                          <p:attrName>style.visibility</p:attrName>
                                        </p:attrNameLst>
                                      </p:cBhvr>
                                      <p:to>
                                        <p:strVal val="visible"/>
                                      </p:to>
                                    </p:set>
                                    <p:anim calcmode="lin" valueType="num">
                                      <p:cBhvr additive="base">
                                        <p:cTn id="31" dur="500" fill="hold"/>
                                        <p:tgtEl>
                                          <p:spTgt spid="70553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0553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05539">
                                            <p:txEl>
                                              <p:pRg st="5" end="5"/>
                                            </p:txEl>
                                          </p:spTgt>
                                        </p:tgtEl>
                                        <p:attrNameLst>
                                          <p:attrName>style.visibility</p:attrName>
                                        </p:attrNameLst>
                                      </p:cBhvr>
                                      <p:to>
                                        <p:strVal val="visible"/>
                                      </p:to>
                                    </p:set>
                                    <p:anim calcmode="lin" valueType="num">
                                      <p:cBhvr additive="base">
                                        <p:cTn id="37" dur="500" fill="hold"/>
                                        <p:tgtEl>
                                          <p:spTgt spid="70553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0553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53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0520" y="369838"/>
            <a:ext cx="11460480" cy="2677656"/>
          </a:xfrm>
          <a:prstGeom prst="rect">
            <a:avLst/>
          </a:prstGeom>
        </p:spPr>
        <p:txBody>
          <a:bodyPr wrap="square">
            <a:spAutoFit/>
          </a:bodyPr>
          <a:lstStyle/>
          <a:p>
            <a:pPr algn="ctr"/>
            <a:r>
              <a:rPr lang="en-US" sz="2400" b="1" u="sng" dirty="0"/>
              <a:t>7.5 UNIT TESTING</a:t>
            </a:r>
          </a:p>
          <a:p>
            <a:pPr algn="just"/>
            <a:r>
              <a:rPr lang="en-US" sz="2400" b="1" u="sng" dirty="0"/>
              <a:t>Definition</a:t>
            </a:r>
          </a:p>
          <a:p>
            <a:pPr algn="just"/>
            <a:r>
              <a:rPr lang="en-US" sz="2400" dirty="0"/>
              <a:t>	Unit testing is the process of </a:t>
            </a:r>
            <a:r>
              <a:rPr lang="en-US" sz="2400" b="1" dirty="0"/>
              <a:t>testing individual modules or units</a:t>
            </a:r>
            <a:r>
              <a:rPr lang="en-US" sz="2400" dirty="0"/>
              <a:t> of software (functions, procedures, classes) </a:t>
            </a:r>
            <a:r>
              <a:rPr lang="en-US" sz="2400" b="1" dirty="0"/>
              <a:t>in isolation</a:t>
            </a:r>
            <a:r>
              <a:rPr lang="en-US" sz="2400" dirty="0"/>
              <a:t> to verify that they work correctly.</a:t>
            </a:r>
          </a:p>
          <a:p>
            <a:pPr marL="800100" lvl="1" indent="-342900" algn="just">
              <a:buFont typeface="Wingdings" panose="05000000000000000000" pitchFamily="2" charset="2"/>
              <a:buChar char="Ø"/>
            </a:pPr>
            <a:r>
              <a:rPr lang="en-US" sz="2400" dirty="0"/>
              <a:t>Done </a:t>
            </a:r>
            <a:r>
              <a:rPr lang="en-US" sz="2400" b="1" dirty="0"/>
              <a:t>after coding</a:t>
            </a:r>
            <a:r>
              <a:rPr lang="en-US" sz="2400" dirty="0"/>
              <a:t> is complete and syntax errors are removed.</a:t>
            </a:r>
          </a:p>
          <a:p>
            <a:pPr marL="800100" lvl="1" indent="-342900" algn="just">
              <a:buFont typeface="Wingdings" panose="05000000000000000000" pitchFamily="2" charset="2"/>
              <a:buChar char="Ø"/>
            </a:pPr>
            <a:r>
              <a:rPr lang="en-US" sz="2400" dirty="0"/>
              <a:t>Usually performed by the </a:t>
            </a:r>
            <a:r>
              <a:rPr lang="en-US" sz="2400" b="1" dirty="0"/>
              <a:t>developer (coder)</a:t>
            </a:r>
            <a:r>
              <a:rPr lang="en-US" sz="2400" dirty="0"/>
              <a:t> of that module.</a:t>
            </a:r>
          </a:p>
          <a:p>
            <a:pPr marL="800100" lvl="1" indent="-342900" algn="just">
              <a:buFont typeface="Wingdings" panose="05000000000000000000" pitchFamily="2" charset="2"/>
              <a:buChar char="Ø"/>
            </a:pPr>
            <a:r>
              <a:rPr lang="en-US" sz="2400" dirty="0"/>
              <a:t>Conducted </a:t>
            </a:r>
            <a:r>
              <a:rPr lang="en-US" sz="2400" b="1" dirty="0"/>
              <a:t>during the coding phase</a:t>
            </a:r>
            <a:r>
              <a:rPr lang="en-US" sz="2400" dirty="0"/>
              <a:t>.</a:t>
            </a:r>
          </a:p>
        </p:txBody>
      </p:sp>
      <p:sp>
        <p:nvSpPr>
          <p:cNvPr id="4" name="Rectangle 3"/>
          <p:cNvSpPr/>
          <p:nvPr/>
        </p:nvSpPr>
        <p:spPr>
          <a:xfrm>
            <a:off x="350520" y="3372118"/>
            <a:ext cx="11460480" cy="3046988"/>
          </a:xfrm>
          <a:prstGeom prst="rect">
            <a:avLst/>
          </a:prstGeom>
        </p:spPr>
        <p:txBody>
          <a:bodyPr wrap="square">
            <a:spAutoFit/>
          </a:bodyPr>
          <a:lstStyle/>
          <a:p>
            <a:pPr algn="just"/>
            <a:r>
              <a:rPr lang="en-US" sz="2400" b="1" u="sng" dirty="0"/>
              <a:t>Why Unit Testing Needs a Test Environment</a:t>
            </a:r>
          </a:p>
          <a:p>
            <a:pPr algn="just"/>
            <a:r>
              <a:rPr lang="en-US" sz="2400" dirty="0"/>
              <a:t>To test a single module, it must be placed in a </a:t>
            </a:r>
            <a:r>
              <a:rPr lang="en-US" sz="2400" b="1" dirty="0"/>
              <a:t>suitable environment</a:t>
            </a:r>
            <a:r>
              <a:rPr lang="en-US" sz="2400" dirty="0"/>
              <a:t> that simulates its interactions with:</a:t>
            </a:r>
          </a:p>
          <a:p>
            <a:pPr lvl="1" algn="just">
              <a:buFont typeface="+mj-lt"/>
              <a:buAutoNum type="arabicPeriod"/>
            </a:pPr>
            <a:r>
              <a:rPr lang="en-US" sz="2400" dirty="0"/>
              <a:t>Other modules it </a:t>
            </a:r>
            <a:r>
              <a:rPr lang="en-US" sz="2400" b="1" dirty="0"/>
              <a:t>calls</a:t>
            </a:r>
            <a:endParaRPr lang="en-US" sz="2400" dirty="0"/>
          </a:p>
          <a:p>
            <a:pPr lvl="1" algn="just">
              <a:buFont typeface="+mj-lt"/>
              <a:buAutoNum type="arabicPeriod"/>
            </a:pPr>
            <a:r>
              <a:rPr lang="en-US" sz="2400" dirty="0"/>
              <a:t>Global data it </a:t>
            </a:r>
            <a:r>
              <a:rPr lang="en-US" sz="2400" b="1" dirty="0"/>
              <a:t>uses</a:t>
            </a:r>
            <a:endParaRPr lang="en-US" sz="2400" dirty="0"/>
          </a:p>
          <a:p>
            <a:pPr lvl="1" algn="just">
              <a:buFont typeface="+mj-lt"/>
              <a:buAutoNum type="arabicPeriod"/>
            </a:pPr>
            <a:r>
              <a:rPr lang="en-US" sz="2400" dirty="0"/>
              <a:t>A function that </a:t>
            </a:r>
            <a:r>
              <a:rPr lang="en-US" sz="2400" b="1" dirty="0"/>
              <a:t>calls it</a:t>
            </a:r>
            <a:endParaRPr lang="en-US" sz="2400" dirty="0"/>
          </a:p>
          <a:p>
            <a:pPr algn="just"/>
            <a:r>
              <a:rPr lang="en-US" sz="2400" dirty="0"/>
              <a:t>Since the complete system may not yet exist (other modules may not be ready), we use two artificial components:</a:t>
            </a:r>
          </a:p>
        </p:txBody>
      </p:sp>
      <p:sp>
        <p:nvSpPr>
          <p:cNvPr id="2" name="Date Placeholder 1">
            <a:extLst>
              <a:ext uri="{FF2B5EF4-FFF2-40B4-BE49-F238E27FC236}">
                <a16:creationId xmlns:a16="http://schemas.microsoft.com/office/drawing/2014/main" id="{7EE036F4-603D-CA44-262A-32D59625D301}"/>
              </a:ext>
            </a:extLst>
          </p:cNvPr>
          <p:cNvSpPr>
            <a:spLocks noGrp="1"/>
          </p:cNvSpPr>
          <p:nvPr>
            <p:ph type="dt" sz="half" idx="10"/>
          </p:nvPr>
        </p:nvSpPr>
        <p:spPr/>
        <p:txBody>
          <a:bodyPr/>
          <a:lstStyle/>
          <a:p>
            <a:fld id="{280E8349-A099-46BB-9EE7-7D7D5D7141A3}" type="datetime1">
              <a:rPr lang="en-IN" smtClean="0"/>
              <a:t>03-11-2025</a:t>
            </a:fld>
            <a:endParaRPr lang="en-IN"/>
          </a:p>
        </p:txBody>
      </p:sp>
      <p:sp>
        <p:nvSpPr>
          <p:cNvPr id="5" name="Footer Placeholder 4">
            <a:extLst>
              <a:ext uri="{FF2B5EF4-FFF2-40B4-BE49-F238E27FC236}">
                <a16:creationId xmlns:a16="http://schemas.microsoft.com/office/drawing/2014/main" id="{023638F0-C4B3-FB51-C626-CBF96ADF6237}"/>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FBE98A96-878F-6D1F-1316-8E0468B1540E}"/>
              </a:ext>
            </a:extLst>
          </p:cNvPr>
          <p:cNvSpPr>
            <a:spLocks noGrp="1"/>
          </p:cNvSpPr>
          <p:nvPr>
            <p:ph type="sldNum" sz="quarter" idx="12"/>
          </p:nvPr>
        </p:nvSpPr>
        <p:spPr/>
        <p:txBody>
          <a:bodyPr/>
          <a:lstStyle/>
          <a:p>
            <a:fld id="{157E8F69-36B6-4843-A9CE-6B9353F4DBAF}" type="slidenum">
              <a:rPr lang="en-IN" smtClean="0"/>
              <a:t>30</a:t>
            </a:fld>
            <a:endParaRPr lang="en-IN"/>
          </a:p>
        </p:txBody>
      </p:sp>
    </p:spTree>
    <p:extLst>
      <p:ext uri="{BB962C8B-B14F-4D97-AF65-F5344CB8AC3E}">
        <p14:creationId xmlns:p14="http://schemas.microsoft.com/office/powerpoint/2010/main" val="2752326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41960" y="411927"/>
            <a:ext cx="11323320" cy="3046988"/>
          </a:xfrm>
          <a:prstGeom prst="rect">
            <a:avLst/>
          </a:prstGeom>
        </p:spPr>
        <p:txBody>
          <a:bodyPr wrap="square">
            <a:spAutoFit/>
          </a:bodyPr>
          <a:lstStyle/>
          <a:p>
            <a:pPr algn="just"/>
            <a:r>
              <a:rPr lang="en-US" sz="2400" b="1" u="sng" dirty="0"/>
              <a:t>🧩 Stubs and Drivers</a:t>
            </a:r>
          </a:p>
          <a:p>
            <a:pPr algn="just"/>
            <a:r>
              <a:rPr lang="en-US" sz="2400" b="1" u="sng" dirty="0"/>
              <a:t>🧰 Driver</a:t>
            </a:r>
          </a:p>
          <a:p>
            <a:pPr marL="800100" lvl="1" indent="-342900" algn="just">
              <a:buFont typeface="Wingdings" panose="05000000000000000000" pitchFamily="2" charset="2"/>
              <a:buChar char="Ø"/>
            </a:pPr>
            <a:r>
              <a:rPr lang="en-US" sz="2400" dirty="0"/>
              <a:t>Acts as the </a:t>
            </a:r>
            <a:r>
              <a:rPr lang="en-US" sz="2400" b="1" dirty="0"/>
              <a:t>caller</a:t>
            </a:r>
            <a:r>
              <a:rPr lang="en-US" sz="2400" dirty="0"/>
              <a:t> of the module under test.</a:t>
            </a:r>
          </a:p>
          <a:p>
            <a:pPr marL="800100" lvl="1" indent="-342900" algn="just">
              <a:buFont typeface="Wingdings" panose="05000000000000000000" pitchFamily="2" charset="2"/>
              <a:buChar char="Ø"/>
            </a:pPr>
            <a:r>
              <a:rPr lang="en-US" sz="2400" dirty="0"/>
              <a:t>Simulates the </a:t>
            </a:r>
            <a:r>
              <a:rPr lang="en-US" sz="2400" b="1" dirty="0"/>
              <a:t>higher-level module</a:t>
            </a:r>
            <a:r>
              <a:rPr lang="en-US" sz="2400" dirty="0"/>
              <a:t>.</a:t>
            </a:r>
          </a:p>
          <a:p>
            <a:pPr marL="800100" lvl="1" indent="-342900" algn="just">
              <a:buFont typeface="Wingdings" panose="05000000000000000000" pitchFamily="2" charset="2"/>
              <a:buChar char="Ø"/>
            </a:pPr>
            <a:r>
              <a:rPr lang="en-US" sz="2400" dirty="0"/>
              <a:t>Provides:</a:t>
            </a:r>
          </a:p>
          <a:p>
            <a:pPr marL="1257300" lvl="2" indent="-342900" algn="just">
              <a:buFont typeface="Wingdings" panose="05000000000000000000" pitchFamily="2" charset="2"/>
              <a:buChar char="Ø"/>
            </a:pPr>
            <a:r>
              <a:rPr lang="en-US" sz="2400" b="1" dirty="0"/>
              <a:t>Input values</a:t>
            </a:r>
            <a:endParaRPr lang="en-US" sz="2400" dirty="0"/>
          </a:p>
          <a:p>
            <a:pPr marL="1257300" lvl="2" indent="-342900" algn="just">
              <a:buFont typeface="Wingdings" panose="05000000000000000000" pitchFamily="2" charset="2"/>
              <a:buChar char="Ø"/>
            </a:pPr>
            <a:r>
              <a:rPr lang="en-US" sz="2400" dirty="0"/>
              <a:t>Any </a:t>
            </a:r>
            <a:r>
              <a:rPr lang="en-US" sz="2400" b="1" dirty="0"/>
              <a:t>global or shared data</a:t>
            </a:r>
            <a:endParaRPr lang="en-US" sz="2400" dirty="0"/>
          </a:p>
          <a:p>
            <a:pPr marL="1257300" lvl="2" indent="-342900" algn="just">
              <a:buFont typeface="Wingdings" panose="05000000000000000000" pitchFamily="2" charset="2"/>
              <a:buChar char="Ø"/>
            </a:pPr>
            <a:r>
              <a:rPr lang="en-US" sz="2400" dirty="0"/>
              <a:t>Code to </a:t>
            </a:r>
            <a:r>
              <a:rPr lang="en-US" sz="2400" b="1" dirty="0"/>
              <a:t>invoke</a:t>
            </a:r>
            <a:r>
              <a:rPr lang="en-US" sz="2400" dirty="0"/>
              <a:t> the unit’s functions</a:t>
            </a:r>
          </a:p>
        </p:txBody>
      </p:sp>
      <p:sp>
        <p:nvSpPr>
          <p:cNvPr id="6" name="Rectangle 5"/>
          <p:cNvSpPr/>
          <p:nvPr/>
        </p:nvSpPr>
        <p:spPr>
          <a:xfrm>
            <a:off x="358140" y="3739218"/>
            <a:ext cx="11490960" cy="1938992"/>
          </a:xfrm>
          <a:prstGeom prst="rect">
            <a:avLst/>
          </a:prstGeom>
        </p:spPr>
        <p:txBody>
          <a:bodyPr wrap="square">
            <a:spAutoFit/>
          </a:bodyPr>
          <a:lstStyle/>
          <a:p>
            <a:pPr algn="just"/>
            <a:r>
              <a:rPr lang="en-US" sz="2400" b="1" u="sng" dirty="0"/>
              <a:t>🔧 Stub</a:t>
            </a:r>
          </a:p>
          <a:p>
            <a:pPr marL="800100" lvl="1" indent="-342900" algn="just">
              <a:buFont typeface="Wingdings" panose="05000000000000000000" pitchFamily="2" charset="2"/>
              <a:buChar char="Ø"/>
            </a:pPr>
            <a:r>
              <a:rPr lang="en-US" sz="2400" dirty="0"/>
              <a:t>Simulates the </a:t>
            </a:r>
            <a:r>
              <a:rPr lang="en-US" sz="2400" b="1" dirty="0"/>
              <a:t>lower-level modules</a:t>
            </a:r>
            <a:r>
              <a:rPr lang="en-US" sz="2400" dirty="0"/>
              <a:t> called by the unit under test.</a:t>
            </a:r>
          </a:p>
          <a:p>
            <a:pPr marL="800100" lvl="1" indent="-342900" algn="just">
              <a:buFont typeface="Wingdings" panose="05000000000000000000" pitchFamily="2" charset="2"/>
              <a:buChar char="Ø"/>
            </a:pPr>
            <a:r>
              <a:rPr lang="en-US" sz="2400" dirty="0"/>
              <a:t>Is a </a:t>
            </a:r>
            <a:r>
              <a:rPr lang="en-US" sz="2400" b="1" dirty="0"/>
              <a:t>dummy procedure</a:t>
            </a:r>
            <a:r>
              <a:rPr lang="en-US" sz="2400" dirty="0"/>
              <a:t> with:</a:t>
            </a:r>
          </a:p>
          <a:p>
            <a:pPr marL="1257300" lvl="2" indent="-342900" algn="just">
              <a:buFont typeface="Wingdings" panose="05000000000000000000" pitchFamily="2" charset="2"/>
              <a:buChar char="Ø"/>
            </a:pPr>
            <a:r>
              <a:rPr lang="en-US" sz="2400" dirty="0"/>
              <a:t>The </a:t>
            </a:r>
            <a:r>
              <a:rPr lang="en-US" sz="2400" b="1" dirty="0"/>
              <a:t>same interface</a:t>
            </a:r>
            <a:r>
              <a:rPr lang="en-US" sz="2400" dirty="0"/>
              <a:t> (same function signature)</a:t>
            </a:r>
          </a:p>
          <a:p>
            <a:pPr marL="1257300" lvl="2" indent="-342900" algn="just">
              <a:buFont typeface="Wingdings" panose="05000000000000000000" pitchFamily="2" charset="2"/>
              <a:buChar char="Ø"/>
            </a:pPr>
            <a:r>
              <a:rPr lang="en-US" sz="2400" b="1" dirty="0"/>
              <a:t>Simplified logic</a:t>
            </a:r>
            <a:r>
              <a:rPr lang="en-US" sz="2400" dirty="0"/>
              <a:t>, often returns fixed or table-based values</a:t>
            </a:r>
          </a:p>
        </p:txBody>
      </p:sp>
      <p:sp>
        <p:nvSpPr>
          <p:cNvPr id="2" name="Date Placeholder 1">
            <a:extLst>
              <a:ext uri="{FF2B5EF4-FFF2-40B4-BE49-F238E27FC236}">
                <a16:creationId xmlns:a16="http://schemas.microsoft.com/office/drawing/2014/main" id="{ADC11E82-B7DF-95E9-C885-00AFB6FDB297}"/>
              </a:ext>
            </a:extLst>
          </p:cNvPr>
          <p:cNvSpPr>
            <a:spLocks noGrp="1"/>
          </p:cNvSpPr>
          <p:nvPr>
            <p:ph type="dt" sz="half" idx="10"/>
          </p:nvPr>
        </p:nvSpPr>
        <p:spPr/>
        <p:txBody>
          <a:bodyPr/>
          <a:lstStyle/>
          <a:p>
            <a:fld id="{B8020C7E-B4E1-4D7D-9916-10355405C848}" type="datetime1">
              <a:rPr lang="en-IN" smtClean="0"/>
              <a:t>03-11-2025</a:t>
            </a:fld>
            <a:endParaRPr lang="en-IN"/>
          </a:p>
        </p:txBody>
      </p:sp>
      <p:sp>
        <p:nvSpPr>
          <p:cNvPr id="3" name="Footer Placeholder 2">
            <a:extLst>
              <a:ext uri="{FF2B5EF4-FFF2-40B4-BE49-F238E27FC236}">
                <a16:creationId xmlns:a16="http://schemas.microsoft.com/office/drawing/2014/main" id="{BC200440-C988-45C9-E4E0-E8ADF50099C2}"/>
              </a:ext>
            </a:extLst>
          </p:cNvPr>
          <p:cNvSpPr>
            <a:spLocks noGrp="1"/>
          </p:cNvSpPr>
          <p:nvPr>
            <p:ph type="ftr" sz="quarter" idx="11"/>
          </p:nvPr>
        </p:nvSpPr>
        <p:spPr/>
        <p:txBody>
          <a:bodyPr/>
          <a:lstStyle/>
          <a:p>
            <a:r>
              <a:rPr lang="en-IN"/>
              <a:t>MIT</a:t>
            </a:r>
          </a:p>
        </p:txBody>
      </p:sp>
      <p:sp>
        <p:nvSpPr>
          <p:cNvPr id="4" name="Slide Number Placeholder 3">
            <a:extLst>
              <a:ext uri="{FF2B5EF4-FFF2-40B4-BE49-F238E27FC236}">
                <a16:creationId xmlns:a16="http://schemas.microsoft.com/office/drawing/2014/main" id="{E5D47440-DCDB-EEDA-0706-7A28C7397C81}"/>
              </a:ext>
            </a:extLst>
          </p:cNvPr>
          <p:cNvSpPr>
            <a:spLocks noGrp="1"/>
          </p:cNvSpPr>
          <p:nvPr>
            <p:ph type="sldNum" sz="quarter" idx="12"/>
          </p:nvPr>
        </p:nvSpPr>
        <p:spPr/>
        <p:txBody>
          <a:bodyPr/>
          <a:lstStyle/>
          <a:p>
            <a:fld id="{157E8F69-36B6-4843-A9CE-6B9353F4DBAF}" type="slidenum">
              <a:rPr lang="en-IN" smtClean="0"/>
              <a:t>31</a:t>
            </a:fld>
            <a:endParaRPr lang="en-IN"/>
          </a:p>
        </p:txBody>
      </p:sp>
    </p:spTree>
    <p:extLst>
      <p:ext uri="{BB962C8B-B14F-4D97-AF65-F5344CB8AC3E}">
        <p14:creationId xmlns:p14="http://schemas.microsoft.com/office/powerpoint/2010/main" val="30972036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804160" y="204340"/>
            <a:ext cx="5715000" cy="4047620"/>
          </a:xfrm>
          <a:prstGeom prst="rect">
            <a:avLst/>
          </a:prstGeom>
        </p:spPr>
      </p:pic>
      <p:sp>
        <p:nvSpPr>
          <p:cNvPr id="5" name="Rectangle 4"/>
          <p:cNvSpPr/>
          <p:nvPr/>
        </p:nvSpPr>
        <p:spPr>
          <a:xfrm>
            <a:off x="2042160" y="4462195"/>
            <a:ext cx="7421880" cy="369332"/>
          </a:xfrm>
          <a:prstGeom prst="rect">
            <a:avLst/>
          </a:prstGeom>
        </p:spPr>
        <p:txBody>
          <a:bodyPr wrap="square">
            <a:spAutoFit/>
          </a:bodyPr>
          <a:lstStyle/>
          <a:p>
            <a:pPr algn="ctr"/>
            <a:r>
              <a:rPr lang="en-US" b="1" dirty="0">
                <a:solidFill>
                  <a:srgbClr val="2F3193"/>
                </a:solidFill>
                <a:latin typeface="OfficinaSans-Bold"/>
              </a:rPr>
              <a:t>FIGURE 7.3 </a:t>
            </a:r>
            <a:r>
              <a:rPr lang="en-US" dirty="0">
                <a:solidFill>
                  <a:srgbClr val="2F3193"/>
                </a:solidFill>
                <a:latin typeface="OfficinaSans-Book"/>
              </a:rPr>
              <a:t>Unit testing with the help of driver and stub modules.</a:t>
            </a:r>
            <a:endParaRPr lang="en-IN" dirty="0"/>
          </a:p>
        </p:txBody>
      </p:sp>
      <p:sp>
        <p:nvSpPr>
          <p:cNvPr id="6" name="Rectangle 5"/>
          <p:cNvSpPr/>
          <p:nvPr/>
        </p:nvSpPr>
        <p:spPr>
          <a:xfrm>
            <a:off x="381000" y="5273487"/>
            <a:ext cx="11490960" cy="1200329"/>
          </a:xfrm>
          <a:prstGeom prst="rect">
            <a:avLst/>
          </a:prstGeom>
        </p:spPr>
        <p:txBody>
          <a:bodyPr wrap="square">
            <a:spAutoFit/>
          </a:bodyPr>
          <a:lstStyle/>
          <a:p>
            <a:pPr algn="just"/>
            <a:r>
              <a:rPr lang="en-US" sz="2400" dirty="0"/>
              <a:t>Think of:</a:t>
            </a:r>
          </a:p>
          <a:p>
            <a:pPr marL="800100" lvl="1" indent="-342900" algn="just">
              <a:buFont typeface="Wingdings" panose="05000000000000000000" pitchFamily="2" charset="2"/>
              <a:buChar char="v"/>
            </a:pPr>
            <a:r>
              <a:rPr lang="en-US" sz="2400" b="1" dirty="0"/>
              <a:t>Driver</a:t>
            </a:r>
            <a:r>
              <a:rPr lang="en-US" sz="2400" dirty="0"/>
              <a:t> = Test Harness → Calls the module</a:t>
            </a:r>
          </a:p>
          <a:p>
            <a:pPr marL="800100" lvl="1" indent="-342900" algn="just">
              <a:buFont typeface="Wingdings" panose="05000000000000000000" pitchFamily="2" charset="2"/>
              <a:buChar char="v"/>
            </a:pPr>
            <a:r>
              <a:rPr lang="en-US" sz="2400" b="1" dirty="0"/>
              <a:t>Stub</a:t>
            </a:r>
            <a:r>
              <a:rPr lang="en-US" sz="2400" dirty="0"/>
              <a:t> = Fake </a:t>
            </a:r>
            <a:r>
              <a:rPr lang="en-US" sz="2400" dirty="0" err="1"/>
              <a:t>Callees</a:t>
            </a:r>
            <a:r>
              <a:rPr lang="en-US" sz="2400" dirty="0"/>
              <a:t> → Simulate dependencies</a:t>
            </a:r>
          </a:p>
        </p:txBody>
      </p:sp>
      <p:sp>
        <p:nvSpPr>
          <p:cNvPr id="2" name="Date Placeholder 1">
            <a:extLst>
              <a:ext uri="{FF2B5EF4-FFF2-40B4-BE49-F238E27FC236}">
                <a16:creationId xmlns:a16="http://schemas.microsoft.com/office/drawing/2014/main" id="{2028AABF-C1FD-0183-5E67-D235268F3574}"/>
              </a:ext>
            </a:extLst>
          </p:cNvPr>
          <p:cNvSpPr>
            <a:spLocks noGrp="1"/>
          </p:cNvSpPr>
          <p:nvPr>
            <p:ph type="dt" sz="half" idx="10"/>
          </p:nvPr>
        </p:nvSpPr>
        <p:spPr/>
        <p:txBody>
          <a:bodyPr/>
          <a:lstStyle/>
          <a:p>
            <a:fld id="{ED663C7D-73FC-4177-B696-9B8C2BE6099D}" type="datetime1">
              <a:rPr lang="en-IN" smtClean="0"/>
              <a:t>03-11-2025</a:t>
            </a:fld>
            <a:endParaRPr lang="en-IN"/>
          </a:p>
        </p:txBody>
      </p:sp>
      <p:sp>
        <p:nvSpPr>
          <p:cNvPr id="3" name="Footer Placeholder 2">
            <a:extLst>
              <a:ext uri="{FF2B5EF4-FFF2-40B4-BE49-F238E27FC236}">
                <a16:creationId xmlns:a16="http://schemas.microsoft.com/office/drawing/2014/main" id="{A0A2AE17-794A-1B4E-19DC-D930829BF975}"/>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B714BD58-81AE-D4A7-9049-ED81DBF3F235}"/>
              </a:ext>
            </a:extLst>
          </p:cNvPr>
          <p:cNvSpPr>
            <a:spLocks noGrp="1"/>
          </p:cNvSpPr>
          <p:nvPr>
            <p:ph type="sldNum" sz="quarter" idx="12"/>
          </p:nvPr>
        </p:nvSpPr>
        <p:spPr/>
        <p:txBody>
          <a:bodyPr/>
          <a:lstStyle/>
          <a:p>
            <a:fld id="{157E8F69-36B6-4843-A9CE-6B9353F4DBAF}" type="slidenum">
              <a:rPr lang="en-IN" smtClean="0"/>
              <a:t>32</a:t>
            </a:fld>
            <a:endParaRPr lang="en-IN"/>
          </a:p>
        </p:txBody>
      </p:sp>
    </p:spTree>
    <p:extLst>
      <p:ext uri="{BB962C8B-B14F-4D97-AF65-F5344CB8AC3E}">
        <p14:creationId xmlns:p14="http://schemas.microsoft.com/office/powerpoint/2010/main" val="11544753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5280" y="344716"/>
            <a:ext cx="11399520" cy="1569660"/>
          </a:xfrm>
          <a:prstGeom prst="rect">
            <a:avLst/>
          </a:prstGeom>
        </p:spPr>
        <p:txBody>
          <a:bodyPr wrap="square">
            <a:spAutoFit/>
          </a:bodyPr>
          <a:lstStyle/>
          <a:p>
            <a:pPr algn="just"/>
            <a:r>
              <a:rPr lang="en-US" sz="2400" b="1" u="sng" dirty="0"/>
              <a:t>✅ Benefits of Unit Testing</a:t>
            </a:r>
          </a:p>
          <a:p>
            <a:pPr marL="800100" lvl="1" indent="-342900" algn="just">
              <a:buFont typeface="Wingdings" panose="05000000000000000000" pitchFamily="2" charset="2"/>
              <a:buChar char="Ø"/>
            </a:pPr>
            <a:r>
              <a:rPr lang="en-US" sz="2400" dirty="0"/>
              <a:t>Helps detect </a:t>
            </a:r>
            <a:r>
              <a:rPr lang="en-US" sz="2400" b="1" dirty="0"/>
              <a:t>early-stage bugs</a:t>
            </a:r>
            <a:r>
              <a:rPr lang="en-US" sz="2400" dirty="0"/>
              <a:t> in individual functions.</a:t>
            </a:r>
          </a:p>
          <a:p>
            <a:pPr marL="800100" lvl="1" indent="-342900" algn="just">
              <a:buFont typeface="Wingdings" panose="05000000000000000000" pitchFamily="2" charset="2"/>
              <a:buChar char="Ø"/>
            </a:pPr>
            <a:r>
              <a:rPr lang="en-US" sz="2400" dirty="0"/>
              <a:t>Makes </a:t>
            </a:r>
            <a:r>
              <a:rPr lang="en-US" sz="2400" b="1" dirty="0"/>
              <a:t>debugging easier</a:t>
            </a:r>
            <a:r>
              <a:rPr lang="en-US" sz="2400" dirty="0"/>
              <a:t>, as problems are localized.</a:t>
            </a:r>
          </a:p>
          <a:p>
            <a:pPr marL="800100" lvl="1" indent="-342900" algn="just">
              <a:buFont typeface="Wingdings" panose="05000000000000000000" pitchFamily="2" charset="2"/>
              <a:buChar char="Ø"/>
            </a:pPr>
            <a:r>
              <a:rPr lang="en-US" sz="2400" dirty="0"/>
              <a:t>Encourages </a:t>
            </a:r>
            <a:r>
              <a:rPr lang="en-US" sz="2400" b="1" dirty="0"/>
              <a:t>modular design</a:t>
            </a:r>
            <a:r>
              <a:rPr lang="en-US" sz="2400" dirty="0"/>
              <a:t>.</a:t>
            </a:r>
          </a:p>
        </p:txBody>
      </p:sp>
      <p:sp>
        <p:nvSpPr>
          <p:cNvPr id="4" name="Rectangle 3"/>
          <p:cNvSpPr/>
          <p:nvPr/>
        </p:nvSpPr>
        <p:spPr>
          <a:xfrm>
            <a:off x="335280" y="1975336"/>
            <a:ext cx="11399520" cy="1200329"/>
          </a:xfrm>
          <a:prstGeom prst="rect">
            <a:avLst/>
          </a:prstGeom>
        </p:spPr>
        <p:txBody>
          <a:bodyPr wrap="square">
            <a:spAutoFit/>
          </a:bodyPr>
          <a:lstStyle/>
          <a:p>
            <a:r>
              <a:rPr lang="en-US" sz="2400" b="1" u="sng" dirty="0"/>
              <a:t>Limitation</a:t>
            </a:r>
          </a:p>
          <a:p>
            <a:r>
              <a:rPr lang="en-US" sz="2400" dirty="0"/>
              <a:t>	Even well-designed unit test suites </a:t>
            </a:r>
            <a:r>
              <a:rPr lang="en-US" sz="2400" b="1" dirty="0"/>
              <a:t>cannot guarantee</a:t>
            </a:r>
            <a:r>
              <a:rPr lang="en-US" sz="2400" dirty="0"/>
              <a:t> that a module is completely error-free — only that it behaves as expected for the tested inputs.</a:t>
            </a:r>
          </a:p>
        </p:txBody>
      </p:sp>
      <p:sp>
        <p:nvSpPr>
          <p:cNvPr id="5" name="Rectangle 1"/>
          <p:cNvSpPr>
            <a:spLocks noChangeArrowheads="1"/>
          </p:cNvSpPr>
          <p:nvPr/>
        </p:nvSpPr>
        <p:spPr bwMode="auto">
          <a:xfrm>
            <a:off x="335280" y="3814078"/>
            <a:ext cx="1139952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 Example Scenario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If you're testing a </a:t>
            </a:r>
            <a:r>
              <a:rPr kumimoji="0" lang="en-US" altLang="en-US" sz="2400" b="0" i="0" u="none" strike="noStrike" cap="none" normalizeH="0" baseline="0" dirty="0" err="1">
                <a:ln>
                  <a:noFill/>
                </a:ln>
                <a:solidFill>
                  <a:schemeClr val="tx1"/>
                </a:solidFill>
                <a:effectLst/>
              </a:rPr>
              <a:t>calculateBill</a:t>
            </a:r>
            <a:r>
              <a:rPr kumimoji="0" lang="en-US" altLang="en-US" sz="2400" b="0" i="0" u="none" strike="noStrike" cap="none" normalizeH="0" baseline="0" dirty="0">
                <a:ln>
                  <a:noFill/>
                </a:ln>
                <a:solidFill>
                  <a:schemeClr val="tx1"/>
                </a:solidFill>
                <a:effectLst/>
              </a:rPr>
              <a:t>() function:</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The </a:t>
            </a:r>
            <a:r>
              <a:rPr kumimoji="0" lang="en-US" altLang="en-US" sz="2400" b="1" i="0" u="none" strike="noStrike" cap="none" normalizeH="0" baseline="0" dirty="0">
                <a:ln>
                  <a:noFill/>
                </a:ln>
                <a:solidFill>
                  <a:schemeClr val="tx1"/>
                </a:solidFill>
                <a:effectLst/>
              </a:rPr>
              <a:t>Driver</a:t>
            </a:r>
            <a:r>
              <a:rPr kumimoji="0" lang="en-US" altLang="en-US" sz="2400" b="0" i="0" u="none" strike="noStrike" cap="none" normalizeH="0" baseline="0" dirty="0">
                <a:ln>
                  <a:noFill/>
                </a:ln>
                <a:solidFill>
                  <a:schemeClr val="tx1"/>
                </a:solidFill>
                <a:effectLst/>
              </a:rPr>
              <a:t> might pass sample user and product data.</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The </a:t>
            </a:r>
            <a:r>
              <a:rPr kumimoji="0" lang="en-US" altLang="en-US" sz="2400" b="1" i="0" u="none" strike="noStrike" cap="none" normalizeH="0" baseline="0" dirty="0">
                <a:ln>
                  <a:noFill/>
                </a:ln>
                <a:solidFill>
                  <a:schemeClr val="tx1"/>
                </a:solidFill>
                <a:effectLst/>
              </a:rPr>
              <a:t>Stub</a:t>
            </a:r>
            <a:r>
              <a:rPr kumimoji="0" lang="en-US" altLang="en-US" sz="2400" b="0" i="0" u="none" strike="noStrike" cap="none" normalizeH="0" baseline="0" dirty="0">
                <a:ln>
                  <a:noFill/>
                </a:ln>
                <a:solidFill>
                  <a:schemeClr val="tx1"/>
                </a:solidFill>
                <a:effectLst/>
              </a:rPr>
              <a:t> for </a:t>
            </a:r>
            <a:r>
              <a:rPr kumimoji="0" lang="en-US" altLang="en-US" sz="2400" b="0" i="0" u="none" strike="noStrike" cap="none" normalizeH="0" baseline="0" dirty="0" err="1">
                <a:ln>
                  <a:noFill/>
                </a:ln>
                <a:solidFill>
                  <a:schemeClr val="tx1"/>
                </a:solidFill>
                <a:effectLst/>
              </a:rPr>
              <a:t>fetchDiscount</a:t>
            </a:r>
            <a:r>
              <a:rPr kumimoji="0" lang="en-US" altLang="en-US" sz="2400" b="0" i="0" u="none" strike="noStrike" cap="none" normalizeH="0" baseline="0" dirty="0">
                <a:ln>
                  <a:noFill/>
                </a:ln>
                <a:solidFill>
                  <a:schemeClr val="tx1"/>
                </a:solidFill>
                <a:effectLst/>
              </a:rPr>
              <a:t>() might return 10% always instead of computing from a database.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p:txBody>
      </p:sp>
      <p:sp>
        <p:nvSpPr>
          <p:cNvPr id="2" name="Date Placeholder 1">
            <a:extLst>
              <a:ext uri="{FF2B5EF4-FFF2-40B4-BE49-F238E27FC236}">
                <a16:creationId xmlns:a16="http://schemas.microsoft.com/office/drawing/2014/main" id="{C13F34F8-D6FF-7E61-3577-A06E65186125}"/>
              </a:ext>
            </a:extLst>
          </p:cNvPr>
          <p:cNvSpPr>
            <a:spLocks noGrp="1"/>
          </p:cNvSpPr>
          <p:nvPr>
            <p:ph type="dt" sz="half" idx="10"/>
          </p:nvPr>
        </p:nvSpPr>
        <p:spPr/>
        <p:txBody>
          <a:bodyPr/>
          <a:lstStyle/>
          <a:p>
            <a:fld id="{A355857F-278D-44CB-8773-0AD749BF21E5}" type="datetime1">
              <a:rPr lang="en-IN" smtClean="0"/>
              <a:t>03-11-2025</a:t>
            </a:fld>
            <a:endParaRPr lang="en-IN"/>
          </a:p>
        </p:txBody>
      </p:sp>
      <p:sp>
        <p:nvSpPr>
          <p:cNvPr id="6" name="Footer Placeholder 5">
            <a:extLst>
              <a:ext uri="{FF2B5EF4-FFF2-40B4-BE49-F238E27FC236}">
                <a16:creationId xmlns:a16="http://schemas.microsoft.com/office/drawing/2014/main" id="{536CA362-C863-0607-05F5-62E1456076D9}"/>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019155B1-3718-687A-6467-9C580D969BF3}"/>
              </a:ext>
            </a:extLst>
          </p:cNvPr>
          <p:cNvSpPr>
            <a:spLocks noGrp="1"/>
          </p:cNvSpPr>
          <p:nvPr>
            <p:ph type="sldNum" sz="quarter" idx="12"/>
          </p:nvPr>
        </p:nvSpPr>
        <p:spPr/>
        <p:txBody>
          <a:bodyPr/>
          <a:lstStyle/>
          <a:p>
            <a:fld id="{157E8F69-36B6-4843-A9CE-6B9353F4DBAF}" type="slidenum">
              <a:rPr lang="en-IN" smtClean="0"/>
              <a:t>33</a:t>
            </a:fld>
            <a:endParaRPr lang="en-IN"/>
          </a:p>
        </p:txBody>
      </p:sp>
    </p:spTree>
    <p:extLst>
      <p:ext uri="{BB962C8B-B14F-4D97-AF65-F5344CB8AC3E}">
        <p14:creationId xmlns:p14="http://schemas.microsoft.com/office/powerpoint/2010/main" val="29793052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311557"/>
            <a:ext cx="11506200" cy="1938992"/>
          </a:xfrm>
          <a:prstGeom prst="rect">
            <a:avLst/>
          </a:prstGeom>
        </p:spPr>
        <p:txBody>
          <a:bodyPr wrap="square">
            <a:spAutoFit/>
          </a:bodyPr>
          <a:lstStyle/>
          <a:p>
            <a:pPr algn="ctr"/>
            <a:r>
              <a:rPr lang="en-US" sz="2400" b="1" u="sng" dirty="0"/>
              <a:t>7.6 BLACK-BOX TESTING</a:t>
            </a:r>
          </a:p>
          <a:p>
            <a:pPr algn="just"/>
            <a:r>
              <a:rPr lang="en-US" sz="2400" b="1" u="sng" dirty="0"/>
              <a:t>🔍 What is Black-Box Testing?</a:t>
            </a:r>
          </a:p>
          <a:p>
            <a:pPr marL="800100" lvl="1" indent="-342900" algn="just">
              <a:buFont typeface="Wingdings" panose="05000000000000000000" pitchFamily="2" charset="2"/>
              <a:buChar char="Ø"/>
            </a:pPr>
            <a:r>
              <a:rPr lang="en-US" sz="2400" dirty="0"/>
              <a:t>Test cases are </a:t>
            </a:r>
            <a:r>
              <a:rPr lang="en-US" sz="2400" b="1" dirty="0"/>
              <a:t>designed based only on input/output</a:t>
            </a:r>
            <a:r>
              <a:rPr lang="en-US" sz="2400" dirty="0"/>
              <a:t> specifications — </a:t>
            </a:r>
            <a:r>
              <a:rPr lang="en-US" sz="2400" b="1" dirty="0"/>
              <a:t>no knowledge of internal code or logic is required</a:t>
            </a:r>
            <a:r>
              <a:rPr lang="en-US" sz="2400" dirty="0"/>
              <a:t>.</a:t>
            </a:r>
          </a:p>
          <a:p>
            <a:pPr marL="800100" lvl="1" indent="-342900" algn="just">
              <a:buFont typeface="Wingdings" panose="05000000000000000000" pitchFamily="2" charset="2"/>
              <a:buChar char="Ø"/>
            </a:pPr>
            <a:r>
              <a:rPr lang="en-US" sz="2400" dirty="0"/>
              <a:t>Also known as </a:t>
            </a:r>
            <a:r>
              <a:rPr lang="en-US" sz="2400" b="1" dirty="0"/>
              <a:t>functional testing</a:t>
            </a:r>
            <a:r>
              <a:rPr lang="en-US" sz="2400" dirty="0"/>
              <a:t>.</a:t>
            </a:r>
          </a:p>
        </p:txBody>
      </p:sp>
      <p:sp>
        <p:nvSpPr>
          <p:cNvPr id="4" name="Rectangle 3"/>
          <p:cNvSpPr/>
          <p:nvPr/>
        </p:nvSpPr>
        <p:spPr>
          <a:xfrm>
            <a:off x="320040" y="2250549"/>
            <a:ext cx="11506200" cy="4524315"/>
          </a:xfrm>
          <a:prstGeom prst="rect">
            <a:avLst/>
          </a:prstGeom>
        </p:spPr>
        <p:txBody>
          <a:bodyPr wrap="square">
            <a:spAutoFit/>
          </a:bodyPr>
          <a:lstStyle/>
          <a:p>
            <a:r>
              <a:rPr lang="en-US" sz="2400" b="1" u="sng" dirty="0"/>
              <a:t>🔧 Two Main Techniques:</a:t>
            </a:r>
          </a:p>
          <a:p>
            <a:r>
              <a:rPr lang="en-US" sz="2400" b="1" u="sng" dirty="0"/>
              <a:t>1. Equivalence Class Partitioning (ECP)</a:t>
            </a:r>
          </a:p>
          <a:p>
            <a:pPr marL="800100" lvl="1" indent="-342900">
              <a:buFont typeface="Wingdings" panose="05000000000000000000" pitchFamily="2" charset="2"/>
              <a:buChar char="Ø"/>
            </a:pPr>
            <a:r>
              <a:rPr lang="en-US" sz="2400" b="1" dirty="0"/>
              <a:t>Idea</a:t>
            </a:r>
            <a:r>
              <a:rPr lang="en-US" sz="2400" dirty="0"/>
              <a:t>: Divide the input domain into </a:t>
            </a:r>
            <a:r>
              <a:rPr lang="en-US" sz="2400" b="1" dirty="0"/>
              <a:t>equivalence classes</a:t>
            </a:r>
            <a:r>
              <a:rPr lang="en-US" sz="2400" dirty="0"/>
              <a:t> such that:</a:t>
            </a:r>
          </a:p>
          <a:p>
            <a:pPr marL="1257300" lvl="2" indent="-342900">
              <a:buFont typeface="Wingdings" panose="05000000000000000000" pitchFamily="2" charset="2"/>
              <a:buChar char="Ø"/>
            </a:pPr>
            <a:r>
              <a:rPr lang="en-US" sz="2400" dirty="0"/>
              <a:t>All values within a class are </a:t>
            </a:r>
            <a:r>
              <a:rPr lang="en-US" sz="2400" b="1" dirty="0"/>
              <a:t>treated the same</a:t>
            </a:r>
            <a:r>
              <a:rPr lang="en-US" sz="2400" dirty="0"/>
              <a:t> by the program.</a:t>
            </a:r>
          </a:p>
          <a:p>
            <a:pPr marL="1257300" lvl="2" indent="-342900">
              <a:buFont typeface="Wingdings" panose="05000000000000000000" pitchFamily="2" charset="2"/>
              <a:buChar char="Ø"/>
            </a:pPr>
            <a:r>
              <a:rPr lang="en-US" sz="2400" b="1" dirty="0"/>
              <a:t>Testing one representative value</a:t>
            </a:r>
            <a:r>
              <a:rPr lang="en-US" sz="2400" dirty="0"/>
              <a:t> from each class is </a:t>
            </a:r>
            <a:r>
              <a:rPr lang="en-US" sz="2400" b="1" dirty="0"/>
              <a:t>enough</a:t>
            </a:r>
            <a:r>
              <a:rPr lang="en-US" sz="2400" dirty="0"/>
              <a:t>.</a:t>
            </a:r>
          </a:p>
          <a:p>
            <a:r>
              <a:rPr lang="en-US" sz="2400" b="1" dirty="0"/>
              <a:t>🧠 How to Identify Equivalence Classes:</a:t>
            </a:r>
          </a:p>
          <a:p>
            <a:pPr marL="800100" lvl="1" indent="-342900">
              <a:buFont typeface="Wingdings" panose="05000000000000000000" pitchFamily="2" charset="2"/>
              <a:buChar char="Ø"/>
            </a:pPr>
            <a:r>
              <a:rPr lang="en-US" sz="2400" dirty="0"/>
              <a:t>If input is from a </a:t>
            </a:r>
            <a:r>
              <a:rPr lang="en-US" sz="2400" b="1" dirty="0"/>
              <a:t>range</a:t>
            </a:r>
            <a:r>
              <a:rPr lang="en-US" sz="2400" dirty="0"/>
              <a:t>, define:</a:t>
            </a:r>
          </a:p>
          <a:p>
            <a:pPr marL="1257300" lvl="2" indent="-342900">
              <a:buFont typeface="Wingdings" panose="05000000000000000000" pitchFamily="2" charset="2"/>
              <a:buChar char="Ø"/>
            </a:pPr>
            <a:r>
              <a:rPr lang="en-US" sz="2400" b="1" dirty="0"/>
              <a:t>1 valid class</a:t>
            </a:r>
            <a:r>
              <a:rPr lang="en-US" sz="2400" dirty="0"/>
              <a:t> (within range)</a:t>
            </a:r>
          </a:p>
          <a:p>
            <a:pPr marL="1257300" lvl="2" indent="-342900">
              <a:buFont typeface="Wingdings" panose="05000000000000000000" pitchFamily="2" charset="2"/>
              <a:buChar char="Ø"/>
            </a:pPr>
            <a:r>
              <a:rPr lang="en-US" sz="2400" b="1" dirty="0"/>
              <a:t>2 invalid classes</a:t>
            </a:r>
            <a:r>
              <a:rPr lang="en-US" sz="2400" dirty="0"/>
              <a:t> (below and above range)</a:t>
            </a:r>
          </a:p>
          <a:p>
            <a:pPr>
              <a:buFont typeface="Arial" panose="020B0604020202020204" pitchFamily="34" charset="0"/>
              <a:buChar char="•"/>
            </a:pPr>
            <a:r>
              <a:rPr lang="en-US" sz="2400" dirty="0"/>
              <a:t>📌 Example: For input range [1,10]</a:t>
            </a:r>
            <a:br>
              <a:rPr lang="en-US" sz="2400" dirty="0"/>
            </a:br>
            <a:r>
              <a:rPr lang="en-US" sz="2400" dirty="0"/>
              <a:t>➤ Valid: [1–10]</a:t>
            </a:r>
            <a:br>
              <a:rPr lang="en-US" sz="2400" dirty="0"/>
            </a:br>
            <a:r>
              <a:rPr lang="en-US" sz="2400" dirty="0"/>
              <a:t>➤ Invalid: (−∞ to 0), (11 to ∞)</a:t>
            </a:r>
          </a:p>
        </p:txBody>
      </p:sp>
      <p:sp>
        <p:nvSpPr>
          <p:cNvPr id="2" name="Date Placeholder 1">
            <a:extLst>
              <a:ext uri="{FF2B5EF4-FFF2-40B4-BE49-F238E27FC236}">
                <a16:creationId xmlns:a16="http://schemas.microsoft.com/office/drawing/2014/main" id="{F3578C21-90BB-D68D-D7CF-7B8D7B183450}"/>
              </a:ext>
            </a:extLst>
          </p:cNvPr>
          <p:cNvSpPr>
            <a:spLocks noGrp="1"/>
          </p:cNvSpPr>
          <p:nvPr>
            <p:ph type="dt" sz="half" idx="10"/>
          </p:nvPr>
        </p:nvSpPr>
        <p:spPr/>
        <p:txBody>
          <a:bodyPr/>
          <a:lstStyle/>
          <a:p>
            <a:fld id="{081E2B68-63A6-4985-9AEA-898800970190}" type="datetime1">
              <a:rPr lang="en-IN" smtClean="0"/>
              <a:t>03-11-2025</a:t>
            </a:fld>
            <a:endParaRPr lang="en-IN"/>
          </a:p>
        </p:txBody>
      </p:sp>
      <p:sp>
        <p:nvSpPr>
          <p:cNvPr id="5" name="Footer Placeholder 4">
            <a:extLst>
              <a:ext uri="{FF2B5EF4-FFF2-40B4-BE49-F238E27FC236}">
                <a16:creationId xmlns:a16="http://schemas.microsoft.com/office/drawing/2014/main" id="{3C290F3C-AED4-85CF-0BFE-2C326BE61661}"/>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069CA10F-872F-1B01-AB0A-7C53B4BEB9C4}"/>
              </a:ext>
            </a:extLst>
          </p:cNvPr>
          <p:cNvSpPr>
            <a:spLocks noGrp="1"/>
          </p:cNvSpPr>
          <p:nvPr>
            <p:ph type="sldNum" sz="quarter" idx="12"/>
          </p:nvPr>
        </p:nvSpPr>
        <p:spPr/>
        <p:txBody>
          <a:bodyPr/>
          <a:lstStyle/>
          <a:p>
            <a:fld id="{157E8F69-36B6-4843-A9CE-6B9353F4DBAF}" type="slidenum">
              <a:rPr lang="en-IN" smtClean="0"/>
              <a:t>34</a:t>
            </a:fld>
            <a:endParaRPr lang="en-IN"/>
          </a:p>
        </p:txBody>
      </p:sp>
    </p:spTree>
    <p:extLst>
      <p:ext uri="{BB962C8B-B14F-4D97-AF65-F5344CB8AC3E}">
        <p14:creationId xmlns:p14="http://schemas.microsoft.com/office/powerpoint/2010/main" val="29254494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889760" y="1082766"/>
            <a:ext cx="9052560" cy="4601753"/>
          </a:xfrm>
          <a:prstGeom prst="rect">
            <a:avLst/>
          </a:prstGeom>
        </p:spPr>
      </p:pic>
      <p:sp>
        <p:nvSpPr>
          <p:cNvPr id="4" name="Rectangle 3"/>
          <p:cNvSpPr/>
          <p:nvPr/>
        </p:nvSpPr>
        <p:spPr>
          <a:xfrm>
            <a:off x="3765314" y="5819894"/>
            <a:ext cx="5301451" cy="369332"/>
          </a:xfrm>
          <a:prstGeom prst="rect">
            <a:avLst/>
          </a:prstGeom>
        </p:spPr>
        <p:txBody>
          <a:bodyPr wrap="none">
            <a:spAutoFit/>
          </a:bodyPr>
          <a:lstStyle/>
          <a:p>
            <a:r>
              <a:rPr lang="en-IN" b="1" dirty="0">
                <a:solidFill>
                  <a:srgbClr val="2F3193"/>
                </a:solidFill>
                <a:latin typeface="OfficinaSans-Bold"/>
              </a:rPr>
              <a:t>FIGURE 7.4 </a:t>
            </a:r>
            <a:r>
              <a:rPr lang="en-IN" dirty="0">
                <a:solidFill>
                  <a:srgbClr val="2F3193"/>
                </a:solidFill>
                <a:latin typeface="OfficinaSans-Book"/>
              </a:rPr>
              <a:t>Equivalence classes for Problem 7.3.</a:t>
            </a:r>
            <a:endParaRPr lang="en-IN" dirty="0"/>
          </a:p>
        </p:txBody>
      </p:sp>
      <p:sp>
        <p:nvSpPr>
          <p:cNvPr id="2" name="Date Placeholder 1">
            <a:extLst>
              <a:ext uri="{FF2B5EF4-FFF2-40B4-BE49-F238E27FC236}">
                <a16:creationId xmlns:a16="http://schemas.microsoft.com/office/drawing/2014/main" id="{704008D7-4942-9194-98F9-561D11B0CAC3}"/>
              </a:ext>
            </a:extLst>
          </p:cNvPr>
          <p:cNvSpPr>
            <a:spLocks noGrp="1"/>
          </p:cNvSpPr>
          <p:nvPr>
            <p:ph type="dt" sz="half" idx="10"/>
          </p:nvPr>
        </p:nvSpPr>
        <p:spPr/>
        <p:txBody>
          <a:bodyPr/>
          <a:lstStyle/>
          <a:p>
            <a:fld id="{F01644FD-D980-44ED-BC46-CBF9C408B91C}" type="datetime1">
              <a:rPr lang="en-IN" smtClean="0"/>
              <a:t>03-11-2025</a:t>
            </a:fld>
            <a:endParaRPr lang="en-IN"/>
          </a:p>
        </p:txBody>
      </p:sp>
      <p:sp>
        <p:nvSpPr>
          <p:cNvPr id="5" name="Footer Placeholder 4">
            <a:extLst>
              <a:ext uri="{FF2B5EF4-FFF2-40B4-BE49-F238E27FC236}">
                <a16:creationId xmlns:a16="http://schemas.microsoft.com/office/drawing/2014/main" id="{9509C461-B3D9-DE9A-D9B8-DBCCCED3771A}"/>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B3B14113-0E27-2718-1E5B-FD8B557B80D3}"/>
              </a:ext>
            </a:extLst>
          </p:cNvPr>
          <p:cNvSpPr>
            <a:spLocks noGrp="1"/>
          </p:cNvSpPr>
          <p:nvPr>
            <p:ph type="sldNum" sz="quarter" idx="12"/>
          </p:nvPr>
        </p:nvSpPr>
        <p:spPr/>
        <p:txBody>
          <a:bodyPr/>
          <a:lstStyle/>
          <a:p>
            <a:fld id="{157E8F69-36B6-4843-A9CE-6B9353F4DBAF}" type="slidenum">
              <a:rPr lang="en-IN" smtClean="0"/>
              <a:t>35</a:t>
            </a:fld>
            <a:endParaRPr lang="en-IN"/>
          </a:p>
        </p:txBody>
      </p:sp>
    </p:spTree>
    <p:extLst>
      <p:ext uri="{BB962C8B-B14F-4D97-AF65-F5344CB8AC3E}">
        <p14:creationId xmlns:p14="http://schemas.microsoft.com/office/powerpoint/2010/main" val="2462423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105231"/>
            <a:ext cx="11841480" cy="1938992"/>
          </a:xfrm>
          <a:prstGeom prst="rect">
            <a:avLst/>
          </a:prstGeom>
        </p:spPr>
        <p:txBody>
          <a:bodyPr wrap="square">
            <a:spAutoFit/>
          </a:bodyPr>
          <a:lstStyle/>
          <a:p>
            <a:r>
              <a:rPr lang="en-US" sz="2400" dirty="0"/>
              <a:t>If input must come from a </a:t>
            </a:r>
            <a:r>
              <a:rPr lang="en-US" sz="2400" b="1" dirty="0"/>
              <a:t>specific set of valid values</a:t>
            </a:r>
            <a:r>
              <a:rPr lang="en-US" sz="2400" dirty="0"/>
              <a:t>, say </a:t>
            </a:r>
            <a:r>
              <a:rPr lang="en-US" dirty="0"/>
              <a:t>{A, B, C}</a:t>
            </a:r>
            <a:r>
              <a:rPr lang="en-US" sz="2400" dirty="0"/>
              <a:t>, then:</a:t>
            </a:r>
          </a:p>
          <a:p>
            <a:r>
              <a:rPr lang="en-US" sz="2400" b="1" dirty="0"/>
              <a:t>Valid class:</a:t>
            </a:r>
            <a:r>
              <a:rPr lang="en-US" sz="2400" dirty="0"/>
              <a:t> </a:t>
            </a:r>
            <a:r>
              <a:rPr lang="en-US" dirty="0"/>
              <a:t>{A, B, C}</a:t>
            </a:r>
            <a:endParaRPr lang="en-US" sz="2400" dirty="0"/>
          </a:p>
          <a:p>
            <a:r>
              <a:rPr lang="en-US" sz="2400" b="1" dirty="0"/>
              <a:t>Invalid class:</a:t>
            </a:r>
            <a:r>
              <a:rPr lang="en-US" sz="2400" dirty="0"/>
              <a:t> All other inputs (anything not in </a:t>
            </a:r>
            <a:r>
              <a:rPr lang="en-US" dirty="0"/>
              <a:t>{A, B, C}</a:t>
            </a:r>
            <a:r>
              <a:rPr lang="en-US" sz="2400" dirty="0"/>
              <a:t>)</a:t>
            </a:r>
          </a:p>
          <a:p>
            <a:r>
              <a:rPr lang="en-US" sz="2400" dirty="0"/>
              <a:t>This means we pick </a:t>
            </a:r>
            <a:r>
              <a:rPr lang="en-US" sz="2400" b="1" dirty="0"/>
              <a:t>one test value</a:t>
            </a:r>
            <a:r>
              <a:rPr lang="en-US" sz="2400" dirty="0"/>
              <a:t> from each class — one valid, one invalid — to represent the whole set.</a:t>
            </a:r>
          </a:p>
        </p:txBody>
      </p:sp>
      <p:sp>
        <p:nvSpPr>
          <p:cNvPr id="4" name="Rectangle 1"/>
          <p:cNvSpPr>
            <a:spLocks noChangeArrowheads="1"/>
          </p:cNvSpPr>
          <p:nvPr/>
        </p:nvSpPr>
        <p:spPr bwMode="auto">
          <a:xfrm>
            <a:off x="228600" y="2228889"/>
            <a:ext cx="1155192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rPr>
              <a:t>✔️ Examples:</a:t>
            </a:r>
          </a:p>
          <a:p>
            <a:r>
              <a:rPr lang="en-US" sz="2400" b="1" dirty="0"/>
              <a:t>🧮 Problem 7.1: Square root function for integers 0–5000</a:t>
            </a:r>
          </a:p>
          <a:p>
            <a:r>
              <a:rPr lang="en-US" sz="2400" b="1" dirty="0"/>
              <a:t>Specification:</a:t>
            </a:r>
            <a:r>
              <a:rPr lang="en-US" sz="2400" dirty="0"/>
              <a:t> Function accepts integers between 0 and 5000 (inclusive).</a:t>
            </a:r>
          </a:p>
          <a:p>
            <a:r>
              <a:rPr lang="en-US" sz="2400" b="1" dirty="0"/>
              <a:t>Equivalence classes:</a:t>
            </a:r>
            <a:endParaRPr lang="en-US" sz="2400" dirty="0"/>
          </a:p>
          <a:p>
            <a:pPr lvl="1"/>
            <a:r>
              <a:rPr lang="en-US" sz="2400" dirty="0"/>
              <a:t>Invalid: (-∞, -1] → negative numbers (can’t take sqrt of negatives)</a:t>
            </a:r>
          </a:p>
          <a:p>
            <a:pPr lvl="1"/>
            <a:r>
              <a:rPr lang="en-US" sz="2400" dirty="0"/>
              <a:t>Valid: [0, 5000] → acceptable range</a:t>
            </a:r>
          </a:p>
          <a:p>
            <a:pPr lvl="1"/>
            <a:r>
              <a:rPr lang="en-US" sz="2400" dirty="0"/>
              <a:t>Invalid: [5001, ∞) → too large (beyond allowed range)</a:t>
            </a:r>
          </a:p>
          <a:p>
            <a:r>
              <a:rPr lang="en-US" sz="2400" b="1" dirty="0"/>
              <a:t>Representative test cases:</a:t>
            </a:r>
            <a:br>
              <a:rPr lang="en-US" sz="2400" dirty="0"/>
            </a:br>
            <a:r>
              <a:rPr lang="en-US" sz="2400" dirty="0"/>
              <a:t>{ -5, 500, 6000 }</a:t>
            </a:r>
          </a:p>
          <a:p>
            <a:pPr lvl="1"/>
            <a:r>
              <a:rPr lang="en-US" sz="2400" dirty="0"/>
              <a:t>-5 → invalid (below range)</a:t>
            </a:r>
          </a:p>
          <a:p>
            <a:pPr lvl="1"/>
            <a:r>
              <a:rPr lang="en-US" sz="2400" dirty="0"/>
              <a:t>500 → valid</a:t>
            </a:r>
          </a:p>
          <a:p>
            <a:pPr lvl="1"/>
            <a:r>
              <a:rPr lang="en-US" sz="2400" dirty="0"/>
              <a:t>6000 → invalid (above range)</a:t>
            </a:r>
          </a:p>
        </p:txBody>
      </p:sp>
      <p:sp>
        <p:nvSpPr>
          <p:cNvPr id="2" name="Date Placeholder 1">
            <a:extLst>
              <a:ext uri="{FF2B5EF4-FFF2-40B4-BE49-F238E27FC236}">
                <a16:creationId xmlns:a16="http://schemas.microsoft.com/office/drawing/2014/main" id="{9CEA46F5-3B73-1E1E-FF22-7B30DD192CA3}"/>
              </a:ext>
            </a:extLst>
          </p:cNvPr>
          <p:cNvSpPr>
            <a:spLocks noGrp="1"/>
          </p:cNvSpPr>
          <p:nvPr>
            <p:ph type="dt" sz="half" idx="10"/>
          </p:nvPr>
        </p:nvSpPr>
        <p:spPr/>
        <p:txBody>
          <a:bodyPr/>
          <a:lstStyle/>
          <a:p>
            <a:fld id="{91CF355B-F7AA-45AA-9584-4AA559395F92}" type="datetime1">
              <a:rPr lang="en-IN" smtClean="0"/>
              <a:t>03-11-2025</a:t>
            </a:fld>
            <a:endParaRPr lang="en-IN"/>
          </a:p>
        </p:txBody>
      </p:sp>
      <p:sp>
        <p:nvSpPr>
          <p:cNvPr id="5" name="Footer Placeholder 4">
            <a:extLst>
              <a:ext uri="{FF2B5EF4-FFF2-40B4-BE49-F238E27FC236}">
                <a16:creationId xmlns:a16="http://schemas.microsoft.com/office/drawing/2014/main" id="{73C10170-16A6-142E-09A7-4203F860C00A}"/>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D6D33FEA-1DC1-B8F8-F813-B958117921F8}"/>
              </a:ext>
            </a:extLst>
          </p:cNvPr>
          <p:cNvSpPr>
            <a:spLocks noGrp="1"/>
          </p:cNvSpPr>
          <p:nvPr>
            <p:ph type="sldNum" sz="quarter" idx="12"/>
          </p:nvPr>
        </p:nvSpPr>
        <p:spPr/>
        <p:txBody>
          <a:bodyPr/>
          <a:lstStyle/>
          <a:p>
            <a:fld id="{157E8F69-36B6-4843-A9CE-6B9353F4DBAF}" type="slidenum">
              <a:rPr lang="en-IN" smtClean="0"/>
              <a:t>36</a:t>
            </a:fld>
            <a:endParaRPr lang="en-IN"/>
          </a:p>
        </p:txBody>
      </p:sp>
    </p:spTree>
    <p:extLst>
      <p:ext uri="{BB962C8B-B14F-4D97-AF65-F5344CB8AC3E}">
        <p14:creationId xmlns:p14="http://schemas.microsoft.com/office/powerpoint/2010/main" val="13371485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9BFCF-CFC9-DE95-A6D9-A4C6CCE91BFC}"/>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43CCE3EE-26CC-956F-E68B-A73E6AA76548}"/>
              </a:ext>
            </a:extLst>
          </p:cNvPr>
          <p:cNvSpPr>
            <a:spLocks noChangeArrowheads="1"/>
          </p:cNvSpPr>
          <p:nvPr/>
        </p:nvSpPr>
        <p:spPr bwMode="auto">
          <a:xfrm>
            <a:off x="3328416" y="121030"/>
            <a:ext cx="57759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t>📏 Problem 7.2: Lines intersection</a:t>
            </a:r>
          </a:p>
        </p:txBody>
      </p:sp>
      <p:sp>
        <p:nvSpPr>
          <p:cNvPr id="5" name="TextBox 4">
            <a:extLst>
              <a:ext uri="{FF2B5EF4-FFF2-40B4-BE49-F238E27FC236}">
                <a16:creationId xmlns:a16="http://schemas.microsoft.com/office/drawing/2014/main" id="{EBD30E7D-9434-326A-E94C-457242CD8B6E}"/>
              </a:ext>
            </a:extLst>
          </p:cNvPr>
          <p:cNvSpPr txBox="1"/>
          <p:nvPr/>
        </p:nvSpPr>
        <p:spPr>
          <a:xfrm>
            <a:off x="281178" y="655011"/>
            <a:ext cx="6094476" cy="2585323"/>
          </a:xfrm>
          <a:prstGeom prst="rect">
            <a:avLst/>
          </a:prstGeom>
          <a:noFill/>
        </p:spPr>
        <p:txBody>
          <a:bodyPr wrap="square">
            <a:spAutoFit/>
          </a:bodyPr>
          <a:lstStyle/>
          <a:p>
            <a:pPr>
              <a:buNone/>
            </a:pPr>
            <a:r>
              <a:rPr lang="en-US" dirty="0"/>
              <a:t>We are testing a </a:t>
            </a:r>
            <a:r>
              <a:rPr lang="en-US" b="1" dirty="0"/>
              <a:t>program that finds the intersection of two lines</a:t>
            </a:r>
            <a:r>
              <a:rPr lang="en-US" dirty="0"/>
              <a:t>.</a:t>
            </a:r>
          </a:p>
          <a:p>
            <a:pPr>
              <a:buNone/>
            </a:pPr>
            <a:r>
              <a:rPr lang="en-US" dirty="0"/>
              <a:t>When we input two lines, the program should tell us </a:t>
            </a:r>
            <a:r>
              <a:rPr lang="en-US" b="1" dirty="0"/>
              <a:t>what kind of intersection</a:t>
            </a:r>
            <a:r>
              <a:rPr lang="en-US" dirty="0"/>
              <a:t> they have.</a:t>
            </a:r>
          </a:p>
          <a:p>
            <a:pPr>
              <a:buNone/>
            </a:pPr>
            <a:r>
              <a:rPr lang="en-US" dirty="0"/>
              <a:t>There are </a:t>
            </a:r>
            <a:r>
              <a:rPr lang="en-US" b="1" dirty="0"/>
              <a:t>three possible outcomes</a:t>
            </a:r>
            <a:r>
              <a:rPr lang="en-US" dirty="0"/>
              <a:t>:</a:t>
            </a:r>
          </a:p>
          <a:p>
            <a:pPr>
              <a:buFont typeface="+mj-lt"/>
              <a:buAutoNum type="arabicPeriod"/>
            </a:pPr>
            <a:r>
              <a:rPr lang="en-US" dirty="0"/>
              <a:t>The lines are </a:t>
            </a:r>
            <a:r>
              <a:rPr lang="en-US" b="1" dirty="0"/>
              <a:t>parallel</a:t>
            </a:r>
            <a:r>
              <a:rPr lang="en-US" dirty="0"/>
              <a:t> → they never meet.</a:t>
            </a:r>
          </a:p>
          <a:p>
            <a:pPr>
              <a:buFont typeface="+mj-lt"/>
              <a:buAutoNum type="arabicPeriod"/>
            </a:pPr>
            <a:r>
              <a:rPr lang="en-US" dirty="0"/>
              <a:t>The lines are </a:t>
            </a:r>
            <a:r>
              <a:rPr lang="en-US" b="1" dirty="0"/>
              <a:t>intersecting</a:t>
            </a:r>
            <a:r>
              <a:rPr lang="en-US" dirty="0"/>
              <a:t> → they meet at </a:t>
            </a:r>
            <a:r>
              <a:rPr lang="en-US" b="1" dirty="0"/>
              <a:t>exactly one point</a:t>
            </a:r>
            <a:r>
              <a:rPr lang="en-US" dirty="0"/>
              <a:t>.</a:t>
            </a:r>
          </a:p>
          <a:p>
            <a:pPr>
              <a:buFont typeface="+mj-lt"/>
              <a:buAutoNum type="arabicPeriod"/>
            </a:pPr>
            <a:r>
              <a:rPr lang="en-US" dirty="0"/>
              <a:t>The lines are </a:t>
            </a:r>
            <a:r>
              <a:rPr lang="en-US" b="1" dirty="0"/>
              <a:t>coincident</a:t>
            </a:r>
            <a:r>
              <a:rPr lang="en-US" dirty="0"/>
              <a:t> → they are the </a:t>
            </a:r>
            <a:r>
              <a:rPr lang="en-US" b="1" dirty="0"/>
              <a:t>same line</a:t>
            </a:r>
            <a:r>
              <a:rPr lang="en-US" dirty="0"/>
              <a:t>, so they meet at </a:t>
            </a:r>
            <a:r>
              <a:rPr lang="en-US" b="1" dirty="0"/>
              <a:t>infinite points</a:t>
            </a:r>
            <a:r>
              <a:rPr lang="en-US" dirty="0"/>
              <a:t>.</a:t>
            </a:r>
          </a:p>
        </p:txBody>
      </p:sp>
      <p:sp>
        <p:nvSpPr>
          <p:cNvPr id="7" name="TextBox 6">
            <a:extLst>
              <a:ext uri="{FF2B5EF4-FFF2-40B4-BE49-F238E27FC236}">
                <a16:creationId xmlns:a16="http://schemas.microsoft.com/office/drawing/2014/main" id="{BC52D2C3-898E-ECD9-E910-BFE372D3D36E}"/>
              </a:ext>
            </a:extLst>
          </p:cNvPr>
          <p:cNvSpPr txBox="1"/>
          <p:nvPr/>
        </p:nvSpPr>
        <p:spPr>
          <a:xfrm>
            <a:off x="121920" y="3312650"/>
            <a:ext cx="6094476" cy="1477328"/>
          </a:xfrm>
          <a:prstGeom prst="rect">
            <a:avLst/>
          </a:prstGeom>
          <a:noFill/>
        </p:spPr>
        <p:txBody>
          <a:bodyPr wrap="square">
            <a:spAutoFit/>
          </a:bodyPr>
          <a:lstStyle/>
          <a:p>
            <a:pPr>
              <a:buNone/>
            </a:pPr>
            <a:r>
              <a:rPr lang="en-US" b="1" dirty="0"/>
              <a:t>🧠 Step 1: Identify the Classes</a:t>
            </a:r>
          </a:p>
          <a:p>
            <a:pPr>
              <a:buNone/>
            </a:pPr>
            <a:r>
              <a:rPr lang="en-US" dirty="0"/>
              <a:t>Each type of intersection represents a </a:t>
            </a:r>
            <a:r>
              <a:rPr lang="en-US" b="1" dirty="0"/>
              <a:t>different equivalence class</a:t>
            </a:r>
            <a:r>
              <a:rPr lang="en-US" dirty="0"/>
              <a:t> — because the program’s behavior (output) changes depending on which case it is.</a:t>
            </a:r>
          </a:p>
          <a:p>
            <a:pPr>
              <a:buNone/>
            </a:pPr>
            <a:r>
              <a:rPr lang="en-US" dirty="0"/>
              <a:t>So the equivalence classes are:</a:t>
            </a:r>
          </a:p>
        </p:txBody>
      </p:sp>
      <p:graphicFrame>
        <p:nvGraphicFramePr>
          <p:cNvPr id="8" name="Table 7">
            <a:extLst>
              <a:ext uri="{FF2B5EF4-FFF2-40B4-BE49-F238E27FC236}">
                <a16:creationId xmlns:a16="http://schemas.microsoft.com/office/drawing/2014/main" id="{FC337729-DB5C-8A83-A3C8-7D6F11575133}"/>
              </a:ext>
            </a:extLst>
          </p:cNvPr>
          <p:cNvGraphicFramePr>
            <a:graphicFrameLocks noGrp="1"/>
          </p:cNvGraphicFramePr>
          <p:nvPr>
            <p:extLst>
              <p:ext uri="{D42A27DB-BD31-4B8C-83A1-F6EECF244321}">
                <p14:modId xmlns:p14="http://schemas.microsoft.com/office/powerpoint/2010/main" val="3199544565"/>
              </p:ext>
            </p:extLst>
          </p:nvPr>
        </p:nvGraphicFramePr>
        <p:xfrm>
          <a:off x="121921" y="4961414"/>
          <a:ext cx="6571487" cy="1584960"/>
        </p:xfrm>
        <a:graphic>
          <a:graphicData uri="http://schemas.openxmlformats.org/drawingml/2006/table">
            <a:tbl>
              <a:tblPr>
                <a:tableStyleId>{284E427A-3D55-4303-BF80-6455036E1DE7}</a:tableStyleId>
              </a:tblPr>
              <a:tblGrid>
                <a:gridCol w="1589647">
                  <a:extLst>
                    <a:ext uri="{9D8B030D-6E8A-4147-A177-3AD203B41FA5}">
                      <a16:colId xmlns:a16="http://schemas.microsoft.com/office/drawing/2014/main" val="4021442257"/>
                    </a:ext>
                  </a:extLst>
                </a:gridCol>
                <a:gridCol w="2171571">
                  <a:extLst>
                    <a:ext uri="{9D8B030D-6E8A-4147-A177-3AD203B41FA5}">
                      <a16:colId xmlns:a16="http://schemas.microsoft.com/office/drawing/2014/main" val="2057911177"/>
                    </a:ext>
                  </a:extLst>
                </a:gridCol>
                <a:gridCol w="2810269">
                  <a:extLst>
                    <a:ext uri="{9D8B030D-6E8A-4147-A177-3AD203B41FA5}">
                      <a16:colId xmlns:a16="http://schemas.microsoft.com/office/drawing/2014/main" val="1125331169"/>
                    </a:ext>
                  </a:extLst>
                </a:gridCol>
              </a:tblGrid>
              <a:tr h="0">
                <a:tc>
                  <a:txBody>
                    <a:bodyPr/>
                    <a:lstStyle/>
                    <a:p>
                      <a:pPr>
                        <a:buNone/>
                      </a:pPr>
                      <a:r>
                        <a:rPr lang="en-US" sz="1600" b="1"/>
                        <a:t>Class Name</a:t>
                      </a:r>
                      <a:endParaRPr lang="en-US" sz="1600"/>
                    </a:p>
                  </a:txBody>
                  <a:tcPr anchor="ctr"/>
                </a:tc>
                <a:tc>
                  <a:txBody>
                    <a:bodyPr/>
                    <a:lstStyle/>
                    <a:p>
                      <a:pPr>
                        <a:buNone/>
                      </a:pPr>
                      <a:r>
                        <a:rPr lang="en-US" sz="1600" b="1"/>
                        <a:t>Meaning</a:t>
                      </a:r>
                      <a:endParaRPr lang="en-US" sz="1600"/>
                    </a:p>
                  </a:txBody>
                  <a:tcPr anchor="ctr"/>
                </a:tc>
                <a:tc>
                  <a:txBody>
                    <a:bodyPr/>
                    <a:lstStyle/>
                    <a:p>
                      <a:pPr>
                        <a:buNone/>
                      </a:pPr>
                      <a:r>
                        <a:rPr lang="en-US" sz="1600" b="1"/>
                        <a:t>Example Behavior</a:t>
                      </a:r>
                      <a:endParaRPr lang="en-US" sz="1600"/>
                    </a:p>
                  </a:txBody>
                  <a:tcPr anchor="ctr"/>
                </a:tc>
                <a:extLst>
                  <a:ext uri="{0D108BD9-81ED-4DB2-BD59-A6C34878D82A}">
                    <a16:rowId xmlns:a16="http://schemas.microsoft.com/office/drawing/2014/main" val="1818623137"/>
                  </a:ext>
                </a:extLst>
              </a:tr>
              <a:tr h="0">
                <a:tc>
                  <a:txBody>
                    <a:bodyPr/>
                    <a:lstStyle/>
                    <a:p>
                      <a:pPr>
                        <a:buNone/>
                      </a:pPr>
                      <a:r>
                        <a:rPr lang="en-US" sz="1600" b="1" dirty="0"/>
                        <a:t>Parallel</a:t>
                      </a:r>
                      <a:endParaRPr lang="en-US" sz="1600" dirty="0"/>
                    </a:p>
                  </a:txBody>
                  <a:tcPr anchor="ctr"/>
                </a:tc>
                <a:tc>
                  <a:txBody>
                    <a:bodyPr/>
                    <a:lstStyle/>
                    <a:p>
                      <a:pPr>
                        <a:buNone/>
                      </a:pPr>
                      <a:r>
                        <a:rPr lang="en-US" sz="1600" dirty="0"/>
                        <a:t>Lines never meet</a:t>
                      </a:r>
                    </a:p>
                  </a:txBody>
                  <a:tcPr anchor="ctr"/>
                </a:tc>
                <a:tc>
                  <a:txBody>
                    <a:bodyPr/>
                    <a:lstStyle/>
                    <a:p>
                      <a:pPr>
                        <a:buNone/>
                      </a:pPr>
                      <a:r>
                        <a:rPr lang="en-US" sz="1600"/>
                        <a:t>Output: “No intersection”</a:t>
                      </a:r>
                    </a:p>
                  </a:txBody>
                  <a:tcPr anchor="ctr"/>
                </a:tc>
                <a:extLst>
                  <a:ext uri="{0D108BD9-81ED-4DB2-BD59-A6C34878D82A}">
                    <a16:rowId xmlns:a16="http://schemas.microsoft.com/office/drawing/2014/main" val="2631348303"/>
                  </a:ext>
                </a:extLst>
              </a:tr>
              <a:tr h="0">
                <a:tc>
                  <a:txBody>
                    <a:bodyPr/>
                    <a:lstStyle/>
                    <a:p>
                      <a:pPr>
                        <a:buNone/>
                      </a:pPr>
                      <a:r>
                        <a:rPr lang="en-US" sz="1600" b="1"/>
                        <a:t>Intersecting</a:t>
                      </a:r>
                      <a:endParaRPr lang="en-US" sz="1600"/>
                    </a:p>
                  </a:txBody>
                  <a:tcPr anchor="ctr"/>
                </a:tc>
                <a:tc>
                  <a:txBody>
                    <a:bodyPr/>
                    <a:lstStyle/>
                    <a:p>
                      <a:pPr>
                        <a:buNone/>
                      </a:pPr>
                      <a:r>
                        <a:rPr lang="en-US" sz="1600" dirty="0"/>
                        <a:t>Lines cross at one point</a:t>
                      </a:r>
                    </a:p>
                  </a:txBody>
                  <a:tcPr anchor="ctr"/>
                </a:tc>
                <a:tc>
                  <a:txBody>
                    <a:bodyPr/>
                    <a:lstStyle/>
                    <a:p>
                      <a:pPr>
                        <a:buNone/>
                      </a:pPr>
                      <a:r>
                        <a:rPr lang="en-US" sz="1600" dirty="0"/>
                        <a:t>Output: “Lines meet at (x, y)”</a:t>
                      </a:r>
                    </a:p>
                  </a:txBody>
                  <a:tcPr anchor="ctr"/>
                </a:tc>
                <a:extLst>
                  <a:ext uri="{0D108BD9-81ED-4DB2-BD59-A6C34878D82A}">
                    <a16:rowId xmlns:a16="http://schemas.microsoft.com/office/drawing/2014/main" val="311446743"/>
                  </a:ext>
                </a:extLst>
              </a:tr>
              <a:tr h="0">
                <a:tc>
                  <a:txBody>
                    <a:bodyPr/>
                    <a:lstStyle/>
                    <a:p>
                      <a:pPr>
                        <a:buNone/>
                      </a:pPr>
                      <a:r>
                        <a:rPr lang="en-US" sz="1600" b="1"/>
                        <a:t>Coincident</a:t>
                      </a:r>
                      <a:endParaRPr lang="en-US" sz="1600"/>
                    </a:p>
                  </a:txBody>
                  <a:tcPr anchor="ctr"/>
                </a:tc>
                <a:tc>
                  <a:txBody>
                    <a:bodyPr/>
                    <a:lstStyle/>
                    <a:p>
                      <a:pPr>
                        <a:buNone/>
                      </a:pPr>
                      <a:r>
                        <a:rPr lang="en-US" sz="1600"/>
                        <a:t>Lines overlap completely</a:t>
                      </a:r>
                    </a:p>
                  </a:txBody>
                  <a:tcPr anchor="ctr"/>
                </a:tc>
                <a:tc>
                  <a:txBody>
                    <a:bodyPr/>
                    <a:lstStyle/>
                    <a:p>
                      <a:pPr>
                        <a:buNone/>
                      </a:pPr>
                      <a:r>
                        <a:rPr lang="en-US" sz="1600" dirty="0"/>
                        <a:t>Output: “Infinite intersections”</a:t>
                      </a:r>
                    </a:p>
                  </a:txBody>
                  <a:tcPr anchor="ctr"/>
                </a:tc>
                <a:extLst>
                  <a:ext uri="{0D108BD9-81ED-4DB2-BD59-A6C34878D82A}">
                    <a16:rowId xmlns:a16="http://schemas.microsoft.com/office/drawing/2014/main" val="4272440160"/>
                  </a:ext>
                </a:extLst>
              </a:tr>
            </a:tbl>
          </a:graphicData>
        </a:graphic>
      </p:graphicFrame>
      <p:sp>
        <p:nvSpPr>
          <p:cNvPr id="2" name="Date Placeholder 1">
            <a:extLst>
              <a:ext uri="{FF2B5EF4-FFF2-40B4-BE49-F238E27FC236}">
                <a16:creationId xmlns:a16="http://schemas.microsoft.com/office/drawing/2014/main" id="{BB68F549-9385-FFA2-2931-F163678DA7A0}"/>
              </a:ext>
            </a:extLst>
          </p:cNvPr>
          <p:cNvSpPr>
            <a:spLocks noGrp="1"/>
          </p:cNvSpPr>
          <p:nvPr>
            <p:ph type="dt" sz="half" idx="10"/>
          </p:nvPr>
        </p:nvSpPr>
        <p:spPr/>
        <p:txBody>
          <a:bodyPr/>
          <a:lstStyle/>
          <a:p>
            <a:fld id="{FE108D80-5EB1-40EF-A856-6F8E7D5B28F4}" type="datetime1">
              <a:rPr lang="en-IN" smtClean="0"/>
              <a:t>03-11-2025</a:t>
            </a:fld>
            <a:endParaRPr lang="en-IN"/>
          </a:p>
        </p:txBody>
      </p:sp>
      <p:sp>
        <p:nvSpPr>
          <p:cNvPr id="3" name="Footer Placeholder 2">
            <a:extLst>
              <a:ext uri="{FF2B5EF4-FFF2-40B4-BE49-F238E27FC236}">
                <a16:creationId xmlns:a16="http://schemas.microsoft.com/office/drawing/2014/main" id="{39F4D5F3-A185-4BB4-CE28-274E8104B7C1}"/>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D979FD21-6AD2-F13C-D16A-E96BD3729C6C}"/>
              </a:ext>
            </a:extLst>
          </p:cNvPr>
          <p:cNvSpPr>
            <a:spLocks noGrp="1"/>
          </p:cNvSpPr>
          <p:nvPr>
            <p:ph type="sldNum" sz="quarter" idx="12"/>
          </p:nvPr>
        </p:nvSpPr>
        <p:spPr/>
        <p:txBody>
          <a:bodyPr/>
          <a:lstStyle/>
          <a:p>
            <a:fld id="{157E8F69-36B6-4843-A9CE-6B9353F4DBAF}" type="slidenum">
              <a:rPr lang="en-IN" smtClean="0"/>
              <a:t>37</a:t>
            </a:fld>
            <a:endParaRPr lang="en-IN"/>
          </a:p>
        </p:txBody>
      </p:sp>
    </p:spTree>
    <p:extLst>
      <p:ext uri="{BB962C8B-B14F-4D97-AF65-F5344CB8AC3E}">
        <p14:creationId xmlns:p14="http://schemas.microsoft.com/office/powerpoint/2010/main" val="3817241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57DBC81-97A2-1C03-CA75-4047ED1A1344}"/>
              </a:ext>
            </a:extLst>
          </p:cNvPr>
          <p:cNvSpPr txBox="1"/>
          <p:nvPr/>
        </p:nvSpPr>
        <p:spPr>
          <a:xfrm>
            <a:off x="377190" y="231940"/>
            <a:ext cx="6094476" cy="1200329"/>
          </a:xfrm>
          <a:prstGeom prst="rect">
            <a:avLst/>
          </a:prstGeom>
          <a:noFill/>
        </p:spPr>
        <p:txBody>
          <a:bodyPr wrap="square">
            <a:spAutoFit/>
          </a:bodyPr>
          <a:lstStyle/>
          <a:p>
            <a:pPr>
              <a:buNone/>
            </a:pPr>
            <a:r>
              <a:rPr lang="en-US" b="1" dirty="0"/>
              <a:t>Step 2: Choose Representative Test Cases</a:t>
            </a:r>
          </a:p>
          <a:p>
            <a:pPr>
              <a:buNone/>
            </a:pPr>
            <a:r>
              <a:rPr lang="en-US" dirty="0"/>
              <a:t>We don’t need to test </a:t>
            </a:r>
            <a:r>
              <a:rPr lang="en-US" i="1" dirty="0"/>
              <a:t>every possible pair of lines</a:t>
            </a:r>
            <a:r>
              <a:rPr lang="en-US" dirty="0"/>
              <a:t> — just </a:t>
            </a:r>
            <a:r>
              <a:rPr lang="en-US" b="1" dirty="0"/>
              <a:t>one example per class</a:t>
            </a:r>
            <a:r>
              <a:rPr lang="en-US" dirty="0"/>
              <a:t>, because all lines in the same class behave similarly.</a:t>
            </a:r>
          </a:p>
        </p:txBody>
      </p:sp>
      <p:graphicFrame>
        <p:nvGraphicFramePr>
          <p:cNvPr id="5" name="Table 4">
            <a:extLst>
              <a:ext uri="{FF2B5EF4-FFF2-40B4-BE49-F238E27FC236}">
                <a16:creationId xmlns:a16="http://schemas.microsoft.com/office/drawing/2014/main" id="{99A56CF6-B393-910B-F740-E23B6FC3BF5B}"/>
              </a:ext>
            </a:extLst>
          </p:cNvPr>
          <p:cNvGraphicFramePr>
            <a:graphicFrameLocks noGrp="1"/>
          </p:cNvGraphicFramePr>
          <p:nvPr>
            <p:extLst>
              <p:ext uri="{D42A27DB-BD31-4B8C-83A1-F6EECF244321}">
                <p14:modId xmlns:p14="http://schemas.microsoft.com/office/powerpoint/2010/main" val="3465638810"/>
              </p:ext>
            </p:extLst>
          </p:nvPr>
        </p:nvGraphicFramePr>
        <p:xfrm>
          <a:off x="377190" y="1697006"/>
          <a:ext cx="10515600" cy="1463040"/>
        </p:xfrm>
        <a:graphic>
          <a:graphicData uri="http://schemas.openxmlformats.org/drawingml/2006/table">
            <a:tbl>
              <a:tblPr/>
              <a:tblGrid>
                <a:gridCol w="3505200">
                  <a:extLst>
                    <a:ext uri="{9D8B030D-6E8A-4147-A177-3AD203B41FA5}">
                      <a16:colId xmlns:a16="http://schemas.microsoft.com/office/drawing/2014/main" val="156430274"/>
                    </a:ext>
                  </a:extLst>
                </a:gridCol>
                <a:gridCol w="3505200">
                  <a:extLst>
                    <a:ext uri="{9D8B030D-6E8A-4147-A177-3AD203B41FA5}">
                      <a16:colId xmlns:a16="http://schemas.microsoft.com/office/drawing/2014/main" val="305833748"/>
                    </a:ext>
                  </a:extLst>
                </a:gridCol>
                <a:gridCol w="3505200">
                  <a:extLst>
                    <a:ext uri="{9D8B030D-6E8A-4147-A177-3AD203B41FA5}">
                      <a16:colId xmlns:a16="http://schemas.microsoft.com/office/drawing/2014/main" val="1136488901"/>
                    </a:ext>
                  </a:extLst>
                </a:gridCol>
              </a:tblGrid>
              <a:tr h="0">
                <a:tc>
                  <a:txBody>
                    <a:bodyPr/>
                    <a:lstStyle/>
                    <a:p>
                      <a:pPr>
                        <a:buNone/>
                      </a:pPr>
                      <a:r>
                        <a:rPr lang="en-US" b="1"/>
                        <a:t>Class</a:t>
                      </a:r>
                      <a:endParaRPr lang="en-US"/>
                    </a:p>
                  </a:txBody>
                  <a:tcPr anchor="ctr">
                    <a:lnL>
                      <a:noFill/>
                    </a:lnL>
                    <a:lnR>
                      <a:noFill/>
                    </a:lnR>
                    <a:lnT>
                      <a:noFill/>
                    </a:lnT>
                    <a:lnB>
                      <a:noFill/>
                    </a:lnB>
                    <a:noFill/>
                  </a:tcPr>
                </a:tc>
                <a:tc>
                  <a:txBody>
                    <a:bodyPr/>
                    <a:lstStyle/>
                    <a:p>
                      <a:pPr>
                        <a:buNone/>
                      </a:pPr>
                      <a:r>
                        <a:rPr lang="en-US" b="1"/>
                        <a:t>Test Case Example</a:t>
                      </a:r>
                      <a:endParaRPr lang="en-US"/>
                    </a:p>
                  </a:txBody>
                  <a:tcPr anchor="ctr">
                    <a:lnL>
                      <a:noFill/>
                    </a:lnL>
                    <a:lnR>
                      <a:noFill/>
                    </a:lnR>
                    <a:lnT>
                      <a:noFill/>
                    </a:lnT>
                    <a:lnB>
                      <a:noFill/>
                    </a:lnB>
                    <a:noFill/>
                  </a:tcPr>
                </a:tc>
                <a:tc>
                  <a:txBody>
                    <a:bodyPr/>
                    <a:lstStyle/>
                    <a:p>
                      <a:pPr>
                        <a:buNone/>
                      </a:pPr>
                      <a:r>
                        <a:rPr lang="en-US" b="1"/>
                        <a:t>Explanation</a:t>
                      </a:r>
                      <a:endParaRPr lang="en-US"/>
                    </a:p>
                  </a:txBody>
                  <a:tcPr anchor="ctr">
                    <a:lnL>
                      <a:noFill/>
                    </a:lnL>
                    <a:lnR>
                      <a:noFill/>
                    </a:lnR>
                    <a:lnT>
                      <a:noFill/>
                    </a:lnT>
                    <a:lnB>
                      <a:noFill/>
                    </a:lnB>
                    <a:noFill/>
                  </a:tcPr>
                </a:tc>
                <a:extLst>
                  <a:ext uri="{0D108BD9-81ED-4DB2-BD59-A6C34878D82A}">
                    <a16:rowId xmlns:a16="http://schemas.microsoft.com/office/drawing/2014/main" val="701993330"/>
                  </a:ext>
                </a:extLst>
              </a:tr>
              <a:tr h="0">
                <a:tc>
                  <a:txBody>
                    <a:bodyPr/>
                    <a:lstStyle/>
                    <a:p>
                      <a:pPr>
                        <a:buNone/>
                      </a:pPr>
                      <a:r>
                        <a:rPr lang="en-US"/>
                        <a:t>Parallel</a:t>
                      </a:r>
                    </a:p>
                  </a:txBody>
                  <a:tcPr anchor="ctr">
                    <a:lnL>
                      <a:noFill/>
                    </a:lnL>
                    <a:lnR>
                      <a:noFill/>
                    </a:lnR>
                    <a:lnT>
                      <a:noFill/>
                    </a:lnT>
                    <a:lnB>
                      <a:noFill/>
                    </a:lnB>
                    <a:noFill/>
                  </a:tcPr>
                </a:tc>
                <a:tc>
                  <a:txBody>
                    <a:bodyPr/>
                    <a:lstStyle/>
                    <a:p>
                      <a:pPr>
                        <a:buNone/>
                      </a:pPr>
                      <a:r>
                        <a:rPr lang="en-US">
                          <a:latin typeface="Courier New" panose="02070309020205020404" pitchFamily="49" charset="0"/>
                        </a:rPr>
                        <a:t>{(2,2)(2,5)}</a:t>
                      </a:r>
                      <a:endParaRPr lang="en-US"/>
                    </a:p>
                  </a:txBody>
                  <a:tcPr anchor="ctr">
                    <a:lnL>
                      <a:noFill/>
                    </a:lnL>
                    <a:lnR>
                      <a:noFill/>
                    </a:lnR>
                    <a:lnT>
                      <a:noFill/>
                    </a:lnT>
                    <a:lnB>
                      <a:noFill/>
                    </a:lnB>
                    <a:noFill/>
                  </a:tcPr>
                </a:tc>
                <a:tc>
                  <a:txBody>
                    <a:bodyPr/>
                    <a:lstStyle/>
                    <a:p>
                      <a:pPr>
                        <a:buNone/>
                      </a:pPr>
                      <a:r>
                        <a:rPr lang="en-US"/>
                        <a:t>Two vertical lines that never meet.</a:t>
                      </a:r>
                    </a:p>
                  </a:txBody>
                  <a:tcPr anchor="ctr">
                    <a:lnL>
                      <a:noFill/>
                    </a:lnL>
                    <a:lnR>
                      <a:noFill/>
                    </a:lnR>
                    <a:lnT>
                      <a:noFill/>
                    </a:lnT>
                    <a:lnB>
                      <a:noFill/>
                    </a:lnB>
                    <a:noFill/>
                  </a:tcPr>
                </a:tc>
                <a:extLst>
                  <a:ext uri="{0D108BD9-81ED-4DB2-BD59-A6C34878D82A}">
                    <a16:rowId xmlns:a16="http://schemas.microsoft.com/office/drawing/2014/main" val="1281818922"/>
                  </a:ext>
                </a:extLst>
              </a:tr>
              <a:tr h="0">
                <a:tc>
                  <a:txBody>
                    <a:bodyPr/>
                    <a:lstStyle/>
                    <a:p>
                      <a:pPr>
                        <a:buNone/>
                      </a:pPr>
                      <a:r>
                        <a:rPr lang="en-US"/>
                        <a:t>Intersecting</a:t>
                      </a:r>
                    </a:p>
                  </a:txBody>
                  <a:tcPr anchor="ctr">
                    <a:lnL>
                      <a:noFill/>
                    </a:lnL>
                    <a:lnR>
                      <a:noFill/>
                    </a:lnR>
                    <a:lnT>
                      <a:noFill/>
                    </a:lnT>
                    <a:lnB>
                      <a:noFill/>
                    </a:lnB>
                    <a:noFill/>
                  </a:tcPr>
                </a:tc>
                <a:tc>
                  <a:txBody>
                    <a:bodyPr/>
                    <a:lstStyle/>
                    <a:p>
                      <a:pPr>
                        <a:buNone/>
                      </a:pPr>
                      <a:r>
                        <a:rPr lang="en-US">
                          <a:latin typeface="Courier New" panose="02070309020205020404" pitchFamily="49" charset="0"/>
                        </a:rPr>
                        <a:t>{(5,5)(7,7)}</a:t>
                      </a:r>
                      <a:endParaRPr lang="en-US"/>
                    </a:p>
                  </a:txBody>
                  <a:tcPr anchor="ctr">
                    <a:lnL>
                      <a:noFill/>
                    </a:lnL>
                    <a:lnR>
                      <a:noFill/>
                    </a:lnR>
                    <a:lnT>
                      <a:noFill/>
                    </a:lnT>
                    <a:lnB>
                      <a:noFill/>
                    </a:lnB>
                    <a:noFill/>
                  </a:tcPr>
                </a:tc>
                <a:tc>
                  <a:txBody>
                    <a:bodyPr/>
                    <a:lstStyle/>
                    <a:p>
                      <a:pPr>
                        <a:buNone/>
                      </a:pPr>
                      <a:r>
                        <a:rPr lang="en-US"/>
                        <a:t>Two lines crossing each other.</a:t>
                      </a:r>
                    </a:p>
                  </a:txBody>
                  <a:tcPr anchor="ctr">
                    <a:lnL>
                      <a:noFill/>
                    </a:lnL>
                    <a:lnR>
                      <a:noFill/>
                    </a:lnR>
                    <a:lnT>
                      <a:noFill/>
                    </a:lnT>
                    <a:lnB>
                      <a:noFill/>
                    </a:lnB>
                    <a:noFill/>
                  </a:tcPr>
                </a:tc>
                <a:extLst>
                  <a:ext uri="{0D108BD9-81ED-4DB2-BD59-A6C34878D82A}">
                    <a16:rowId xmlns:a16="http://schemas.microsoft.com/office/drawing/2014/main" val="2271958914"/>
                  </a:ext>
                </a:extLst>
              </a:tr>
              <a:tr h="0">
                <a:tc>
                  <a:txBody>
                    <a:bodyPr/>
                    <a:lstStyle/>
                    <a:p>
                      <a:pPr>
                        <a:buNone/>
                      </a:pPr>
                      <a:r>
                        <a:rPr lang="en-US"/>
                        <a:t>Coincident</a:t>
                      </a:r>
                    </a:p>
                  </a:txBody>
                  <a:tcPr anchor="ctr">
                    <a:lnL>
                      <a:noFill/>
                    </a:lnL>
                    <a:lnR>
                      <a:noFill/>
                    </a:lnR>
                    <a:lnT>
                      <a:noFill/>
                    </a:lnT>
                    <a:lnB>
                      <a:noFill/>
                    </a:lnB>
                    <a:noFill/>
                  </a:tcPr>
                </a:tc>
                <a:tc>
                  <a:txBody>
                    <a:bodyPr/>
                    <a:lstStyle/>
                    <a:p>
                      <a:pPr>
                        <a:buNone/>
                      </a:pPr>
                      <a:r>
                        <a:rPr lang="en-US">
                          <a:latin typeface="Courier New" panose="02070309020205020404" pitchFamily="49" charset="0"/>
                        </a:rPr>
                        <a:t>{(10,10)(10,10)}</a:t>
                      </a:r>
                      <a:endParaRPr lang="en-US"/>
                    </a:p>
                  </a:txBody>
                  <a:tcPr anchor="ctr">
                    <a:lnL>
                      <a:noFill/>
                    </a:lnL>
                    <a:lnR>
                      <a:noFill/>
                    </a:lnR>
                    <a:lnT>
                      <a:noFill/>
                    </a:lnT>
                    <a:lnB>
                      <a:noFill/>
                    </a:lnB>
                    <a:noFill/>
                  </a:tcPr>
                </a:tc>
                <a:tc>
                  <a:txBody>
                    <a:bodyPr/>
                    <a:lstStyle/>
                    <a:p>
                      <a:pPr>
                        <a:buNone/>
                      </a:pPr>
                      <a:r>
                        <a:rPr lang="en-US" dirty="0"/>
                        <a:t>Both lines are exactly the same.</a:t>
                      </a:r>
                    </a:p>
                  </a:txBody>
                  <a:tcPr anchor="ctr">
                    <a:lnL>
                      <a:noFill/>
                    </a:lnL>
                    <a:lnR>
                      <a:noFill/>
                    </a:lnR>
                    <a:lnT>
                      <a:noFill/>
                    </a:lnT>
                    <a:lnB>
                      <a:noFill/>
                    </a:lnB>
                    <a:noFill/>
                  </a:tcPr>
                </a:tc>
                <a:extLst>
                  <a:ext uri="{0D108BD9-81ED-4DB2-BD59-A6C34878D82A}">
                    <a16:rowId xmlns:a16="http://schemas.microsoft.com/office/drawing/2014/main" val="3852736806"/>
                  </a:ext>
                </a:extLst>
              </a:tr>
            </a:tbl>
          </a:graphicData>
        </a:graphic>
      </p:graphicFrame>
      <p:sp>
        <p:nvSpPr>
          <p:cNvPr id="7" name="TextBox 6">
            <a:extLst>
              <a:ext uri="{FF2B5EF4-FFF2-40B4-BE49-F238E27FC236}">
                <a16:creationId xmlns:a16="http://schemas.microsoft.com/office/drawing/2014/main" id="{9F572DA2-DFD8-7128-8012-7AC45192E2E6}"/>
              </a:ext>
            </a:extLst>
          </p:cNvPr>
          <p:cNvSpPr txBox="1"/>
          <p:nvPr/>
        </p:nvSpPr>
        <p:spPr>
          <a:xfrm>
            <a:off x="532638" y="3915632"/>
            <a:ext cx="6094476" cy="1477328"/>
          </a:xfrm>
          <a:prstGeom prst="rect">
            <a:avLst/>
          </a:prstGeom>
          <a:noFill/>
        </p:spPr>
        <p:txBody>
          <a:bodyPr wrap="square">
            <a:spAutoFit/>
          </a:bodyPr>
          <a:lstStyle/>
          <a:p>
            <a:pPr>
              <a:buNone/>
            </a:pPr>
            <a:r>
              <a:rPr lang="en-US" b="1" dirty="0"/>
              <a:t>🧾 Case 1: Parallel lines — </a:t>
            </a:r>
            <a:r>
              <a:rPr lang="en-US" b="1" dirty="0">
                <a:latin typeface="Courier New" panose="02070309020205020404" pitchFamily="49" charset="0"/>
              </a:rPr>
              <a:t>{(2,2)(2,5)}</a:t>
            </a:r>
            <a:endParaRPr lang="en-US" b="1" dirty="0"/>
          </a:p>
          <a:p>
            <a:pPr>
              <a:buNone/>
            </a:pPr>
            <a:r>
              <a:rPr lang="en-US" dirty="0"/>
              <a:t>These are </a:t>
            </a:r>
            <a:r>
              <a:rPr lang="en-US" b="1" dirty="0"/>
              <a:t>two vertical lines</a:t>
            </a:r>
            <a:r>
              <a:rPr lang="en-US" dirty="0"/>
              <a:t> at </a:t>
            </a:r>
            <a:r>
              <a:rPr lang="en-US" b="1" dirty="0"/>
              <a:t>x = 2</a:t>
            </a:r>
            <a:r>
              <a:rPr lang="en-US" dirty="0"/>
              <a:t> and </a:t>
            </a:r>
            <a:r>
              <a:rPr lang="en-US" b="1" dirty="0"/>
              <a:t>x = 5</a:t>
            </a:r>
            <a:r>
              <a:rPr lang="en-US" dirty="0"/>
              <a:t> (for example).</a:t>
            </a:r>
            <a:br>
              <a:rPr lang="en-US" dirty="0"/>
            </a:br>
            <a:r>
              <a:rPr lang="en-US" dirty="0"/>
              <a:t>They go up and down but never meet.</a:t>
            </a:r>
          </a:p>
          <a:p>
            <a:pPr>
              <a:buNone/>
            </a:pPr>
            <a:r>
              <a:rPr lang="en-US" dirty="0"/>
              <a:t>🧱 Class: </a:t>
            </a:r>
            <a:r>
              <a:rPr lang="en-US" b="1" dirty="0"/>
              <a:t>Parallel (no intersection)</a:t>
            </a:r>
            <a:br>
              <a:rPr lang="en-US" dirty="0"/>
            </a:br>
            <a:r>
              <a:rPr lang="en-US" dirty="0"/>
              <a:t>🧪 Expected Output: "No intersection point."</a:t>
            </a:r>
          </a:p>
        </p:txBody>
      </p:sp>
      <p:sp>
        <p:nvSpPr>
          <p:cNvPr id="2" name="Date Placeholder 1">
            <a:extLst>
              <a:ext uri="{FF2B5EF4-FFF2-40B4-BE49-F238E27FC236}">
                <a16:creationId xmlns:a16="http://schemas.microsoft.com/office/drawing/2014/main" id="{8CBEE6CD-3A1A-EAF5-B5EE-3826146D93F4}"/>
              </a:ext>
            </a:extLst>
          </p:cNvPr>
          <p:cNvSpPr>
            <a:spLocks noGrp="1"/>
          </p:cNvSpPr>
          <p:nvPr>
            <p:ph type="dt" sz="half" idx="10"/>
          </p:nvPr>
        </p:nvSpPr>
        <p:spPr/>
        <p:txBody>
          <a:bodyPr/>
          <a:lstStyle/>
          <a:p>
            <a:fld id="{2F0851DD-CB4A-415C-9194-4C4179909C1C}" type="datetime1">
              <a:rPr lang="en-IN" smtClean="0"/>
              <a:t>03-11-2025</a:t>
            </a:fld>
            <a:endParaRPr lang="en-IN"/>
          </a:p>
        </p:txBody>
      </p:sp>
      <p:sp>
        <p:nvSpPr>
          <p:cNvPr id="3" name="Footer Placeholder 2">
            <a:extLst>
              <a:ext uri="{FF2B5EF4-FFF2-40B4-BE49-F238E27FC236}">
                <a16:creationId xmlns:a16="http://schemas.microsoft.com/office/drawing/2014/main" id="{5E54CCC7-0BAC-3248-11AB-D615BE859DF8}"/>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0711F4B7-A7C5-DFB6-8FF5-5AC864C3BD9B}"/>
              </a:ext>
            </a:extLst>
          </p:cNvPr>
          <p:cNvSpPr>
            <a:spLocks noGrp="1"/>
          </p:cNvSpPr>
          <p:nvPr>
            <p:ph type="sldNum" sz="quarter" idx="12"/>
          </p:nvPr>
        </p:nvSpPr>
        <p:spPr/>
        <p:txBody>
          <a:bodyPr/>
          <a:lstStyle/>
          <a:p>
            <a:fld id="{157E8F69-36B6-4843-A9CE-6B9353F4DBAF}" type="slidenum">
              <a:rPr lang="en-IN" smtClean="0"/>
              <a:t>38</a:t>
            </a:fld>
            <a:endParaRPr lang="en-IN"/>
          </a:p>
        </p:txBody>
      </p:sp>
    </p:spTree>
    <p:extLst>
      <p:ext uri="{BB962C8B-B14F-4D97-AF65-F5344CB8AC3E}">
        <p14:creationId xmlns:p14="http://schemas.microsoft.com/office/powerpoint/2010/main" val="19335184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442EC5-FC44-20E5-D831-4D38BD28F01B}"/>
              </a:ext>
            </a:extLst>
          </p:cNvPr>
          <p:cNvSpPr txBox="1"/>
          <p:nvPr/>
        </p:nvSpPr>
        <p:spPr>
          <a:xfrm>
            <a:off x="358902" y="245318"/>
            <a:ext cx="11656314" cy="1631216"/>
          </a:xfrm>
          <a:prstGeom prst="rect">
            <a:avLst/>
          </a:prstGeom>
          <a:noFill/>
        </p:spPr>
        <p:txBody>
          <a:bodyPr wrap="square">
            <a:spAutoFit/>
          </a:bodyPr>
          <a:lstStyle/>
          <a:p>
            <a:pPr>
              <a:buNone/>
            </a:pPr>
            <a:r>
              <a:rPr lang="en-US" sz="2000" b="1" dirty="0"/>
              <a:t>🧾 Case 2: Intersecting lines — </a:t>
            </a:r>
            <a:r>
              <a:rPr lang="en-US" sz="2000" b="1" dirty="0">
                <a:latin typeface="Courier New" panose="02070309020205020404" pitchFamily="49" charset="0"/>
              </a:rPr>
              <a:t>{(5,5)(7,7)}</a:t>
            </a:r>
            <a:endParaRPr lang="en-US" sz="2000" b="1" dirty="0"/>
          </a:p>
          <a:p>
            <a:pPr>
              <a:buNone/>
            </a:pPr>
            <a:r>
              <a:rPr lang="en-US" sz="2000" dirty="0"/>
              <a:t>These are </a:t>
            </a:r>
            <a:r>
              <a:rPr lang="en-US" sz="2000" b="1" dirty="0"/>
              <a:t>two lines with different slopes</a:t>
            </a:r>
            <a:r>
              <a:rPr lang="en-US" sz="2000" dirty="0"/>
              <a:t>, so they cross each other at exactly one point.</a:t>
            </a:r>
            <a:br>
              <a:rPr lang="en-US" sz="2000" dirty="0"/>
            </a:br>
            <a:r>
              <a:rPr lang="en-US" sz="2000" dirty="0"/>
              <a:t>Think of one line going diagonally up-right and another going diagonally down-right — they cross once.</a:t>
            </a:r>
          </a:p>
          <a:p>
            <a:pPr>
              <a:buNone/>
            </a:pPr>
            <a:r>
              <a:rPr lang="en-US" sz="2000" dirty="0"/>
              <a:t>🧱 Class: </a:t>
            </a:r>
            <a:r>
              <a:rPr lang="en-US" sz="2000" b="1" dirty="0"/>
              <a:t>Intersecting (one intersection point)</a:t>
            </a:r>
            <a:br>
              <a:rPr lang="en-US" sz="2000" dirty="0"/>
            </a:br>
            <a:r>
              <a:rPr lang="en-US" sz="2000" dirty="0"/>
              <a:t>🧪 Expected Output: "Intersection at (x, y)."</a:t>
            </a:r>
          </a:p>
        </p:txBody>
      </p:sp>
      <p:sp>
        <p:nvSpPr>
          <p:cNvPr id="6" name="TextBox 5">
            <a:extLst>
              <a:ext uri="{FF2B5EF4-FFF2-40B4-BE49-F238E27FC236}">
                <a16:creationId xmlns:a16="http://schemas.microsoft.com/office/drawing/2014/main" id="{EBD2E050-E8C1-CA1E-3D0C-65E716ACAE44}"/>
              </a:ext>
            </a:extLst>
          </p:cNvPr>
          <p:cNvSpPr txBox="1"/>
          <p:nvPr/>
        </p:nvSpPr>
        <p:spPr>
          <a:xfrm>
            <a:off x="349758" y="2688997"/>
            <a:ext cx="11766042" cy="1631216"/>
          </a:xfrm>
          <a:prstGeom prst="rect">
            <a:avLst/>
          </a:prstGeom>
          <a:noFill/>
        </p:spPr>
        <p:txBody>
          <a:bodyPr wrap="square">
            <a:spAutoFit/>
          </a:bodyPr>
          <a:lstStyle/>
          <a:p>
            <a:pPr>
              <a:buNone/>
            </a:pPr>
            <a:r>
              <a:rPr lang="en-US" sz="2000" b="1" dirty="0"/>
              <a:t>🧾 Case 3: Coincident lines — </a:t>
            </a:r>
            <a:r>
              <a:rPr lang="en-US" sz="2000" b="1" dirty="0">
                <a:latin typeface="Courier New" panose="02070309020205020404" pitchFamily="49" charset="0"/>
              </a:rPr>
              <a:t>{(10,10)(10,10)}</a:t>
            </a:r>
            <a:endParaRPr lang="en-US" sz="2000" b="1" dirty="0"/>
          </a:p>
          <a:p>
            <a:pPr>
              <a:buNone/>
            </a:pPr>
            <a:r>
              <a:rPr lang="en-US" sz="2000" dirty="0"/>
              <a:t>Here, the two lines are </a:t>
            </a:r>
            <a:r>
              <a:rPr lang="en-US" sz="2000" b="1" dirty="0"/>
              <a:t>exactly the same</a:t>
            </a:r>
            <a:r>
              <a:rPr lang="en-US" sz="2000" dirty="0"/>
              <a:t> — all their points overlap.</a:t>
            </a:r>
            <a:br>
              <a:rPr lang="en-US" sz="2000" dirty="0"/>
            </a:br>
            <a:r>
              <a:rPr lang="en-US" sz="2000" dirty="0"/>
              <a:t>That means they meet at </a:t>
            </a:r>
            <a:r>
              <a:rPr lang="en-US" sz="2000" b="1" dirty="0"/>
              <a:t>infinite points</a:t>
            </a:r>
            <a:r>
              <a:rPr lang="en-US" sz="2000" dirty="0"/>
              <a:t>.</a:t>
            </a:r>
          </a:p>
          <a:p>
            <a:pPr>
              <a:buNone/>
            </a:pPr>
            <a:r>
              <a:rPr lang="en-US" sz="2000" dirty="0"/>
              <a:t>🧱 Class: </a:t>
            </a:r>
            <a:r>
              <a:rPr lang="en-US" sz="2000" b="1" dirty="0"/>
              <a:t>Coincident (infinite intersections)</a:t>
            </a:r>
            <a:br>
              <a:rPr lang="en-US" sz="2000" dirty="0"/>
            </a:br>
            <a:r>
              <a:rPr lang="en-US" sz="2000" dirty="0"/>
              <a:t>🧪 Expected Output: "Lines are the same."</a:t>
            </a:r>
          </a:p>
        </p:txBody>
      </p:sp>
      <p:sp>
        <p:nvSpPr>
          <p:cNvPr id="8" name="TextBox 7">
            <a:extLst>
              <a:ext uri="{FF2B5EF4-FFF2-40B4-BE49-F238E27FC236}">
                <a16:creationId xmlns:a16="http://schemas.microsoft.com/office/drawing/2014/main" id="{120450AA-FA6A-62FE-CB35-E624798E1E7E}"/>
              </a:ext>
            </a:extLst>
          </p:cNvPr>
          <p:cNvSpPr txBox="1"/>
          <p:nvPr/>
        </p:nvSpPr>
        <p:spPr>
          <a:xfrm>
            <a:off x="468630" y="5043022"/>
            <a:ext cx="11723370" cy="1569660"/>
          </a:xfrm>
          <a:prstGeom prst="rect">
            <a:avLst/>
          </a:prstGeom>
          <a:noFill/>
        </p:spPr>
        <p:txBody>
          <a:bodyPr wrap="square">
            <a:spAutoFit/>
          </a:bodyPr>
          <a:lstStyle/>
          <a:p>
            <a:pPr algn="just"/>
            <a:r>
              <a:rPr lang="en-US" sz="2400" dirty="0"/>
              <a:t>You are dividing the behavior of “lines intersection” into </a:t>
            </a:r>
            <a:r>
              <a:rPr lang="en-US" sz="2400" b="1" dirty="0"/>
              <a:t>three logical categories (equivalence classes)</a:t>
            </a:r>
            <a:r>
              <a:rPr lang="en-US" sz="2400" dirty="0"/>
              <a:t> and picking </a:t>
            </a:r>
            <a:r>
              <a:rPr lang="en-US" sz="2400" b="1" dirty="0"/>
              <a:t>one test case from each</a:t>
            </a:r>
            <a:r>
              <a:rPr lang="en-US" sz="2400" dirty="0"/>
              <a:t>.</a:t>
            </a:r>
            <a:br>
              <a:rPr lang="en-US" sz="2400" dirty="0"/>
            </a:br>
            <a:r>
              <a:rPr lang="en-US" sz="2400" dirty="0"/>
              <a:t>That’s how </a:t>
            </a:r>
            <a:r>
              <a:rPr lang="en-US" sz="2400" b="1" dirty="0"/>
              <a:t>Equivalence Class Partitioning</a:t>
            </a:r>
            <a:r>
              <a:rPr lang="en-US" sz="2400" dirty="0"/>
              <a:t> works — each test represents a group of similar possible inputs.</a:t>
            </a:r>
          </a:p>
        </p:txBody>
      </p:sp>
      <p:sp>
        <p:nvSpPr>
          <p:cNvPr id="2" name="Date Placeholder 1">
            <a:extLst>
              <a:ext uri="{FF2B5EF4-FFF2-40B4-BE49-F238E27FC236}">
                <a16:creationId xmlns:a16="http://schemas.microsoft.com/office/drawing/2014/main" id="{3A695536-6F48-A533-F5DA-47E114280613}"/>
              </a:ext>
            </a:extLst>
          </p:cNvPr>
          <p:cNvSpPr>
            <a:spLocks noGrp="1"/>
          </p:cNvSpPr>
          <p:nvPr>
            <p:ph type="dt" sz="half" idx="10"/>
          </p:nvPr>
        </p:nvSpPr>
        <p:spPr/>
        <p:txBody>
          <a:bodyPr/>
          <a:lstStyle/>
          <a:p>
            <a:fld id="{3D9F7153-9F2B-4AF4-9483-5C9DD7B27504}" type="datetime1">
              <a:rPr lang="en-IN" smtClean="0"/>
              <a:t>03-11-2025</a:t>
            </a:fld>
            <a:endParaRPr lang="en-IN"/>
          </a:p>
        </p:txBody>
      </p:sp>
      <p:sp>
        <p:nvSpPr>
          <p:cNvPr id="3" name="Footer Placeholder 2">
            <a:extLst>
              <a:ext uri="{FF2B5EF4-FFF2-40B4-BE49-F238E27FC236}">
                <a16:creationId xmlns:a16="http://schemas.microsoft.com/office/drawing/2014/main" id="{C247E062-EE0E-939A-2E7B-F14FCAD63DF8}"/>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FFAA024B-245F-385F-E1FA-4BF31CA506B1}"/>
              </a:ext>
            </a:extLst>
          </p:cNvPr>
          <p:cNvSpPr>
            <a:spLocks noGrp="1"/>
          </p:cNvSpPr>
          <p:nvPr>
            <p:ph type="sldNum" sz="quarter" idx="12"/>
          </p:nvPr>
        </p:nvSpPr>
        <p:spPr/>
        <p:txBody>
          <a:bodyPr/>
          <a:lstStyle/>
          <a:p>
            <a:fld id="{157E8F69-36B6-4843-A9CE-6B9353F4DBAF}" type="slidenum">
              <a:rPr lang="en-IN" smtClean="0"/>
              <a:t>39</a:t>
            </a:fld>
            <a:endParaRPr lang="en-IN"/>
          </a:p>
        </p:txBody>
      </p:sp>
    </p:spTree>
    <p:extLst>
      <p:ext uri="{BB962C8B-B14F-4D97-AF65-F5344CB8AC3E}">
        <p14:creationId xmlns:p14="http://schemas.microsoft.com/office/powerpoint/2010/main" val="28012784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D9F65-11A3-B370-37D5-05935629B37F}"/>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12D77B8E-5A57-3707-CD53-FCC136982A48}"/>
              </a:ext>
            </a:extLst>
          </p:cNvPr>
          <p:cNvSpPr>
            <a:spLocks noChangeArrowheads="1"/>
          </p:cNvSpPr>
          <p:nvPr/>
        </p:nvSpPr>
        <p:spPr bwMode="auto">
          <a:xfrm>
            <a:off x="201168" y="0"/>
            <a:ext cx="1155192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t>🔁 Problem 7.3: Palindrome checker</a:t>
            </a:r>
          </a:p>
          <a:p>
            <a:r>
              <a:rPr lang="en-US" sz="2400" b="1" dirty="0"/>
              <a:t>Specification:</a:t>
            </a:r>
            <a:r>
              <a:rPr lang="en-US" sz="2400" dirty="0"/>
              <a:t> Input string must have </a:t>
            </a:r>
            <a:r>
              <a:rPr lang="en-US" sz="2400" b="1" dirty="0"/>
              <a:t>fewer than 5 characters</a:t>
            </a:r>
            <a:r>
              <a:rPr lang="en-US" sz="2400" dirty="0"/>
              <a:t>.</a:t>
            </a:r>
          </a:p>
          <a:p>
            <a:r>
              <a:rPr lang="en-US" sz="2400" b="1" dirty="0"/>
              <a:t>Equivalence classes:</a:t>
            </a:r>
            <a:endParaRPr lang="en-US" sz="2400" dirty="0"/>
          </a:p>
          <a:p>
            <a:pPr lvl="1"/>
            <a:r>
              <a:rPr lang="en-US" sz="2400" dirty="0"/>
              <a:t>Valid Palindrome (e.g., "aba")</a:t>
            </a:r>
          </a:p>
          <a:p>
            <a:pPr lvl="1"/>
            <a:r>
              <a:rPr lang="en-US" sz="2400" dirty="0"/>
              <a:t>Valid Non-palindrome (e.g., "</a:t>
            </a:r>
            <a:r>
              <a:rPr lang="en-US" sz="2400" dirty="0" err="1"/>
              <a:t>abc</a:t>
            </a:r>
            <a:r>
              <a:rPr lang="en-US" sz="2400" dirty="0"/>
              <a:t>")</a:t>
            </a:r>
          </a:p>
          <a:p>
            <a:pPr lvl="1"/>
            <a:r>
              <a:rPr lang="en-US" sz="2400" dirty="0"/>
              <a:t>Invalid Input (≥5 chars, e.g., "</a:t>
            </a:r>
            <a:r>
              <a:rPr lang="en-US" sz="2400" dirty="0" err="1"/>
              <a:t>abcdef</a:t>
            </a:r>
            <a:r>
              <a:rPr lang="en-US" sz="2400" dirty="0"/>
              <a:t>")</a:t>
            </a:r>
          </a:p>
          <a:p>
            <a:r>
              <a:rPr lang="en-US" sz="2400" b="1" dirty="0"/>
              <a:t>Test cases:</a:t>
            </a:r>
            <a:r>
              <a:rPr lang="en-US" sz="2400" dirty="0"/>
              <a:t> { "aba", "</a:t>
            </a:r>
            <a:r>
              <a:rPr lang="en-US" sz="2400" dirty="0" err="1"/>
              <a:t>abc</a:t>
            </a:r>
            <a:r>
              <a:rPr lang="en-US" sz="2400" dirty="0"/>
              <a:t>", "</a:t>
            </a:r>
            <a:r>
              <a:rPr lang="en-US" sz="2400" dirty="0" err="1"/>
              <a:t>abcdef</a:t>
            </a:r>
            <a:r>
              <a:rPr lang="en-US" sz="2400" dirty="0"/>
              <a:t>" }</a:t>
            </a:r>
          </a:p>
          <a:p>
            <a:pPr lvl="1"/>
            <a:r>
              <a:rPr lang="en-US" sz="2400" dirty="0"/>
              <a:t>"aba" → palindrome → valid</a:t>
            </a:r>
          </a:p>
          <a:p>
            <a:pPr lvl="1"/>
            <a:r>
              <a:rPr lang="en-US" sz="2400" dirty="0"/>
              <a:t>"</a:t>
            </a:r>
            <a:r>
              <a:rPr lang="en-US" sz="2400" dirty="0" err="1"/>
              <a:t>abc</a:t>
            </a:r>
            <a:r>
              <a:rPr lang="en-US" sz="2400" dirty="0"/>
              <a:t>" → non-palindrome → valid</a:t>
            </a:r>
          </a:p>
          <a:p>
            <a:pPr lvl="1"/>
            <a:r>
              <a:rPr lang="en-US" sz="2400" dirty="0"/>
              <a:t>"</a:t>
            </a:r>
            <a:r>
              <a:rPr lang="en-US" sz="2400" dirty="0" err="1"/>
              <a:t>abcdef</a:t>
            </a:r>
            <a:r>
              <a:rPr lang="en-US" sz="2400" dirty="0"/>
              <a:t>" → invalid input (too long)</a:t>
            </a:r>
          </a:p>
        </p:txBody>
      </p:sp>
      <p:sp>
        <p:nvSpPr>
          <p:cNvPr id="3" name="TextBox 2">
            <a:extLst>
              <a:ext uri="{FF2B5EF4-FFF2-40B4-BE49-F238E27FC236}">
                <a16:creationId xmlns:a16="http://schemas.microsoft.com/office/drawing/2014/main" id="{29E068CE-5ACC-5044-D1FD-6E89AA358F03}"/>
              </a:ext>
            </a:extLst>
          </p:cNvPr>
          <p:cNvSpPr txBox="1"/>
          <p:nvPr/>
        </p:nvSpPr>
        <p:spPr>
          <a:xfrm>
            <a:off x="468630" y="4462933"/>
            <a:ext cx="11284458" cy="1938992"/>
          </a:xfrm>
          <a:prstGeom prst="rect">
            <a:avLst/>
          </a:prstGeom>
          <a:noFill/>
        </p:spPr>
        <p:txBody>
          <a:bodyPr wrap="square">
            <a:spAutoFit/>
          </a:bodyPr>
          <a:lstStyle/>
          <a:p>
            <a:pPr>
              <a:buNone/>
            </a:pPr>
            <a:r>
              <a:rPr lang="en-US" sz="2400" dirty="0"/>
              <a:t>🎯 </a:t>
            </a:r>
            <a:r>
              <a:rPr lang="en-US" sz="2400" b="1" dirty="0"/>
              <a:t>Key Idea</a:t>
            </a:r>
          </a:p>
          <a:p>
            <a:pPr>
              <a:buNone/>
            </a:pPr>
            <a:r>
              <a:rPr lang="en-US" sz="2400" dirty="0"/>
              <a:t>Each equivalence class represents a </a:t>
            </a:r>
            <a:r>
              <a:rPr lang="en-US" sz="2400" b="1" dirty="0"/>
              <a:t>distinct type of input behavior</a:t>
            </a:r>
            <a:r>
              <a:rPr lang="en-US" sz="2400" dirty="0"/>
              <a:t>.</a:t>
            </a:r>
            <a:br>
              <a:rPr lang="en-US" sz="2400" dirty="0"/>
            </a:br>
            <a:r>
              <a:rPr lang="en-US" sz="2400" dirty="0"/>
              <a:t>By testing one value from each class, we efficiently ensure </a:t>
            </a:r>
            <a:r>
              <a:rPr lang="en-US" sz="2400" b="1" dirty="0"/>
              <a:t>broad coverage</a:t>
            </a:r>
            <a:r>
              <a:rPr lang="en-US" sz="2400" dirty="0"/>
              <a:t> of all functional possibilities — this is the essence of </a:t>
            </a:r>
            <a:r>
              <a:rPr lang="en-US" sz="2400" b="1" dirty="0"/>
              <a:t>Equivalence Class Partitioning</a:t>
            </a:r>
            <a:r>
              <a:rPr lang="en-US" sz="2400" dirty="0"/>
              <a:t> in </a:t>
            </a:r>
            <a:r>
              <a:rPr lang="en-US" sz="2400" b="1" dirty="0"/>
              <a:t>black-box testing</a:t>
            </a:r>
            <a:r>
              <a:rPr lang="en-US" sz="2400" dirty="0"/>
              <a:t>.</a:t>
            </a:r>
          </a:p>
        </p:txBody>
      </p:sp>
      <p:sp>
        <p:nvSpPr>
          <p:cNvPr id="2" name="Date Placeholder 1">
            <a:extLst>
              <a:ext uri="{FF2B5EF4-FFF2-40B4-BE49-F238E27FC236}">
                <a16:creationId xmlns:a16="http://schemas.microsoft.com/office/drawing/2014/main" id="{47CD89CD-BCC9-F640-0D41-46D112055A97}"/>
              </a:ext>
            </a:extLst>
          </p:cNvPr>
          <p:cNvSpPr>
            <a:spLocks noGrp="1"/>
          </p:cNvSpPr>
          <p:nvPr>
            <p:ph type="dt" sz="half" idx="10"/>
          </p:nvPr>
        </p:nvSpPr>
        <p:spPr/>
        <p:txBody>
          <a:bodyPr/>
          <a:lstStyle/>
          <a:p>
            <a:fld id="{68E85B77-404B-45B4-9BBE-D9D375285A05}" type="datetime1">
              <a:rPr lang="en-IN" smtClean="0"/>
              <a:t>03-11-2025</a:t>
            </a:fld>
            <a:endParaRPr lang="en-IN"/>
          </a:p>
        </p:txBody>
      </p:sp>
      <p:sp>
        <p:nvSpPr>
          <p:cNvPr id="5" name="Footer Placeholder 4">
            <a:extLst>
              <a:ext uri="{FF2B5EF4-FFF2-40B4-BE49-F238E27FC236}">
                <a16:creationId xmlns:a16="http://schemas.microsoft.com/office/drawing/2014/main" id="{D0C34325-B103-F961-6CAA-240231BA198B}"/>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BF1535B1-DC92-0C5C-6B9C-2BF5D593FE85}"/>
              </a:ext>
            </a:extLst>
          </p:cNvPr>
          <p:cNvSpPr>
            <a:spLocks noGrp="1"/>
          </p:cNvSpPr>
          <p:nvPr>
            <p:ph type="sldNum" sz="quarter" idx="12"/>
          </p:nvPr>
        </p:nvSpPr>
        <p:spPr/>
        <p:txBody>
          <a:bodyPr/>
          <a:lstStyle/>
          <a:p>
            <a:fld id="{157E8F69-36B6-4843-A9CE-6B9353F4DBAF}" type="slidenum">
              <a:rPr lang="en-IN" smtClean="0"/>
              <a:t>40</a:t>
            </a:fld>
            <a:endParaRPr lang="en-IN"/>
          </a:p>
        </p:txBody>
      </p:sp>
    </p:spTree>
    <p:extLst>
      <p:ext uri="{BB962C8B-B14F-4D97-AF65-F5344CB8AC3E}">
        <p14:creationId xmlns:p14="http://schemas.microsoft.com/office/powerpoint/2010/main" val="9493624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320040" y="460445"/>
            <a:ext cx="115062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2. Boundary Value Analysis (BVA)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sng" strike="noStrike" cap="none" normalizeH="0" baseline="0" dirty="0">
              <a:ln>
                <a:noFill/>
              </a:ln>
              <a:solidFill>
                <a:schemeClr val="tx1"/>
              </a:solidFill>
              <a:effectLst/>
            </a:endParaRPr>
          </a:p>
          <a:p>
            <a:pPr marL="800100" lvl="1" indent="-342900" eaLnBrk="0" fontAlgn="base" hangingPunct="0">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Idea</a:t>
            </a:r>
            <a:r>
              <a:rPr kumimoji="0" lang="en-US" altLang="en-US" sz="2400" b="0" i="0" u="none" strike="noStrike" cap="none" normalizeH="0" baseline="0" dirty="0">
                <a:ln>
                  <a:noFill/>
                </a:ln>
                <a:solidFill>
                  <a:schemeClr val="tx1"/>
                </a:solidFill>
                <a:effectLst/>
              </a:rPr>
              <a:t>: Programmers often make mistakes at the </a:t>
            </a:r>
            <a:r>
              <a:rPr kumimoji="0" lang="en-US" altLang="en-US" sz="2400" b="1" i="0" u="none" strike="noStrike" cap="none" normalizeH="0" baseline="0" dirty="0">
                <a:ln>
                  <a:noFill/>
                </a:ln>
                <a:solidFill>
                  <a:schemeClr val="tx1"/>
                </a:solidFill>
                <a:effectLst/>
              </a:rPr>
              <a:t>boundaries</a:t>
            </a:r>
            <a:r>
              <a:rPr kumimoji="0" lang="en-US" altLang="en-US" sz="2400" b="0" i="0" u="none" strike="noStrike" cap="none" normalizeH="0" baseline="0" dirty="0">
                <a:ln>
                  <a:noFill/>
                </a:ln>
                <a:solidFill>
                  <a:schemeClr val="tx1"/>
                </a:solidFill>
                <a:effectLst/>
              </a:rPr>
              <a:t> of input ranges (e.g., using &lt; instead of &lt;=).</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So, test cases should include:</a:t>
            </a:r>
          </a:p>
          <a:p>
            <a:pPr marL="1257300" lvl="2" indent="-342900" eaLnBrk="0" fontAlgn="base" hangingPunct="0">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Lower bound</a:t>
            </a:r>
            <a:r>
              <a:rPr kumimoji="0" lang="en-US" altLang="en-US" sz="2400" b="0" i="0" u="none" strike="noStrike" cap="none" normalizeH="0" baseline="0" dirty="0">
                <a:ln>
                  <a:noFill/>
                </a:ln>
                <a:solidFill>
                  <a:schemeClr val="tx1"/>
                </a:solidFill>
                <a:effectLst/>
              </a:rPr>
              <a:t>, </a:t>
            </a:r>
            <a:r>
              <a:rPr kumimoji="0" lang="en-US" altLang="en-US" sz="2400" b="1" i="0" u="none" strike="noStrike" cap="none" normalizeH="0" baseline="0" dirty="0">
                <a:ln>
                  <a:noFill/>
                </a:ln>
                <a:solidFill>
                  <a:schemeClr val="tx1"/>
                </a:solidFill>
                <a:effectLst/>
              </a:rPr>
              <a:t>upper bound</a:t>
            </a:r>
            <a:r>
              <a:rPr kumimoji="0" lang="en-US" altLang="en-US" sz="2400" b="0" i="0" u="none" strike="noStrike" cap="none" normalizeH="0" baseline="0" dirty="0">
                <a:ln>
                  <a:noFill/>
                </a:ln>
                <a:solidFill>
                  <a:schemeClr val="tx1"/>
                </a:solidFill>
                <a:effectLst/>
              </a:rPr>
              <a:t>, and values </a:t>
            </a:r>
            <a:r>
              <a:rPr kumimoji="0" lang="en-US" altLang="en-US" sz="2400" b="1" i="0" u="none" strike="noStrike" cap="none" normalizeH="0" baseline="0" dirty="0">
                <a:ln>
                  <a:noFill/>
                </a:ln>
                <a:solidFill>
                  <a:schemeClr val="tx1"/>
                </a:solidFill>
                <a:effectLst/>
              </a:rPr>
              <a:t>just outside</a:t>
            </a:r>
            <a:r>
              <a:rPr kumimoji="0" lang="en-US" altLang="en-US" sz="2400" b="0" i="0" u="none" strike="noStrike" cap="none" normalizeH="0" baseline="0" dirty="0">
                <a:ln>
                  <a:noFill/>
                </a:ln>
                <a:solidFill>
                  <a:schemeClr val="tx1"/>
                </a:solidFill>
                <a:effectLst/>
              </a:rPr>
              <a:t> these bounds.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 Examples: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Problem 10.11</a:t>
            </a:r>
            <a:r>
              <a:rPr kumimoji="0" lang="en-US" altLang="en-US" sz="2400" b="0" i="0" u="none" strike="noStrike" cap="none" normalizeH="0" baseline="0" dirty="0">
                <a:ln>
                  <a:noFill/>
                </a:ln>
                <a:solidFill>
                  <a:schemeClr val="tx1"/>
                </a:solidFill>
                <a:effectLst/>
              </a:rPr>
              <a:t>: Square root for range [0–5000]</a:t>
            </a:r>
            <a:br>
              <a:rPr kumimoji="0" lang="en-US" altLang="en-US" sz="2400" b="0" i="0" u="none" strike="noStrike" cap="none" normalizeH="0" baseline="0" dirty="0">
                <a:ln>
                  <a:noFill/>
                </a:ln>
                <a:solidFill>
                  <a:schemeClr val="tx1"/>
                </a:solidFill>
                <a:effectLst/>
              </a:rPr>
            </a:br>
            <a:r>
              <a:rPr kumimoji="0" lang="en-US" altLang="en-US" sz="2400" b="0" i="0" u="none" strike="noStrike" cap="none" normalizeH="0" baseline="0" dirty="0">
                <a:ln>
                  <a:noFill/>
                </a:ln>
                <a:solidFill>
                  <a:schemeClr val="tx1"/>
                </a:solidFill>
                <a:effectLst/>
              </a:rPr>
              <a:t>	➤ Test cases: {−1, 0, 5000, 5001}</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Problem 10.12</a:t>
            </a:r>
            <a:r>
              <a:rPr kumimoji="0" lang="en-US" altLang="en-US" sz="2400" b="0" i="0" u="none" strike="noStrike" cap="none" normalizeH="0" baseline="0" dirty="0">
                <a:ln>
                  <a:noFill/>
                </a:ln>
                <a:solidFill>
                  <a:schemeClr val="tx1"/>
                </a:solidFill>
                <a:effectLst/>
              </a:rPr>
              <a:t>: String palindrome (&lt; 5 characters)</a:t>
            </a:r>
            <a:br>
              <a:rPr kumimoji="0" lang="en-US" altLang="en-US" sz="2400" b="0" i="0" u="none" strike="noStrike" cap="none" normalizeH="0" baseline="0" dirty="0">
                <a:ln>
                  <a:noFill/>
                </a:ln>
                <a:solidFill>
                  <a:schemeClr val="tx1"/>
                </a:solidFill>
                <a:effectLst/>
              </a:rPr>
            </a:br>
            <a:r>
              <a:rPr kumimoji="0" lang="en-US" altLang="en-US" sz="2400" b="0" i="0" u="none" strike="noStrike" cap="none" normalizeH="0" baseline="0" dirty="0">
                <a:ln>
                  <a:noFill/>
                </a:ln>
                <a:solidFill>
                  <a:schemeClr val="tx1"/>
                </a:solidFill>
                <a:effectLst/>
              </a:rPr>
              <a:t>	➤ Boundary between valid and invalid input length</a:t>
            </a:r>
            <a:br>
              <a:rPr kumimoji="0" lang="en-US" altLang="en-US" sz="2400" b="0" i="0" u="none" strike="noStrike" cap="none" normalizeH="0" baseline="0" dirty="0">
                <a:ln>
                  <a:noFill/>
                </a:ln>
                <a:solidFill>
                  <a:schemeClr val="tx1"/>
                </a:solidFill>
                <a:effectLst/>
              </a:rPr>
            </a:br>
            <a:r>
              <a:rPr kumimoji="0" lang="en-US" altLang="en-US" sz="2400" b="0" i="0" u="none" strike="noStrike" cap="none" normalizeH="0" baseline="0" dirty="0">
                <a:ln>
                  <a:noFill/>
                </a:ln>
                <a:solidFill>
                  <a:schemeClr val="tx1"/>
                </a:solidFill>
                <a:effectLst/>
              </a:rPr>
              <a:t>	➤ Test cases: {</a:t>
            </a:r>
            <a:r>
              <a:rPr kumimoji="0" lang="en-US" altLang="en-US" sz="2400" b="0" i="0" u="none" strike="noStrike" cap="none" normalizeH="0" baseline="0" dirty="0" err="1">
                <a:ln>
                  <a:noFill/>
                </a:ln>
                <a:solidFill>
                  <a:schemeClr val="tx1"/>
                </a:solidFill>
                <a:effectLst/>
              </a:rPr>
              <a:t>abcdef</a:t>
            </a:r>
            <a:r>
              <a:rPr kumimoji="0" lang="en-US" altLang="en-US" sz="2400" b="0" i="0" u="none" strike="noStrike" cap="none" normalizeH="0" baseline="0" dirty="0">
                <a:ln>
                  <a:noFill/>
                </a:ln>
                <a:solidFill>
                  <a:schemeClr val="tx1"/>
                </a:solidFill>
                <a:effectLst/>
              </a:rPr>
              <a:t> (6 chars), </a:t>
            </a:r>
            <a:r>
              <a:rPr kumimoji="0" lang="en-US" altLang="en-US" sz="2400" b="0" i="0" u="none" strike="noStrike" cap="none" normalizeH="0" baseline="0" dirty="0" err="1">
                <a:ln>
                  <a:noFill/>
                </a:ln>
                <a:solidFill>
                  <a:schemeClr val="tx1"/>
                </a:solidFill>
                <a:effectLst/>
              </a:rPr>
              <a:t>abcde</a:t>
            </a:r>
            <a:r>
              <a:rPr kumimoji="0" lang="en-US" altLang="en-US" sz="2400" b="0" i="0" u="none" strike="noStrike" cap="none" normalizeH="0" baseline="0" dirty="0">
                <a:ln>
                  <a:noFill/>
                </a:ln>
                <a:solidFill>
                  <a:schemeClr val="tx1"/>
                </a:solidFill>
                <a:effectLst/>
              </a:rPr>
              <a:t> (5 chars)}</a:t>
            </a:r>
          </a:p>
        </p:txBody>
      </p:sp>
      <p:sp>
        <p:nvSpPr>
          <p:cNvPr id="2" name="Date Placeholder 1">
            <a:extLst>
              <a:ext uri="{FF2B5EF4-FFF2-40B4-BE49-F238E27FC236}">
                <a16:creationId xmlns:a16="http://schemas.microsoft.com/office/drawing/2014/main" id="{BA13956D-8E3E-528A-9178-D0F52F3F025E}"/>
              </a:ext>
            </a:extLst>
          </p:cNvPr>
          <p:cNvSpPr>
            <a:spLocks noGrp="1"/>
          </p:cNvSpPr>
          <p:nvPr>
            <p:ph type="dt" sz="half" idx="10"/>
          </p:nvPr>
        </p:nvSpPr>
        <p:spPr/>
        <p:txBody>
          <a:bodyPr/>
          <a:lstStyle/>
          <a:p>
            <a:fld id="{458F0094-3E25-4790-B7C1-D581E82FCD4D}" type="datetime1">
              <a:rPr lang="en-IN" smtClean="0"/>
              <a:t>03-11-2025</a:t>
            </a:fld>
            <a:endParaRPr lang="en-IN"/>
          </a:p>
        </p:txBody>
      </p:sp>
      <p:sp>
        <p:nvSpPr>
          <p:cNvPr id="4" name="Footer Placeholder 3">
            <a:extLst>
              <a:ext uri="{FF2B5EF4-FFF2-40B4-BE49-F238E27FC236}">
                <a16:creationId xmlns:a16="http://schemas.microsoft.com/office/drawing/2014/main" id="{B7D86AD3-28DC-A23A-A49B-D0164914F692}"/>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4E1A42DB-75AC-119D-CAB9-8B858EA4564E}"/>
              </a:ext>
            </a:extLst>
          </p:cNvPr>
          <p:cNvSpPr>
            <a:spLocks noGrp="1"/>
          </p:cNvSpPr>
          <p:nvPr>
            <p:ph type="sldNum" sz="quarter" idx="12"/>
          </p:nvPr>
        </p:nvSpPr>
        <p:spPr/>
        <p:txBody>
          <a:bodyPr/>
          <a:lstStyle/>
          <a:p>
            <a:fld id="{157E8F69-36B6-4843-A9CE-6B9353F4DBAF}" type="slidenum">
              <a:rPr lang="en-IN" smtClean="0"/>
              <a:t>41</a:t>
            </a:fld>
            <a:endParaRPr lang="en-IN"/>
          </a:p>
        </p:txBody>
      </p:sp>
    </p:spTree>
    <p:extLst>
      <p:ext uri="{BB962C8B-B14F-4D97-AF65-F5344CB8AC3E}">
        <p14:creationId xmlns:p14="http://schemas.microsoft.com/office/powerpoint/2010/main" val="4559071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036320" y="220644"/>
            <a:ext cx="10226040" cy="5951555"/>
          </a:xfrm>
          <a:prstGeom prst="rect">
            <a:avLst/>
          </a:prstGeom>
        </p:spPr>
      </p:pic>
      <p:sp>
        <p:nvSpPr>
          <p:cNvPr id="4" name="Rectangle 3"/>
          <p:cNvSpPr/>
          <p:nvPr/>
        </p:nvSpPr>
        <p:spPr>
          <a:xfrm>
            <a:off x="1036320" y="6274900"/>
            <a:ext cx="10226040" cy="369332"/>
          </a:xfrm>
          <a:prstGeom prst="rect">
            <a:avLst/>
          </a:prstGeom>
        </p:spPr>
        <p:txBody>
          <a:bodyPr wrap="square">
            <a:spAutoFit/>
          </a:bodyPr>
          <a:lstStyle/>
          <a:p>
            <a:pPr algn="ctr"/>
            <a:r>
              <a:rPr lang="en-US" b="1" dirty="0">
                <a:solidFill>
                  <a:srgbClr val="2F3193"/>
                </a:solidFill>
                <a:latin typeface="OfficinaSans-Bold"/>
              </a:rPr>
              <a:t>FIGURE 7.5 </a:t>
            </a:r>
            <a:r>
              <a:rPr lang="en-US" dirty="0">
                <a:solidFill>
                  <a:srgbClr val="2F3193"/>
                </a:solidFill>
                <a:latin typeface="OfficinaSans-Book"/>
              </a:rPr>
              <a:t>CFG for (a) sequence, (b) selection, and (c) iteration type of constructs.</a:t>
            </a:r>
            <a:endParaRPr lang="en-IN" dirty="0"/>
          </a:p>
        </p:txBody>
      </p:sp>
      <p:sp>
        <p:nvSpPr>
          <p:cNvPr id="2" name="Date Placeholder 1">
            <a:extLst>
              <a:ext uri="{FF2B5EF4-FFF2-40B4-BE49-F238E27FC236}">
                <a16:creationId xmlns:a16="http://schemas.microsoft.com/office/drawing/2014/main" id="{DC733220-5F85-36C0-CCD4-C30EAB59A330}"/>
              </a:ext>
            </a:extLst>
          </p:cNvPr>
          <p:cNvSpPr>
            <a:spLocks noGrp="1"/>
          </p:cNvSpPr>
          <p:nvPr>
            <p:ph type="dt" sz="half" idx="10"/>
          </p:nvPr>
        </p:nvSpPr>
        <p:spPr/>
        <p:txBody>
          <a:bodyPr/>
          <a:lstStyle/>
          <a:p>
            <a:fld id="{49033AD1-D98C-4000-A394-8E189F4892E0}" type="datetime1">
              <a:rPr lang="en-IN" smtClean="0"/>
              <a:t>03-11-2025</a:t>
            </a:fld>
            <a:endParaRPr lang="en-IN"/>
          </a:p>
        </p:txBody>
      </p:sp>
      <p:sp>
        <p:nvSpPr>
          <p:cNvPr id="5" name="Footer Placeholder 4">
            <a:extLst>
              <a:ext uri="{FF2B5EF4-FFF2-40B4-BE49-F238E27FC236}">
                <a16:creationId xmlns:a16="http://schemas.microsoft.com/office/drawing/2014/main" id="{F18D45D8-1A09-1BEE-CBA4-9FEE0A928457}"/>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A97FFE88-0BA9-C30D-1B43-20D4DD440659}"/>
              </a:ext>
            </a:extLst>
          </p:cNvPr>
          <p:cNvSpPr>
            <a:spLocks noGrp="1"/>
          </p:cNvSpPr>
          <p:nvPr>
            <p:ph type="sldNum" sz="quarter" idx="12"/>
          </p:nvPr>
        </p:nvSpPr>
        <p:spPr/>
        <p:txBody>
          <a:bodyPr/>
          <a:lstStyle/>
          <a:p>
            <a:fld id="{157E8F69-36B6-4843-A9CE-6B9353F4DBAF}" type="slidenum">
              <a:rPr lang="en-IN" smtClean="0"/>
              <a:t>42</a:t>
            </a:fld>
            <a:endParaRPr lang="en-IN"/>
          </a:p>
        </p:txBody>
      </p:sp>
    </p:spTree>
    <p:extLst>
      <p:ext uri="{BB962C8B-B14F-4D97-AF65-F5344CB8AC3E}">
        <p14:creationId xmlns:p14="http://schemas.microsoft.com/office/powerpoint/2010/main" val="29584061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9560" y="278398"/>
            <a:ext cx="11567160" cy="2677656"/>
          </a:xfrm>
          <a:prstGeom prst="rect">
            <a:avLst/>
          </a:prstGeom>
        </p:spPr>
        <p:txBody>
          <a:bodyPr wrap="square">
            <a:spAutoFit/>
          </a:bodyPr>
          <a:lstStyle/>
          <a:p>
            <a:pPr algn="just"/>
            <a:r>
              <a:rPr lang="en-US" sz="2400" b="1" u="sng" dirty="0"/>
              <a:t>📝 Summary of Black-Box Testing Process:</a:t>
            </a:r>
          </a:p>
          <a:p>
            <a:pPr lvl="1" algn="just">
              <a:buFont typeface="+mj-lt"/>
              <a:buAutoNum type="arabicPeriod"/>
            </a:pPr>
            <a:r>
              <a:rPr lang="en-US" sz="2400" b="1" dirty="0"/>
              <a:t>Examine</a:t>
            </a:r>
            <a:r>
              <a:rPr lang="en-US" sz="2400" dirty="0"/>
              <a:t> input and output values of the software.</a:t>
            </a:r>
          </a:p>
          <a:p>
            <a:pPr lvl="1" algn="just">
              <a:buFont typeface="+mj-lt"/>
              <a:buAutoNum type="arabicPeriod"/>
            </a:pPr>
            <a:r>
              <a:rPr lang="en-US" sz="2400" b="1" dirty="0"/>
              <a:t>Identify</a:t>
            </a:r>
            <a:r>
              <a:rPr lang="en-US" sz="2400" dirty="0"/>
              <a:t> equivalence classes (valid &amp; invalid).</a:t>
            </a:r>
          </a:p>
          <a:p>
            <a:pPr lvl="1" algn="just">
              <a:buFont typeface="+mj-lt"/>
              <a:buAutoNum type="arabicPeriod"/>
            </a:pPr>
            <a:r>
              <a:rPr lang="en-US" sz="2400" b="1" dirty="0"/>
              <a:t>Select</a:t>
            </a:r>
            <a:r>
              <a:rPr lang="en-US" sz="2400" dirty="0"/>
              <a:t> one representative test input from each equivalence class.</a:t>
            </a:r>
          </a:p>
          <a:p>
            <a:pPr lvl="1" algn="just">
              <a:buFont typeface="+mj-lt"/>
              <a:buAutoNum type="arabicPeriod"/>
            </a:pPr>
            <a:r>
              <a:rPr lang="en-US" sz="2400" b="1" dirty="0"/>
              <a:t>Design</a:t>
            </a:r>
            <a:r>
              <a:rPr lang="en-US" sz="2400" dirty="0"/>
              <a:t> boundary value test cases by:</a:t>
            </a:r>
          </a:p>
          <a:p>
            <a:pPr marL="1200150" lvl="2" indent="-285750" algn="just">
              <a:buFont typeface="+mj-lt"/>
              <a:buAutoNum type="arabicPeriod"/>
            </a:pPr>
            <a:r>
              <a:rPr lang="en-US" sz="2400" dirty="0"/>
              <a:t>Including edge values</a:t>
            </a:r>
          </a:p>
          <a:p>
            <a:pPr marL="1200150" lvl="2" indent="-285750" algn="just">
              <a:buFont typeface="+mj-lt"/>
              <a:buAutoNum type="arabicPeriod"/>
            </a:pPr>
            <a:r>
              <a:rPr lang="en-US" sz="2400" dirty="0"/>
              <a:t>Including just-beyond-the-edge values</a:t>
            </a:r>
          </a:p>
        </p:txBody>
      </p:sp>
      <p:sp>
        <p:nvSpPr>
          <p:cNvPr id="4" name="Rectangle 3"/>
          <p:cNvSpPr/>
          <p:nvPr/>
        </p:nvSpPr>
        <p:spPr>
          <a:xfrm>
            <a:off x="289560" y="3725317"/>
            <a:ext cx="11567160" cy="1938992"/>
          </a:xfrm>
          <a:prstGeom prst="rect">
            <a:avLst/>
          </a:prstGeom>
        </p:spPr>
        <p:txBody>
          <a:bodyPr wrap="square">
            <a:spAutoFit/>
          </a:bodyPr>
          <a:lstStyle/>
          <a:p>
            <a:pPr marL="342900" indent="-342900" algn="just">
              <a:buFont typeface="Wingdings" panose="05000000000000000000" pitchFamily="2" charset="2"/>
              <a:buChar char="v"/>
            </a:pPr>
            <a:r>
              <a:rPr lang="en-US" sz="2400" b="1" dirty="0">
                <a:solidFill>
                  <a:srgbClr val="002060"/>
                </a:solidFill>
              </a:rPr>
              <a:t>Equivalence Class Testing</a:t>
            </a:r>
            <a:r>
              <a:rPr lang="en-US" sz="2400" dirty="0">
                <a:solidFill>
                  <a:srgbClr val="002060"/>
                </a:solidFill>
              </a:rPr>
              <a:t> → Maximizes coverage with minimal test cases.</a:t>
            </a:r>
          </a:p>
          <a:p>
            <a:pPr marL="342900" indent="-342900" algn="just">
              <a:buFont typeface="Wingdings" panose="05000000000000000000" pitchFamily="2" charset="2"/>
              <a:buChar char="v"/>
            </a:pPr>
            <a:r>
              <a:rPr lang="en-US" sz="2400" b="1" dirty="0">
                <a:solidFill>
                  <a:srgbClr val="002060"/>
                </a:solidFill>
              </a:rPr>
              <a:t>Boundary Testing</a:t>
            </a:r>
            <a:r>
              <a:rPr lang="en-US" sz="2400" dirty="0">
                <a:solidFill>
                  <a:srgbClr val="002060"/>
                </a:solidFill>
              </a:rPr>
              <a:t> → Targets common edge-case errors.</a:t>
            </a:r>
          </a:p>
          <a:p>
            <a:pPr marL="342900" indent="-342900" algn="just">
              <a:buFont typeface="Wingdings" panose="05000000000000000000" pitchFamily="2" charset="2"/>
              <a:buChar char="v"/>
            </a:pPr>
            <a:r>
              <a:rPr lang="en-US" sz="2400" dirty="0">
                <a:solidFill>
                  <a:srgbClr val="002060"/>
                </a:solidFill>
              </a:rPr>
              <a:t>Black-box testing is </a:t>
            </a:r>
            <a:r>
              <a:rPr lang="en-US" sz="2400" b="1" dirty="0">
                <a:solidFill>
                  <a:srgbClr val="002060"/>
                </a:solidFill>
              </a:rPr>
              <a:t>simple, intuitive</a:t>
            </a:r>
            <a:r>
              <a:rPr lang="en-US" sz="2400" dirty="0">
                <a:solidFill>
                  <a:srgbClr val="002060"/>
                </a:solidFill>
              </a:rPr>
              <a:t>, but </a:t>
            </a:r>
            <a:r>
              <a:rPr lang="en-US" sz="2400" b="1" dirty="0">
                <a:solidFill>
                  <a:srgbClr val="002060"/>
                </a:solidFill>
              </a:rPr>
              <a:t>requires practice</a:t>
            </a:r>
            <a:r>
              <a:rPr lang="en-US" sz="2400" dirty="0">
                <a:solidFill>
                  <a:srgbClr val="002060"/>
                </a:solidFill>
              </a:rPr>
              <a:t> to identify all equivalence classes accurately.</a:t>
            </a:r>
          </a:p>
          <a:p>
            <a:pPr marL="342900" indent="-342900" algn="just">
              <a:buFont typeface="Wingdings" panose="05000000000000000000" pitchFamily="2" charset="2"/>
              <a:buChar char="v"/>
            </a:pPr>
            <a:r>
              <a:rPr lang="en-US" sz="2400" dirty="0">
                <a:solidFill>
                  <a:srgbClr val="002060"/>
                </a:solidFill>
              </a:rPr>
              <a:t>Use both ECP and BVA together for </a:t>
            </a:r>
            <a:r>
              <a:rPr lang="en-US" sz="2400" b="1" dirty="0">
                <a:solidFill>
                  <a:srgbClr val="002060"/>
                </a:solidFill>
              </a:rPr>
              <a:t>effective black-box testing</a:t>
            </a:r>
            <a:r>
              <a:rPr lang="en-US" sz="2400" dirty="0">
                <a:solidFill>
                  <a:srgbClr val="002060"/>
                </a:solidFill>
              </a:rPr>
              <a:t>.</a:t>
            </a:r>
          </a:p>
        </p:txBody>
      </p:sp>
      <p:sp>
        <p:nvSpPr>
          <p:cNvPr id="2" name="Date Placeholder 1">
            <a:extLst>
              <a:ext uri="{FF2B5EF4-FFF2-40B4-BE49-F238E27FC236}">
                <a16:creationId xmlns:a16="http://schemas.microsoft.com/office/drawing/2014/main" id="{D771BC0B-062B-16B1-720D-05DDAA23921B}"/>
              </a:ext>
            </a:extLst>
          </p:cNvPr>
          <p:cNvSpPr>
            <a:spLocks noGrp="1"/>
          </p:cNvSpPr>
          <p:nvPr>
            <p:ph type="dt" sz="half" idx="10"/>
          </p:nvPr>
        </p:nvSpPr>
        <p:spPr/>
        <p:txBody>
          <a:bodyPr/>
          <a:lstStyle/>
          <a:p>
            <a:fld id="{13E72292-87BA-4BBD-9169-46B33748625B}" type="datetime1">
              <a:rPr lang="en-IN" smtClean="0"/>
              <a:t>03-11-2025</a:t>
            </a:fld>
            <a:endParaRPr lang="en-IN"/>
          </a:p>
        </p:txBody>
      </p:sp>
      <p:sp>
        <p:nvSpPr>
          <p:cNvPr id="5" name="Footer Placeholder 4">
            <a:extLst>
              <a:ext uri="{FF2B5EF4-FFF2-40B4-BE49-F238E27FC236}">
                <a16:creationId xmlns:a16="http://schemas.microsoft.com/office/drawing/2014/main" id="{FFDF335F-90B5-A669-699B-6B925687E628}"/>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C0D5202B-B09B-950D-ADA1-B18817E14999}"/>
              </a:ext>
            </a:extLst>
          </p:cNvPr>
          <p:cNvSpPr>
            <a:spLocks noGrp="1"/>
          </p:cNvSpPr>
          <p:nvPr>
            <p:ph type="sldNum" sz="quarter" idx="12"/>
          </p:nvPr>
        </p:nvSpPr>
        <p:spPr/>
        <p:txBody>
          <a:bodyPr/>
          <a:lstStyle/>
          <a:p>
            <a:fld id="{157E8F69-36B6-4843-A9CE-6B9353F4DBAF}" type="slidenum">
              <a:rPr lang="en-IN" smtClean="0"/>
              <a:t>43</a:t>
            </a:fld>
            <a:endParaRPr lang="en-IN"/>
          </a:p>
        </p:txBody>
      </p:sp>
    </p:spTree>
    <p:extLst>
      <p:ext uri="{BB962C8B-B14F-4D97-AF65-F5344CB8AC3E}">
        <p14:creationId xmlns:p14="http://schemas.microsoft.com/office/powerpoint/2010/main" val="19487447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74320" y="298996"/>
            <a:ext cx="11658600" cy="1200329"/>
          </a:xfrm>
          <a:prstGeom prst="rect">
            <a:avLst/>
          </a:prstGeom>
        </p:spPr>
        <p:txBody>
          <a:bodyPr wrap="square">
            <a:spAutoFit/>
          </a:bodyPr>
          <a:lstStyle/>
          <a:p>
            <a:pPr algn="ctr"/>
            <a:r>
              <a:rPr lang="en-US" sz="2400" b="1" u="sng" dirty="0"/>
              <a:t>7.7 WHITE-BOX TESTING</a:t>
            </a:r>
          </a:p>
          <a:p>
            <a:pPr algn="just"/>
            <a:r>
              <a:rPr lang="en-US" sz="2400" dirty="0"/>
              <a:t>	White-box testing is a </a:t>
            </a:r>
            <a:r>
              <a:rPr lang="en-US" sz="2400" b="1" dirty="0"/>
              <a:t>unit testing method</a:t>
            </a:r>
            <a:r>
              <a:rPr lang="en-US" sz="2400" dirty="0"/>
              <a:t> based on </a:t>
            </a:r>
            <a:r>
              <a:rPr lang="en-US" sz="2400" b="1" dirty="0"/>
              <a:t>internal code structure</a:t>
            </a:r>
            <a:r>
              <a:rPr lang="en-US" sz="2400" dirty="0"/>
              <a:t>. It uses the source code to design test cases. There are </a:t>
            </a:r>
            <a:r>
              <a:rPr lang="en-US" sz="2400" b="1" dirty="0"/>
              <a:t>two types</a:t>
            </a:r>
            <a:r>
              <a:rPr lang="en-US" sz="2400" dirty="0"/>
              <a:t> of strategies:</a:t>
            </a:r>
          </a:p>
        </p:txBody>
      </p:sp>
      <p:sp>
        <p:nvSpPr>
          <p:cNvPr id="7" name="Rectangle 6"/>
          <p:cNvSpPr/>
          <p:nvPr/>
        </p:nvSpPr>
        <p:spPr>
          <a:xfrm>
            <a:off x="274320" y="1545045"/>
            <a:ext cx="11658600" cy="4467057"/>
          </a:xfrm>
          <a:prstGeom prst="rect">
            <a:avLst/>
          </a:prstGeom>
        </p:spPr>
        <p:txBody>
          <a:bodyPr wrap="square">
            <a:spAutoFit/>
          </a:bodyPr>
          <a:lstStyle/>
          <a:p>
            <a:pPr algn="just">
              <a:lnSpc>
                <a:spcPct val="150000"/>
              </a:lnSpc>
            </a:pPr>
            <a:r>
              <a:rPr lang="en-US" sz="2400" b="1" u="sng" dirty="0"/>
              <a:t>📌 7.7.1 Basic Concepts</a:t>
            </a:r>
          </a:p>
          <a:p>
            <a:pPr marL="800100" lvl="1" indent="-342900" algn="just">
              <a:lnSpc>
                <a:spcPct val="150000"/>
              </a:lnSpc>
              <a:buFont typeface="Wingdings" panose="05000000000000000000" pitchFamily="2" charset="2"/>
              <a:buChar char="Ø"/>
            </a:pPr>
            <a:r>
              <a:rPr lang="en-US" sz="2400" b="1" dirty="0"/>
              <a:t>Coverage-Based Testing</a:t>
            </a:r>
            <a:r>
              <a:rPr lang="en-US" sz="2400" dirty="0"/>
              <a:t>: Ensures specific parts of code (e.g., statements, branches) are executed.</a:t>
            </a:r>
          </a:p>
          <a:p>
            <a:pPr marL="800100" lvl="1" indent="-342900" algn="just">
              <a:lnSpc>
                <a:spcPct val="150000"/>
              </a:lnSpc>
              <a:buFont typeface="Wingdings" panose="05000000000000000000" pitchFamily="2" charset="2"/>
              <a:buChar char="Ø"/>
            </a:pPr>
            <a:r>
              <a:rPr lang="en-US" sz="2400" b="1" dirty="0"/>
              <a:t>Fault-Based Testing</a:t>
            </a:r>
            <a:r>
              <a:rPr lang="en-US" sz="2400" dirty="0"/>
              <a:t>: Designed to uncover specific faults (e.g., using mutation testing).</a:t>
            </a:r>
          </a:p>
          <a:p>
            <a:pPr algn="just">
              <a:lnSpc>
                <a:spcPct val="150000"/>
              </a:lnSpc>
            </a:pPr>
            <a:r>
              <a:rPr lang="en-US" sz="2400" dirty="0"/>
              <a:t>A test suite is </a:t>
            </a:r>
            <a:r>
              <a:rPr lang="en-US" sz="2400" b="1" dirty="0"/>
              <a:t>adequate</a:t>
            </a:r>
            <a:r>
              <a:rPr lang="en-US" sz="2400" dirty="0"/>
              <a:t> if it satisfies the chosen </a:t>
            </a:r>
            <a:r>
              <a:rPr lang="en-US" sz="2400" b="1" dirty="0"/>
              <a:t>testing criterion</a:t>
            </a:r>
            <a:r>
              <a:rPr lang="en-US" sz="2400" dirty="0"/>
              <a:t>.</a:t>
            </a:r>
          </a:p>
          <a:p>
            <a:pPr algn="just">
              <a:lnSpc>
                <a:spcPct val="150000"/>
              </a:lnSpc>
            </a:pPr>
            <a:r>
              <a:rPr lang="en-US" sz="2400" b="1" dirty="0"/>
              <a:t>Comparison</a:t>
            </a:r>
            <a:r>
              <a:rPr lang="en-US" sz="2400" dirty="0"/>
              <a:t>:</a:t>
            </a:r>
          </a:p>
          <a:p>
            <a:pPr marL="800100" lvl="1" indent="-342900" algn="just">
              <a:lnSpc>
                <a:spcPct val="150000"/>
              </a:lnSpc>
              <a:buFont typeface="Wingdings" panose="05000000000000000000" pitchFamily="2" charset="2"/>
              <a:buChar char="Ø"/>
            </a:pPr>
            <a:r>
              <a:rPr lang="en-US" sz="2400" dirty="0"/>
              <a:t>One strategy is </a:t>
            </a:r>
            <a:r>
              <a:rPr lang="en-US" sz="2400" b="1" dirty="0"/>
              <a:t>stronger</a:t>
            </a:r>
            <a:r>
              <a:rPr lang="en-US" sz="2400" dirty="0"/>
              <a:t> if it covers all that another does and </a:t>
            </a:r>
            <a:r>
              <a:rPr lang="en-US" sz="2400" b="1" dirty="0"/>
              <a:t>more</a:t>
            </a:r>
            <a:r>
              <a:rPr lang="en-US" sz="2400" dirty="0"/>
              <a:t>.</a:t>
            </a:r>
          </a:p>
          <a:p>
            <a:pPr marL="800100" lvl="1" indent="-342900" algn="just">
              <a:lnSpc>
                <a:spcPct val="150000"/>
              </a:lnSpc>
              <a:buFont typeface="Wingdings" panose="05000000000000000000" pitchFamily="2" charset="2"/>
              <a:buChar char="Ø"/>
            </a:pPr>
            <a:r>
              <a:rPr lang="en-US" sz="2400" dirty="0"/>
              <a:t>Two strategies are </a:t>
            </a:r>
            <a:r>
              <a:rPr lang="en-US" sz="2400" b="1" dirty="0"/>
              <a:t>complementary</a:t>
            </a:r>
            <a:r>
              <a:rPr lang="en-US" sz="2400" dirty="0"/>
              <a:t> if they cover different program elements.</a:t>
            </a:r>
          </a:p>
        </p:txBody>
      </p:sp>
      <p:sp>
        <p:nvSpPr>
          <p:cNvPr id="2" name="Date Placeholder 1">
            <a:extLst>
              <a:ext uri="{FF2B5EF4-FFF2-40B4-BE49-F238E27FC236}">
                <a16:creationId xmlns:a16="http://schemas.microsoft.com/office/drawing/2014/main" id="{E8BE054E-FCF2-77E5-3E17-96B4A504DF44}"/>
              </a:ext>
            </a:extLst>
          </p:cNvPr>
          <p:cNvSpPr>
            <a:spLocks noGrp="1"/>
          </p:cNvSpPr>
          <p:nvPr>
            <p:ph type="dt" sz="half" idx="10"/>
          </p:nvPr>
        </p:nvSpPr>
        <p:spPr/>
        <p:txBody>
          <a:bodyPr/>
          <a:lstStyle/>
          <a:p>
            <a:fld id="{E0BA33FC-A775-4E65-A39A-AF4F0DEF163A}" type="datetime1">
              <a:rPr lang="en-IN" smtClean="0"/>
              <a:t>03-11-2025</a:t>
            </a:fld>
            <a:endParaRPr lang="en-IN"/>
          </a:p>
        </p:txBody>
      </p:sp>
      <p:sp>
        <p:nvSpPr>
          <p:cNvPr id="3" name="Footer Placeholder 2">
            <a:extLst>
              <a:ext uri="{FF2B5EF4-FFF2-40B4-BE49-F238E27FC236}">
                <a16:creationId xmlns:a16="http://schemas.microsoft.com/office/drawing/2014/main" id="{D92BBF58-47BA-CBB1-8D82-32DEAC45DB4E}"/>
              </a:ext>
            </a:extLst>
          </p:cNvPr>
          <p:cNvSpPr>
            <a:spLocks noGrp="1"/>
          </p:cNvSpPr>
          <p:nvPr>
            <p:ph type="ftr" sz="quarter" idx="11"/>
          </p:nvPr>
        </p:nvSpPr>
        <p:spPr/>
        <p:txBody>
          <a:bodyPr/>
          <a:lstStyle/>
          <a:p>
            <a:r>
              <a:rPr lang="en-IN"/>
              <a:t>MIT</a:t>
            </a:r>
          </a:p>
        </p:txBody>
      </p:sp>
      <p:sp>
        <p:nvSpPr>
          <p:cNvPr id="4" name="Slide Number Placeholder 3">
            <a:extLst>
              <a:ext uri="{FF2B5EF4-FFF2-40B4-BE49-F238E27FC236}">
                <a16:creationId xmlns:a16="http://schemas.microsoft.com/office/drawing/2014/main" id="{C83246C4-D5CE-7472-9951-8E34BC8433A7}"/>
              </a:ext>
            </a:extLst>
          </p:cNvPr>
          <p:cNvSpPr>
            <a:spLocks noGrp="1"/>
          </p:cNvSpPr>
          <p:nvPr>
            <p:ph type="sldNum" sz="quarter" idx="12"/>
          </p:nvPr>
        </p:nvSpPr>
        <p:spPr/>
        <p:txBody>
          <a:bodyPr/>
          <a:lstStyle/>
          <a:p>
            <a:fld id="{157E8F69-36B6-4843-A9CE-6B9353F4DBAF}" type="slidenum">
              <a:rPr lang="en-IN" smtClean="0"/>
              <a:t>44</a:t>
            </a:fld>
            <a:endParaRPr lang="en-IN"/>
          </a:p>
        </p:txBody>
      </p:sp>
    </p:spTree>
    <p:extLst>
      <p:ext uri="{BB962C8B-B14F-4D97-AF65-F5344CB8AC3E}">
        <p14:creationId xmlns:p14="http://schemas.microsoft.com/office/powerpoint/2010/main" val="12903375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096789" y="2193990"/>
            <a:ext cx="10074129" cy="3902010"/>
          </a:xfrm>
          <a:prstGeom prst="rect">
            <a:avLst/>
          </a:prstGeom>
        </p:spPr>
      </p:pic>
      <p:sp>
        <p:nvSpPr>
          <p:cNvPr id="4" name="Rectangle 3"/>
          <p:cNvSpPr/>
          <p:nvPr/>
        </p:nvSpPr>
        <p:spPr>
          <a:xfrm>
            <a:off x="1096789" y="6211669"/>
            <a:ext cx="10074129" cy="369332"/>
          </a:xfrm>
          <a:prstGeom prst="rect">
            <a:avLst/>
          </a:prstGeom>
        </p:spPr>
        <p:txBody>
          <a:bodyPr wrap="square">
            <a:spAutoFit/>
          </a:bodyPr>
          <a:lstStyle/>
          <a:p>
            <a:pPr algn="ctr"/>
            <a:r>
              <a:rPr lang="en-US" b="1" dirty="0">
                <a:solidFill>
                  <a:srgbClr val="2F3193"/>
                </a:solidFill>
                <a:latin typeface="OfficinaSans-Bold"/>
              </a:rPr>
              <a:t>FIGURE 7.6 </a:t>
            </a:r>
            <a:r>
              <a:rPr lang="en-US" dirty="0">
                <a:solidFill>
                  <a:srgbClr val="2F3193"/>
                </a:solidFill>
                <a:latin typeface="OfficinaSans-Book"/>
              </a:rPr>
              <a:t>Illustration of stronger, weaker, and complementary testing strategies.</a:t>
            </a:r>
            <a:endParaRPr lang="en-IN" dirty="0"/>
          </a:p>
        </p:txBody>
      </p:sp>
      <p:sp>
        <p:nvSpPr>
          <p:cNvPr id="5" name="Rectangle 4"/>
          <p:cNvSpPr/>
          <p:nvPr/>
        </p:nvSpPr>
        <p:spPr>
          <a:xfrm>
            <a:off x="167640" y="70332"/>
            <a:ext cx="11795760" cy="2123658"/>
          </a:xfrm>
          <a:prstGeom prst="rect">
            <a:avLst/>
          </a:prstGeom>
        </p:spPr>
        <p:txBody>
          <a:bodyPr wrap="square">
            <a:spAutoFit/>
          </a:bodyPr>
          <a:lstStyle/>
          <a:p>
            <a:pPr algn="just"/>
            <a:r>
              <a:rPr lang="en-US" sz="2200" dirty="0">
                <a:solidFill>
                  <a:srgbClr val="000000"/>
                </a:solidFill>
              </a:rPr>
              <a:t>When none of two testing strategies fully covers the program elements exercised by the other, then the two are called </a:t>
            </a:r>
            <a:r>
              <a:rPr lang="en-US" sz="2200" i="1" dirty="0">
                <a:solidFill>
                  <a:srgbClr val="000000"/>
                </a:solidFill>
              </a:rPr>
              <a:t>complementary testing strategies</a:t>
            </a:r>
            <a:r>
              <a:rPr lang="en-US" sz="2200" dirty="0">
                <a:solidFill>
                  <a:srgbClr val="000000"/>
                </a:solidFill>
              </a:rPr>
              <a:t>. The concepts of stronger, weaker, and complementary testing are schematically illustrated in </a:t>
            </a:r>
            <a:r>
              <a:rPr lang="en-US" sz="2200" dirty="0">
                <a:solidFill>
                  <a:srgbClr val="2F3193"/>
                </a:solidFill>
              </a:rPr>
              <a:t>Figure 7.6</a:t>
            </a:r>
            <a:r>
              <a:rPr lang="en-US" sz="2200" dirty="0">
                <a:solidFill>
                  <a:srgbClr val="000000"/>
                </a:solidFill>
              </a:rPr>
              <a:t>. Observe in Figure 7.6(a) that testing strategy A is stronger than B since B covers only a proper subset of elements covered by B. On the other hand, Figure 7.6(b) shows A and B are complementary testing strategies since some elements of A are not covered by B and </a:t>
            </a:r>
            <a:r>
              <a:rPr lang="en-US" sz="2200" i="1" dirty="0">
                <a:solidFill>
                  <a:srgbClr val="000000"/>
                </a:solidFill>
              </a:rPr>
              <a:t>vice versa</a:t>
            </a:r>
            <a:r>
              <a:rPr lang="en-US" sz="2200" dirty="0">
                <a:solidFill>
                  <a:srgbClr val="000000"/>
                </a:solidFill>
              </a:rPr>
              <a:t>.</a:t>
            </a:r>
            <a:endParaRPr lang="en-IN" sz="2200" dirty="0"/>
          </a:p>
        </p:txBody>
      </p:sp>
      <p:sp>
        <p:nvSpPr>
          <p:cNvPr id="2" name="Date Placeholder 1">
            <a:extLst>
              <a:ext uri="{FF2B5EF4-FFF2-40B4-BE49-F238E27FC236}">
                <a16:creationId xmlns:a16="http://schemas.microsoft.com/office/drawing/2014/main" id="{5210C6F1-4F91-3936-A181-77B3EF71F7FA}"/>
              </a:ext>
            </a:extLst>
          </p:cNvPr>
          <p:cNvSpPr>
            <a:spLocks noGrp="1"/>
          </p:cNvSpPr>
          <p:nvPr>
            <p:ph type="dt" sz="half" idx="10"/>
          </p:nvPr>
        </p:nvSpPr>
        <p:spPr/>
        <p:txBody>
          <a:bodyPr/>
          <a:lstStyle/>
          <a:p>
            <a:fld id="{6DA97541-1F0F-4FF6-918C-C9E4051E423D}" type="datetime1">
              <a:rPr lang="en-IN" smtClean="0"/>
              <a:t>03-11-2025</a:t>
            </a:fld>
            <a:endParaRPr lang="en-IN"/>
          </a:p>
        </p:txBody>
      </p:sp>
      <p:sp>
        <p:nvSpPr>
          <p:cNvPr id="6" name="Footer Placeholder 5">
            <a:extLst>
              <a:ext uri="{FF2B5EF4-FFF2-40B4-BE49-F238E27FC236}">
                <a16:creationId xmlns:a16="http://schemas.microsoft.com/office/drawing/2014/main" id="{2FB707BB-4A9B-332A-1655-FACC5A118664}"/>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A97BD3D9-1C2E-265F-3629-EA438C0BB6DE}"/>
              </a:ext>
            </a:extLst>
          </p:cNvPr>
          <p:cNvSpPr>
            <a:spLocks noGrp="1"/>
          </p:cNvSpPr>
          <p:nvPr>
            <p:ph type="sldNum" sz="quarter" idx="12"/>
          </p:nvPr>
        </p:nvSpPr>
        <p:spPr/>
        <p:txBody>
          <a:bodyPr/>
          <a:lstStyle/>
          <a:p>
            <a:fld id="{157E8F69-36B6-4843-A9CE-6B9353F4DBAF}" type="slidenum">
              <a:rPr lang="en-IN" smtClean="0"/>
              <a:t>45</a:t>
            </a:fld>
            <a:endParaRPr lang="en-IN"/>
          </a:p>
        </p:txBody>
      </p:sp>
    </p:spTree>
    <p:extLst>
      <p:ext uri="{BB962C8B-B14F-4D97-AF65-F5344CB8AC3E}">
        <p14:creationId xmlns:p14="http://schemas.microsoft.com/office/powerpoint/2010/main" val="16737697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1"/>
              <p:cNvSpPr>
                <a:spLocks noChangeArrowheads="1"/>
              </p:cNvSpPr>
              <p:nvPr/>
            </p:nvSpPr>
            <p:spPr bwMode="auto">
              <a:xfrm>
                <a:off x="307286" y="271405"/>
                <a:ext cx="11577428" cy="631519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rPr>
                  <a:t>🧩 Types of White-Box Testing Strategies</a:t>
                </a:r>
              </a:p>
              <a:p>
                <a:pPr marL="0" marR="0" lvl="0" indent="0" algn="just" defTabSz="914400" rtl="0" eaLnBrk="0" fontAlgn="base" latinLnBrk="0" hangingPunct="0">
                  <a:spcBef>
                    <a:spcPct val="0"/>
                  </a:spcBef>
                  <a:spcAft>
                    <a:spcPct val="0"/>
                  </a:spcAft>
                  <a:buClrTx/>
                  <a:buSzTx/>
                  <a:buFontTx/>
                  <a:buNone/>
                  <a:tabLst/>
                </a:pPr>
                <a:endParaRPr lang="en-US" altLang="en-US" sz="2400" b="1" u="sng" dirty="0"/>
              </a:p>
              <a:p>
                <a:pPr marL="0" marR="0" lvl="0" indent="0" algn="just" defTabSz="914400" rtl="0" eaLnBrk="0" fontAlgn="base" latinLnBrk="0" hangingPunct="0">
                  <a:spcBef>
                    <a:spcPct val="0"/>
                  </a:spcBef>
                  <a:spcAft>
                    <a:spcPct val="0"/>
                  </a:spcAft>
                  <a:buClrTx/>
                  <a:buSzTx/>
                  <a:buFontTx/>
                  <a:buNone/>
                  <a:tabLst/>
                </a:pPr>
                <a:r>
                  <a:rPr lang="en-US" altLang="en-US" sz="2400" b="1" u="sng" dirty="0"/>
                  <a:t>7</a:t>
                </a:r>
                <a:r>
                  <a:rPr kumimoji="0" lang="en-US" altLang="en-US" sz="2400" b="1" i="0" u="sng" strike="noStrike" cap="none" normalizeH="0" baseline="0" dirty="0">
                    <a:ln>
                      <a:noFill/>
                    </a:ln>
                    <a:solidFill>
                      <a:schemeClr val="tx1"/>
                    </a:solidFill>
                    <a:effectLst/>
                  </a:rPr>
                  <a:t>.7.2 Statement Coverage</a:t>
                </a:r>
              </a:p>
              <a:p>
                <a:pPr lvl="0" algn="just" eaLnBrk="0" fontAlgn="base" hangingPunct="0">
                  <a:spcBef>
                    <a:spcPct val="0"/>
                  </a:spcBef>
                  <a:spcAft>
                    <a:spcPct val="0"/>
                  </a:spcAft>
                </a:pPr>
                <a:r>
                  <a:rPr lang="en-US" sz="2400" dirty="0"/>
                  <a:t>Statement coverage is a white-box testing technique that ensures </a:t>
                </a:r>
                <a:r>
                  <a:rPr lang="en-US" sz="2400" b="1" dirty="0"/>
                  <a:t>every executable statement in the source code is executed at least once</a:t>
                </a:r>
                <a:r>
                  <a:rPr lang="en-US" sz="2400" dirty="0"/>
                  <a:t> during testing.</a:t>
                </a:r>
              </a:p>
              <a:p>
                <a:endParaRPr lang="en-US" sz="2400" dirty="0"/>
              </a:p>
              <a:p>
                <a:r>
                  <a:rPr lang="en-US" sz="2400" dirty="0"/>
                  <a:t>To verify that no part of the code remains untested.</a:t>
                </a:r>
              </a:p>
              <a:p>
                <a:r>
                  <a:rPr lang="en-US" sz="2400" b="1" dirty="0"/>
                  <a:t>Formula:</a:t>
                </a:r>
                <a:endParaRPr lang="en-US" sz="2400" dirty="0"/>
              </a:p>
              <a:p>
                <a:pPr/>
                <a14:m>
                  <m:oMathPara xmlns:m="http://schemas.openxmlformats.org/officeDocument/2006/math">
                    <m:oMathParaPr>
                      <m:jc m:val="centerGroup"/>
                    </m:oMathParaPr>
                    <m:oMath xmlns:m="http://schemas.openxmlformats.org/officeDocument/2006/math">
                      <m:r>
                        <m:rPr>
                          <m:nor/>
                        </m:rPr>
                        <a:rPr lang="en-US" sz="2400" b="0"/>
                        <m:t>Statement</m:t>
                      </m:r>
                      <m:r>
                        <m:rPr>
                          <m:nor/>
                        </m:rPr>
                        <a:rPr lang="en-US" sz="2400" b="0" i="1"/>
                        <m:t> </m:t>
                      </m:r>
                      <m:r>
                        <m:rPr>
                          <m:nor/>
                        </m:rPr>
                        <a:rPr lang="en-US" sz="2400" b="0" i="1"/>
                        <m:t>Coverage</m:t>
                      </m:r>
                      <m:r>
                        <a:rPr lang="en-US">
                          <a:latin typeface="Cambria Math" panose="02040503050406030204" pitchFamily="18" charset="0"/>
                        </a:rPr>
                        <m:t>=</m:t>
                      </m:r>
                      <m:f>
                        <m:fPr>
                          <m:ctrlPr>
                            <a:rPr lang="ar-AE" i="1">
                              <a:latin typeface="Cambria Math" panose="02040503050406030204" pitchFamily="18" charset="0"/>
                            </a:rPr>
                          </m:ctrlPr>
                        </m:fPr>
                        <m:num>
                          <m:r>
                            <m:rPr>
                              <m:nor/>
                            </m:rPr>
                            <a:rPr lang="en-US" i="1"/>
                            <m:t>Number</m:t>
                          </m:r>
                          <m:r>
                            <m:rPr>
                              <m:nor/>
                            </m:rPr>
                            <a:rPr lang="en-US" i="1"/>
                            <m:t> </m:t>
                          </m:r>
                          <m:r>
                            <m:rPr>
                              <m:nor/>
                            </m:rPr>
                            <a:rPr lang="en-US" i="1"/>
                            <m:t>of</m:t>
                          </m:r>
                          <m:r>
                            <m:rPr>
                              <m:nor/>
                            </m:rPr>
                            <a:rPr lang="en-US" i="1"/>
                            <m:t> </m:t>
                          </m:r>
                          <m:r>
                            <m:rPr>
                              <m:nor/>
                            </m:rPr>
                            <a:rPr lang="en-US" i="1"/>
                            <m:t>statements</m:t>
                          </m:r>
                          <m:r>
                            <m:rPr>
                              <m:nor/>
                            </m:rPr>
                            <a:rPr lang="en-US" i="1"/>
                            <m:t> </m:t>
                          </m:r>
                          <m:r>
                            <m:rPr>
                              <m:nor/>
                            </m:rPr>
                            <a:rPr lang="en-US" i="1"/>
                            <m:t>executed</m:t>
                          </m:r>
                        </m:num>
                        <m:den>
                          <m:r>
                            <m:rPr>
                              <m:nor/>
                            </m:rPr>
                            <a:rPr lang="en-US" i="1"/>
                            <m:t>Total</m:t>
                          </m:r>
                          <m:r>
                            <m:rPr>
                              <m:nor/>
                            </m:rPr>
                            <a:rPr lang="en-US" i="1"/>
                            <m:t> </m:t>
                          </m:r>
                          <m:r>
                            <m:rPr>
                              <m:nor/>
                            </m:rPr>
                            <a:rPr lang="en-US" i="1"/>
                            <m:t>number</m:t>
                          </m:r>
                          <m:r>
                            <m:rPr>
                              <m:nor/>
                            </m:rPr>
                            <a:rPr lang="en-US" i="1"/>
                            <m:t> </m:t>
                          </m:r>
                          <m:r>
                            <m:rPr>
                              <m:nor/>
                            </m:rPr>
                            <a:rPr lang="en-US" i="1"/>
                            <m:t>of</m:t>
                          </m:r>
                          <m:r>
                            <m:rPr>
                              <m:nor/>
                            </m:rPr>
                            <a:rPr lang="en-US" i="1"/>
                            <m:t> </m:t>
                          </m:r>
                          <m:r>
                            <m:rPr>
                              <m:nor/>
                            </m:rPr>
                            <a:rPr lang="en-US" i="1"/>
                            <m:t>statements</m:t>
                          </m:r>
                        </m:den>
                      </m:f>
                      <m:r>
                        <a:rPr lang="ar-AE">
                          <a:latin typeface="Cambria Math" panose="02040503050406030204" pitchFamily="18" charset="0"/>
                        </a:rPr>
                        <m:t>×</m:t>
                      </m:r>
                      <m:r>
                        <a:rPr lang="ar-AE">
                          <a:latin typeface="Cambria Math" panose="02040503050406030204" pitchFamily="18" charset="0"/>
                        </a:rPr>
                        <m:t>100</m:t>
                      </m:r>
                    </m:oMath>
                  </m:oMathPara>
                </a14:m>
                <a:endParaRPr lang="ar-AE" sz="2400" b="0" dirty="0"/>
              </a:p>
              <a:p>
                <a:r>
                  <a:rPr lang="en-US" sz="2400" b="1" dirty="0"/>
                  <a:t>Strength:</a:t>
                </a:r>
                <a:endParaRPr lang="en-US" sz="2400" dirty="0"/>
              </a:p>
              <a:p>
                <a:pPr marL="342900" indent="-342900">
                  <a:buFont typeface="Wingdings" panose="05000000000000000000" pitchFamily="2" charset="2"/>
                  <a:buChar char="ü"/>
                </a:pPr>
                <a:r>
                  <a:rPr lang="en-US" sz="2400" dirty="0"/>
                  <a:t>Ensures that all lines of code have been run at least once.</a:t>
                </a:r>
              </a:p>
              <a:p>
                <a:pPr marL="342900" indent="-342900">
                  <a:buFont typeface="Wingdings" panose="05000000000000000000" pitchFamily="2" charset="2"/>
                  <a:buChar char="ü"/>
                </a:pPr>
                <a:r>
                  <a:rPr lang="en-US" sz="2400" dirty="0"/>
                  <a:t>Helps identify </a:t>
                </a:r>
                <a:r>
                  <a:rPr lang="en-US" sz="2400" b="1" dirty="0"/>
                  <a:t>dead code</a:t>
                </a:r>
                <a:r>
                  <a:rPr lang="en-US" sz="2400" dirty="0"/>
                  <a:t> or </a:t>
                </a:r>
                <a:r>
                  <a:rPr lang="en-US" sz="2400" b="1" dirty="0"/>
                  <a:t>unreachable statements</a:t>
                </a:r>
                <a:r>
                  <a:rPr lang="en-US" sz="2400" dirty="0"/>
                  <a:t>.</a:t>
                </a:r>
              </a:p>
              <a:p>
                <a:r>
                  <a:rPr lang="en-US" sz="2400" b="1" dirty="0"/>
                  <a:t>Weakness:</a:t>
                </a:r>
                <a:endParaRPr lang="en-US" sz="2400" dirty="0"/>
              </a:p>
              <a:p>
                <a:pPr marL="342900" indent="-342900">
                  <a:buFont typeface="Arial" panose="020B0604020202020204" pitchFamily="34" charset="0"/>
                  <a:buChar char="•"/>
                </a:pPr>
                <a:r>
                  <a:rPr lang="en-US" sz="2400" dirty="0"/>
                  <a:t>It </a:t>
                </a:r>
                <a:r>
                  <a:rPr lang="en-US" sz="2400" b="1" dirty="0"/>
                  <a:t>does not ensure full logic validation</a:t>
                </a:r>
                <a:r>
                  <a:rPr lang="en-US" sz="2400" dirty="0"/>
                  <a:t> — some logical conditions may never be tested even if all statements are executed.</a:t>
                </a:r>
              </a:p>
              <a:p>
                <a:pPr marL="342900" indent="-342900">
                  <a:buFont typeface="Arial" panose="020B0604020202020204" pitchFamily="34" charset="0"/>
                  <a:buChar char="•"/>
                </a:pPr>
                <a:r>
                  <a:rPr lang="en-US" sz="2400" dirty="0"/>
                  <a:t>Cannot detect missing paths or conditions that affect control flow.</a:t>
                </a:r>
              </a:p>
            </p:txBody>
          </p:sp>
        </mc:Choice>
        <mc:Fallback xmlns="">
          <p:sp>
            <p:nvSpPr>
              <p:cNvPr id="3" name="Rectangle 1"/>
              <p:cNvSpPr>
                <a:spLocks noRot="1" noChangeAspect="1" noMove="1" noResize="1" noEditPoints="1" noAdjustHandles="1" noChangeArrowheads="1" noChangeShapeType="1" noTextEdit="1"/>
              </p:cNvSpPr>
              <p:nvPr/>
            </p:nvSpPr>
            <p:spPr bwMode="auto">
              <a:xfrm>
                <a:off x="307286" y="271405"/>
                <a:ext cx="11577428" cy="6315190"/>
              </a:xfrm>
              <a:prstGeom prst="rect">
                <a:avLst/>
              </a:prstGeom>
              <a:blipFill>
                <a:blip r:embed="rId2"/>
                <a:stretch>
                  <a:fillRect l="-789" t="-386" r="-789" b="-183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id="{F42739DD-1050-A7D3-0827-6C183F98C3D1}"/>
              </a:ext>
            </a:extLst>
          </p:cNvPr>
          <p:cNvSpPr>
            <a:spLocks noGrp="1"/>
          </p:cNvSpPr>
          <p:nvPr>
            <p:ph type="dt" sz="half" idx="10"/>
          </p:nvPr>
        </p:nvSpPr>
        <p:spPr/>
        <p:txBody>
          <a:bodyPr/>
          <a:lstStyle/>
          <a:p>
            <a:fld id="{81E6385F-F24F-4A60-8223-F30AC4CBAD92}" type="datetime1">
              <a:rPr lang="en-IN" smtClean="0"/>
              <a:t>03-11-2025</a:t>
            </a:fld>
            <a:endParaRPr lang="en-IN"/>
          </a:p>
        </p:txBody>
      </p:sp>
      <p:sp>
        <p:nvSpPr>
          <p:cNvPr id="4" name="Footer Placeholder 3">
            <a:extLst>
              <a:ext uri="{FF2B5EF4-FFF2-40B4-BE49-F238E27FC236}">
                <a16:creationId xmlns:a16="http://schemas.microsoft.com/office/drawing/2014/main" id="{60F66D78-D578-319E-CA19-DFD0A30BC927}"/>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789595DB-6927-1782-A77F-4EE1CBB85EEA}"/>
              </a:ext>
            </a:extLst>
          </p:cNvPr>
          <p:cNvSpPr>
            <a:spLocks noGrp="1"/>
          </p:cNvSpPr>
          <p:nvPr>
            <p:ph type="sldNum" sz="quarter" idx="12"/>
          </p:nvPr>
        </p:nvSpPr>
        <p:spPr/>
        <p:txBody>
          <a:bodyPr/>
          <a:lstStyle/>
          <a:p>
            <a:fld id="{157E8F69-36B6-4843-A9CE-6B9353F4DBAF}" type="slidenum">
              <a:rPr lang="en-IN" smtClean="0"/>
              <a:t>46</a:t>
            </a:fld>
            <a:endParaRPr lang="en-IN"/>
          </a:p>
        </p:txBody>
      </p:sp>
    </p:spTree>
    <p:extLst>
      <p:ext uri="{BB962C8B-B14F-4D97-AF65-F5344CB8AC3E}">
        <p14:creationId xmlns:p14="http://schemas.microsoft.com/office/powerpoint/2010/main" val="38283864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0F578E2-C0C1-5B74-5BAF-DE1CE2277F72}"/>
              </a:ext>
            </a:extLst>
          </p:cNvPr>
          <p:cNvSpPr txBox="1"/>
          <p:nvPr/>
        </p:nvSpPr>
        <p:spPr>
          <a:xfrm>
            <a:off x="697230" y="307539"/>
            <a:ext cx="6243066" cy="4154984"/>
          </a:xfrm>
          <a:prstGeom prst="rect">
            <a:avLst/>
          </a:prstGeom>
          <a:noFill/>
        </p:spPr>
        <p:txBody>
          <a:bodyPr wrap="square">
            <a:spAutoFit/>
          </a:bodyPr>
          <a:lstStyle/>
          <a:p>
            <a:pPr algn="ctr"/>
            <a:r>
              <a:rPr lang="en-US" sz="2400" b="1" dirty="0"/>
              <a:t>Example GCD</a:t>
            </a:r>
          </a:p>
          <a:p>
            <a:pPr algn="ctr"/>
            <a:endParaRPr lang="en-US" sz="2400" b="1" dirty="0"/>
          </a:p>
          <a:p>
            <a:r>
              <a:rPr lang="en-US" sz="2400" dirty="0"/>
              <a:t>int </a:t>
            </a:r>
            <a:r>
              <a:rPr lang="en-US" sz="2400" dirty="0" err="1"/>
              <a:t>gcd</a:t>
            </a:r>
            <a:r>
              <a:rPr lang="en-US" sz="2400" dirty="0"/>
              <a:t>(int a, int b) {</a:t>
            </a:r>
          </a:p>
          <a:p>
            <a:r>
              <a:rPr lang="en-US" sz="2400" dirty="0"/>
              <a:t>    while (a != b) {</a:t>
            </a:r>
          </a:p>
          <a:p>
            <a:r>
              <a:rPr lang="en-US" sz="2400" dirty="0"/>
              <a:t>        if (a &gt; b)</a:t>
            </a:r>
          </a:p>
          <a:p>
            <a:r>
              <a:rPr lang="en-US" sz="2400" dirty="0"/>
              <a:t>            a = a - b;</a:t>
            </a:r>
          </a:p>
          <a:p>
            <a:r>
              <a:rPr lang="en-US" sz="2400" dirty="0"/>
              <a:t>        else</a:t>
            </a:r>
          </a:p>
          <a:p>
            <a:r>
              <a:rPr lang="en-US" sz="2400" dirty="0"/>
              <a:t>            b = b - a;</a:t>
            </a:r>
          </a:p>
          <a:p>
            <a:r>
              <a:rPr lang="en-US" sz="2400" dirty="0"/>
              <a:t>    }</a:t>
            </a:r>
          </a:p>
          <a:p>
            <a:r>
              <a:rPr lang="en-US" sz="2400" dirty="0"/>
              <a:t>    return a;</a:t>
            </a:r>
          </a:p>
          <a:p>
            <a:r>
              <a:rPr lang="en-US" sz="2400" dirty="0"/>
              <a:t>}</a:t>
            </a:r>
          </a:p>
        </p:txBody>
      </p:sp>
      <p:sp>
        <p:nvSpPr>
          <p:cNvPr id="6" name="TextBox 5">
            <a:extLst>
              <a:ext uri="{FF2B5EF4-FFF2-40B4-BE49-F238E27FC236}">
                <a16:creationId xmlns:a16="http://schemas.microsoft.com/office/drawing/2014/main" id="{123CC8FB-08C1-1003-084E-BB3E0DB0B80C}"/>
              </a:ext>
            </a:extLst>
          </p:cNvPr>
          <p:cNvSpPr txBox="1"/>
          <p:nvPr/>
        </p:nvSpPr>
        <p:spPr>
          <a:xfrm>
            <a:off x="5278374" y="1120676"/>
            <a:ext cx="6094476" cy="2308324"/>
          </a:xfrm>
          <a:prstGeom prst="rect">
            <a:avLst/>
          </a:prstGeom>
          <a:noFill/>
        </p:spPr>
        <p:txBody>
          <a:bodyPr wrap="square">
            <a:spAutoFit/>
          </a:bodyPr>
          <a:lstStyle/>
          <a:p>
            <a:pPr>
              <a:buNone/>
            </a:pPr>
            <a:r>
              <a:rPr lang="en-US" sz="2400" b="1" dirty="0"/>
              <a:t>Test Cases for Statement Coverage:</a:t>
            </a:r>
            <a:endParaRPr lang="en-US" sz="2400" dirty="0"/>
          </a:p>
          <a:p>
            <a:pPr>
              <a:buFont typeface="+mj-lt"/>
              <a:buAutoNum type="arabicPeriod"/>
            </a:pPr>
            <a:r>
              <a:rPr lang="en-US" sz="2400" dirty="0">
                <a:latin typeface="Courier New" panose="02070309020205020404" pitchFamily="49" charset="0"/>
              </a:rPr>
              <a:t>(3, 3)</a:t>
            </a:r>
            <a:r>
              <a:rPr lang="en-US" sz="2400" dirty="0"/>
              <a:t> → Executes the return statement directly (loop skipped).</a:t>
            </a:r>
          </a:p>
          <a:p>
            <a:pPr>
              <a:buFont typeface="+mj-lt"/>
              <a:buAutoNum type="arabicPeriod"/>
            </a:pPr>
            <a:r>
              <a:rPr lang="en-US" sz="2400" dirty="0">
                <a:latin typeface="Courier New" panose="02070309020205020404" pitchFamily="49" charset="0"/>
              </a:rPr>
              <a:t>(4, 3)</a:t>
            </a:r>
            <a:r>
              <a:rPr lang="en-US" sz="2400" dirty="0"/>
              <a:t> → Executes </a:t>
            </a:r>
            <a:r>
              <a:rPr lang="en-US" sz="2400" dirty="0">
                <a:latin typeface="Courier New" panose="02070309020205020404" pitchFamily="49" charset="0"/>
              </a:rPr>
              <a:t>if (a &gt; b)</a:t>
            </a:r>
            <a:r>
              <a:rPr lang="en-US" sz="2400" dirty="0"/>
              <a:t> branch.</a:t>
            </a:r>
          </a:p>
          <a:p>
            <a:pPr>
              <a:buFont typeface="+mj-lt"/>
              <a:buAutoNum type="arabicPeriod"/>
            </a:pPr>
            <a:r>
              <a:rPr lang="en-US" sz="2400" dirty="0">
                <a:latin typeface="Courier New" panose="02070309020205020404" pitchFamily="49" charset="0"/>
              </a:rPr>
              <a:t>(3, 4)</a:t>
            </a:r>
            <a:r>
              <a:rPr lang="en-US" sz="2400" dirty="0"/>
              <a:t> → Executes the </a:t>
            </a:r>
            <a:r>
              <a:rPr lang="en-US" sz="2400" dirty="0">
                <a:latin typeface="Courier New" panose="02070309020205020404" pitchFamily="49" charset="0"/>
              </a:rPr>
              <a:t>else</a:t>
            </a:r>
            <a:r>
              <a:rPr lang="en-US" sz="2400" dirty="0"/>
              <a:t> branch.</a:t>
            </a:r>
          </a:p>
          <a:p>
            <a:pPr>
              <a:buNone/>
            </a:pPr>
            <a:r>
              <a:rPr lang="en-US" sz="2400" dirty="0"/>
              <a:t>✅ All statements are executed at least once.</a:t>
            </a:r>
          </a:p>
        </p:txBody>
      </p:sp>
      <p:sp>
        <p:nvSpPr>
          <p:cNvPr id="8" name="TextBox 7">
            <a:extLst>
              <a:ext uri="{FF2B5EF4-FFF2-40B4-BE49-F238E27FC236}">
                <a16:creationId xmlns:a16="http://schemas.microsoft.com/office/drawing/2014/main" id="{39D95CD6-2BB0-92CD-BA12-90BDC2CADAAF}"/>
              </a:ext>
            </a:extLst>
          </p:cNvPr>
          <p:cNvSpPr txBox="1"/>
          <p:nvPr/>
        </p:nvSpPr>
        <p:spPr>
          <a:xfrm>
            <a:off x="256032" y="4883147"/>
            <a:ext cx="11826240" cy="1200329"/>
          </a:xfrm>
          <a:prstGeom prst="rect">
            <a:avLst/>
          </a:prstGeom>
          <a:noFill/>
        </p:spPr>
        <p:txBody>
          <a:bodyPr wrap="square">
            <a:spAutoFit/>
          </a:bodyPr>
          <a:lstStyle/>
          <a:p>
            <a:r>
              <a:rPr lang="en-US" sz="2400" b="1" dirty="0"/>
              <a:t>Limitation:</a:t>
            </a:r>
            <a:br>
              <a:rPr lang="en-US" sz="2400" dirty="0"/>
            </a:br>
            <a:r>
              <a:rPr lang="en-US" sz="2400" dirty="0"/>
              <a:t>These test cases cover all statements but </a:t>
            </a:r>
            <a:r>
              <a:rPr lang="en-US" sz="2400" b="1" dirty="0"/>
              <a:t>do not guarantee all logical conditions</a:t>
            </a:r>
            <a:r>
              <a:rPr lang="en-US" sz="2400" dirty="0"/>
              <a:t> (</a:t>
            </a:r>
            <a:r>
              <a:rPr lang="en-US" sz="2400" dirty="0">
                <a:latin typeface="Courier New" panose="02070309020205020404" pitchFamily="49" charset="0"/>
              </a:rPr>
              <a:t>a &gt; b</a:t>
            </a:r>
            <a:r>
              <a:rPr lang="en-US" sz="2400" dirty="0"/>
              <a:t> and </a:t>
            </a:r>
            <a:r>
              <a:rPr lang="en-US" sz="2400" dirty="0">
                <a:latin typeface="Courier New" panose="02070309020205020404" pitchFamily="49" charset="0"/>
              </a:rPr>
              <a:t>a &lt; b</a:t>
            </a:r>
            <a:r>
              <a:rPr lang="en-US" sz="2400" dirty="0"/>
              <a:t>) are tested in all possible orders or scenarios.</a:t>
            </a:r>
          </a:p>
        </p:txBody>
      </p:sp>
      <p:sp>
        <p:nvSpPr>
          <p:cNvPr id="2" name="Date Placeholder 1">
            <a:extLst>
              <a:ext uri="{FF2B5EF4-FFF2-40B4-BE49-F238E27FC236}">
                <a16:creationId xmlns:a16="http://schemas.microsoft.com/office/drawing/2014/main" id="{146861B3-4C50-0ED0-2503-235E2B83321E}"/>
              </a:ext>
            </a:extLst>
          </p:cNvPr>
          <p:cNvSpPr>
            <a:spLocks noGrp="1"/>
          </p:cNvSpPr>
          <p:nvPr>
            <p:ph type="dt" sz="half" idx="10"/>
          </p:nvPr>
        </p:nvSpPr>
        <p:spPr/>
        <p:txBody>
          <a:bodyPr/>
          <a:lstStyle/>
          <a:p>
            <a:fld id="{67AAC19C-AECD-49B7-8304-891784EC8CAC}" type="datetime1">
              <a:rPr lang="en-IN" smtClean="0"/>
              <a:t>03-11-2025</a:t>
            </a:fld>
            <a:endParaRPr lang="en-IN"/>
          </a:p>
        </p:txBody>
      </p:sp>
      <p:sp>
        <p:nvSpPr>
          <p:cNvPr id="3" name="Footer Placeholder 2">
            <a:extLst>
              <a:ext uri="{FF2B5EF4-FFF2-40B4-BE49-F238E27FC236}">
                <a16:creationId xmlns:a16="http://schemas.microsoft.com/office/drawing/2014/main" id="{F5ACDDB1-1BE7-1D11-3295-A31ACF3EDEB0}"/>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F2DE5625-4907-774A-B487-9BAEE1C2FF4E}"/>
              </a:ext>
            </a:extLst>
          </p:cNvPr>
          <p:cNvSpPr>
            <a:spLocks noGrp="1"/>
          </p:cNvSpPr>
          <p:nvPr>
            <p:ph type="sldNum" sz="quarter" idx="12"/>
          </p:nvPr>
        </p:nvSpPr>
        <p:spPr/>
        <p:txBody>
          <a:bodyPr/>
          <a:lstStyle/>
          <a:p>
            <a:fld id="{157E8F69-36B6-4843-A9CE-6B9353F4DBAF}" type="slidenum">
              <a:rPr lang="en-IN" smtClean="0"/>
              <a:t>47</a:t>
            </a:fld>
            <a:endParaRPr lang="en-IN"/>
          </a:p>
        </p:txBody>
      </p:sp>
    </p:spTree>
    <p:extLst>
      <p:ext uri="{BB962C8B-B14F-4D97-AF65-F5344CB8AC3E}">
        <p14:creationId xmlns:p14="http://schemas.microsoft.com/office/powerpoint/2010/main" val="31110713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B26B8-C70C-AEEB-A339-F8B70A2FEC2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2">
                <a:extLst>
                  <a:ext uri="{FF2B5EF4-FFF2-40B4-BE49-F238E27FC236}">
                    <a16:creationId xmlns:a16="http://schemas.microsoft.com/office/drawing/2014/main" id="{1087706F-D8BC-EAD9-894A-EE2B61044500}"/>
                  </a:ext>
                </a:extLst>
              </p:cNvPr>
              <p:cNvSpPr>
                <a:spLocks noChangeArrowheads="1"/>
              </p:cNvSpPr>
              <p:nvPr/>
            </p:nvSpPr>
            <p:spPr bwMode="auto">
              <a:xfrm>
                <a:off x="215284" y="410135"/>
                <a:ext cx="11577428" cy="631519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7.7.3 Branch Coverage (Decision Coverage)</a:t>
                </a:r>
              </a:p>
              <a:p>
                <a:pPr lvl="0" algn="just" eaLnBrk="0" fontAlgn="base" hangingPunct="0">
                  <a:spcBef>
                    <a:spcPct val="0"/>
                  </a:spcBef>
                  <a:spcAft>
                    <a:spcPct val="0"/>
                  </a:spcAft>
                </a:pPr>
                <a:r>
                  <a:rPr lang="en-US" sz="2400" dirty="0"/>
                  <a:t>Branch coverage, also known as </a:t>
                </a:r>
                <a:r>
                  <a:rPr lang="en-US" sz="2400" b="1" dirty="0"/>
                  <a:t>decision coverage</a:t>
                </a:r>
                <a:r>
                  <a:rPr lang="en-US" sz="2400" dirty="0"/>
                  <a:t>, ensures that </a:t>
                </a:r>
                <a:r>
                  <a:rPr lang="en-US" sz="2400" b="1" dirty="0"/>
                  <a:t>each possible branch (True and False outcome)</a:t>
                </a:r>
                <a:r>
                  <a:rPr lang="en-US" sz="2400" dirty="0"/>
                  <a:t> of every decision point (like </a:t>
                </a:r>
                <a:r>
                  <a:rPr lang="en-US" dirty="0"/>
                  <a:t>if</a:t>
                </a:r>
                <a:r>
                  <a:rPr lang="en-US" sz="2400" dirty="0"/>
                  <a:t>, </a:t>
                </a:r>
                <a:r>
                  <a:rPr lang="en-US" dirty="0"/>
                  <a:t>while</a:t>
                </a:r>
                <a:r>
                  <a:rPr lang="en-US" sz="2400" dirty="0"/>
                  <a:t>, or </a:t>
                </a:r>
                <a:r>
                  <a:rPr lang="en-US" dirty="0"/>
                  <a:t>for</a:t>
                </a:r>
                <a:r>
                  <a:rPr lang="en-US" sz="2400" dirty="0"/>
                  <a:t>) in the program is executed </a:t>
                </a:r>
                <a:r>
                  <a:rPr lang="en-US" sz="2400" b="1" dirty="0"/>
                  <a:t>at least once</a:t>
                </a:r>
                <a:r>
                  <a:rPr lang="en-US" sz="2400" dirty="0"/>
                  <a:t> during testing.</a:t>
                </a:r>
              </a:p>
              <a:p>
                <a:r>
                  <a:rPr lang="en-US" sz="2400" dirty="0"/>
                  <a:t>To verify that all decision outcomes in the code are tested.</a:t>
                </a:r>
              </a:p>
              <a:p>
                <a:r>
                  <a:rPr lang="en-US" sz="2400" b="1" dirty="0"/>
                  <a:t>Formula:</a:t>
                </a:r>
                <a:endParaRPr lang="en-US" sz="2400" dirty="0"/>
              </a:p>
              <a:p>
                <a:pPr/>
                <a14:m>
                  <m:oMathPara xmlns:m="http://schemas.openxmlformats.org/officeDocument/2006/math">
                    <m:oMathParaPr>
                      <m:jc m:val="centerGroup"/>
                    </m:oMathParaPr>
                    <m:oMath xmlns:m="http://schemas.openxmlformats.org/officeDocument/2006/math">
                      <m:r>
                        <m:rPr>
                          <m:nor/>
                        </m:rPr>
                        <a:rPr lang="en-US" sz="2400" b="0"/>
                        <m:t>Branch</m:t>
                      </m:r>
                      <m:r>
                        <m:rPr>
                          <m:nor/>
                        </m:rPr>
                        <a:rPr lang="en-US" sz="2400" b="0" i="1"/>
                        <m:t> </m:t>
                      </m:r>
                      <m:r>
                        <m:rPr>
                          <m:nor/>
                        </m:rPr>
                        <a:rPr lang="en-US" sz="2400" b="0" i="1"/>
                        <m:t>Coverage</m:t>
                      </m:r>
                      <m:r>
                        <a:rPr lang="en-US">
                          <a:latin typeface="Cambria Math" panose="02040503050406030204" pitchFamily="18" charset="0"/>
                        </a:rPr>
                        <m:t>=</m:t>
                      </m:r>
                      <m:f>
                        <m:fPr>
                          <m:ctrlPr>
                            <a:rPr lang="ar-AE" i="1">
                              <a:latin typeface="Cambria Math" panose="02040503050406030204" pitchFamily="18" charset="0"/>
                            </a:rPr>
                          </m:ctrlPr>
                        </m:fPr>
                        <m:num>
                          <m:r>
                            <m:rPr>
                              <m:nor/>
                            </m:rPr>
                            <a:rPr lang="en-US" i="1"/>
                            <m:t>Number</m:t>
                          </m:r>
                          <m:r>
                            <m:rPr>
                              <m:nor/>
                            </m:rPr>
                            <a:rPr lang="en-US" i="1"/>
                            <m:t> </m:t>
                          </m:r>
                          <m:r>
                            <m:rPr>
                              <m:nor/>
                            </m:rPr>
                            <a:rPr lang="en-US" i="1"/>
                            <m:t>of</m:t>
                          </m:r>
                          <m:r>
                            <m:rPr>
                              <m:nor/>
                            </m:rPr>
                            <a:rPr lang="en-US" i="1"/>
                            <m:t> </m:t>
                          </m:r>
                          <m:r>
                            <m:rPr>
                              <m:nor/>
                            </m:rPr>
                            <a:rPr lang="en-US" i="1"/>
                            <m:t>executed</m:t>
                          </m:r>
                          <m:r>
                            <m:rPr>
                              <m:nor/>
                            </m:rPr>
                            <a:rPr lang="en-US" i="1"/>
                            <m:t> </m:t>
                          </m:r>
                          <m:r>
                            <m:rPr>
                              <m:nor/>
                            </m:rPr>
                            <a:rPr lang="en-US" i="1"/>
                            <m:t>branches</m:t>
                          </m:r>
                        </m:num>
                        <m:den>
                          <m:r>
                            <m:rPr>
                              <m:nor/>
                            </m:rPr>
                            <a:rPr lang="en-US" i="1"/>
                            <m:t>Total</m:t>
                          </m:r>
                          <m:r>
                            <m:rPr>
                              <m:nor/>
                            </m:rPr>
                            <a:rPr lang="en-US" i="1"/>
                            <m:t> </m:t>
                          </m:r>
                          <m:r>
                            <m:rPr>
                              <m:nor/>
                            </m:rPr>
                            <a:rPr lang="en-US" i="1"/>
                            <m:t>number</m:t>
                          </m:r>
                          <m:r>
                            <m:rPr>
                              <m:nor/>
                            </m:rPr>
                            <a:rPr lang="en-US" i="1"/>
                            <m:t> </m:t>
                          </m:r>
                          <m:r>
                            <m:rPr>
                              <m:nor/>
                            </m:rPr>
                            <a:rPr lang="en-US" i="1"/>
                            <m:t>of</m:t>
                          </m:r>
                          <m:r>
                            <m:rPr>
                              <m:nor/>
                            </m:rPr>
                            <a:rPr lang="en-US" i="1"/>
                            <m:t> </m:t>
                          </m:r>
                          <m:r>
                            <m:rPr>
                              <m:nor/>
                            </m:rPr>
                            <a:rPr lang="en-US" i="1"/>
                            <m:t>branches</m:t>
                          </m:r>
                        </m:den>
                      </m:f>
                      <m:r>
                        <a:rPr lang="ar-AE">
                          <a:latin typeface="Cambria Math" panose="02040503050406030204" pitchFamily="18" charset="0"/>
                        </a:rPr>
                        <m:t>×</m:t>
                      </m:r>
                      <m:r>
                        <a:rPr lang="ar-AE">
                          <a:latin typeface="Cambria Math" panose="02040503050406030204" pitchFamily="18" charset="0"/>
                        </a:rPr>
                        <m:t>100</m:t>
                      </m:r>
                    </m:oMath>
                  </m:oMathPara>
                </a14:m>
                <a:endParaRPr lang="ar-AE" sz="2400" b="0" dirty="0"/>
              </a:p>
              <a:p>
                <a:r>
                  <a:rPr lang="en-US" sz="2400" b="1" dirty="0"/>
                  <a:t>Strength:</a:t>
                </a:r>
                <a:endParaRPr lang="en-US" sz="2400" dirty="0"/>
              </a:p>
              <a:p>
                <a:r>
                  <a:rPr lang="en-US" sz="2400" dirty="0"/>
                  <a:t>Stronger than </a:t>
                </a:r>
                <a:r>
                  <a:rPr lang="en-US" sz="2400" b="1" dirty="0"/>
                  <a:t>Statement Coverage</a:t>
                </a:r>
                <a:r>
                  <a:rPr lang="en-US" sz="2400" dirty="0"/>
                  <a:t> because it tests </a:t>
                </a:r>
                <a:r>
                  <a:rPr lang="en-US" sz="2400" b="1" dirty="0"/>
                  <a:t>both True and False outcomes</a:t>
                </a:r>
                <a:r>
                  <a:rPr lang="en-US" sz="2400" dirty="0"/>
                  <a:t> of each decision.</a:t>
                </a:r>
              </a:p>
              <a:p>
                <a:r>
                  <a:rPr lang="en-US" sz="2400" dirty="0"/>
                  <a:t>Helps identify missing conditions or untested logical paths.</a:t>
                </a:r>
              </a:p>
              <a:p>
                <a:r>
                  <a:rPr lang="en-US" sz="2400" b="1" dirty="0"/>
                  <a:t>Weakness:</a:t>
                </a:r>
                <a:endParaRPr lang="en-US" sz="2400" dirty="0"/>
              </a:p>
              <a:p>
                <a:r>
                  <a:rPr lang="en-US" sz="2400" dirty="0"/>
                  <a:t>Does not ensure that </a:t>
                </a:r>
                <a:r>
                  <a:rPr lang="en-US" sz="2400" b="1" dirty="0"/>
                  <a:t>all combinations</a:t>
                </a:r>
                <a:r>
                  <a:rPr lang="en-US" sz="2400" dirty="0"/>
                  <a:t> of conditions in complex Boolean expressions are tested (that requires </a:t>
                </a:r>
                <a:r>
                  <a:rPr lang="en-US" sz="2400" i="1" dirty="0"/>
                  <a:t>Condition Coverage</a:t>
                </a:r>
                <a:r>
                  <a:rPr lang="en-US" sz="2400" dirty="0"/>
                  <a:t>).</a:t>
                </a:r>
              </a:p>
              <a:p>
                <a:r>
                  <a:rPr lang="en-US" sz="2400" dirty="0"/>
                  <a:t>May still miss certain logical errors.</a:t>
                </a:r>
              </a:p>
              <a:p>
                <a:pPr lvl="0" algn="just" eaLnBrk="0" fontAlgn="base" hangingPunct="0">
                  <a:spcBef>
                    <a:spcPct val="0"/>
                  </a:spcBef>
                  <a:spcAft>
                    <a:spcPct val="0"/>
                  </a:spcAft>
                </a:pPr>
                <a:endParaRPr kumimoji="0" lang="en-US" altLang="en-US" sz="2400" i="0" u="sng" strike="noStrike" cap="none" normalizeH="0" baseline="0" dirty="0">
                  <a:ln>
                    <a:noFill/>
                  </a:ln>
                  <a:solidFill>
                    <a:schemeClr val="tx1"/>
                  </a:solidFill>
                  <a:effectLst/>
                </a:endParaRPr>
              </a:p>
            </p:txBody>
          </p:sp>
        </mc:Choice>
        <mc:Fallback xmlns="">
          <p:sp>
            <p:nvSpPr>
              <p:cNvPr id="4" name="Rectangle 2">
                <a:extLst>
                  <a:ext uri="{FF2B5EF4-FFF2-40B4-BE49-F238E27FC236}">
                    <a16:creationId xmlns:a16="http://schemas.microsoft.com/office/drawing/2014/main" id="{1087706F-D8BC-EAD9-894A-EE2B61044500}"/>
                  </a:ext>
                </a:extLst>
              </p:cNvPr>
              <p:cNvSpPr>
                <a:spLocks noRot="1" noChangeAspect="1" noMove="1" noResize="1" noEditPoints="1" noAdjustHandles="1" noChangeArrowheads="1" noChangeShapeType="1" noTextEdit="1"/>
              </p:cNvSpPr>
              <p:nvPr/>
            </p:nvSpPr>
            <p:spPr bwMode="auto">
              <a:xfrm>
                <a:off x="215284" y="410135"/>
                <a:ext cx="11577428" cy="6315190"/>
              </a:xfrm>
              <a:prstGeom prst="rect">
                <a:avLst/>
              </a:prstGeom>
              <a:blipFill>
                <a:blip r:embed="rId2"/>
                <a:stretch>
                  <a:fillRect l="-789" t="-290" r="-78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id="{A97B92D6-4699-B14C-2AE1-155597F11ABC}"/>
              </a:ext>
            </a:extLst>
          </p:cNvPr>
          <p:cNvSpPr>
            <a:spLocks noGrp="1"/>
          </p:cNvSpPr>
          <p:nvPr>
            <p:ph type="dt" sz="half" idx="10"/>
          </p:nvPr>
        </p:nvSpPr>
        <p:spPr/>
        <p:txBody>
          <a:bodyPr/>
          <a:lstStyle/>
          <a:p>
            <a:fld id="{F9B7D79D-83A3-40C7-9C56-EEE684282D74}" type="datetime1">
              <a:rPr lang="en-IN" smtClean="0"/>
              <a:t>03-11-2025</a:t>
            </a:fld>
            <a:endParaRPr lang="en-IN"/>
          </a:p>
        </p:txBody>
      </p:sp>
      <p:sp>
        <p:nvSpPr>
          <p:cNvPr id="3" name="Footer Placeholder 2">
            <a:extLst>
              <a:ext uri="{FF2B5EF4-FFF2-40B4-BE49-F238E27FC236}">
                <a16:creationId xmlns:a16="http://schemas.microsoft.com/office/drawing/2014/main" id="{0C1E9E09-D523-9A80-6495-F2D4C0704370}"/>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D7979AD1-CCDF-7327-39D3-2889BA7218FA}"/>
              </a:ext>
            </a:extLst>
          </p:cNvPr>
          <p:cNvSpPr>
            <a:spLocks noGrp="1"/>
          </p:cNvSpPr>
          <p:nvPr>
            <p:ph type="sldNum" sz="quarter" idx="12"/>
          </p:nvPr>
        </p:nvSpPr>
        <p:spPr/>
        <p:txBody>
          <a:bodyPr/>
          <a:lstStyle/>
          <a:p>
            <a:fld id="{157E8F69-36B6-4843-A9CE-6B9353F4DBAF}" type="slidenum">
              <a:rPr lang="en-IN" smtClean="0"/>
              <a:t>48</a:t>
            </a:fld>
            <a:endParaRPr lang="en-IN"/>
          </a:p>
        </p:txBody>
      </p:sp>
    </p:spTree>
    <p:extLst>
      <p:ext uri="{BB962C8B-B14F-4D97-AF65-F5344CB8AC3E}">
        <p14:creationId xmlns:p14="http://schemas.microsoft.com/office/powerpoint/2010/main" val="19741838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2D291F6-13D2-7117-26E1-8A3FDBFF034D}"/>
              </a:ext>
            </a:extLst>
          </p:cNvPr>
          <p:cNvSpPr txBox="1"/>
          <p:nvPr/>
        </p:nvSpPr>
        <p:spPr>
          <a:xfrm>
            <a:off x="3385566" y="144518"/>
            <a:ext cx="6094476" cy="461665"/>
          </a:xfrm>
          <a:prstGeom prst="rect">
            <a:avLst/>
          </a:prstGeom>
          <a:noFill/>
        </p:spPr>
        <p:txBody>
          <a:bodyPr wrap="square">
            <a:spAutoFit/>
          </a:bodyPr>
          <a:lstStyle/>
          <a:p>
            <a:r>
              <a:rPr lang="en-US" sz="2400" b="1" dirty="0"/>
              <a:t>Example: Euclid’s GCD Algorithm</a:t>
            </a:r>
          </a:p>
        </p:txBody>
      </p:sp>
      <p:sp>
        <p:nvSpPr>
          <p:cNvPr id="6" name="TextBox 5">
            <a:extLst>
              <a:ext uri="{FF2B5EF4-FFF2-40B4-BE49-F238E27FC236}">
                <a16:creationId xmlns:a16="http://schemas.microsoft.com/office/drawing/2014/main" id="{18B1D430-5FF5-D9B3-CE6A-EFB3C378B056}"/>
              </a:ext>
            </a:extLst>
          </p:cNvPr>
          <p:cNvSpPr txBox="1"/>
          <p:nvPr/>
        </p:nvSpPr>
        <p:spPr>
          <a:xfrm>
            <a:off x="338328" y="843677"/>
            <a:ext cx="6094476" cy="2585323"/>
          </a:xfrm>
          <a:prstGeom prst="rect">
            <a:avLst/>
          </a:prstGeom>
          <a:noFill/>
        </p:spPr>
        <p:txBody>
          <a:bodyPr wrap="square">
            <a:spAutoFit/>
          </a:bodyPr>
          <a:lstStyle/>
          <a:p>
            <a:r>
              <a:rPr lang="en-US"/>
              <a:t>int gcd(int a, int b) {</a:t>
            </a:r>
          </a:p>
          <a:p>
            <a:r>
              <a:rPr lang="en-US"/>
              <a:t>    while (a != b) {</a:t>
            </a:r>
          </a:p>
          <a:p>
            <a:r>
              <a:rPr lang="en-US"/>
              <a:t>        if (a &gt; b)</a:t>
            </a:r>
          </a:p>
          <a:p>
            <a:r>
              <a:rPr lang="en-US"/>
              <a:t>            a = a - b;</a:t>
            </a:r>
          </a:p>
          <a:p>
            <a:r>
              <a:rPr lang="en-US"/>
              <a:t>        else</a:t>
            </a:r>
          </a:p>
          <a:p>
            <a:r>
              <a:rPr lang="en-US"/>
              <a:t>            b = b - a;</a:t>
            </a:r>
          </a:p>
          <a:p>
            <a:r>
              <a:rPr lang="en-US"/>
              <a:t>    }</a:t>
            </a:r>
          </a:p>
          <a:p>
            <a:r>
              <a:rPr lang="en-US"/>
              <a:t>    return a;</a:t>
            </a:r>
          </a:p>
          <a:p>
            <a:r>
              <a:rPr lang="en-US"/>
              <a:t>}</a:t>
            </a:r>
            <a:endParaRPr lang="en-US" dirty="0"/>
          </a:p>
        </p:txBody>
      </p:sp>
      <p:sp>
        <p:nvSpPr>
          <p:cNvPr id="8" name="TextBox 7">
            <a:extLst>
              <a:ext uri="{FF2B5EF4-FFF2-40B4-BE49-F238E27FC236}">
                <a16:creationId xmlns:a16="http://schemas.microsoft.com/office/drawing/2014/main" id="{6E3F1E05-0C07-4994-CF6E-DFE04B5375F0}"/>
              </a:ext>
            </a:extLst>
          </p:cNvPr>
          <p:cNvSpPr txBox="1"/>
          <p:nvPr/>
        </p:nvSpPr>
        <p:spPr>
          <a:xfrm>
            <a:off x="4601718" y="1213008"/>
            <a:ext cx="6094476" cy="923330"/>
          </a:xfrm>
          <a:prstGeom prst="rect">
            <a:avLst/>
          </a:prstGeom>
          <a:noFill/>
        </p:spPr>
        <p:txBody>
          <a:bodyPr wrap="square">
            <a:spAutoFit/>
          </a:bodyPr>
          <a:lstStyle/>
          <a:p>
            <a:pPr>
              <a:buNone/>
            </a:pPr>
            <a:r>
              <a:rPr lang="en-US" b="1" dirty="0"/>
              <a:t>Decision Points:</a:t>
            </a:r>
            <a:endParaRPr lang="en-US" dirty="0"/>
          </a:p>
          <a:p>
            <a:pPr>
              <a:buFont typeface="+mj-lt"/>
              <a:buAutoNum type="arabicPeriod"/>
            </a:pPr>
            <a:r>
              <a:rPr lang="en-US" dirty="0">
                <a:latin typeface="Courier New" panose="02070309020205020404" pitchFamily="49" charset="0"/>
              </a:rPr>
              <a:t>while (a != b)</a:t>
            </a:r>
            <a:r>
              <a:rPr lang="en-US" dirty="0"/>
              <a:t> → True / False</a:t>
            </a:r>
          </a:p>
          <a:p>
            <a:pPr>
              <a:buFont typeface="+mj-lt"/>
              <a:buAutoNum type="arabicPeriod"/>
            </a:pPr>
            <a:r>
              <a:rPr lang="en-US" dirty="0">
                <a:latin typeface="Courier New" panose="02070309020205020404" pitchFamily="49" charset="0"/>
              </a:rPr>
              <a:t>if (a &gt; b)</a:t>
            </a:r>
            <a:r>
              <a:rPr lang="en-US" dirty="0"/>
              <a:t> → True / False</a:t>
            </a:r>
          </a:p>
        </p:txBody>
      </p:sp>
      <p:graphicFrame>
        <p:nvGraphicFramePr>
          <p:cNvPr id="9" name="Table 8">
            <a:extLst>
              <a:ext uri="{FF2B5EF4-FFF2-40B4-BE49-F238E27FC236}">
                <a16:creationId xmlns:a16="http://schemas.microsoft.com/office/drawing/2014/main" id="{4DB175F0-12F8-360F-A662-96B3FCBBB114}"/>
              </a:ext>
            </a:extLst>
          </p:cNvPr>
          <p:cNvGraphicFramePr>
            <a:graphicFrameLocks noGrp="1"/>
          </p:cNvGraphicFramePr>
          <p:nvPr>
            <p:extLst>
              <p:ext uri="{D42A27DB-BD31-4B8C-83A1-F6EECF244321}">
                <p14:modId xmlns:p14="http://schemas.microsoft.com/office/powerpoint/2010/main" val="1255303741"/>
              </p:ext>
            </p:extLst>
          </p:nvPr>
        </p:nvGraphicFramePr>
        <p:xfrm>
          <a:off x="2657856" y="2734019"/>
          <a:ext cx="7958328" cy="2377440"/>
        </p:xfrm>
        <a:graphic>
          <a:graphicData uri="http://schemas.openxmlformats.org/drawingml/2006/table">
            <a:tbl>
              <a:tblPr>
                <a:tableStyleId>{775DCB02-9BB8-47FD-8907-85C794F793BA}</a:tableStyleId>
              </a:tblPr>
              <a:tblGrid>
                <a:gridCol w="1392936">
                  <a:extLst>
                    <a:ext uri="{9D8B030D-6E8A-4147-A177-3AD203B41FA5}">
                      <a16:colId xmlns:a16="http://schemas.microsoft.com/office/drawing/2014/main" val="1285544567"/>
                    </a:ext>
                  </a:extLst>
                </a:gridCol>
                <a:gridCol w="3319272">
                  <a:extLst>
                    <a:ext uri="{9D8B030D-6E8A-4147-A177-3AD203B41FA5}">
                      <a16:colId xmlns:a16="http://schemas.microsoft.com/office/drawing/2014/main" val="2258792547"/>
                    </a:ext>
                  </a:extLst>
                </a:gridCol>
                <a:gridCol w="2011680">
                  <a:extLst>
                    <a:ext uri="{9D8B030D-6E8A-4147-A177-3AD203B41FA5}">
                      <a16:colId xmlns:a16="http://schemas.microsoft.com/office/drawing/2014/main" val="3892931963"/>
                    </a:ext>
                  </a:extLst>
                </a:gridCol>
                <a:gridCol w="1234440">
                  <a:extLst>
                    <a:ext uri="{9D8B030D-6E8A-4147-A177-3AD203B41FA5}">
                      <a16:colId xmlns:a16="http://schemas.microsoft.com/office/drawing/2014/main" val="3312469734"/>
                    </a:ext>
                  </a:extLst>
                </a:gridCol>
              </a:tblGrid>
              <a:tr h="0">
                <a:tc>
                  <a:txBody>
                    <a:bodyPr/>
                    <a:lstStyle/>
                    <a:p>
                      <a:pPr>
                        <a:buNone/>
                      </a:pPr>
                      <a:r>
                        <a:rPr lang="en-US"/>
                        <a:t>Test Case</a:t>
                      </a:r>
                    </a:p>
                  </a:txBody>
                  <a:tcPr anchor="ctr"/>
                </a:tc>
                <a:tc>
                  <a:txBody>
                    <a:bodyPr/>
                    <a:lstStyle/>
                    <a:p>
                      <a:pPr>
                        <a:buNone/>
                      </a:pPr>
                      <a:r>
                        <a:rPr lang="en-US"/>
                        <a:t>Description</a:t>
                      </a:r>
                    </a:p>
                  </a:txBody>
                  <a:tcPr anchor="ctr"/>
                </a:tc>
                <a:tc>
                  <a:txBody>
                    <a:bodyPr/>
                    <a:lstStyle/>
                    <a:p>
                      <a:pPr>
                        <a:buNone/>
                      </a:pPr>
                      <a:r>
                        <a:rPr lang="en-US"/>
                        <a:t>while (a!=b)</a:t>
                      </a:r>
                    </a:p>
                  </a:txBody>
                  <a:tcPr anchor="ctr"/>
                </a:tc>
                <a:tc>
                  <a:txBody>
                    <a:bodyPr/>
                    <a:lstStyle/>
                    <a:p>
                      <a:pPr>
                        <a:buNone/>
                      </a:pPr>
                      <a:r>
                        <a:rPr lang="en-US"/>
                        <a:t>if (a&gt;b)</a:t>
                      </a:r>
                    </a:p>
                  </a:txBody>
                  <a:tcPr anchor="ctr"/>
                </a:tc>
                <a:extLst>
                  <a:ext uri="{0D108BD9-81ED-4DB2-BD59-A6C34878D82A}">
                    <a16:rowId xmlns:a16="http://schemas.microsoft.com/office/drawing/2014/main" val="333385034"/>
                  </a:ext>
                </a:extLst>
              </a:tr>
              <a:tr h="0">
                <a:tc>
                  <a:txBody>
                    <a:bodyPr/>
                    <a:lstStyle/>
                    <a:p>
                      <a:pPr>
                        <a:buNone/>
                      </a:pPr>
                      <a:r>
                        <a:rPr lang="en-US"/>
                        <a:t>(3,3)</a:t>
                      </a:r>
                    </a:p>
                  </a:txBody>
                  <a:tcPr anchor="ctr"/>
                </a:tc>
                <a:tc>
                  <a:txBody>
                    <a:bodyPr/>
                    <a:lstStyle/>
                    <a:p>
                      <a:pPr>
                        <a:buNone/>
                      </a:pPr>
                      <a:r>
                        <a:rPr lang="en-US"/>
                        <a:t>Loop condition false immediately</a:t>
                      </a:r>
                    </a:p>
                  </a:txBody>
                  <a:tcPr anchor="ctr"/>
                </a:tc>
                <a:tc>
                  <a:txBody>
                    <a:bodyPr/>
                    <a:lstStyle/>
                    <a:p>
                      <a:pPr>
                        <a:buNone/>
                      </a:pPr>
                      <a:r>
                        <a:rPr lang="en-US"/>
                        <a:t>False</a:t>
                      </a:r>
                    </a:p>
                  </a:txBody>
                  <a:tcPr anchor="ctr"/>
                </a:tc>
                <a:tc>
                  <a:txBody>
                    <a:bodyPr/>
                    <a:lstStyle/>
                    <a:p>
                      <a:pPr>
                        <a:buNone/>
                      </a:pPr>
                      <a:r>
                        <a:rPr lang="en-US"/>
                        <a:t>—</a:t>
                      </a:r>
                    </a:p>
                  </a:txBody>
                  <a:tcPr anchor="ctr"/>
                </a:tc>
                <a:extLst>
                  <a:ext uri="{0D108BD9-81ED-4DB2-BD59-A6C34878D82A}">
                    <a16:rowId xmlns:a16="http://schemas.microsoft.com/office/drawing/2014/main" val="754225494"/>
                  </a:ext>
                </a:extLst>
              </a:tr>
              <a:tr h="0">
                <a:tc>
                  <a:txBody>
                    <a:bodyPr/>
                    <a:lstStyle/>
                    <a:p>
                      <a:pPr>
                        <a:buNone/>
                      </a:pPr>
                      <a:r>
                        <a:rPr lang="en-US"/>
                        <a:t>(3,2)</a:t>
                      </a:r>
                    </a:p>
                  </a:txBody>
                  <a:tcPr anchor="ctr"/>
                </a:tc>
                <a:tc>
                  <a:txBody>
                    <a:bodyPr/>
                    <a:lstStyle/>
                    <a:p>
                      <a:pPr>
                        <a:buNone/>
                      </a:pPr>
                      <a:r>
                        <a:rPr lang="en-US"/>
                        <a:t>Loop true, if true branch executes</a:t>
                      </a:r>
                    </a:p>
                  </a:txBody>
                  <a:tcPr anchor="ctr"/>
                </a:tc>
                <a:tc>
                  <a:txBody>
                    <a:bodyPr/>
                    <a:lstStyle/>
                    <a:p>
                      <a:pPr>
                        <a:buNone/>
                      </a:pPr>
                      <a:r>
                        <a:rPr lang="en-US" dirty="0"/>
                        <a:t>True</a:t>
                      </a:r>
                    </a:p>
                  </a:txBody>
                  <a:tcPr anchor="ctr"/>
                </a:tc>
                <a:tc>
                  <a:txBody>
                    <a:bodyPr/>
                    <a:lstStyle/>
                    <a:p>
                      <a:pPr>
                        <a:buNone/>
                      </a:pPr>
                      <a:r>
                        <a:rPr lang="en-US"/>
                        <a:t>True</a:t>
                      </a:r>
                    </a:p>
                  </a:txBody>
                  <a:tcPr anchor="ctr"/>
                </a:tc>
                <a:extLst>
                  <a:ext uri="{0D108BD9-81ED-4DB2-BD59-A6C34878D82A}">
                    <a16:rowId xmlns:a16="http://schemas.microsoft.com/office/drawing/2014/main" val="3185827107"/>
                  </a:ext>
                </a:extLst>
              </a:tr>
              <a:tr h="0">
                <a:tc>
                  <a:txBody>
                    <a:bodyPr/>
                    <a:lstStyle/>
                    <a:p>
                      <a:pPr>
                        <a:buNone/>
                      </a:pPr>
                      <a:r>
                        <a:rPr lang="en-US"/>
                        <a:t>(4,3)</a:t>
                      </a:r>
                    </a:p>
                  </a:txBody>
                  <a:tcPr anchor="ctr"/>
                </a:tc>
                <a:tc>
                  <a:txBody>
                    <a:bodyPr/>
                    <a:lstStyle/>
                    <a:p>
                      <a:pPr>
                        <a:buNone/>
                      </a:pPr>
                      <a:r>
                        <a:rPr lang="en-US"/>
                        <a:t>Loop true, if true branch executes</a:t>
                      </a:r>
                    </a:p>
                  </a:txBody>
                  <a:tcPr anchor="ctr"/>
                </a:tc>
                <a:tc>
                  <a:txBody>
                    <a:bodyPr/>
                    <a:lstStyle/>
                    <a:p>
                      <a:pPr>
                        <a:buNone/>
                      </a:pPr>
                      <a:r>
                        <a:rPr lang="en-US"/>
                        <a:t>True</a:t>
                      </a:r>
                    </a:p>
                  </a:txBody>
                  <a:tcPr anchor="ctr"/>
                </a:tc>
                <a:tc>
                  <a:txBody>
                    <a:bodyPr/>
                    <a:lstStyle/>
                    <a:p>
                      <a:pPr>
                        <a:buNone/>
                      </a:pPr>
                      <a:r>
                        <a:rPr lang="en-US"/>
                        <a:t>True</a:t>
                      </a:r>
                    </a:p>
                  </a:txBody>
                  <a:tcPr anchor="ctr"/>
                </a:tc>
                <a:extLst>
                  <a:ext uri="{0D108BD9-81ED-4DB2-BD59-A6C34878D82A}">
                    <a16:rowId xmlns:a16="http://schemas.microsoft.com/office/drawing/2014/main" val="938904531"/>
                  </a:ext>
                </a:extLst>
              </a:tr>
              <a:tr h="0">
                <a:tc>
                  <a:txBody>
                    <a:bodyPr/>
                    <a:lstStyle/>
                    <a:p>
                      <a:pPr>
                        <a:buNone/>
                      </a:pPr>
                      <a:r>
                        <a:rPr lang="en-US"/>
                        <a:t>(3,4)</a:t>
                      </a:r>
                    </a:p>
                  </a:txBody>
                  <a:tcPr anchor="ctr"/>
                </a:tc>
                <a:tc>
                  <a:txBody>
                    <a:bodyPr/>
                    <a:lstStyle/>
                    <a:p>
                      <a:pPr>
                        <a:buNone/>
                      </a:pPr>
                      <a:r>
                        <a:rPr lang="en-US"/>
                        <a:t>Loop true, else branch executes</a:t>
                      </a:r>
                    </a:p>
                  </a:txBody>
                  <a:tcPr anchor="ctr"/>
                </a:tc>
                <a:tc>
                  <a:txBody>
                    <a:bodyPr/>
                    <a:lstStyle/>
                    <a:p>
                      <a:pPr>
                        <a:buNone/>
                      </a:pPr>
                      <a:r>
                        <a:rPr lang="en-US"/>
                        <a:t>True</a:t>
                      </a:r>
                    </a:p>
                  </a:txBody>
                  <a:tcPr anchor="ctr"/>
                </a:tc>
                <a:tc>
                  <a:txBody>
                    <a:bodyPr/>
                    <a:lstStyle/>
                    <a:p>
                      <a:pPr>
                        <a:buNone/>
                      </a:pPr>
                      <a:r>
                        <a:rPr lang="en-US" dirty="0"/>
                        <a:t>False</a:t>
                      </a:r>
                    </a:p>
                  </a:txBody>
                  <a:tcPr anchor="ctr"/>
                </a:tc>
                <a:extLst>
                  <a:ext uri="{0D108BD9-81ED-4DB2-BD59-A6C34878D82A}">
                    <a16:rowId xmlns:a16="http://schemas.microsoft.com/office/drawing/2014/main" val="2961894810"/>
                  </a:ext>
                </a:extLst>
              </a:tr>
            </a:tbl>
          </a:graphicData>
        </a:graphic>
      </p:graphicFrame>
      <p:sp>
        <p:nvSpPr>
          <p:cNvPr id="11" name="TextBox 10">
            <a:extLst>
              <a:ext uri="{FF2B5EF4-FFF2-40B4-BE49-F238E27FC236}">
                <a16:creationId xmlns:a16="http://schemas.microsoft.com/office/drawing/2014/main" id="{C201343D-5BAE-F76E-06DA-E929C05B573B}"/>
              </a:ext>
            </a:extLst>
          </p:cNvPr>
          <p:cNvSpPr txBox="1"/>
          <p:nvPr/>
        </p:nvSpPr>
        <p:spPr>
          <a:xfrm>
            <a:off x="542544" y="5552658"/>
            <a:ext cx="6094476" cy="923330"/>
          </a:xfrm>
          <a:prstGeom prst="rect">
            <a:avLst/>
          </a:prstGeom>
          <a:noFill/>
        </p:spPr>
        <p:txBody>
          <a:bodyPr wrap="square">
            <a:spAutoFit/>
          </a:bodyPr>
          <a:lstStyle/>
          <a:p>
            <a:r>
              <a:rPr lang="en-US" dirty="0"/>
              <a:t>✅ </a:t>
            </a:r>
            <a:r>
              <a:rPr lang="en-US" b="1" dirty="0"/>
              <a:t>All True and False branches</a:t>
            </a:r>
            <a:r>
              <a:rPr lang="en-US" dirty="0"/>
              <a:t> of both decisions are executed at least once.</a:t>
            </a:r>
            <a:br>
              <a:rPr lang="en-US" dirty="0"/>
            </a:br>
            <a:r>
              <a:rPr lang="en-US" dirty="0"/>
              <a:t>Thus, </a:t>
            </a:r>
            <a:r>
              <a:rPr lang="en-US" b="1" dirty="0"/>
              <a:t>Branch Coverage = 100%</a:t>
            </a:r>
            <a:endParaRPr lang="en-US" dirty="0"/>
          </a:p>
        </p:txBody>
      </p:sp>
      <p:sp>
        <p:nvSpPr>
          <p:cNvPr id="2" name="Date Placeholder 1">
            <a:extLst>
              <a:ext uri="{FF2B5EF4-FFF2-40B4-BE49-F238E27FC236}">
                <a16:creationId xmlns:a16="http://schemas.microsoft.com/office/drawing/2014/main" id="{BCFF121A-3E5C-EC19-E3AA-4EF260B64E9D}"/>
              </a:ext>
            </a:extLst>
          </p:cNvPr>
          <p:cNvSpPr>
            <a:spLocks noGrp="1"/>
          </p:cNvSpPr>
          <p:nvPr>
            <p:ph type="dt" sz="half" idx="10"/>
          </p:nvPr>
        </p:nvSpPr>
        <p:spPr/>
        <p:txBody>
          <a:bodyPr/>
          <a:lstStyle/>
          <a:p>
            <a:fld id="{1B43B63A-6674-4EC3-A8FE-B6E0FD074410}" type="datetime1">
              <a:rPr lang="en-IN" smtClean="0"/>
              <a:t>03-11-2025</a:t>
            </a:fld>
            <a:endParaRPr lang="en-IN"/>
          </a:p>
        </p:txBody>
      </p:sp>
      <p:sp>
        <p:nvSpPr>
          <p:cNvPr id="3" name="Footer Placeholder 2">
            <a:extLst>
              <a:ext uri="{FF2B5EF4-FFF2-40B4-BE49-F238E27FC236}">
                <a16:creationId xmlns:a16="http://schemas.microsoft.com/office/drawing/2014/main" id="{7E80727D-AF94-EFF0-1499-08FD4A3F3358}"/>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5BB1A381-D3D8-89FA-716F-C90E8F823193}"/>
              </a:ext>
            </a:extLst>
          </p:cNvPr>
          <p:cNvSpPr>
            <a:spLocks noGrp="1"/>
          </p:cNvSpPr>
          <p:nvPr>
            <p:ph type="sldNum" sz="quarter" idx="12"/>
          </p:nvPr>
        </p:nvSpPr>
        <p:spPr/>
        <p:txBody>
          <a:bodyPr/>
          <a:lstStyle/>
          <a:p>
            <a:fld id="{157E8F69-36B6-4843-A9CE-6B9353F4DBAF}" type="slidenum">
              <a:rPr lang="en-IN" smtClean="0"/>
              <a:t>49</a:t>
            </a:fld>
            <a:endParaRPr lang="en-IN"/>
          </a:p>
        </p:txBody>
      </p:sp>
    </p:spTree>
    <p:extLst>
      <p:ext uri="{BB962C8B-B14F-4D97-AF65-F5344CB8AC3E}">
        <p14:creationId xmlns:p14="http://schemas.microsoft.com/office/powerpoint/2010/main" val="11054124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8EEFA-8729-19C5-BEC3-17669AAD003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D6C01116-3E97-59FB-6966-432884600BA1}"/>
                  </a:ext>
                </a:extLst>
              </p:cNvPr>
              <p:cNvSpPr/>
              <p:nvPr/>
            </p:nvSpPr>
            <p:spPr>
              <a:xfrm>
                <a:off x="132988" y="149120"/>
                <a:ext cx="11577428" cy="6209585"/>
              </a:xfrm>
              <a:prstGeom prst="rect">
                <a:avLst/>
              </a:prstGeom>
            </p:spPr>
            <p:txBody>
              <a:bodyPr wrap="square">
                <a:spAutoFit/>
              </a:bodyPr>
              <a:lstStyle/>
              <a:p>
                <a:pPr algn="just"/>
                <a:r>
                  <a:rPr lang="en-US" sz="2200" b="1" u="sng" dirty="0">
                    <a:latin typeface="Times New Roman" panose="02020603050405020304" pitchFamily="18" charset="0"/>
                    <a:cs typeface="Times New Roman" panose="02020603050405020304" pitchFamily="18" charset="0"/>
                  </a:rPr>
                  <a:t>7.7.4 Condition Coverage (BCC)</a:t>
                </a:r>
              </a:p>
              <a:p>
                <a:r>
                  <a:rPr lang="en-US" sz="2200" dirty="0">
                    <a:latin typeface="Times New Roman" panose="02020603050405020304" pitchFamily="18" charset="0"/>
                    <a:cs typeface="Times New Roman" panose="02020603050405020304" pitchFamily="18" charset="0"/>
                  </a:rPr>
                  <a:t>Condition coverage (also called </a:t>
                </a:r>
                <a:r>
                  <a:rPr lang="en-US" sz="2200" b="1" dirty="0">
                    <a:latin typeface="Times New Roman" panose="02020603050405020304" pitchFamily="18" charset="0"/>
                    <a:cs typeface="Times New Roman" panose="02020603050405020304" pitchFamily="18" charset="0"/>
                  </a:rPr>
                  <a:t>Basic Condition Coverage</a:t>
                </a:r>
                <a:r>
                  <a:rPr lang="en-US" sz="2200" dirty="0">
                    <a:latin typeface="Times New Roman" panose="02020603050405020304" pitchFamily="18" charset="0"/>
                    <a:cs typeface="Times New Roman" panose="02020603050405020304" pitchFamily="18" charset="0"/>
                  </a:rPr>
                  <a:t>) ensures that </a:t>
                </a:r>
                <a:r>
                  <a:rPr lang="en-US" sz="2200" b="1" dirty="0">
                    <a:latin typeface="Times New Roman" panose="02020603050405020304" pitchFamily="18" charset="0"/>
                    <a:cs typeface="Times New Roman" panose="02020603050405020304" pitchFamily="18" charset="0"/>
                  </a:rPr>
                  <a:t>each individual condition</a:t>
                </a:r>
                <a:r>
                  <a:rPr lang="en-US" sz="2200" dirty="0">
                    <a:latin typeface="Times New Roman" panose="02020603050405020304" pitchFamily="18" charset="0"/>
                    <a:cs typeface="Times New Roman" panose="02020603050405020304" pitchFamily="18" charset="0"/>
                  </a:rPr>
                  <a:t> within a decision (like if, while, or for) has been evaluated to </a:t>
                </a:r>
                <a:r>
                  <a:rPr lang="en-US" sz="2200" b="1" dirty="0">
                    <a:latin typeface="Times New Roman" panose="02020603050405020304" pitchFamily="18" charset="0"/>
                    <a:cs typeface="Times New Roman" panose="02020603050405020304" pitchFamily="18" charset="0"/>
                  </a:rPr>
                  <a:t>both True and False</a:t>
                </a:r>
                <a:r>
                  <a:rPr lang="en-US" sz="2200" dirty="0">
                    <a:latin typeface="Times New Roman" panose="02020603050405020304" pitchFamily="18" charset="0"/>
                    <a:cs typeface="Times New Roman" panose="02020603050405020304" pitchFamily="18" charset="0"/>
                  </a:rPr>
                  <a:t> at least once — </a:t>
                </a:r>
                <a:r>
                  <a:rPr lang="en-US" sz="2200" b="1" dirty="0">
                    <a:latin typeface="Times New Roman" panose="02020603050405020304" pitchFamily="18" charset="0"/>
                    <a:cs typeface="Times New Roman" panose="02020603050405020304" pitchFamily="18" charset="0"/>
                  </a:rPr>
                  <a:t>independently of the overall decision outcome</a:t>
                </a:r>
                <a:r>
                  <a:rPr lang="en-US" sz="2200" dirty="0">
                    <a:latin typeface="Times New Roman" panose="02020603050405020304" pitchFamily="18" charset="0"/>
                    <a:cs typeface="Times New Roman" panose="02020603050405020304" pitchFamily="18" charset="0"/>
                  </a:rPr>
                  <a:t>. To verify that </a:t>
                </a:r>
                <a:r>
                  <a:rPr lang="en-US" sz="2200" b="1" dirty="0">
                    <a:latin typeface="Times New Roman" panose="02020603050405020304" pitchFamily="18" charset="0"/>
                    <a:cs typeface="Times New Roman" panose="02020603050405020304" pitchFamily="18" charset="0"/>
                  </a:rPr>
                  <a:t>all atomic Boolean expressions</a:t>
                </a:r>
                <a:r>
                  <a:rPr lang="en-US" sz="2200" dirty="0">
                    <a:latin typeface="Times New Roman" panose="02020603050405020304" pitchFamily="18" charset="0"/>
                    <a:cs typeface="Times New Roman" panose="02020603050405020304" pitchFamily="18" charset="0"/>
                  </a:rPr>
                  <a:t> inside decisions are tested for both outcomes (True and False).</a:t>
                </a:r>
              </a:p>
              <a:p>
                <a:endParaRPr lang="en-US" sz="2200" b="1"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Formula:</a:t>
                </a:r>
                <a:endParaRPr lang="en-US" sz="22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nor/>
                        </m:rPr>
                        <a:rPr lang="en-US" sz="2200" b="0">
                          <a:latin typeface="Times New Roman" panose="02020603050405020304" pitchFamily="18" charset="0"/>
                          <a:cs typeface="Times New Roman" panose="02020603050405020304" pitchFamily="18" charset="0"/>
                        </a:rPr>
                        <m:t>Condition</m:t>
                      </m:r>
                      <m:r>
                        <m:rPr>
                          <m:nor/>
                        </m:rPr>
                        <a:rPr lang="en-US" sz="2200" b="0" i="1">
                          <a:latin typeface="Times New Roman" panose="02020603050405020304" pitchFamily="18" charset="0"/>
                          <a:cs typeface="Times New Roman" panose="02020603050405020304" pitchFamily="18" charset="0"/>
                        </a:rPr>
                        <m:t> </m:t>
                      </m:r>
                      <m:r>
                        <m:rPr>
                          <m:nor/>
                        </m:rPr>
                        <a:rPr lang="en-US" sz="2200" b="0" i="1">
                          <a:latin typeface="Times New Roman" panose="02020603050405020304" pitchFamily="18" charset="0"/>
                          <a:cs typeface="Times New Roman" panose="02020603050405020304" pitchFamily="18" charset="0"/>
                        </a:rPr>
                        <m:t>Coverage</m:t>
                      </m:r>
                      <m:r>
                        <a:rPr lang="en-US" sz="2200">
                          <a:latin typeface="Cambria Math" panose="02040503050406030204" pitchFamily="18" charset="0"/>
                        </a:rPr>
                        <m:t>=</m:t>
                      </m:r>
                      <m:f>
                        <m:fPr>
                          <m:ctrlPr>
                            <a:rPr lang="ar-AE" sz="2200" i="1">
                              <a:latin typeface="Cambria Math" panose="02040503050406030204" pitchFamily="18" charset="0"/>
                            </a:rPr>
                          </m:ctrlPr>
                        </m:fPr>
                        <m:num>
                          <m:r>
                            <m:rPr>
                              <m:nor/>
                            </m:rPr>
                            <a:rPr lang="en-US" sz="2200" i="1">
                              <a:latin typeface="Times New Roman" panose="02020603050405020304" pitchFamily="18" charset="0"/>
                              <a:cs typeface="Times New Roman" panose="02020603050405020304" pitchFamily="18" charset="0"/>
                            </a:rPr>
                            <m:t>Number</m:t>
                          </m:r>
                          <m:r>
                            <m:rPr>
                              <m:nor/>
                            </m:rPr>
                            <a:rPr lang="en-US" sz="2200" i="1">
                              <a:latin typeface="Times New Roman" panose="02020603050405020304" pitchFamily="18" charset="0"/>
                              <a:cs typeface="Times New Roman" panose="02020603050405020304" pitchFamily="18" charset="0"/>
                            </a:rPr>
                            <m:t> </m:t>
                          </m:r>
                          <m:r>
                            <m:rPr>
                              <m:nor/>
                            </m:rPr>
                            <a:rPr lang="en-US" sz="2200" i="1">
                              <a:latin typeface="Times New Roman" panose="02020603050405020304" pitchFamily="18" charset="0"/>
                              <a:cs typeface="Times New Roman" panose="02020603050405020304" pitchFamily="18" charset="0"/>
                            </a:rPr>
                            <m:t>of</m:t>
                          </m:r>
                          <m:r>
                            <m:rPr>
                              <m:nor/>
                            </m:rPr>
                            <a:rPr lang="en-US" sz="2200" i="1">
                              <a:latin typeface="Times New Roman" panose="02020603050405020304" pitchFamily="18" charset="0"/>
                              <a:cs typeface="Times New Roman" panose="02020603050405020304" pitchFamily="18" charset="0"/>
                            </a:rPr>
                            <m:t> </m:t>
                          </m:r>
                          <m:r>
                            <m:rPr>
                              <m:nor/>
                            </m:rPr>
                            <a:rPr lang="en-US" sz="2200" i="1">
                              <a:latin typeface="Times New Roman" panose="02020603050405020304" pitchFamily="18" charset="0"/>
                              <a:cs typeface="Times New Roman" panose="02020603050405020304" pitchFamily="18" charset="0"/>
                            </a:rPr>
                            <m:t>condition</m:t>
                          </m:r>
                          <m:r>
                            <m:rPr>
                              <m:nor/>
                            </m:rPr>
                            <a:rPr lang="en-US" sz="2200" i="1">
                              <a:latin typeface="Times New Roman" panose="02020603050405020304" pitchFamily="18" charset="0"/>
                              <a:cs typeface="Times New Roman" panose="02020603050405020304" pitchFamily="18" charset="0"/>
                            </a:rPr>
                            <m:t> </m:t>
                          </m:r>
                          <m:r>
                            <m:rPr>
                              <m:nor/>
                            </m:rPr>
                            <a:rPr lang="en-US" sz="2200" i="1">
                              <a:latin typeface="Times New Roman" panose="02020603050405020304" pitchFamily="18" charset="0"/>
                              <a:cs typeface="Times New Roman" panose="02020603050405020304" pitchFamily="18" charset="0"/>
                            </a:rPr>
                            <m:t>outcomes</m:t>
                          </m:r>
                          <m:r>
                            <m:rPr>
                              <m:nor/>
                            </m:rPr>
                            <a:rPr lang="en-US" sz="2200" i="1">
                              <a:latin typeface="Times New Roman" panose="02020603050405020304" pitchFamily="18" charset="0"/>
                              <a:cs typeface="Times New Roman" panose="02020603050405020304" pitchFamily="18" charset="0"/>
                            </a:rPr>
                            <m:t> </m:t>
                          </m:r>
                          <m:r>
                            <m:rPr>
                              <m:nor/>
                            </m:rPr>
                            <a:rPr lang="en-US" sz="2200" i="1">
                              <a:latin typeface="Times New Roman" panose="02020603050405020304" pitchFamily="18" charset="0"/>
                              <a:cs typeface="Times New Roman" panose="02020603050405020304" pitchFamily="18" charset="0"/>
                            </a:rPr>
                            <m:t>executed</m:t>
                          </m:r>
                          <m:r>
                            <m:rPr>
                              <m:nor/>
                            </m:rPr>
                            <a:rPr lang="en-US" sz="2200" i="1">
                              <a:latin typeface="Times New Roman" panose="02020603050405020304" pitchFamily="18" charset="0"/>
                              <a:cs typeface="Times New Roman" panose="02020603050405020304" pitchFamily="18" charset="0"/>
                            </a:rPr>
                            <m:t> (</m:t>
                          </m:r>
                          <m:r>
                            <m:rPr>
                              <m:nor/>
                            </m:rPr>
                            <a:rPr lang="en-US" sz="2200" i="1">
                              <a:latin typeface="Times New Roman" panose="02020603050405020304" pitchFamily="18" charset="0"/>
                              <a:cs typeface="Times New Roman" panose="02020603050405020304" pitchFamily="18" charset="0"/>
                            </a:rPr>
                            <m:t>T</m:t>
                          </m:r>
                          <m:r>
                            <m:rPr>
                              <m:nor/>
                            </m:rPr>
                            <a:rPr lang="en-US" sz="2200" i="1">
                              <a:latin typeface="Times New Roman" panose="02020603050405020304" pitchFamily="18" charset="0"/>
                              <a:cs typeface="Times New Roman" panose="02020603050405020304" pitchFamily="18" charset="0"/>
                            </a:rPr>
                            <m:t>/</m:t>
                          </m:r>
                          <m:r>
                            <m:rPr>
                              <m:nor/>
                            </m:rPr>
                            <a:rPr lang="en-US" sz="2200" i="1">
                              <a:latin typeface="Times New Roman" panose="02020603050405020304" pitchFamily="18" charset="0"/>
                              <a:cs typeface="Times New Roman" panose="02020603050405020304" pitchFamily="18" charset="0"/>
                            </a:rPr>
                            <m:t>F</m:t>
                          </m:r>
                          <m:r>
                            <m:rPr>
                              <m:nor/>
                            </m:rPr>
                            <a:rPr lang="en-US" sz="2200" i="1">
                              <a:latin typeface="Times New Roman" panose="02020603050405020304" pitchFamily="18" charset="0"/>
                              <a:cs typeface="Times New Roman" panose="02020603050405020304" pitchFamily="18" charset="0"/>
                            </a:rPr>
                            <m:t>)</m:t>
                          </m:r>
                        </m:num>
                        <m:den>
                          <m:r>
                            <m:rPr>
                              <m:nor/>
                            </m:rPr>
                            <a:rPr lang="en-US" sz="2200" i="1">
                              <a:latin typeface="Times New Roman" panose="02020603050405020304" pitchFamily="18" charset="0"/>
                              <a:cs typeface="Times New Roman" panose="02020603050405020304" pitchFamily="18" charset="0"/>
                            </a:rPr>
                            <m:t>Total</m:t>
                          </m:r>
                          <m:r>
                            <m:rPr>
                              <m:nor/>
                            </m:rPr>
                            <a:rPr lang="en-US" sz="2200" i="1">
                              <a:latin typeface="Times New Roman" panose="02020603050405020304" pitchFamily="18" charset="0"/>
                              <a:cs typeface="Times New Roman" panose="02020603050405020304" pitchFamily="18" charset="0"/>
                            </a:rPr>
                            <m:t> </m:t>
                          </m:r>
                          <m:r>
                            <m:rPr>
                              <m:nor/>
                            </m:rPr>
                            <a:rPr lang="en-US" sz="2200" i="1">
                              <a:latin typeface="Times New Roman" panose="02020603050405020304" pitchFamily="18" charset="0"/>
                              <a:cs typeface="Times New Roman" panose="02020603050405020304" pitchFamily="18" charset="0"/>
                            </a:rPr>
                            <m:t>number</m:t>
                          </m:r>
                          <m:r>
                            <m:rPr>
                              <m:nor/>
                            </m:rPr>
                            <a:rPr lang="en-US" sz="2200" i="1">
                              <a:latin typeface="Times New Roman" panose="02020603050405020304" pitchFamily="18" charset="0"/>
                              <a:cs typeface="Times New Roman" panose="02020603050405020304" pitchFamily="18" charset="0"/>
                            </a:rPr>
                            <m:t> </m:t>
                          </m:r>
                          <m:r>
                            <m:rPr>
                              <m:nor/>
                            </m:rPr>
                            <a:rPr lang="en-US" sz="2200" i="1">
                              <a:latin typeface="Times New Roman" panose="02020603050405020304" pitchFamily="18" charset="0"/>
                              <a:cs typeface="Times New Roman" panose="02020603050405020304" pitchFamily="18" charset="0"/>
                            </a:rPr>
                            <m:t>of</m:t>
                          </m:r>
                          <m:r>
                            <m:rPr>
                              <m:nor/>
                            </m:rPr>
                            <a:rPr lang="en-US" sz="2200" i="1">
                              <a:latin typeface="Times New Roman" panose="02020603050405020304" pitchFamily="18" charset="0"/>
                              <a:cs typeface="Times New Roman" panose="02020603050405020304" pitchFamily="18" charset="0"/>
                            </a:rPr>
                            <m:t> </m:t>
                          </m:r>
                          <m:r>
                            <m:rPr>
                              <m:nor/>
                            </m:rPr>
                            <a:rPr lang="en-US" sz="2200" i="1">
                              <a:latin typeface="Times New Roman" panose="02020603050405020304" pitchFamily="18" charset="0"/>
                              <a:cs typeface="Times New Roman" panose="02020603050405020304" pitchFamily="18" charset="0"/>
                            </a:rPr>
                            <m:t>condition</m:t>
                          </m:r>
                          <m:r>
                            <m:rPr>
                              <m:nor/>
                            </m:rPr>
                            <a:rPr lang="en-US" sz="2200" i="1">
                              <a:latin typeface="Times New Roman" panose="02020603050405020304" pitchFamily="18" charset="0"/>
                              <a:cs typeface="Times New Roman" panose="02020603050405020304" pitchFamily="18" charset="0"/>
                            </a:rPr>
                            <m:t> </m:t>
                          </m:r>
                          <m:r>
                            <m:rPr>
                              <m:nor/>
                            </m:rPr>
                            <a:rPr lang="en-US" sz="2200" i="1">
                              <a:latin typeface="Times New Roman" panose="02020603050405020304" pitchFamily="18" charset="0"/>
                              <a:cs typeface="Times New Roman" panose="02020603050405020304" pitchFamily="18" charset="0"/>
                            </a:rPr>
                            <m:t>outcomes</m:t>
                          </m:r>
                        </m:den>
                      </m:f>
                      <m:r>
                        <a:rPr lang="ar-AE" sz="2200">
                          <a:latin typeface="Cambria Math" panose="02040503050406030204" pitchFamily="18" charset="0"/>
                        </a:rPr>
                        <m:t>×</m:t>
                      </m:r>
                      <m:r>
                        <a:rPr lang="ar-AE" sz="2200">
                          <a:latin typeface="Cambria Math" panose="02040503050406030204" pitchFamily="18" charset="0"/>
                        </a:rPr>
                        <m:t>100</m:t>
                      </m:r>
                    </m:oMath>
                  </m:oMathPara>
                </a14:m>
                <a:endParaRPr lang="en-US" sz="2200" b="0" dirty="0">
                  <a:latin typeface="Times New Roman" panose="02020603050405020304" pitchFamily="18" charset="0"/>
                  <a:cs typeface="Times New Roman" panose="02020603050405020304" pitchFamily="18" charset="0"/>
                </a:endParaRPr>
              </a:p>
              <a:p>
                <a:endParaRPr lang="en-US" sz="2200" b="1" dirty="0"/>
              </a:p>
              <a:p>
                <a:r>
                  <a:rPr lang="en-US" sz="2200" b="1" dirty="0"/>
                  <a:t>Strengths:</a:t>
                </a:r>
                <a:endParaRPr lang="en-US" sz="2200" dirty="0"/>
              </a:p>
              <a:p>
                <a:r>
                  <a:rPr lang="en-US" sz="2200" dirty="0"/>
                  <a:t>Ensures every simple Boolean sub-condition (e.g., a &gt; b, x == 0, etc.) is evaluated as both </a:t>
                </a:r>
                <a:r>
                  <a:rPr lang="en-US" sz="2200" b="1" dirty="0"/>
                  <a:t>True</a:t>
                </a:r>
                <a:r>
                  <a:rPr lang="en-US" sz="2200" dirty="0"/>
                  <a:t> and </a:t>
                </a:r>
                <a:r>
                  <a:rPr lang="en-US" sz="2200" b="1" dirty="0"/>
                  <a:t>False</a:t>
                </a:r>
                <a:r>
                  <a:rPr lang="en-US" sz="2200" dirty="0"/>
                  <a:t>.</a:t>
                </a:r>
              </a:p>
              <a:p>
                <a:r>
                  <a:rPr lang="en-US" sz="2200" dirty="0"/>
                  <a:t>Detects logical errors hidden within complex compound conditions.</a:t>
                </a:r>
              </a:p>
              <a:p>
                <a:r>
                  <a:rPr lang="en-US" sz="2200" b="1" dirty="0"/>
                  <a:t>Weaknesses:</a:t>
                </a:r>
                <a:endParaRPr lang="en-US" sz="2200" dirty="0"/>
              </a:p>
              <a:p>
                <a:r>
                  <a:rPr lang="en-US" sz="2200" dirty="0"/>
                  <a:t>Does </a:t>
                </a:r>
                <a:r>
                  <a:rPr lang="en-US" sz="2200" b="1" dirty="0"/>
                  <a:t>not ensure that all decision outcomes</a:t>
                </a:r>
                <a:r>
                  <a:rPr lang="en-US" sz="2200" dirty="0"/>
                  <a:t> (True/False) are covered — some combinations of conditions might never make the overall decision True or False.</a:t>
                </a:r>
              </a:p>
              <a:p>
                <a:r>
                  <a:rPr lang="en-US" sz="2200" dirty="0"/>
                  <a:t>Hence, </a:t>
                </a:r>
                <a:r>
                  <a:rPr lang="en-US" sz="2200" b="1" dirty="0"/>
                  <a:t>Condition Coverage ≠ Branch Coverage</a:t>
                </a:r>
                <a:r>
                  <a:rPr lang="en-US" sz="2200" dirty="0"/>
                  <a:t>.</a:t>
                </a:r>
              </a:p>
            </p:txBody>
          </p:sp>
        </mc:Choice>
        <mc:Fallback xmlns="">
          <p:sp>
            <p:nvSpPr>
              <p:cNvPr id="5" name="Rectangle 4">
                <a:extLst>
                  <a:ext uri="{FF2B5EF4-FFF2-40B4-BE49-F238E27FC236}">
                    <a16:creationId xmlns:a16="http://schemas.microsoft.com/office/drawing/2014/main" id="{D6C01116-3E97-59FB-6966-432884600BA1}"/>
                  </a:ext>
                </a:extLst>
              </p:cNvPr>
              <p:cNvSpPr>
                <a:spLocks noRot="1" noChangeAspect="1" noMove="1" noResize="1" noEditPoints="1" noAdjustHandles="1" noChangeArrowheads="1" noChangeShapeType="1" noTextEdit="1"/>
              </p:cNvSpPr>
              <p:nvPr/>
            </p:nvSpPr>
            <p:spPr>
              <a:xfrm>
                <a:off x="132988" y="149120"/>
                <a:ext cx="11577428" cy="6209585"/>
              </a:xfrm>
              <a:prstGeom prst="rect">
                <a:avLst/>
              </a:prstGeom>
              <a:blipFill>
                <a:blip r:embed="rId2"/>
                <a:stretch>
                  <a:fillRect l="-685" t="-589" b="-1079"/>
                </a:stretch>
              </a:blipFill>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id="{027F0CD6-9978-5899-2F1D-E758E53DC1C7}"/>
              </a:ext>
            </a:extLst>
          </p:cNvPr>
          <p:cNvSpPr>
            <a:spLocks noGrp="1"/>
          </p:cNvSpPr>
          <p:nvPr>
            <p:ph type="dt" sz="half" idx="10"/>
          </p:nvPr>
        </p:nvSpPr>
        <p:spPr/>
        <p:txBody>
          <a:bodyPr/>
          <a:lstStyle/>
          <a:p>
            <a:fld id="{54E1B78D-F3EC-4A72-874A-DB7A2D32424C}" type="datetime1">
              <a:rPr lang="en-IN" smtClean="0"/>
              <a:t>03-11-2025</a:t>
            </a:fld>
            <a:endParaRPr lang="en-IN"/>
          </a:p>
        </p:txBody>
      </p:sp>
      <p:sp>
        <p:nvSpPr>
          <p:cNvPr id="3" name="Footer Placeholder 2">
            <a:extLst>
              <a:ext uri="{FF2B5EF4-FFF2-40B4-BE49-F238E27FC236}">
                <a16:creationId xmlns:a16="http://schemas.microsoft.com/office/drawing/2014/main" id="{DA2FD28A-ECF6-B4C9-C234-6444A83259C3}"/>
              </a:ext>
            </a:extLst>
          </p:cNvPr>
          <p:cNvSpPr>
            <a:spLocks noGrp="1"/>
          </p:cNvSpPr>
          <p:nvPr>
            <p:ph type="ftr" sz="quarter" idx="11"/>
          </p:nvPr>
        </p:nvSpPr>
        <p:spPr/>
        <p:txBody>
          <a:bodyPr/>
          <a:lstStyle/>
          <a:p>
            <a:r>
              <a:rPr lang="en-IN"/>
              <a:t>MIT</a:t>
            </a:r>
          </a:p>
        </p:txBody>
      </p:sp>
      <p:sp>
        <p:nvSpPr>
          <p:cNvPr id="4" name="Slide Number Placeholder 3">
            <a:extLst>
              <a:ext uri="{FF2B5EF4-FFF2-40B4-BE49-F238E27FC236}">
                <a16:creationId xmlns:a16="http://schemas.microsoft.com/office/drawing/2014/main" id="{8F88DCB3-BD61-6790-6E7F-0F6EC4F9B6A6}"/>
              </a:ext>
            </a:extLst>
          </p:cNvPr>
          <p:cNvSpPr>
            <a:spLocks noGrp="1"/>
          </p:cNvSpPr>
          <p:nvPr>
            <p:ph type="sldNum" sz="quarter" idx="12"/>
          </p:nvPr>
        </p:nvSpPr>
        <p:spPr/>
        <p:txBody>
          <a:bodyPr/>
          <a:lstStyle/>
          <a:p>
            <a:fld id="{157E8F69-36B6-4843-A9CE-6B9353F4DBAF}" type="slidenum">
              <a:rPr lang="en-IN" smtClean="0"/>
              <a:t>50</a:t>
            </a:fld>
            <a:endParaRPr lang="en-IN"/>
          </a:p>
        </p:txBody>
      </p:sp>
    </p:spTree>
    <p:extLst>
      <p:ext uri="{BB962C8B-B14F-4D97-AF65-F5344CB8AC3E}">
        <p14:creationId xmlns:p14="http://schemas.microsoft.com/office/powerpoint/2010/main" val="18869969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E01196-99B3-15F2-31AF-65DCA74E6133}"/>
              </a:ext>
            </a:extLst>
          </p:cNvPr>
          <p:cNvSpPr txBox="1"/>
          <p:nvPr/>
        </p:nvSpPr>
        <p:spPr>
          <a:xfrm>
            <a:off x="413766" y="268516"/>
            <a:ext cx="2658618" cy="1754326"/>
          </a:xfrm>
          <a:prstGeom prst="rect">
            <a:avLst/>
          </a:prstGeom>
          <a:noFill/>
        </p:spPr>
        <p:txBody>
          <a:bodyPr wrap="square">
            <a:spAutoFit/>
          </a:bodyPr>
          <a:lstStyle/>
          <a:p>
            <a:r>
              <a:rPr lang="en-US" b="1" dirty="0"/>
              <a:t>Example:</a:t>
            </a:r>
          </a:p>
          <a:p>
            <a:endParaRPr lang="en-US" dirty="0"/>
          </a:p>
          <a:p>
            <a:r>
              <a:rPr lang="en-US" dirty="0"/>
              <a:t>if ((a &gt; b) &amp;&amp; (b &gt; 0))</a:t>
            </a:r>
          </a:p>
          <a:p>
            <a:r>
              <a:rPr lang="en-US" dirty="0"/>
              <a:t>    </a:t>
            </a:r>
            <a:r>
              <a:rPr lang="en-US" dirty="0" err="1"/>
              <a:t>printf</a:t>
            </a:r>
            <a:r>
              <a:rPr lang="en-US" dirty="0"/>
              <a:t>("Valid\n");</a:t>
            </a:r>
          </a:p>
          <a:p>
            <a:r>
              <a:rPr lang="en-US" dirty="0"/>
              <a:t>else</a:t>
            </a:r>
          </a:p>
          <a:p>
            <a:r>
              <a:rPr lang="en-US" dirty="0"/>
              <a:t>    </a:t>
            </a:r>
            <a:r>
              <a:rPr lang="en-US" dirty="0" err="1"/>
              <a:t>printf</a:t>
            </a:r>
            <a:r>
              <a:rPr lang="en-US" dirty="0"/>
              <a:t>("Invalid\n");</a:t>
            </a:r>
          </a:p>
        </p:txBody>
      </p:sp>
      <p:sp>
        <p:nvSpPr>
          <p:cNvPr id="6" name="TextBox 5">
            <a:extLst>
              <a:ext uri="{FF2B5EF4-FFF2-40B4-BE49-F238E27FC236}">
                <a16:creationId xmlns:a16="http://schemas.microsoft.com/office/drawing/2014/main" id="{BB24B3D0-C90B-BDAD-E7EE-954D3862F293}"/>
              </a:ext>
            </a:extLst>
          </p:cNvPr>
          <p:cNvSpPr txBox="1"/>
          <p:nvPr/>
        </p:nvSpPr>
        <p:spPr>
          <a:xfrm>
            <a:off x="3383280" y="407015"/>
            <a:ext cx="8808720" cy="1477328"/>
          </a:xfrm>
          <a:prstGeom prst="rect">
            <a:avLst/>
          </a:prstGeom>
          <a:noFill/>
        </p:spPr>
        <p:txBody>
          <a:bodyPr wrap="square">
            <a:spAutoFit/>
          </a:bodyPr>
          <a:lstStyle/>
          <a:p>
            <a:pPr>
              <a:buNone/>
            </a:pPr>
            <a:r>
              <a:rPr lang="en-US" b="1" dirty="0"/>
              <a:t>Basic Conditions:</a:t>
            </a:r>
            <a:endParaRPr lang="en-US" dirty="0"/>
          </a:p>
          <a:p>
            <a:pPr>
              <a:buFont typeface="+mj-lt"/>
              <a:buAutoNum type="arabicPeriod"/>
            </a:pPr>
            <a:r>
              <a:rPr lang="en-US" dirty="0">
                <a:latin typeface="Courier New" panose="02070309020205020404" pitchFamily="49" charset="0"/>
              </a:rPr>
              <a:t>a &gt; b</a:t>
            </a:r>
            <a:endParaRPr lang="en-US" dirty="0"/>
          </a:p>
          <a:p>
            <a:pPr>
              <a:buFont typeface="+mj-lt"/>
              <a:buAutoNum type="arabicPeriod"/>
            </a:pPr>
            <a:r>
              <a:rPr lang="en-US" dirty="0">
                <a:latin typeface="Courier New" panose="02070309020205020404" pitchFamily="49" charset="0"/>
              </a:rPr>
              <a:t>b &gt; 0</a:t>
            </a:r>
            <a:endParaRPr lang="en-US" dirty="0"/>
          </a:p>
          <a:p>
            <a:pPr>
              <a:buNone/>
            </a:pPr>
            <a:r>
              <a:rPr lang="en-US" dirty="0"/>
              <a:t>Each of these two conditions must be </a:t>
            </a:r>
            <a:r>
              <a:rPr lang="en-US" b="1" dirty="0"/>
              <a:t>True</a:t>
            </a:r>
            <a:r>
              <a:rPr lang="en-US" dirty="0"/>
              <a:t> and </a:t>
            </a:r>
            <a:r>
              <a:rPr lang="en-US" b="1" dirty="0"/>
              <a:t>False</a:t>
            </a:r>
            <a:r>
              <a:rPr lang="en-US" dirty="0"/>
              <a:t> at least once, regardless of the overall decision result.</a:t>
            </a:r>
          </a:p>
        </p:txBody>
      </p:sp>
      <p:graphicFrame>
        <p:nvGraphicFramePr>
          <p:cNvPr id="7" name="Table 6">
            <a:extLst>
              <a:ext uri="{FF2B5EF4-FFF2-40B4-BE49-F238E27FC236}">
                <a16:creationId xmlns:a16="http://schemas.microsoft.com/office/drawing/2014/main" id="{ED338D9B-00A6-5C1C-7584-734A49B0D8E5}"/>
              </a:ext>
            </a:extLst>
          </p:cNvPr>
          <p:cNvGraphicFramePr>
            <a:graphicFrameLocks noGrp="1"/>
          </p:cNvGraphicFramePr>
          <p:nvPr>
            <p:extLst>
              <p:ext uri="{D42A27DB-BD31-4B8C-83A1-F6EECF244321}">
                <p14:modId xmlns:p14="http://schemas.microsoft.com/office/powerpoint/2010/main" val="2178568756"/>
              </p:ext>
            </p:extLst>
          </p:nvPr>
        </p:nvGraphicFramePr>
        <p:xfrm>
          <a:off x="838200" y="2629694"/>
          <a:ext cx="10515600" cy="1828800"/>
        </p:xfrm>
        <a:graphic>
          <a:graphicData uri="http://schemas.openxmlformats.org/drawingml/2006/table">
            <a:tbl>
              <a:tblPr>
                <a:tableStyleId>{775DCB02-9BB8-47FD-8907-85C794F793BA}</a:tableStyleId>
              </a:tblPr>
              <a:tblGrid>
                <a:gridCol w="1752600">
                  <a:extLst>
                    <a:ext uri="{9D8B030D-6E8A-4147-A177-3AD203B41FA5}">
                      <a16:colId xmlns:a16="http://schemas.microsoft.com/office/drawing/2014/main" val="2888252555"/>
                    </a:ext>
                  </a:extLst>
                </a:gridCol>
                <a:gridCol w="1752600">
                  <a:extLst>
                    <a:ext uri="{9D8B030D-6E8A-4147-A177-3AD203B41FA5}">
                      <a16:colId xmlns:a16="http://schemas.microsoft.com/office/drawing/2014/main" val="2387529313"/>
                    </a:ext>
                  </a:extLst>
                </a:gridCol>
                <a:gridCol w="1752600">
                  <a:extLst>
                    <a:ext uri="{9D8B030D-6E8A-4147-A177-3AD203B41FA5}">
                      <a16:colId xmlns:a16="http://schemas.microsoft.com/office/drawing/2014/main" val="3362224106"/>
                    </a:ext>
                  </a:extLst>
                </a:gridCol>
                <a:gridCol w="1752600">
                  <a:extLst>
                    <a:ext uri="{9D8B030D-6E8A-4147-A177-3AD203B41FA5}">
                      <a16:colId xmlns:a16="http://schemas.microsoft.com/office/drawing/2014/main" val="3005797364"/>
                    </a:ext>
                  </a:extLst>
                </a:gridCol>
                <a:gridCol w="1752600">
                  <a:extLst>
                    <a:ext uri="{9D8B030D-6E8A-4147-A177-3AD203B41FA5}">
                      <a16:colId xmlns:a16="http://schemas.microsoft.com/office/drawing/2014/main" val="2584901038"/>
                    </a:ext>
                  </a:extLst>
                </a:gridCol>
                <a:gridCol w="1752600">
                  <a:extLst>
                    <a:ext uri="{9D8B030D-6E8A-4147-A177-3AD203B41FA5}">
                      <a16:colId xmlns:a16="http://schemas.microsoft.com/office/drawing/2014/main" val="1901384174"/>
                    </a:ext>
                  </a:extLst>
                </a:gridCol>
              </a:tblGrid>
              <a:tr h="0">
                <a:tc>
                  <a:txBody>
                    <a:bodyPr/>
                    <a:lstStyle/>
                    <a:p>
                      <a:pPr>
                        <a:buNone/>
                      </a:pPr>
                      <a:r>
                        <a:rPr lang="en-US"/>
                        <a:t>Test Case</a:t>
                      </a:r>
                    </a:p>
                  </a:txBody>
                  <a:tcPr anchor="ctr"/>
                </a:tc>
                <a:tc>
                  <a:txBody>
                    <a:bodyPr/>
                    <a:lstStyle/>
                    <a:p>
                      <a:pPr>
                        <a:buNone/>
                      </a:pPr>
                      <a:r>
                        <a:rPr lang="en-US"/>
                        <a:t>a</a:t>
                      </a:r>
                    </a:p>
                  </a:txBody>
                  <a:tcPr anchor="ctr"/>
                </a:tc>
                <a:tc>
                  <a:txBody>
                    <a:bodyPr/>
                    <a:lstStyle/>
                    <a:p>
                      <a:pPr>
                        <a:buNone/>
                      </a:pPr>
                      <a:r>
                        <a:rPr lang="en-US"/>
                        <a:t>b</a:t>
                      </a:r>
                    </a:p>
                  </a:txBody>
                  <a:tcPr anchor="ctr"/>
                </a:tc>
                <a:tc>
                  <a:txBody>
                    <a:bodyPr/>
                    <a:lstStyle/>
                    <a:p>
                      <a:pPr>
                        <a:buNone/>
                      </a:pPr>
                      <a:r>
                        <a:rPr lang="en-US"/>
                        <a:t>(a&gt;b)</a:t>
                      </a:r>
                    </a:p>
                  </a:txBody>
                  <a:tcPr anchor="ctr"/>
                </a:tc>
                <a:tc>
                  <a:txBody>
                    <a:bodyPr/>
                    <a:lstStyle/>
                    <a:p>
                      <a:pPr>
                        <a:buNone/>
                      </a:pPr>
                      <a:r>
                        <a:rPr lang="en-US"/>
                        <a:t>(b&gt;0)</a:t>
                      </a:r>
                    </a:p>
                  </a:txBody>
                  <a:tcPr anchor="ctr"/>
                </a:tc>
                <a:tc>
                  <a:txBody>
                    <a:bodyPr/>
                    <a:lstStyle/>
                    <a:p>
                      <a:pPr>
                        <a:buNone/>
                      </a:pPr>
                      <a:r>
                        <a:rPr lang="en-US"/>
                        <a:t>Overall Decision</a:t>
                      </a:r>
                    </a:p>
                  </a:txBody>
                  <a:tcPr anchor="ctr"/>
                </a:tc>
                <a:extLst>
                  <a:ext uri="{0D108BD9-81ED-4DB2-BD59-A6C34878D82A}">
                    <a16:rowId xmlns:a16="http://schemas.microsoft.com/office/drawing/2014/main" val="790173919"/>
                  </a:ext>
                </a:extLst>
              </a:tr>
              <a:tr h="0">
                <a:tc>
                  <a:txBody>
                    <a:bodyPr/>
                    <a:lstStyle/>
                    <a:p>
                      <a:pPr>
                        <a:buNone/>
                      </a:pPr>
                      <a:r>
                        <a:rPr lang="en-US"/>
                        <a:t>3, 2</a:t>
                      </a:r>
                    </a:p>
                  </a:txBody>
                  <a:tcPr anchor="ctr"/>
                </a:tc>
                <a:tc>
                  <a:txBody>
                    <a:bodyPr/>
                    <a:lstStyle/>
                    <a:p>
                      <a:pPr>
                        <a:buNone/>
                      </a:pPr>
                      <a:r>
                        <a:rPr lang="en-US"/>
                        <a:t>T</a:t>
                      </a:r>
                    </a:p>
                  </a:txBody>
                  <a:tcPr anchor="ctr"/>
                </a:tc>
                <a:tc>
                  <a:txBody>
                    <a:bodyPr/>
                    <a:lstStyle/>
                    <a:p>
                      <a:pPr>
                        <a:buNone/>
                      </a:pPr>
                      <a:r>
                        <a:rPr lang="en-US"/>
                        <a:t>T</a:t>
                      </a:r>
                    </a:p>
                  </a:txBody>
                  <a:tcPr anchor="ctr"/>
                </a:tc>
                <a:tc>
                  <a:txBody>
                    <a:bodyPr/>
                    <a:lstStyle/>
                    <a:p>
                      <a:pPr>
                        <a:buNone/>
                      </a:pPr>
                      <a:r>
                        <a:rPr lang="en-US"/>
                        <a:t>True</a:t>
                      </a:r>
                    </a:p>
                  </a:txBody>
                  <a:tcPr anchor="ctr"/>
                </a:tc>
                <a:tc>
                  <a:txBody>
                    <a:bodyPr/>
                    <a:lstStyle/>
                    <a:p>
                      <a:pPr>
                        <a:buNone/>
                      </a:pPr>
                      <a:endParaRPr lang="en-US"/>
                    </a:p>
                  </a:txBody>
                  <a:tcPr anchor="ctr"/>
                </a:tc>
                <a:tc>
                  <a:txBody>
                    <a:bodyPr/>
                    <a:lstStyle/>
                    <a:p>
                      <a:pPr>
                        <a:buNone/>
                      </a:pPr>
                      <a:endParaRPr lang="en-US"/>
                    </a:p>
                  </a:txBody>
                  <a:tcPr anchor="ctr"/>
                </a:tc>
                <a:extLst>
                  <a:ext uri="{0D108BD9-81ED-4DB2-BD59-A6C34878D82A}">
                    <a16:rowId xmlns:a16="http://schemas.microsoft.com/office/drawing/2014/main" val="2388772393"/>
                  </a:ext>
                </a:extLst>
              </a:tr>
              <a:tr h="0">
                <a:tc>
                  <a:txBody>
                    <a:bodyPr/>
                    <a:lstStyle/>
                    <a:p>
                      <a:pPr>
                        <a:buNone/>
                      </a:pPr>
                      <a:r>
                        <a:rPr lang="en-US"/>
                        <a:t>3, -1</a:t>
                      </a:r>
                    </a:p>
                  </a:txBody>
                  <a:tcPr anchor="ctr"/>
                </a:tc>
                <a:tc>
                  <a:txBody>
                    <a:bodyPr/>
                    <a:lstStyle/>
                    <a:p>
                      <a:pPr>
                        <a:buNone/>
                      </a:pPr>
                      <a:r>
                        <a:rPr lang="en-US"/>
                        <a:t>T</a:t>
                      </a:r>
                    </a:p>
                  </a:txBody>
                  <a:tcPr anchor="ctr"/>
                </a:tc>
                <a:tc>
                  <a:txBody>
                    <a:bodyPr/>
                    <a:lstStyle/>
                    <a:p>
                      <a:pPr>
                        <a:buNone/>
                      </a:pPr>
                      <a:r>
                        <a:rPr lang="en-US"/>
                        <a:t>F</a:t>
                      </a:r>
                    </a:p>
                  </a:txBody>
                  <a:tcPr anchor="ctr"/>
                </a:tc>
                <a:tc>
                  <a:txBody>
                    <a:bodyPr/>
                    <a:lstStyle/>
                    <a:p>
                      <a:pPr>
                        <a:buNone/>
                      </a:pPr>
                      <a:r>
                        <a:rPr lang="en-US"/>
                        <a:t>False</a:t>
                      </a:r>
                    </a:p>
                  </a:txBody>
                  <a:tcPr anchor="ctr"/>
                </a:tc>
                <a:tc>
                  <a:txBody>
                    <a:bodyPr/>
                    <a:lstStyle/>
                    <a:p>
                      <a:pPr>
                        <a:buNone/>
                      </a:pPr>
                      <a:endParaRPr lang="en-US"/>
                    </a:p>
                  </a:txBody>
                  <a:tcPr anchor="ctr"/>
                </a:tc>
                <a:tc>
                  <a:txBody>
                    <a:bodyPr/>
                    <a:lstStyle/>
                    <a:p>
                      <a:pPr>
                        <a:buNone/>
                      </a:pPr>
                      <a:endParaRPr lang="en-US"/>
                    </a:p>
                  </a:txBody>
                  <a:tcPr anchor="ctr"/>
                </a:tc>
                <a:extLst>
                  <a:ext uri="{0D108BD9-81ED-4DB2-BD59-A6C34878D82A}">
                    <a16:rowId xmlns:a16="http://schemas.microsoft.com/office/drawing/2014/main" val="4168082167"/>
                  </a:ext>
                </a:extLst>
              </a:tr>
              <a:tr h="0">
                <a:tc>
                  <a:txBody>
                    <a:bodyPr/>
                    <a:lstStyle/>
                    <a:p>
                      <a:pPr>
                        <a:buNone/>
                      </a:pPr>
                      <a:r>
                        <a:rPr lang="en-US"/>
                        <a:t>1, 2</a:t>
                      </a:r>
                    </a:p>
                  </a:txBody>
                  <a:tcPr anchor="ctr"/>
                </a:tc>
                <a:tc>
                  <a:txBody>
                    <a:bodyPr/>
                    <a:lstStyle/>
                    <a:p>
                      <a:pPr>
                        <a:buNone/>
                      </a:pPr>
                      <a:r>
                        <a:rPr lang="en-US"/>
                        <a:t>F</a:t>
                      </a:r>
                    </a:p>
                  </a:txBody>
                  <a:tcPr anchor="ctr"/>
                </a:tc>
                <a:tc>
                  <a:txBody>
                    <a:bodyPr/>
                    <a:lstStyle/>
                    <a:p>
                      <a:pPr>
                        <a:buNone/>
                      </a:pPr>
                      <a:r>
                        <a:rPr lang="en-US"/>
                        <a:t>T</a:t>
                      </a:r>
                    </a:p>
                  </a:txBody>
                  <a:tcPr anchor="ctr"/>
                </a:tc>
                <a:tc>
                  <a:txBody>
                    <a:bodyPr/>
                    <a:lstStyle/>
                    <a:p>
                      <a:pPr>
                        <a:buNone/>
                      </a:pPr>
                      <a:r>
                        <a:rPr lang="en-US"/>
                        <a:t>False</a:t>
                      </a:r>
                    </a:p>
                  </a:txBody>
                  <a:tcPr anchor="ctr"/>
                </a:tc>
                <a:tc>
                  <a:txBody>
                    <a:bodyPr/>
                    <a:lstStyle/>
                    <a:p>
                      <a:pPr>
                        <a:buNone/>
                      </a:pPr>
                      <a:endParaRPr lang="en-US"/>
                    </a:p>
                  </a:txBody>
                  <a:tcPr anchor="ctr"/>
                </a:tc>
                <a:tc>
                  <a:txBody>
                    <a:bodyPr/>
                    <a:lstStyle/>
                    <a:p>
                      <a:pPr>
                        <a:buNone/>
                      </a:pPr>
                      <a:endParaRPr lang="en-US"/>
                    </a:p>
                  </a:txBody>
                  <a:tcPr anchor="ctr"/>
                </a:tc>
                <a:extLst>
                  <a:ext uri="{0D108BD9-81ED-4DB2-BD59-A6C34878D82A}">
                    <a16:rowId xmlns:a16="http://schemas.microsoft.com/office/drawing/2014/main" val="2779670003"/>
                  </a:ext>
                </a:extLst>
              </a:tr>
              <a:tr h="0">
                <a:tc>
                  <a:txBody>
                    <a:bodyPr/>
                    <a:lstStyle/>
                    <a:p>
                      <a:pPr>
                        <a:buNone/>
                      </a:pPr>
                      <a:r>
                        <a:rPr lang="en-US"/>
                        <a:t>1, -1</a:t>
                      </a:r>
                    </a:p>
                  </a:txBody>
                  <a:tcPr anchor="ctr"/>
                </a:tc>
                <a:tc>
                  <a:txBody>
                    <a:bodyPr/>
                    <a:lstStyle/>
                    <a:p>
                      <a:pPr>
                        <a:buNone/>
                      </a:pPr>
                      <a:r>
                        <a:rPr lang="en-US"/>
                        <a:t>F</a:t>
                      </a:r>
                    </a:p>
                  </a:txBody>
                  <a:tcPr anchor="ctr"/>
                </a:tc>
                <a:tc>
                  <a:txBody>
                    <a:bodyPr/>
                    <a:lstStyle/>
                    <a:p>
                      <a:pPr>
                        <a:buNone/>
                      </a:pPr>
                      <a:r>
                        <a:rPr lang="en-US"/>
                        <a:t>F</a:t>
                      </a:r>
                    </a:p>
                  </a:txBody>
                  <a:tcPr anchor="ctr"/>
                </a:tc>
                <a:tc>
                  <a:txBody>
                    <a:bodyPr/>
                    <a:lstStyle/>
                    <a:p>
                      <a:pPr>
                        <a:buNone/>
                      </a:pPr>
                      <a:r>
                        <a:rPr lang="en-US"/>
                        <a:t>False</a:t>
                      </a:r>
                    </a:p>
                  </a:txBody>
                  <a:tcPr anchor="ctr"/>
                </a:tc>
                <a:tc>
                  <a:txBody>
                    <a:bodyPr/>
                    <a:lstStyle/>
                    <a:p>
                      <a:pPr>
                        <a:buNone/>
                      </a:pPr>
                      <a:endParaRPr lang="en-US"/>
                    </a:p>
                  </a:txBody>
                  <a:tcPr anchor="ctr"/>
                </a:tc>
                <a:tc>
                  <a:txBody>
                    <a:bodyPr/>
                    <a:lstStyle/>
                    <a:p>
                      <a:pPr>
                        <a:buNone/>
                      </a:pPr>
                      <a:endParaRPr lang="en-US" dirty="0"/>
                    </a:p>
                  </a:txBody>
                  <a:tcPr anchor="ctr"/>
                </a:tc>
                <a:extLst>
                  <a:ext uri="{0D108BD9-81ED-4DB2-BD59-A6C34878D82A}">
                    <a16:rowId xmlns:a16="http://schemas.microsoft.com/office/drawing/2014/main" val="636986837"/>
                  </a:ext>
                </a:extLst>
              </a:tr>
            </a:tbl>
          </a:graphicData>
        </a:graphic>
      </p:graphicFrame>
      <p:sp>
        <p:nvSpPr>
          <p:cNvPr id="9" name="TextBox 8">
            <a:extLst>
              <a:ext uri="{FF2B5EF4-FFF2-40B4-BE49-F238E27FC236}">
                <a16:creationId xmlns:a16="http://schemas.microsoft.com/office/drawing/2014/main" id="{AF617AE2-C688-3695-2ED3-F6E978F82542}"/>
              </a:ext>
            </a:extLst>
          </p:cNvPr>
          <p:cNvSpPr txBox="1"/>
          <p:nvPr/>
        </p:nvSpPr>
        <p:spPr>
          <a:xfrm>
            <a:off x="413766" y="5065346"/>
            <a:ext cx="10997946" cy="923330"/>
          </a:xfrm>
          <a:prstGeom prst="rect">
            <a:avLst/>
          </a:prstGeom>
          <a:noFill/>
        </p:spPr>
        <p:txBody>
          <a:bodyPr wrap="square">
            <a:spAutoFit/>
          </a:bodyPr>
          <a:lstStyle/>
          <a:p>
            <a:r>
              <a:rPr lang="en-US" dirty="0"/>
              <a:t>✅ Each basic condition (</a:t>
            </a:r>
            <a:r>
              <a:rPr lang="en-US" dirty="0">
                <a:latin typeface="Courier New" panose="02070309020205020404" pitchFamily="49" charset="0"/>
              </a:rPr>
              <a:t>a&gt;b</a:t>
            </a:r>
            <a:r>
              <a:rPr lang="en-US" dirty="0"/>
              <a:t> and </a:t>
            </a:r>
            <a:r>
              <a:rPr lang="en-US" dirty="0">
                <a:latin typeface="Courier New" panose="02070309020205020404" pitchFamily="49" charset="0"/>
              </a:rPr>
              <a:t>b&gt;0</a:t>
            </a:r>
            <a:r>
              <a:rPr lang="en-US" dirty="0"/>
              <a:t>) has been </a:t>
            </a:r>
            <a:r>
              <a:rPr lang="en-US" b="1" dirty="0"/>
              <a:t>True and False</a:t>
            </a:r>
            <a:r>
              <a:rPr lang="en-US" dirty="0"/>
              <a:t> at least once.</a:t>
            </a:r>
            <a:br>
              <a:rPr lang="en-US" dirty="0"/>
            </a:br>
            <a:r>
              <a:rPr lang="en-US" dirty="0"/>
              <a:t>❌ However, not all combinations necessarily make the </a:t>
            </a:r>
            <a:r>
              <a:rPr lang="en-US" b="1" dirty="0"/>
              <a:t>overall decision True or False</a:t>
            </a:r>
            <a:r>
              <a:rPr lang="en-US" dirty="0"/>
              <a:t>, so </a:t>
            </a:r>
            <a:r>
              <a:rPr lang="en-US" b="1" dirty="0"/>
              <a:t>full branch coverage is not guaranteed</a:t>
            </a:r>
            <a:r>
              <a:rPr lang="en-US" dirty="0"/>
              <a:t>.</a:t>
            </a:r>
          </a:p>
        </p:txBody>
      </p:sp>
      <p:sp>
        <p:nvSpPr>
          <p:cNvPr id="2" name="Date Placeholder 1">
            <a:extLst>
              <a:ext uri="{FF2B5EF4-FFF2-40B4-BE49-F238E27FC236}">
                <a16:creationId xmlns:a16="http://schemas.microsoft.com/office/drawing/2014/main" id="{F7A3E63E-6F34-A8DA-861D-F7FF2A0B28CC}"/>
              </a:ext>
            </a:extLst>
          </p:cNvPr>
          <p:cNvSpPr>
            <a:spLocks noGrp="1"/>
          </p:cNvSpPr>
          <p:nvPr>
            <p:ph type="dt" sz="half" idx="10"/>
          </p:nvPr>
        </p:nvSpPr>
        <p:spPr/>
        <p:txBody>
          <a:bodyPr/>
          <a:lstStyle/>
          <a:p>
            <a:fld id="{DD6C2269-32F2-41CB-BB46-1DD4617E3727}" type="datetime1">
              <a:rPr lang="en-IN" smtClean="0"/>
              <a:t>03-11-2025</a:t>
            </a:fld>
            <a:endParaRPr lang="en-IN"/>
          </a:p>
        </p:txBody>
      </p:sp>
      <p:sp>
        <p:nvSpPr>
          <p:cNvPr id="3" name="Footer Placeholder 2">
            <a:extLst>
              <a:ext uri="{FF2B5EF4-FFF2-40B4-BE49-F238E27FC236}">
                <a16:creationId xmlns:a16="http://schemas.microsoft.com/office/drawing/2014/main" id="{B2A5BE85-59CF-3F3F-C387-AC647DAF69C6}"/>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B52FAAF8-13A1-3645-2442-A5D503DDC437}"/>
              </a:ext>
            </a:extLst>
          </p:cNvPr>
          <p:cNvSpPr>
            <a:spLocks noGrp="1"/>
          </p:cNvSpPr>
          <p:nvPr>
            <p:ph type="sldNum" sz="quarter" idx="12"/>
          </p:nvPr>
        </p:nvSpPr>
        <p:spPr/>
        <p:txBody>
          <a:bodyPr/>
          <a:lstStyle/>
          <a:p>
            <a:fld id="{157E8F69-36B6-4843-A9CE-6B9353F4DBAF}" type="slidenum">
              <a:rPr lang="en-IN" smtClean="0"/>
              <a:t>51</a:t>
            </a:fld>
            <a:endParaRPr lang="en-IN"/>
          </a:p>
        </p:txBody>
      </p:sp>
    </p:spTree>
    <p:extLst>
      <p:ext uri="{BB962C8B-B14F-4D97-AF65-F5344CB8AC3E}">
        <p14:creationId xmlns:p14="http://schemas.microsoft.com/office/powerpoint/2010/main" val="3395915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BFC9-79CF-8B30-E919-2257E43AC33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D2B9413-F87D-3E68-3DB2-D32B6577FA2A}"/>
                  </a:ext>
                </a:extLst>
              </p:cNvPr>
              <p:cNvSpPr/>
              <p:nvPr/>
            </p:nvSpPr>
            <p:spPr>
              <a:xfrm>
                <a:off x="96412" y="186435"/>
                <a:ext cx="11577428" cy="6265370"/>
              </a:xfrm>
              <a:prstGeom prst="rect">
                <a:avLst/>
              </a:prstGeom>
            </p:spPr>
            <p:txBody>
              <a:bodyPr wrap="square">
                <a:spAutoFit/>
              </a:bodyPr>
              <a:lstStyle/>
              <a:p>
                <a:pPr algn="just"/>
                <a:r>
                  <a:rPr lang="en-US" sz="2000" b="1" u="sng" dirty="0"/>
                  <a:t>7.7.5 Condition and Decision Coverage</a:t>
                </a:r>
              </a:p>
              <a:p>
                <a:r>
                  <a:rPr lang="en-US" sz="2000" b="1" dirty="0"/>
                  <a:t>Condition and Decision Coverage (CDC)</a:t>
                </a:r>
                <a:r>
                  <a:rPr lang="en-US" sz="2000" dirty="0"/>
                  <a:t> is a combination of both </a:t>
                </a:r>
                <a:r>
                  <a:rPr lang="en-US" sz="2000" b="1" dirty="0"/>
                  <a:t>Condition Coverage</a:t>
                </a:r>
                <a:r>
                  <a:rPr lang="en-US" sz="2000" dirty="0"/>
                  <a:t> and </a:t>
                </a:r>
                <a:r>
                  <a:rPr lang="en-US" sz="2000" b="1" dirty="0"/>
                  <a:t>Decision (Branch) Coverage</a:t>
                </a:r>
                <a:r>
                  <a:rPr lang="en-US" sz="2000" dirty="0"/>
                  <a:t>.</a:t>
                </a:r>
                <a:br>
                  <a:rPr lang="en-US" sz="2000" dirty="0"/>
                </a:br>
                <a:r>
                  <a:rPr lang="en-US" sz="2000" dirty="0"/>
                  <a:t>It ensures that:</a:t>
                </a:r>
              </a:p>
              <a:p>
                <a:r>
                  <a:rPr lang="en-US" sz="2000" b="1" dirty="0"/>
                  <a:t>Each basic condition</a:t>
                </a:r>
                <a:r>
                  <a:rPr lang="en-US" sz="2000" dirty="0"/>
                  <a:t> in a decision takes on </a:t>
                </a:r>
                <a:r>
                  <a:rPr lang="en-US" sz="2000" b="1" dirty="0"/>
                  <a:t>both True and False</a:t>
                </a:r>
                <a:r>
                  <a:rPr lang="en-US" sz="2000" dirty="0"/>
                  <a:t> values at least once, </a:t>
                </a:r>
                <a:r>
                  <a:rPr lang="en-US" sz="2000" b="1" dirty="0"/>
                  <a:t>and</a:t>
                </a:r>
                <a:endParaRPr lang="en-US" sz="2000" dirty="0"/>
              </a:p>
              <a:p>
                <a:r>
                  <a:rPr lang="en-US" sz="2000" b="1" dirty="0"/>
                  <a:t>Each decision (overall outcome)</a:t>
                </a:r>
                <a:r>
                  <a:rPr lang="en-US" sz="2000" dirty="0"/>
                  <a:t> itself evaluates to </a:t>
                </a:r>
                <a:r>
                  <a:rPr lang="en-US" sz="2000" b="1" dirty="0"/>
                  <a:t>True and False</a:t>
                </a:r>
                <a:r>
                  <a:rPr lang="en-US" sz="2000" dirty="0"/>
                  <a:t> at least once.</a:t>
                </a:r>
              </a:p>
              <a:p>
                <a:r>
                  <a:rPr lang="en-US" sz="2000" dirty="0"/>
                  <a:t>To achieve better logic testing by covering both </a:t>
                </a:r>
                <a:r>
                  <a:rPr lang="en-US" sz="2000" b="1" dirty="0"/>
                  <a:t>individual conditions</a:t>
                </a:r>
                <a:r>
                  <a:rPr lang="en-US" sz="2000" dirty="0"/>
                  <a:t> and </a:t>
                </a:r>
                <a:r>
                  <a:rPr lang="en-US" sz="2000" b="1" dirty="0"/>
                  <a:t>overall decision outcomes</a:t>
                </a:r>
                <a:r>
                  <a:rPr lang="en-US" sz="2000" dirty="0"/>
                  <a:t>.</a:t>
                </a:r>
              </a:p>
              <a:p>
                <a:r>
                  <a:rPr lang="en-US" sz="2000" b="1" dirty="0"/>
                  <a:t>Formula:</a:t>
                </a:r>
                <a:endParaRPr lang="en-US" sz="2000" dirty="0"/>
              </a:p>
              <a:p>
                <a:pPr/>
                <a14:m>
                  <m:oMathPara xmlns:m="http://schemas.openxmlformats.org/officeDocument/2006/math">
                    <m:oMathParaPr>
                      <m:jc m:val="centerGroup"/>
                    </m:oMathParaPr>
                    <m:oMath xmlns:m="http://schemas.openxmlformats.org/officeDocument/2006/math">
                      <m:r>
                        <m:rPr>
                          <m:nor/>
                        </m:rPr>
                        <a:rPr lang="en-US" sz="2000" b="0"/>
                        <m:t>Condition</m:t>
                      </m:r>
                      <m:r>
                        <m:rPr>
                          <m:nor/>
                        </m:rPr>
                        <a:rPr lang="en-US" sz="2000" b="0" i="1"/>
                        <m:t> </m:t>
                      </m:r>
                      <m:r>
                        <m:rPr>
                          <m:nor/>
                        </m:rPr>
                        <a:rPr lang="en-US" sz="2000" b="0" i="1"/>
                        <m:t>and</m:t>
                      </m:r>
                      <m:r>
                        <m:rPr>
                          <m:nor/>
                        </m:rPr>
                        <a:rPr lang="en-US" sz="2000" b="0" i="1"/>
                        <m:t> </m:t>
                      </m:r>
                      <m:r>
                        <m:rPr>
                          <m:nor/>
                        </m:rPr>
                        <a:rPr lang="en-US" sz="2000" b="0" i="1"/>
                        <m:t>Decision</m:t>
                      </m:r>
                      <m:r>
                        <m:rPr>
                          <m:nor/>
                        </m:rPr>
                        <a:rPr lang="en-US" sz="2000" b="0" i="1"/>
                        <m:t> </m:t>
                      </m:r>
                      <m:r>
                        <m:rPr>
                          <m:nor/>
                        </m:rPr>
                        <a:rPr lang="en-US" sz="2000" b="0" i="1"/>
                        <m:t>Coverage</m:t>
                      </m:r>
                      <m:r>
                        <a:rPr lang="en-US" sz="2000">
                          <a:latin typeface="Cambria Math" panose="02040503050406030204" pitchFamily="18" charset="0"/>
                        </a:rPr>
                        <m:t>=</m:t>
                      </m:r>
                      <m:f>
                        <m:fPr>
                          <m:ctrlPr>
                            <a:rPr lang="ar-AE" sz="2000" i="1">
                              <a:latin typeface="Cambria Math" panose="02040503050406030204" pitchFamily="18" charset="0"/>
                            </a:rPr>
                          </m:ctrlPr>
                        </m:fPr>
                        <m:num>
                          <m:r>
                            <m:rPr>
                              <m:nor/>
                            </m:rPr>
                            <a:rPr lang="en-US" sz="2000" i="1"/>
                            <m:t>Number</m:t>
                          </m:r>
                          <m:r>
                            <m:rPr>
                              <m:nor/>
                            </m:rPr>
                            <a:rPr lang="en-US" sz="2000" i="1"/>
                            <m:t> </m:t>
                          </m:r>
                          <m:r>
                            <m:rPr>
                              <m:nor/>
                            </m:rPr>
                            <a:rPr lang="en-US" sz="2000" i="1"/>
                            <m:t>of</m:t>
                          </m:r>
                          <m:r>
                            <m:rPr>
                              <m:nor/>
                            </m:rPr>
                            <a:rPr lang="en-US" sz="2000" i="1"/>
                            <m:t> </m:t>
                          </m:r>
                          <m:r>
                            <m:rPr>
                              <m:nor/>
                            </m:rPr>
                            <a:rPr lang="en-US" sz="2000" i="1"/>
                            <m:t>conditions</m:t>
                          </m:r>
                          <m:r>
                            <m:rPr>
                              <m:nor/>
                            </m:rPr>
                            <a:rPr lang="en-US" sz="2000" i="1"/>
                            <m:t> (</m:t>
                          </m:r>
                          <m:r>
                            <m:rPr>
                              <m:nor/>
                            </m:rPr>
                            <a:rPr lang="en-US" sz="2000" i="1"/>
                            <m:t>T</m:t>
                          </m:r>
                          <m:r>
                            <m:rPr>
                              <m:nor/>
                            </m:rPr>
                            <a:rPr lang="en-US" sz="2000" i="1"/>
                            <m:t>/</m:t>
                          </m:r>
                          <m:r>
                            <m:rPr>
                              <m:nor/>
                            </m:rPr>
                            <a:rPr lang="en-US" sz="2000" i="1"/>
                            <m:t>F</m:t>
                          </m:r>
                          <m:r>
                            <m:rPr>
                              <m:nor/>
                            </m:rPr>
                            <a:rPr lang="en-US" sz="2000" i="1"/>
                            <m:t>) </m:t>
                          </m:r>
                          <m:r>
                            <m:rPr>
                              <m:nor/>
                            </m:rPr>
                            <a:rPr lang="en-US" sz="2000" i="1"/>
                            <m:t>and</m:t>
                          </m:r>
                          <m:r>
                            <m:rPr>
                              <m:nor/>
                            </m:rPr>
                            <a:rPr lang="en-US" sz="2000" i="1"/>
                            <m:t> </m:t>
                          </m:r>
                          <m:r>
                            <m:rPr>
                              <m:nor/>
                            </m:rPr>
                            <a:rPr lang="en-US" sz="2000" i="1"/>
                            <m:t>decisions</m:t>
                          </m:r>
                          <m:r>
                            <m:rPr>
                              <m:nor/>
                            </m:rPr>
                            <a:rPr lang="en-US" sz="2000" i="1"/>
                            <m:t> (</m:t>
                          </m:r>
                          <m:r>
                            <m:rPr>
                              <m:nor/>
                            </m:rPr>
                            <a:rPr lang="en-US" sz="2000" i="1"/>
                            <m:t>T</m:t>
                          </m:r>
                          <m:r>
                            <m:rPr>
                              <m:nor/>
                            </m:rPr>
                            <a:rPr lang="en-US" sz="2000" i="1"/>
                            <m:t>/</m:t>
                          </m:r>
                          <m:r>
                            <m:rPr>
                              <m:nor/>
                            </m:rPr>
                            <a:rPr lang="en-US" sz="2000" i="1"/>
                            <m:t>F</m:t>
                          </m:r>
                          <m:r>
                            <m:rPr>
                              <m:nor/>
                            </m:rPr>
                            <a:rPr lang="en-US" sz="2000" i="1"/>
                            <m:t>) </m:t>
                          </m:r>
                          <m:r>
                            <m:rPr>
                              <m:nor/>
                            </m:rPr>
                            <a:rPr lang="en-US" sz="2000" i="1"/>
                            <m:t>executed</m:t>
                          </m:r>
                        </m:num>
                        <m:den>
                          <m:r>
                            <m:rPr>
                              <m:nor/>
                            </m:rPr>
                            <a:rPr lang="en-US" sz="2000" i="1"/>
                            <m:t>Total</m:t>
                          </m:r>
                          <m:r>
                            <m:rPr>
                              <m:nor/>
                            </m:rPr>
                            <a:rPr lang="en-US" sz="2000" i="1"/>
                            <m:t> </m:t>
                          </m:r>
                          <m:r>
                            <m:rPr>
                              <m:nor/>
                            </m:rPr>
                            <a:rPr lang="en-US" sz="2000" i="1"/>
                            <m:t>number</m:t>
                          </m:r>
                          <m:r>
                            <m:rPr>
                              <m:nor/>
                            </m:rPr>
                            <a:rPr lang="en-US" sz="2000" i="1"/>
                            <m:t> </m:t>
                          </m:r>
                          <m:r>
                            <m:rPr>
                              <m:nor/>
                            </m:rPr>
                            <a:rPr lang="en-US" sz="2000" i="1"/>
                            <m:t>of</m:t>
                          </m:r>
                          <m:r>
                            <m:rPr>
                              <m:nor/>
                            </m:rPr>
                            <a:rPr lang="en-US" sz="2000" i="1"/>
                            <m:t> </m:t>
                          </m:r>
                          <m:r>
                            <m:rPr>
                              <m:nor/>
                            </m:rPr>
                            <a:rPr lang="en-US" sz="2000" i="1"/>
                            <m:t>conditions</m:t>
                          </m:r>
                          <m:r>
                            <m:rPr>
                              <m:nor/>
                            </m:rPr>
                            <a:rPr lang="en-US" sz="2000" i="1"/>
                            <m:t> </m:t>
                          </m:r>
                          <m:r>
                            <m:rPr>
                              <m:nor/>
                            </m:rPr>
                            <a:rPr lang="en-US" sz="2000" i="1"/>
                            <m:t>and</m:t>
                          </m:r>
                          <m:r>
                            <m:rPr>
                              <m:nor/>
                            </m:rPr>
                            <a:rPr lang="en-US" sz="2000" i="1"/>
                            <m:t> </m:t>
                          </m:r>
                          <m:r>
                            <m:rPr>
                              <m:nor/>
                            </m:rPr>
                            <a:rPr lang="en-US" sz="2000" i="1"/>
                            <m:t>decisions</m:t>
                          </m:r>
                        </m:den>
                      </m:f>
                      <m:r>
                        <a:rPr lang="ar-AE" sz="2000">
                          <a:latin typeface="Cambria Math" panose="02040503050406030204" pitchFamily="18" charset="0"/>
                        </a:rPr>
                        <m:t>×</m:t>
                      </m:r>
                      <m:r>
                        <a:rPr lang="ar-AE" sz="2000">
                          <a:latin typeface="Cambria Math" panose="02040503050406030204" pitchFamily="18" charset="0"/>
                        </a:rPr>
                        <m:t>100</m:t>
                      </m:r>
                    </m:oMath>
                  </m:oMathPara>
                </a14:m>
                <a:endParaRPr lang="ar-AE" sz="2000" b="0" dirty="0"/>
              </a:p>
              <a:p>
                <a:br>
                  <a:rPr lang="ar-AE" sz="2000" dirty="0"/>
                </a:br>
                <a:r>
                  <a:rPr lang="en-US" sz="2000" b="1" dirty="0"/>
                  <a:t>Strengths:</a:t>
                </a:r>
                <a:endParaRPr lang="en-US" sz="2000" dirty="0"/>
              </a:p>
              <a:p>
                <a:r>
                  <a:rPr lang="en-US" sz="2000" dirty="0"/>
                  <a:t>Combines the benefits of </a:t>
                </a:r>
                <a:r>
                  <a:rPr lang="en-US" sz="2000" b="1" dirty="0"/>
                  <a:t>Condition Coverage</a:t>
                </a:r>
                <a:r>
                  <a:rPr lang="en-US" sz="2000" dirty="0"/>
                  <a:t> and </a:t>
                </a:r>
                <a:r>
                  <a:rPr lang="en-US" sz="2000" b="1" dirty="0"/>
                  <a:t>Branch Coverage</a:t>
                </a:r>
                <a:r>
                  <a:rPr lang="en-US" sz="2000" dirty="0"/>
                  <a:t>.</a:t>
                </a:r>
              </a:p>
              <a:p>
                <a:r>
                  <a:rPr lang="en-US" sz="2000" dirty="0"/>
                  <a:t>Detects more logical errors compared to either of them individually.</a:t>
                </a:r>
              </a:p>
              <a:p>
                <a:r>
                  <a:rPr lang="en-US" sz="2000" dirty="0"/>
                  <a:t>Provides higher confidence in the correctness of decision-making logic.</a:t>
                </a:r>
              </a:p>
              <a:p>
                <a:r>
                  <a:rPr lang="en-US" sz="2000" b="1" dirty="0"/>
                  <a:t>Weaknesses:</a:t>
                </a:r>
                <a:endParaRPr lang="en-US" sz="2000" dirty="0"/>
              </a:p>
              <a:p>
                <a:r>
                  <a:rPr lang="en-US" sz="2000" dirty="0"/>
                  <a:t>May still not test </a:t>
                </a:r>
                <a:r>
                  <a:rPr lang="en-US" sz="2000" b="1" dirty="0"/>
                  <a:t>all combinations</a:t>
                </a:r>
                <a:r>
                  <a:rPr lang="en-US" sz="2000" dirty="0"/>
                  <a:t> of conditions (for that, </a:t>
                </a:r>
                <a:r>
                  <a:rPr lang="en-US" sz="2000" i="1" dirty="0"/>
                  <a:t>Multiple Condition Coverage</a:t>
                </a:r>
                <a:r>
                  <a:rPr lang="en-US" sz="2000" dirty="0"/>
                  <a:t> or </a:t>
                </a:r>
                <a:r>
                  <a:rPr lang="en-US" sz="2000" i="1" dirty="0"/>
                  <a:t>Modified Condition/Decision Coverage – MC/DC</a:t>
                </a:r>
                <a:r>
                  <a:rPr lang="en-US" sz="2000" dirty="0"/>
                  <a:t> is needed).</a:t>
                </a:r>
              </a:p>
              <a:p>
                <a:r>
                  <a:rPr lang="en-US" sz="2000" dirty="0"/>
                  <a:t>Increases the number of required test cases compared to basic branch testing.</a:t>
                </a:r>
              </a:p>
              <a:p>
                <a:pPr algn="just"/>
                <a:endParaRPr lang="en-US" sz="2000" u="sng" dirty="0"/>
              </a:p>
            </p:txBody>
          </p:sp>
        </mc:Choice>
        <mc:Fallback xmlns="">
          <p:sp>
            <p:nvSpPr>
              <p:cNvPr id="6" name="Rectangle 5">
                <a:extLst>
                  <a:ext uri="{FF2B5EF4-FFF2-40B4-BE49-F238E27FC236}">
                    <a16:creationId xmlns:a16="http://schemas.microsoft.com/office/drawing/2014/main" id="{6D2B9413-F87D-3E68-3DB2-D32B6577FA2A}"/>
                  </a:ext>
                </a:extLst>
              </p:cNvPr>
              <p:cNvSpPr>
                <a:spLocks noRot="1" noChangeAspect="1" noMove="1" noResize="1" noEditPoints="1" noAdjustHandles="1" noChangeArrowheads="1" noChangeShapeType="1" noTextEdit="1"/>
              </p:cNvSpPr>
              <p:nvPr/>
            </p:nvSpPr>
            <p:spPr>
              <a:xfrm>
                <a:off x="96412" y="186435"/>
                <a:ext cx="11577428" cy="6265370"/>
              </a:xfrm>
              <a:prstGeom prst="rect">
                <a:avLst/>
              </a:prstGeom>
              <a:blipFill>
                <a:blip r:embed="rId2"/>
                <a:stretch>
                  <a:fillRect l="-579" t="-584"/>
                </a:stretch>
              </a:blipFill>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id="{EF18F1E4-1F8D-A475-6553-C632F13B752C}"/>
              </a:ext>
            </a:extLst>
          </p:cNvPr>
          <p:cNvSpPr>
            <a:spLocks noGrp="1"/>
          </p:cNvSpPr>
          <p:nvPr>
            <p:ph type="dt" sz="half" idx="10"/>
          </p:nvPr>
        </p:nvSpPr>
        <p:spPr/>
        <p:txBody>
          <a:bodyPr/>
          <a:lstStyle/>
          <a:p>
            <a:fld id="{80CD3EF0-E2DE-4830-8A92-7332849D0535}" type="datetime1">
              <a:rPr lang="en-IN" smtClean="0"/>
              <a:t>03-11-2025</a:t>
            </a:fld>
            <a:endParaRPr lang="en-IN"/>
          </a:p>
        </p:txBody>
      </p:sp>
      <p:sp>
        <p:nvSpPr>
          <p:cNvPr id="3" name="Footer Placeholder 2">
            <a:extLst>
              <a:ext uri="{FF2B5EF4-FFF2-40B4-BE49-F238E27FC236}">
                <a16:creationId xmlns:a16="http://schemas.microsoft.com/office/drawing/2014/main" id="{FA7A6DF9-810E-2F1A-E8B9-9F10AF1B6BA4}"/>
              </a:ext>
            </a:extLst>
          </p:cNvPr>
          <p:cNvSpPr>
            <a:spLocks noGrp="1"/>
          </p:cNvSpPr>
          <p:nvPr>
            <p:ph type="ftr" sz="quarter" idx="11"/>
          </p:nvPr>
        </p:nvSpPr>
        <p:spPr/>
        <p:txBody>
          <a:bodyPr/>
          <a:lstStyle/>
          <a:p>
            <a:r>
              <a:rPr lang="en-IN"/>
              <a:t>MIT</a:t>
            </a:r>
          </a:p>
        </p:txBody>
      </p:sp>
      <p:sp>
        <p:nvSpPr>
          <p:cNvPr id="4" name="Slide Number Placeholder 3">
            <a:extLst>
              <a:ext uri="{FF2B5EF4-FFF2-40B4-BE49-F238E27FC236}">
                <a16:creationId xmlns:a16="http://schemas.microsoft.com/office/drawing/2014/main" id="{511E2D93-F89B-C2B2-14E7-43F967AE5CD9}"/>
              </a:ext>
            </a:extLst>
          </p:cNvPr>
          <p:cNvSpPr>
            <a:spLocks noGrp="1"/>
          </p:cNvSpPr>
          <p:nvPr>
            <p:ph type="sldNum" sz="quarter" idx="12"/>
          </p:nvPr>
        </p:nvSpPr>
        <p:spPr/>
        <p:txBody>
          <a:bodyPr/>
          <a:lstStyle/>
          <a:p>
            <a:fld id="{157E8F69-36B6-4843-A9CE-6B9353F4DBAF}" type="slidenum">
              <a:rPr lang="en-IN" smtClean="0"/>
              <a:t>52</a:t>
            </a:fld>
            <a:endParaRPr lang="en-IN"/>
          </a:p>
        </p:txBody>
      </p:sp>
    </p:spTree>
    <p:extLst>
      <p:ext uri="{BB962C8B-B14F-4D97-AF65-F5344CB8AC3E}">
        <p14:creationId xmlns:p14="http://schemas.microsoft.com/office/powerpoint/2010/main" val="31035668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70AEEEC-F91C-EB97-ED27-37CB697BD752}"/>
              </a:ext>
            </a:extLst>
          </p:cNvPr>
          <p:cNvSpPr txBox="1"/>
          <p:nvPr/>
        </p:nvSpPr>
        <p:spPr>
          <a:xfrm>
            <a:off x="377190" y="277660"/>
            <a:ext cx="2503170" cy="1754326"/>
          </a:xfrm>
          <a:prstGeom prst="rect">
            <a:avLst/>
          </a:prstGeom>
          <a:noFill/>
        </p:spPr>
        <p:txBody>
          <a:bodyPr wrap="square">
            <a:spAutoFit/>
          </a:bodyPr>
          <a:lstStyle/>
          <a:p>
            <a:r>
              <a:rPr lang="en-US" dirty="0"/>
              <a:t>Example:</a:t>
            </a:r>
          </a:p>
          <a:p>
            <a:endParaRPr lang="en-US" dirty="0"/>
          </a:p>
          <a:p>
            <a:r>
              <a:rPr lang="en-US" dirty="0"/>
              <a:t>if ((a &gt; b) &amp;&amp; (b &gt; 0))</a:t>
            </a:r>
          </a:p>
          <a:p>
            <a:r>
              <a:rPr lang="en-US" dirty="0"/>
              <a:t>    </a:t>
            </a:r>
            <a:r>
              <a:rPr lang="en-US" dirty="0" err="1"/>
              <a:t>printf</a:t>
            </a:r>
            <a:r>
              <a:rPr lang="en-US" dirty="0"/>
              <a:t>("Valid\n");</a:t>
            </a:r>
          </a:p>
          <a:p>
            <a:r>
              <a:rPr lang="en-US" dirty="0"/>
              <a:t>else</a:t>
            </a:r>
          </a:p>
          <a:p>
            <a:r>
              <a:rPr lang="en-US" dirty="0"/>
              <a:t>    </a:t>
            </a:r>
            <a:r>
              <a:rPr lang="en-US" dirty="0" err="1"/>
              <a:t>printf</a:t>
            </a:r>
            <a:r>
              <a:rPr lang="en-US" dirty="0"/>
              <a:t>("Invalid\n");</a:t>
            </a:r>
          </a:p>
        </p:txBody>
      </p:sp>
      <p:sp>
        <p:nvSpPr>
          <p:cNvPr id="6" name="TextBox 5">
            <a:extLst>
              <a:ext uri="{FF2B5EF4-FFF2-40B4-BE49-F238E27FC236}">
                <a16:creationId xmlns:a16="http://schemas.microsoft.com/office/drawing/2014/main" id="{15FF8461-5BCC-12EF-B3B8-CD6E8406818E}"/>
              </a:ext>
            </a:extLst>
          </p:cNvPr>
          <p:cNvSpPr txBox="1"/>
          <p:nvPr/>
        </p:nvSpPr>
        <p:spPr>
          <a:xfrm>
            <a:off x="3742182" y="554658"/>
            <a:ext cx="6094476" cy="1200329"/>
          </a:xfrm>
          <a:prstGeom prst="rect">
            <a:avLst/>
          </a:prstGeom>
          <a:noFill/>
        </p:spPr>
        <p:txBody>
          <a:bodyPr wrap="square">
            <a:spAutoFit/>
          </a:bodyPr>
          <a:lstStyle/>
          <a:p>
            <a:pPr>
              <a:buNone/>
            </a:pPr>
            <a:r>
              <a:rPr lang="en-US" b="1" dirty="0"/>
              <a:t>Basic Conditions:</a:t>
            </a:r>
            <a:endParaRPr lang="en-US" dirty="0"/>
          </a:p>
          <a:p>
            <a:pPr>
              <a:buFont typeface="+mj-lt"/>
              <a:buAutoNum type="arabicPeriod"/>
            </a:pPr>
            <a:r>
              <a:rPr lang="en-US" dirty="0">
                <a:latin typeface="Courier New" panose="02070309020205020404" pitchFamily="49" charset="0"/>
              </a:rPr>
              <a:t>a &gt; b</a:t>
            </a:r>
            <a:endParaRPr lang="en-US" dirty="0"/>
          </a:p>
          <a:p>
            <a:pPr>
              <a:buFont typeface="+mj-lt"/>
              <a:buAutoNum type="arabicPeriod"/>
            </a:pPr>
            <a:r>
              <a:rPr lang="en-US" dirty="0">
                <a:latin typeface="Courier New" panose="02070309020205020404" pitchFamily="49" charset="0"/>
              </a:rPr>
              <a:t>b &gt; 0</a:t>
            </a:r>
            <a:br>
              <a:rPr lang="en-US" dirty="0"/>
            </a:br>
            <a:r>
              <a:rPr lang="en-US" b="1" dirty="0"/>
              <a:t>Decision:</a:t>
            </a:r>
            <a:r>
              <a:rPr lang="en-US" dirty="0"/>
              <a:t> </a:t>
            </a:r>
            <a:r>
              <a:rPr lang="en-US" dirty="0">
                <a:latin typeface="Courier New" panose="02070309020205020404" pitchFamily="49" charset="0"/>
              </a:rPr>
              <a:t>(a &gt; b) &amp;&amp; (b &gt; 0)</a:t>
            </a:r>
            <a:endParaRPr lang="en-US" dirty="0"/>
          </a:p>
        </p:txBody>
      </p:sp>
      <p:graphicFrame>
        <p:nvGraphicFramePr>
          <p:cNvPr id="7" name="Table 6">
            <a:extLst>
              <a:ext uri="{FF2B5EF4-FFF2-40B4-BE49-F238E27FC236}">
                <a16:creationId xmlns:a16="http://schemas.microsoft.com/office/drawing/2014/main" id="{88DC6FFC-6DCF-B981-F656-E33F5761A4BF}"/>
              </a:ext>
            </a:extLst>
          </p:cNvPr>
          <p:cNvGraphicFramePr>
            <a:graphicFrameLocks noGrp="1"/>
          </p:cNvGraphicFramePr>
          <p:nvPr>
            <p:extLst>
              <p:ext uri="{D42A27DB-BD31-4B8C-83A1-F6EECF244321}">
                <p14:modId xmlns:p14="http://schemas.microsoft.com/office/powerpoint/2010/main" val="824441439"/>
              </p:ext>
            </p:extLst>
          </p:nvPr>
        </p:nvGraphicFramePr>
        <p:xfrm>
          <a:off x="609600" y="2382806"/>
          <a:ext cx="10515600" cy="1828800"/>
        </p:xfrm>
        <a:graphic>
          <a:graphicData uri="http://schemas.openxmlformats.org/drawingml/2006/table">
            <a:tbl>
              <a:tblPr>
                <a:tableStyleId>{775DCB02-9BB8-47FD-8907-85C794F793BA}</a:tableStyleId>
              </a:tblPr>
              <a:tblGrid>
                <a:gridCol w="1752600">
                  <a:extLst>
                    <a:ext uri="{9D8B030D-6E8A-4147-A177-3AD203B41FA5}">
                      <a16:colId xmlns:a16="http://schemas.microsoft.com/office/drawing/2014/main" val="2120359563"/>
                    </a:ext>
                  </a:extLst>
                </a:gridCol>
                <a:gridCol w="1752600">
                  <a:extLst>
                    <a:ext uri="{9D8B030D-6E8A-4147-A177-3AD203B41FA5}">
                      <a16:colId xmlns:a16="http://schemas.microsoft.com/office/drawing/2014/main" val="2084213816"/>
                    </a:ext>
                  </a:extLst>
                </a:gridCol>
                <a:gridCol w="1752600">
                  <a:extLst>
                    <a:ext uri="{9D8B030D-6E8A-4147-A177-3AD203B41FA5}">
                      <a16:colId xmlns:a16="http://schemas.microsoft.com/office/drawing/2014/main" val="4122802156"/>
                    </a:ext>
                  </a:extLst>
                </a:gridCol>
                <a:gridCol w="1752600">
                  <a:extLst>
                    <a:ext uri="{9D8B030D-6E8A-4147-A177-3AD203B41FA5}">
                      <a16:colId xmlns:a16="http://schemas.microsoft.com/office/drawing/2014/main" val="3273365209"/>
                    </a:ext>
                  </a:extLst>
                </a:gridCol>
                <a:gridCol w="1752600">
                  <a:extLst>
                    <a:ext uri="{9D8B030D-6E8A-4147-A177-3AD203B41FA5}">
                      <a16:colId xmlns:a16="http://schemas.microsoft.com/office/drawing/2014/main" val="638643182"/>
                    </a:ext>
                  </a:extLst>
                </a:gridCol>
                <a:gridCol w="1752600">
                  <a:extLst>
                    <a:ext uri="{9D8B030D-6E8A-4147-A177-3AD203B41FA5}">
                      <a16:colId xmlns:a16="http://schemas.microsoft.com/office/drawing/2014/main" val="2895522687"/>
                    </a:ext>
                  </a:extLst>
                </a:gridCol>
              </a:tblGrid>
              <a:tr h="0">
                <a:tc>
                  <a:txBody>
                    <a:bodyPr/>
                    <a:lstStyle/>
                    <a:p>
                      <a:pPr>
                        <a:buNone/>
                      </a:pPr>
                      <a:r>
                        <a:rPr lang="en-US"/>
                        <a:t>Test Case</a:t>
                      </a:r>
                    </a:p>
                  </a:txBody>
                  <a:tcPr anchor="ctr"/>
                </a:tc>
                <a:tc>
                  <a:txBody>
                    <a:bodyPr/>
                    <a:lstStyle/>
                    <a:p>
                      <a:pPr>
                        <a:buNone/>
                      </a:pPr>
                      <a:r>
                        <a:rPr lang="en-US"/>
                        <a:t>a</a:t>
                      </a:r>
                    </a:p>
                  </a:txBody>
                  <a:tcPr anchor="ctr"/>
                </a:tc>
                <a:tc>
                  <a:txBody>
                    <a:bodyPr/>
                    <a:lstStyle/>
                    <a:p>
                      <a:pPr>
                        <a:buNone/>
                      </a:pPr>
                      <a:r>
                        <a:rPr lang="en-US"/>
                        <a:t>b</a:t>
                      </a:r>
                    </a:p>
                  </a:txBody>
                  <a:tcPr anchor="ctr"/>
                </a:tc>
                <a:tc>
                  <a:txBody>
                    <a:bodyPr/>
                    <a:lstStyle/>
                    <a:p>
                      <a:pPr>
                        <a:buNone/>
                      </a:pPr>
                      <a:r>
                        <a:rPr lang="en-US"/>
                        <a:t>(a &gt; b)</a:t>
                      </a:r>
                    </a:p>
                  </a:txBody>
                  <a:tcPr anchor="ctr"/>
                </a:tc>
                <a:tc>
                  <a:txBody>
                    <a:bodyPr/>
                    <a:lstStyle/>
                    <a:p>
                      <a:pPr>
                        <a:buNone/>
                      </a:pPr>
                      <a:r>
                        <a:rPr lang="en-US"/>
                        <a:t>(b &gt; 0)</a:t>
                      </a:r>
                    </a:p>
                  </a:txBody>
                  <a:tcPr anchor="ctr"/>
                </a:tc>
                <a:tc>
                  <a:txBody>
                    <a:bodyPr/>
                    <a:lstStyle/>
                    <a:p>
                      <a:pPr>
                        <a:buNone/>
                      </a:pPr>
                      <a:r>
                        <a:rPr lang="en-US"/>
                        <a:t>Decision Result</a:t>
                      </a:r>
                    </a:p>
                  </a:txBody>
                  <a:tcPr anchor="ctr"/>
                </a:tc>
                <a:extLst>
                  <a:ext uri="{0D108BD9-81ED-4DB2-BD59-A6C34878D82A}">
                    <a16:rowId xmlns:a16="http://schemas.microsoft.com/office/drawing/2014/main" val="1517286291"/>
                  </a:ext>
                </a:extLst>
              </a:tr>
              <a:tr h="0">
                <a:tc>
                  <a:txBody>
                    <a:bodyPr/>
                    <a:lstStyle/>
                    <a:p>
                      <a:pPr>
                        <a:buNone/>
                      </a:pPr>
                      <a:r>
                        <a:rPr lang="en-US"/>
                        <a:t>3, 2</a:t>
                      </a:r>
                    </a:p>
                  </a:txBody>
                  <a:tcPr anchor="ctr"/>
                </a:tc>
                <a:tc>
                  <a:txBody>
                    <a:bodyPr/>
                    <a:lstStyle/>
                    <a:p>
                      <a:pPr>
                        <a:buNone/>
                      </a:pPr>
                      <a:r>
                        <a:rPr lang="en-US"/>
                        <a:t>T</a:t>
                      </a:r>
                    </a:p>
                  </a:txBody>
                  <a:tcPr anchor="ctr"/>
                </a:tc>
                <a:tc>
                  <a:txBody>
                    <a:bodyPr/>
                    <a:lstStyle/>
                    <a:p>
                      <a:pPr>
                        <a:buNone/>
                      </a:pPr>
                      <a:r>
                        <a:rPr lang="en-US"/>
                        <a:t>T</a:t>
                      </a:r>
                    </a:p>
                  </a:txBody>
                  <a:tcPr anchor="ctr"/>
                </a:tc>
                <a:tc>
                  <a:txBody>
                    <a:bodyPr/>
                    <a:lstStyle/>
                    <a:p>
                      <a:pPr>
                        <a:buNone/>
                      </a:pPr>
                      <a:r>
                        <a:rPr lang="en-US"/>
                        <a:t>True</a:t>
                      </a:r>
                    </a:p>
                  </a:txBody>
                  <a:tcPr anchor="ctr"/>
                </a:tc>
                <a:tc>
                  <a:txBody>
                    <a:bodyPr/>
                    <a:lstStyle/>
                    <a:p>
                      <a:pPr>
                        <a:buNone/>
                      </a:pPr>
                      <a:endParaRPr lang="en-US"/>
                    </a:p>
                  </a:txBody>
                  <a:tcPr anchor="ctr"/>
                </a:tc>
                <a:tc>
                  <a:txBody>
                    <a:bodyPr/>
                    <a:lstStyle/>
                    <a:p>
                      <a:pPr>
                        <a:buNone/>
                      </a:pPr>
                      <a:endParaRPr lang="en-US"/>
                    </a:p>
                  </a:txBody>
                  <a:tcPr anchor="ctr"/>
                </a:tc>
                <a:extLst>
                  <a:ext uri="{0D108BD9-81ED-4DB2-BD59-A6C34878D82A}">
                    <a16:rowId xmlns:a16="http://schemas.microsoft.com/office/drawing/2014/main" val="829107431"/>
                  </a:ext>
                </a:extLst>
              </a:tr>
              <a:tr h="0">
                <a:tc>
                  <a:txBody>
                    <a:bodyPr/>
                    <a:lstStyle/>
                    <a:p>
                      <a:pPr>
                        <a:buNone/>
                      </a:pPr>
                      <a:r>
                        <a:rPr lang="en-US"/>
                        <a:t>3, -1</a:t>
                      </a:r>
                    </a:p>
                  </a:txBody>
                  <a:tcPr anchor="ctr"/>
                </a:tc>
                <a:tc>
                  <a:txBody>
                    <a:bodyPr/>
                    <a:lstStyle/>
                    <a:p>
                      <a:pPr>
                        <a:buNone/>
                      </a:pPr>
                      <a:r>
                        <a:rPr lang="en-US"/>
                        <a:t>T</a:t>
                      </a:r>
                    </a:p>
                  </a:txBody>
                  <a:tcPr anchor="ctr"/>
                </a:tc>
                <a:tc>
                  <a:txBody>
                    <a:bodyPr/>
                    <a:lstStyle/>
                    <a:p>
                      <a:pPr>
                        <a:buNone/>
                      </a:pPr>
                      <a:r>
                        <a:rPr lang="en-US"/>
                        <a:t>F</a:t>
                      </a:r>
                    </a:p>
                  </a:txBody>
                  <a:tcPr anchor="ctr"/>
                </a:tc>
                <a:tc>
                  <a:txBody>
                    <a:bodyPr/>
                    <a:lstStyle/>
                    <a:p>
                      <a:pPr>
                        <a:buNone/>
                      </a:pPr>
                      <a:r>
                        <a:rPr lang="en-US"/>
                        <a:t>False</a:t>
                      </a:r>
                    </a:p>
                  </a:txBody>
                  <a:tcPr anchor="ctr"/>
                </a:tc>
                <a:tc>
                  <a:txBody>
                    <a:bodyPr/>
                    <a:lstStyle/>
                    <a:p>
                      <a:pPr>
                        <a:buNone/>
                      </a:pPr>
                      <a:endParaRPr lang="en-US"/>
                    </a:p>
                  </a:txBody>
                  <a:tcPr anchor="ctr"/>
                </a:tc>
                <a:tc>
                  <a:txBody>
                    <a:bodyPr/>
                    <a:lstStyle/>
                    <a:p>
                      <a:pPr>
                        <a:buNone/>
                      </a:pPr>
                      <a:endParaRPr lang="en-US"/>
                    </a:p>
                  </a:txBody>
                  <a:tcPr anchor="ctr"/>
                </a:tc>
                <a:extLst>
                  <a:ext uri="{0D108BD9-81ED-4DB2-BD59-A6C34878D82A}">
                    <a16:rowId xmlns:a16="http://schemas.microsoft.com/office/drawing/2014/main" val="744598222"/>
                  </a:ext>
                </a:extLst>
              </a:tr>
              <a:tr h="0">
                <a:tc>
                  <a:txBody>
                    <a:bodyPr/>
                    <a:lstStyle/>
                    <a:p>
                      <a:pPr>
                        <a:buNone/>
                      </a:pPr>
                      <a:r>
                        <a:rPr lang="en-US"/>
                        <a:t>1, 2</a:t>
                      </a:r>
                    </a:p>
                  </a:txBody>
                  <a:tcPr anchor="ctr"/>
                </a:tc>
                <a:tc>
                  <a:txBody>
                    <a:bodyPr/>
                    <a:lstStyle/>
                    <a:p>
                      <a:pPr>
                        <a:buNone/>
                      </a:pPr>
                      <a:r>
                        <a:rPr lang="en-US"/>
                        <a:t>F</a:t>
                      </a:r>
                    </a:p>
                  </a:txBody>
                  <a:tcPr anchor="ctr"/>
                </a:tc>
                <a:tc>
                  <a:txBody>
                    <a:bodyPr/>
                    <a:lstStyle/>
                    <a:p>
                      <a:pPr>
                        <a:buNone/>
                      </a:pPr>
                      <a:r>
                        <a:rPr lang="en-US"/>
                        <a:t>T</a:t>
                      </a:r>
                    </a:p>
                  </a:txBody>
                  <a:tcPr anchor="ctr"/>
                </a:tc>
                <a:tc>
                  <a:txBody>
                    <a:bodyPr/>
                    <a:lstStyle/>
                    <a:p>
                      <a:pPr>
                        <a:buNone/>
                      </a:pPr>
                      <a:r>
                        <a:rPr lang="en-US"/>
                        <a:t>False</a:t>
                      </a:r>
                    </a:p>
                  </a:txBody>
                  <a:tcPr anchor="ctr"/>
                </a:tc>
                <a:tc>
                  <a:txBody>
                    <a:bodyPr/>
                    <a:lstStyle/>
                    <a:p>
                      <a:pPr>
                        <a:buNone/>
                      </a:pPr>
                      <a:endParaRPr lang="en-US"/>
                    </a:p>
                  </a:txBody>
                  <a:tcPr anchor="ctr"/>
                </a:tc>
                <a:tc>
                  <a:txBody>
                    <a:bodyPr/>
                    <a:lstStyle/>
                    <a:p>
                      <a:pPr>
                        <a:buNone/>
                      </a:pPr>
                      <a:endParaRPr lang="en-US"/>
                    </a:p>
                  </a:txBody>
                  <a:tcPr anchor="ctr"/>
                </a:tc>
                <a:extLst>
                  <a:ext uri="{0D108BD9-81ED-4DB2-BD59-A6C34878D82A}">
                    <a16:rowId xmlns:a16="http://schemas.microsoft.com/office/drawing/2014/main" val="2310466087"/>
                  </a:ext>
                </a:extLst>
              </a:tr>
              <a:tr h="0">
                <a:tc>
                  <a:txBody>
                    <a:bodyPr/>
                    <a:lstStyle/>
                    <a:p>
                      <a:pPr>
                        <a:buNone/>
                      </a:pPr>
                      <a:r>
                        <a:rPr lang="en-US"/>
                        <a:t>1, -1</a:t>
                      </a:r>
                    </a:p>
                  </a:txBody>
                  <a:tcPr anchor="ctr"/>
                </a:tc>
                <a:tc>
                  <a:txBody>
                    <a:bodyPr/>
                    <a:lstStyle/>
                    <a:p>
                      <a:pPr>
                        <a:buNone/>
                      </a:pPr>
                      <a:r>
                        <a:rPr lang="en-US"/>
                        <a:t>F</a:t>
                      </a:r>
                    </a:p>
                  </a:txBody>
                  <a:tcPr anchor="ctr"/>
                </a:tc>
                <a:tc>
                  <a:txBody>
                    <a:bodyPr/>
                    <a:lstStyle/>
                    <a:p>
                      <a:pPr>
                        <a:buNone/>
                      </a:pPr>
                      <a:r>
                        <a:rPr lang="en-US"/>
                        <a:t>F</a:t>
                      </a:r>
                    </a:p>
                  </a:txBody>
                  <a:tcPr anchor="ctr"/>
                </a:tc>
                <a:tc>
                  <a:txBody>
                    <a:bodyPr/>
                    <a:lstStyle/>
                    <a:p>
                      <a:pPr>
                        <a:buNone/>
                      </a:pPr>
                      <a:r>
                        <a:rPr lang="en-US"/>
                        <a:t>False</a:t>
                      </a:r>
                    </a:p>
                  </a:txBody>
                  <a:tcPr anchor="ctr"/>
                </a:tc>
                <a:tc>
                  <a:txBody>
                    <a:bodyPr/>
                    <a:lstStyle/>
                    <a:p>
                      <a:pPr>
                        <a:buNone/>
                      </a:pPr>
                      <a:endParaRPr lang="en-US"/>
                    </a:p>
                  </a:txBody>
                  <a:tcPr anchor="ctr"/>
                </a:tc>
                <a:tc>
                  <a:txBody>
                    <a:bodyPr/>
                    <a:lstStyle/>
                    <a:p>
                      <a:pPr>
                        <a:buNone/>
                      </a:pPr>
                      <a:endParaRPr lang="en-US" dirty="0"/>
                    </a:p>
                  </a:txBody>
                  <a:tcPr anchor="ctr"/>
                </a:tc>
                <a:extLst>
                  <a:ext uri="{0D108BD9-81ED-4DB2-BD59-A6C34878D82A}">
                    <a16:rowId xmlns:a16="http://schemas.microsoft.com/office/drawing/2014/main" val="3552095207"/>
                  </a:ext>
                </a:extLst>
              </a:tr>
            </a:tbl>
          </a:graphicData>
        </a:graphic>
      </p:graphicFrame>
      <p:sp>
        <p:nvSpPr>
          <p:cNvPr id="9" name="TextBox 8">
            <a:extLst>
              <a:ext uri="{FF2B5EF4-FFF2-40B4-BE49-F238E27FC236}">
                <a16:creationId xmlns:a16="http://schemas.microsoft.com/office/drawing/2014/main" id="{30D9874B-122D-FBD9-A826-8F4E65B908D7}"/>
              </a:ext>
            </a:extLst>
          </p:cNvPr>
          <p:cNvSpPr txBox="1"/>
          <p:nvPr/>
        </p:nvSpPr>
        <p:spPr>
          <a:xfrm>
            <a:off x="609600" y="4839425"/>
            <a:ext cx="10963656" cy="923330"/>
          </a:xfrm>
          <a:prstGeom prst="rect">
            <a:avLst/>
          </a:prstGeom>
          <a:noFill/>
        </p:spPr>
        <p:txBody>
          <a:bodyPr wrap="square">
            <a:spAutoFit/>
          </a:bodyPr>
          <a:lstStyle/>
          <a:p>
            <a:r>
              <a:rPr lang="en-US" dirty="0"/>
              <a:t>✅ Each </a:t>
            </a:r>
            <a:r>
              <a:rPr lang="en-US" b="1" dirty="0"/>
              <a:t>basic condition</a:t>
            </a:r>
            <a:r>
              <a:rPr lang="en-US" dirty="0"/>
              <a:t> has been </a:t>
            </a:r>
            <a:r>
              <a:rPr lang="en-US" b="1" dirty="0"/>
              <a:t>True</a:t>
            </a:r>
            <a:r>
              <a:rPr lang="en-US" dirty="0"/>
              <a:t> and </a:t>
            </a:r>
            <a:r>
              <a:rPr lang="en-US" b="1" dirty="0"/>
              <a:t>False</a:t>
            </a:r>
            <a:r>
              <a:rPr lang="en-US" dirty="0"/>
              <a:t> at least once.</a:t>
            </a:r>
            <a:br>
              <a:rPr lang="en-US" dirty="0"/>
            </a:br>
            <a:r>
              <a:rPr lang="en-US" dirty="0"/>
              <a:t>✅ The </a:t>
            </a:r>
            <a:r>
              <a:rPr lang="en-US" b="1" dirty="0"/>
              <a:t>overall decision</a:t>
            </a:r>
            <a:r>
              <a:rPr lang="en-US" dirty="0"/>
              <a:t> has evaluated to </a:t>
            </a:r>
            <a:r>
              <a:rPr lang="en-US" b="1" dirty="0"/>
              <a:t>True</a:t>
            </a:r>
            <a:r>
              <a:rPr lang="en-US" dirty="0"/>
              <a:t> and </a:t>
            </a:r>
            <a:r>
              <a:rPr lang="en-US" b="1" dirty="0"/>
              <a:t>False</a:t>
            </a:r>
            <a:r>
              <a:rPr lang="en-US" dirty="0"/>
              <a:t>.</a:t>
            </a:r>
            <a:br>
              <a:rPr lang="en-US" dirty="0"/>
            </a:br>
            <a:r>
              <a:rPr lang="en-US" dirty="0"/>
              <a:t>Thus, </a:t>
            </a:r>
            <a:r>
              <a:rPr lang="en-US" b="1" dirty="0"/>
              <a:t>Condition and Decision Coverage = 100%</a:t>
            </a:r>
            <a:r>
              <a:rPr lang="en-US" dirty="0"/>
              <a:t>.</a:t>
            </a:r>
          </a:p>
        </p:txBody>
      </p:sp>
      <p:sp>
        <p:nvSpPr>
          <p:cNvPr id="2" name="Date Placeholder 1">
            <a:extLst>
              <a:ext uri="{FF2B5EF4-FFF2-40B4-BE49-F238E27FC236}">
                <a16:creationId xmlns:a16="http://schemas.microsoft.com/office/drawing/2014/main" id="{30D934C1-DE1C-2E3D-496D-6D11746DDFF5}"/>
              </a:ext>
            </a:extLst>
          </p:cNvPr>
          <p:cNvSpPr>
            <a:spLocks noGrp="1"/>
          </p:cNvSpPr>
          <p:nvPr>
            <p:ph type="dt" sz="half" idx="10"/>
          </p:nvPr>
        </p:nvSpPr>
        <p:spPr/>
        <p:txBody>
          <a:bodyPr/>
          <a:lstStyle/>
          <a:p>
            <a:fld id="{4FD73B13-2F90-43C4-B486-06BBADD43C3F}" type="datetime1">
              <a:rPr lang="en-IN" smtClean="0"/>
              <a:t>03-11-2025</a:t>
            </a:fld>
            <a:endParaRPr lang="en-IN"/>
          </a:p>
        </p:txBody>
      </p:sp>
      <p:sp>
        <p:nvSpPr>
          <p:cNvPr id="3" name="Footer Placeholder 2">
            <a:extLst>
              <a:ext uri="{FF2B5EF4-FFF2-40B4-BE49-F238E27FC236}">
                <a16:creationId xmlns:a16="http://schemas.microsoft.com/office/drawing/2014/main" id="{2E04D2FE-5742-57C2-164F-3853F9C72C44}"/>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51352768-F057-87CA-ED63-1C5310E951C8}"/>
              </a:ext>
            </a:extLst>
          </p:cNvPr>
          <p:cNvSpPr>
            <a:spLocks noGrp="1"/>
          </p:cNvSpPr>
          <p:nvPr>
            <p:ph type="sldNum" sz="quarter" idx="12"/>
          </p:nvPr>
        </p:nvSpPr>
        <p:spPr/>
        <p:txBody>
          <a:bodyPr/>
          <a:lstStyle/>
          <a:p>
            <a:fld id="{157E8F69-36B6-4843-A9CE-6B9353F4DBAF}" type="slidenum">
              <a:rPr lang="en-IN" smtClean="0"/>
              <a:t>53</a:t>
            </a:fld>
            <a:endParaRPr lang="en-IN"/>
          </a:p>
        </p:txBody>
      </p:sp>
    </p:spTree>
    <p:extLst>
      <p:ext uri="{BB962C8B-B14F-4D97-AF65-F5344CB8AC3E}">
        <p14:creationId xmlns:p14="http://schemas.microsoft.com/office/powerpoint/2010/main" val="6098456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44CFE9B8-F0F7-A958-1EBC-B49CC5AE0A5B}"/>
              </a:ext>
            </a:extLst>
          </p:cNvPr>
          <p:cNvGraphicFramePr>
            <a:graphicFrameLocks noGrp="1"/>
          </p:cNvGraphicFramePr>
          <p:nvPr>
            <p:extLst>
              <p:ext uri="{D42A27DB-BD31-4B8C-83A1-F6EECF244321}">
                <p14:modId xmlns:p14="http://schemas.microsoft.com/office/powerpoint/2010/main" val="1589568340"/>
              </p:ext>
            </p:extLst>
          </p:nvPr>
        </p:nvGraphicFramePr>
        <p:xfrm>
          <a:off x="643467" y="846221"/>
          <a:ext cx="10905067" cy="5165560"/>
        </p:xfrm>
        <a:graphic>
          <a:graphicData uri="http://schemas.openxmlformats.org/drawingml/2006/table">
            <a:tbl>
              <a:tblPr>
                <a:tableStyleId>{5DA37D80-6434-44D0-A028-1B22A696006F}</a:tableStyleId>
              </a:tblPr>
              <a:tblGrid>
                <a:gridCol w="3680266">
                  <a:extLst>
                    <a:ext uri="{9D8B030D-6E8A-4147-A177-3AD203B41FA5}">
                      <a16:colId xmlns:a16="http://schemas.microsoft.com/office/drawing/2014/main" val="2390712318"/>
                    </a:ext>
                  </a:extLst>
                </a:gridCol>
                <a:gridCol w="3854778">
                  <a:extLst>
                    <a:ext uri="{9D8B030D-6E8A-4147-A177-3AD203B41FA5}">
                      <a16:colId xmlns:a16="http://schemas.microsoft.com/office/drawing/2014/main" val="398801126"/>
                    </a:ext>
                  </a:extLst>
                </a:gridCol>
                <a:gridCol w="3370023">
                  <a:extLst>
                    <a:ext uri="{9D8B030D-6E8A-4147-A177-3AD203B41FA5}">
                      <a16:colId xmlns:a16="http://schemas.microsoft.com/office/drawing/2014/main" val="4082443769"/>
                    </a:ext>
                  </a:extLst>
                </a:gridCol>
              </a:tblGrid>
              <a:tr h="614283">
                <a:tc>
                  <a:txBody>
                    <a:bodyPr/>
                    <a:lstStyle/>
                    <a:p>
                      <a:pPr>
                        <a:buNone/>
                      </a:pPr>
                      <a:r>
                        <a:rPr lang="en-US" sz="2700"/>
                        <a:t>Coverage Type</a:t>
                      </a:r>
                    </a:p>
                  </a:txBody>
                  <a:tcPr marL="139610" marR="139610" marT="69805" marB="69805" anchor="ctr"/>
                </a:tc>
                <a:tc>
                  <a:txBody>
                    <a:bodyPr/>
                    <a:lstStyle/>
                    <a:p>
                      <a:pPr>
                        <a:buNone/>
                      </a:pPr>
                      <a:r>
                        <a:rPr lang="en-US" sz="2700"/>
                        <a:t>Ensures</a:t>
                      </a:r>
                    </a:p>
                  </a:txBody>
                  <a:tcPr marL="139610" marR="139610" marT="69805" marB="69805" anchor="ctr"/>
                </a:tc>
                <a:tc>
                  <a:txBody>
                    <a:bodyPr/>
                    <a:lstStyle/>
                    <a:p>
                      <a:pPr>
                        <a:buNone/>
                      </a:pPr>
                      <a:r>
                        <a:rPr lang="en-US" sz="2700"/>
                        <a:t>Notes</a:t>
                      </a:r>
                    </a:p>
                  </a:txBody>
                  <a:tcPr marL="139610" marR="139610" marT="69805" marB="69805" anchor="ctr"/>
                </a:tc>
                <a:extLst>
                  <a:ext uri="{0D108BD9-81ED-4DB2-BD59-A6C34878D82A}">
                    <a16:rowId xmlns:a16="http://schemas.microsoft.com/office/drawing/2014/main" val="3899383470"/>
                  </a:ext>
                </a:extLst>
              </a:tr>
              <a:tr h="1033112">
                <a:tc>
                  <a:txBody>
                    <a:bodyPr/>
                    <a:lstStyle/>
                    <a:p>
                      <a:pPr>
                        <a:buNone/>
                      </a:pPr>
                      <a:r>
                        <a:rPr lang="en-US" sz="2700"/>
                        <a:t>Statement Coverage</a:t>
                      </a:r>
                    </a:p>
                  </a:txBody>
                  <a:tcPr marL="139610" marR="139610" marT="69805" marB="69805" anchor="ctr"/>
                </a:tc>
                <a:tc>
                  <a:txBody>
                    <a:bodyPr/>
                    <a:lstStyle/>
                    <a:p>
                      <a:pPr>
                        <a:buNone/>
                      </a:pPr>
                      <a:r>
                        <a:rPr lang="en-US" sz="2700"/>
                        <a:t>Every statement executed</a:t>
                      </a:r>
                    </a:p>
                  </a:txBody>
                  <a:tcPr marL="139610" marR="139610" marT="69805" marB="69805" anchor="ctr"/>
                </a:tc>
                <a:tc>
                  <a:txBody>
                    <a:bodyPr/>
                    <a:lstStyle/>
                    <a:p>
                      <a:pPr>
                        <a:buNone/>
                      </a:pPr>
                      <a:r>
                        <a:rPr lang="en-US" sz="2700"/>
                        <a:t>Weakest</a:t>
                      </a:r>
                    </a:p>
                  </a:txBody>
                  <a:tcPr marL="139610" marR="139610" marT="69805" marB="69805" anchor="ctr"/>
                </a:tc>
                <a:extLst>
                  <a:ext uri="{0D108BD9-81ED-4DB2-BD59-A6C34878D82A}">
                    <a16:rowId xmlns:a16="http://schemas.microsoft.com/office/drawing/2014/main" val="1185581990"/>
                  </a:ext>
                </a:extLst>
              </a:tr>
              <a:tr h="1033112">
                <a:tc>
                  <a:txBody>
                    <a:bodyPr/>
                    <a:lstStyle/>
                    <a:p>
                      <a:pPr>
                        <a:buNone/>
                      </a:pPr>
                      <a:r>
                        <a:rPr lang="en-US" sz="2700"/>
                        <a:t>Branch Coverage</a:t>
                      </a:r>
                    </a:p>
                  </a:txBody>
                  <a:tcPr marL="139610" marR="139610" marT="69805" marB="69805" anchor="ctr"/>
                </a:tc>
                <a:tc>
                  <a:txBody>
                    <a:bodyPr/>
                    <a:lstStyle/>
                    <a:p>
                      <a:pPr>
                        <a:buNone/>
                      </a:pPr>
                      <a:r>
                        <a:rPr lang="en-US" sz="2700"/>
                        <a:t>Every decision True/False</a:t>
                      </a:r>
                    </a:p>
                  </a:txBody>
                  <a:tcPr marL="139610" marR="139610" marT="69805" marB="69805" anchor="ctr"/>
                </a:tc>
                <a:tc>
                  <a:txBody>
                    <a:bodyPr/>
                    <a:lstStyle/>
                    <a:p>
                      <a:pPr>
                        <a:buNone/>
                      </a:pPr>
                      <a:r>
                        <a:rPr lang="en-US" sz="2700"/>
                        <a:t>Stronger</a:t>
                      </a:r>
                    </a:p>
                  </a:txBody>
                  <a:tcPr marL="139610" marR="139610" marT="69805" marB="69805" anchor="ctr"/>
                </a:tc>
                <a:extLst>
                  <a:ext uri="{0D108BD9-81ED-4DB2-BD59-A6C34878D82A}">
                    <a16:rowId xmlns:a16="http://schemas.microsoft.com/office/drawing/2014/main" val="204456723"/>
                  </a:ext>
                </a:extLst>
              </a:tr>
              <a:tr h="1033112">
                <a:tc>
                  <a:txBody>
                    <a:bodyPr/>
                    <a:lstStyle/>
                    <a:p>
                      <a:pPr>
                        <a:buNone/>
                      </a:pPr>
                      <a:r>
                        <a:rPr lang="en-US" sz="2700"/>
                        <a:t>Condition Coverage</a:t>
                      </a:r>
                    </a:p>
                  </a:txBody>
                  <a:tcPr marL="139610" marR="139610" marT="69805" marB="69805" anchor="ctr"/>
                </a:tc>
                <a:tc>
                  <a:txBody>
                    <a:bodyPr/>
                    <a:lstStyle/>
                    <a:p>
                      <a:pPr>
                        <a:buNone/>
                      </a:pPr>
                      <a:r>
                        <a:rPr lang="en-US" sz="2700"/>
                        <a:t>Each condition True/False</a:t>
                      </a:r>
                    </a:p>
                  </a:txBody>
                  <a:tcPr marL="139610" marR="139610" marT="69805" marB="69805" anchor="ctr"/>
                </a:tc>
                <a:tc>
                  <a:txBody>
                    <a:bodyPr/>
                    <a:lstStyle/>
                    <a:p>
                      <a:pPr>
                        <a:buNone/>
                      </a:pPr>
                      <a:r>
                        <a:rPr lang="en-US" sz="2700"/>
                        <a:t>Does not ensure decision outcomes</a:t>
                      </a:r>
                    </a:p>
                  </a:txBody>
                  <a:tcPr marL="139610" marR="139610" marT="69805" marB="69805" anchor="ctr"/>
                </a:tc>
                <a:extLst>
                  <a:ext uri="{0D108BD9-81ED-4DB2-BD59-A6C34878D82A}">
                    <a16:rowId xmlns:a16="http://schemas.microsoft.com/office/drawing/2014/main" val="1453877888"/>
                  </a:ext>
                </a:extLst>
              </a:tr>
              <a:tr h="1451941">
                <a:tc>
                  <a:txBody>
                    <a:bodyPr/>
                    <a:lstStyle/>
                    <a:p>
                      <a:pPr>
                        <a:buNone/>
                      </a:pPr>
                      <a:r>
                        <a:rPr lang="en-US" sz="2700" b="1"/>
                        <a:t>Condition &amp; Decision Coverage</a:t>
                      </a:r>
                      <a:endParaRPr lang="en-US" sz="2700"/>
                    </a:p>
                  </a:txBody>
                  <a:tcPr marL="139610" marR="139610" marT="69805" marB="69805" anchor="ctr"/>
                </a:tc>
                <a:tc>
                  <a:txBody>
                    <a:bodyPr/>
                    <a:lstStyle/>
                    <a:p>
                      <a:pPr>
                        <a:buNone/>
                      </a:pPr>
                      <a:r>
                        <a:rPr lang="en-US" sz="2700"/>
                        <a:t>Both individual conditions and overall decisions True/False</a:t>
                      </a:r>
                    </a:p>
                  </a:txBody>
                  <a:tcPr marL="139610" marR="139610" marT="69805" marB="69805" anchor="ctr"/>
                </a:tc>
                <a:tc>
                  <a:txBody>
                    <a:bodyPr/>
                    <a:lstStyle/>
                    <a:p>
                      <a:pPr>
                        <a:buNone/>
                      </a:pPr>
                      <a:r>
                        <a:rPr lang="en-US" sz="2700" dirty="0"/>
                        <a:t>Stronger, more thorough</a:t>
                      </a:r>
                    </a:p>
                  </a:txBody>
                  <a:tcPr marL="139610" marR="139610" marT="69805" marB="69805" anchor="ctr"/>
                </a:tc>
                <a:extLst>
                  <a:ext uri="{0D108BD9-81ED-4DB2-BD59-A6C34878D82A}">
                    <a16:rowId xmlns:a16="http://schemas.microsoft.com/office/drawing/2014/main" val="3612794639"/>
                  </a:ext>
                </a:extLst>
              </a:tr>
            </a:tbl>
          </a:graphicData>
        </a:graphic>
      </p:graphicFrame>
      <p:sp>
        <p:nvSpPr>
          <p:cNvPr id="2" name="Date Placeholder 1">
            <a:extLst>
              <a:ext uri="{FF2B5EF4-FFF2-40B4-BE49-F238E27FC236}">
                <a16:creationId xmlns:a16="http://schemas.microsoft.com/office/drawing/2014/main" id="{7988384B-C9F0-458B-EAE2-CCA9759D5858}"/>
              </a:ext>
            </a:extLst>
          </p:cNvPr>
          <p:cNvSpPr>
            <a:spLocks noGrp="1"/>
          </p:cNvSpPr>
          <p:nvPr>
            <p:ph type="dt" sz="half" idx="10"/>
          </p:nvPr>
        </p:nvSpPr>
        <p:spPr/>
        <p:txBody>
          <a:bodyPr/>
          <a:lstStyle/>
          <a:p>
            <a:fld id="{ACB68C12-B49C-4956-A4E7-F699B0E8C83C}" type="datetime1">
              <a:rPr lang="en-IN" smtClean="0"/>
              <a:t>03-11-2025</a:t>
            </a:fld>
            <a:endParaRPr lang="en-IN"/>
          </a:p>
        </p:txBody>
      </p:sp>
      <p:sp>
        <p:nvSpPr>
          <p:cNvPr id="4" name="Footer Placeholder 3">
            <a:extLst>
              <a:ext uri="{FF2B5EF4-FFF2-40B4-BE49-F238E27FC236}">
                <a16:creationId xmlns:a16="http://schemas.microsoft.com/office/drawing/2014/main" id="{7A3474ED-A771-745C-3D06-5920CD02CDE5}"/>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7257D07B-8733-89B7-1CDF-872F4726ED1A}"/>
              </a:ext>
            </a:extLst>
          </p:cNvPr>
          <p:cNvSpPr>
            <a:spLocks noGrp="1"/>
          </p:cNvSpPr>
          <p:nvPr>
            <p:ph type="sldNum" sz="quarter" idx="12"/>
          </p:nvPr>
        </p:nvSpPr>
        <p:spPr/>
        <p:txBody>
          <a:bodyPr/>
          <a:lstStyle/>
          <a:p>
            <a:fld id="{157E8F69-36B6-4843-A9CE-6B9353F4DBAF}" type="slidenum">
              <a:rPr lang="en-IN" smtClean="0"/>
              <a:t>54</a:t>
            </a:fld>
            <a:endParaRPr lang="en-IN"/>
          </a:p>
        </p:txBody>
      </p:sp>
    </p:spTree>
    <p:extLst>
      <p:ext uri="{BB962C8B-B14F-4D97-AF65-F5344CB8AC3E}">
        <p14:creationId xmlns:p14="http://schemas.microsoft.com/office/powerpoint/2010/main" val="22334098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1"/>
              <p:cNvSpPr>
                <a:spLocks noChangeArrowheads="1"/>
              </p:cNvSpPr>
              <p:nvPr/>
            </p:nvSpPr>
            <p:spPr bwMode="auto">
              <a:xfrm>
                <a:off x="343274" y="387247"/>
                <a:ext cx="11505451" cy="525445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7.7.6 Multiple Condition Coverage (MCC)</a:t>
                </a:r>
              </a:p>
              <a:p>
                <a:pPr lvl="0" algn="just" eaLnBrk="0" fontAlgn="base" hangingPunct="0">
                  <a:spcBef>
                    <a:spcPct val="0"/>
                  </a:spcBef>
                  <a:spcAft>
                    <a:spcPct val="0"/>
                  </a:spcAft>
                </a:pPr>
                <a:r>
                  <a:rPr lang="en-US" sz="2400" dirty="0"/>
                  <a:t>Multiple Condition Coverage ensures that </a:t>
                </a:r>
                <a:r>
                  <a:rPr lang="en-US" sz="2400" b="1" dirty="0"/>
                  <a:t>all possible combinations</a:t>
                </a:r>
                <a:r>
                  <a:rPr lang="en-US" sz="2400" dirty="0"/>
                  <a:t> of the </a:t>
                </a:r>
                <a:r>
                  <a:rPr lang="en-US" sz="2400" b="1" dirty="0"/>
                  <a:t>atomic conditions</a:t>
                </a:r>
                <a:r>
                  <a:rPr lang="en-US" sz="2400" dirty="0"/>
                  <a:t> in a decision are evaluated </a:t>
                </a:r>
                <a:r>
                  <a:rPr lang="en-US" sz="2400" b="1" dirty="0"/>
                  <a:t>at least once</a:t>
                </a:r>
                <a:r>
                  <a:rPr lang="en-US" sz="2400" dirty="0"/>
                  <a:t>.</a:t>
                </a:r>
                <a:br>
                  <a:rPr lang="en-US" sz="2400" dirty="0"/>
                </a:br>
                <a:r>
                  <a:rPr lang="en-US" sz="2400" dirty="0"/>
                  <a:t>It is the most thorough form of logical coverage, testing every possible </a:t>
                </a:r>
                <a:r>
                  <a:rPr lang="en-US" sz="2400" b="1" dirty="0"/>
                  <a:t>True/False combination</a:t>
                </a:r>
                <a:r>
                  <a:rPr lang="en-US" sz="2400" dirty="0"/>
                  <a:t> of the conditions involved.</a:t>
                </a:r>
              </a:p>
              <a:p>
                <a:endParaRPr lang="en-US" sz="2400" b="1" dirty="0"/>
              </a:p>
              <a:p>
                <a:r>
                  <a:rPr lang="en-US" sz="2400" b="1" dirty="0"/>
                  <a:t>Key Points:</a:t>
                </a:r>
                <a:endParaRPr lang="en-US" sz="2400" dirty="0"/>
              </a:p>
              <a:p>
                <a:r>
                  <a:rPr lang="en-US" sz="2400" dirty="0"/>
                  <a:t>Each decision is made up of one or more </a:t>
                </a:r>
                <a:r>
                  <a:rPr lang="en-US" sz="2400" b="1" dirty="0"/>
                  <a:t>atomic conditions</a:t>
                </a:r>
                <a:r>
                  <a:rPr lang="en-US" sz="2400" dirty="0"/>
                  <a:t> (simple Boolean expressions).</a:t>
                </a:r>
              </a:p>
              <a:p>
                <a:r>
                  <a:rPr lang="en-US" sz="2400" dirty="0"/>
                  <a:t>MCC requires testing </a:t>
                </a:r>
                <a:r>
                  <a:rPr lang="en-US" sz="2400" b="1" dirty="0"/>
                  <a:t>2ⁿ</a:t>
                </a:r>
                <a:r>
                  <a:rPr lang="en-US" sz="2400" dirty="0"/>
                  <a:t> combinations, where </a:t>
                </a:r>
                <a:r>
                  <a:rPr lang="en-US" sz="2400" b="1" dirty="0"/>
                  <a:t>n</a:t>
                </a:r>
                <a:r>
                  <a:rPr lang="en-US" sz="2400" dirty="0"/>
                  <a:t> = number of atomic conditions.</a:t>
                </a:r>
              </a:p>
              <a:p>
                <a:r>
                  <a:rPr lang="en-US" sz="2400" dirty="0"/>
                  <a:t>It ensures that </a:t>
                </a:r>
                <a:r>
                  <a:rPr lang="en-US" sz="2400" b="1" dirty="0"/>
                  <a:t>every possible logical path</a:t>
                </a:r>
                <a:r>
                  <a:rPr lang="en-US" sz="2400" dirty="0"/>
                  <a:t> through the decision is verified.</a:t>
                </a:r>
              </a:p>
              <a:p>
                <a:endParaRPr lang="en-US" sz="2400" b="1" dirty="0"/>
              </a:p>
              <a:p>
                <a:r>
                  <a:rPr lang="en-US" sz="2400" b="1" dirty="0"/>
                  <a:t>Formula:</a:t>
                </a:r>
                <a:br>
                  <a:rPr lang="en-US" sz="2400" dirty="0"/>
                </a:br>
                <a:r>
                  <a:rPr lang="en-US" sz="2400" dirty="0"/>
                  <a:t>If a decision has </a:t>
                </a:r>
                <a:r>
                  <a:rPr lang="en-US" sz="2400" i="1" dirty="0"/>
                  <a:t>n</a:t>
                </a:r>
                <a:r>
                  <a:rPr lang="en-US" sz="2400" dirty="0"/>
                  <a:t> conditions,</a:t>
                </a:r>
              </a:p>
              <a:p>
                <a:pPr/>
                <a14:m>
                  <m:oMathPara xmlns:m="http://schemas.openxmlformats.org/officeDocument/2006/math">
                    <m:oMathParaPr>
                      <m:jc m:val="centerGroup"/>
                    </m:oMathParaPr>
                    <m:oMath xmlns:m="http://schemas.openxmlformats.org/officeDocument/2006/math">
                      <m:r>
                        <m:rPr>
                          <m:nor/>
                        </m:rPr>
                        <a:rPr lang="en-US" sz="2400" b="0"/>
                        <m:t>Number</m:t>
                      </m:r>
                      <m:r>
                        <m:rPr>
                          <m:nor/>
                        </m:rPr>
                        <a:rPr lang="en-US" sz="2400" b="0" i="1"/>
                        <m:t> </m:t>
                      </m:r>
                      <m:r>
                        <m:rPr>
                          <m:nor/>
                        </m:rPr>
                        <a:rPr lang="en-US" sz="2400" b="0" i="1"/>
                        <m:t>of</m:t>
                      </m:r>
                      <m:r>
                        <m:rPr>
                          <m:nor/>
                        </m:rPr>
                        <a:rPr lang="en-US" sz="2400" b="0" i="1"/>
                        <m:t> </m:t>
                      </m:r>
                      <m:r>
                        <m:rPr>
                          <m:nor/>
                        </m:rPr>
                        <a:rPr lang="en-US" sz="2400" b="0" i="1"/>
                        <m:t>test</m:t>
                      </m:r>
                      <m:r>
                        <m:rPr>
                          <m:nor/>
                        </m:rPr>
                        <a:rPr lang="en-US" sz="2400" b="0" i="1"/>
                        <m:t> </m:t>
                      </m:r>
                      <m:r>
                        <m:rPr>
                          <m:nor/>
                        </m:rPr>
                        <a:rPr lang="en-US" sz="2400" b="0" i="1"/>
                        <m:t>cases</m:t>
                      </m:r>
                      <m:r>
                        <a:rPr lang="en-US">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2</m:t>
                          </m:r>
                        </m:e>
                        <m:sup>
                          <m:r>
                            <a:rPr lang="ar-AE" i="1">
                              <a:latin typeface="Cambria Math" panose="02040503050406030204" pitchFamily="18" charset="0"/>
                            </a:rPr>
                            <m:t>𝑛</m:t>
                          </m:r>
                        </m:sup>
                      </m:sSup>
                    </m:oMath>
                  </m:oMathPara>
                </a14:m>
                <a:endParaRPr kumimoji="0" lang="en-US" altLang="en-US" sz="2400" b="0" i="0" u="none" strike="noStrike" cap="none" normalizeH="0" baseline="0" dirty="0">
                  <a:ln>
                    <a:noFill/>
                  </a:ln>
                  <a:solidFill>
                    <a:schemeClr val="tx1"/>
                  </a:solidFill>
                  <a:effectLst/>
                </a:endParaRPr>
              </a:p>
            </p:txBody>
          </p:sp>
        </mc:Choice>
        <mc:Fallback xmlns="">
          <p:sp>
            <p:nvSpPr>
              <p:cNvPr id="3" name="Rectangle 1"/>
              <p:cNvSpPr>
                <a:spLocks noRot="1" noChangeAspect="1" noMove="1" noResize="1" noEditPoints="1" noAdjustHandles="1" noChangeArrowheads="1" noChangeShapeType="1" noTextEdit="1"/>
              </p:cNvSpPr>
              <p:nvPr/>
            </p:nvSpPr>
            <p:spPr bwMode="auto">
              <a:xfrm>
                <a:off x="343274" y="387247"/>
                <a:ext cx="11505451" cy="5254452"/>
              </a:xfrm>
              <a:prstGeom prst="rect">
                <a:avLst/>
              </a:prstGeom>
              <a:blipFill>
                <a:blip r:embed="rId2"/>
                <a:stretch>
                  <a:fillRect l="-794" t="-465" r="-794" b="-116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id="{644CE452-4E5B-A38A-40DA-122B882E170C}"/>
              </a:ext>
            </a:extLst>
          </p:cNvPr>
          <p:cNvSpPr>
            <a:spLocks noGrp="1"/>
          </p:cNvSpPr>
          <p:nvPr>
            <p:ph type="dt" sz="half" idx="10"/>
          </p:nvPr>
        </p:nvSpPr>
        <p:spPr/>
        <p:txBody>
          <a:bodyPr/>
          <a:lstStyle/>
          <a:p>
            <a:fld id="{4F0E1F72-D74B-4FDA-A2EE-76440CEE8591}" type="datetime1">
              <a:rPr lang="en-IN" smtClean="0"/>
              <a:t>03-11-2025</a:t>
            </a:fld>
            <a:endParaRPr lang="en-IN"/>
          </a:p>
        </p:txBody>
      </p:sp>
      <p:sp>
        <p:nvSpPr>
          <p:cNvPr id="4" name="Footer Placeholder 3">
            <a:extLst>
              <a:ext uri="{FF2B5EF4-FFF2-40B4-BE49-F238E27FC236}">
                <a16:creationId xmlns:a16="http://schemas.microsoft.com/office/drawing/2014/main" id="{D8AE9B13-DEBD-A638-FF99-8DE14E4DD327}"/>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C9DE444D-5932-6F0F-C5E9-75B7EF49121E}"/>
              </a:ext>
            </a:extLst>
          </p:cNvPr>
          <p:cNvSpPr>
            <a:spLocks noGrp="1"/>
          </p:cNvSpPr>
          <p:nvPr>
            <p:ph type="sldNum" sz="quarter" idx="12"/>
          </p:nvPr>
        </p:nvSpPr>
        <p:spPr/>
        <p:txBody>
          <a:bodyPr/>
          <a:lstStyle/>
          <a:p>
            <a:fld id="{157E8F69-36B6-4843-A9CE-6B9353F4DBAF}" type="slidenum">
              <a:rPr lang="en-IN" smtClean="0"/>
              <a:t>55</a:t>
            </a:fld>
            <a:endParaRPr lang="en-IN"/>
          </a:p>
        </p:txBody>
      </p:sp>
    </p:spTree>
    <p:extLst>
      <p:ext uri="{BB962C8B-B14F-4D97-AF65-F5344CB8AC3E}">
        <p14:creationId xmlns:p14="http://schemas.microsoft.com/office/powerpoint/2010/main" val="31367355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0EC264E-F023-F0DA-0509-A875774A1BF4}"/>
                  </a:ext>
                </a:extLst>
              </p:cNvPr>
              <p:cNvSpPr txBox="1"/>
              <p:nvPr/>
            </p:nvSpPr>
            <p:spPr>
              <a:xfrm>
                <a:off x="2608326" y="154770"/>
                <a:ext cx="6094476" cy="2031325"/>
              </a:xfrm>
              <a:prstGeom prst="rect">
                <a:avLst/>
              </a:prstGeom>
              <a:noFill/>
            </p:spPr>
            <p:txBody>
              <a:bodyPr wrap="square">
                <a:spAutoFit/>
              </a:bodyPr>
              <a:lstStyle/>
              <a:p>
                <a:pPr>
                  <a:buNone/>
                </a:pPr>
                <a:r>
                  <a:rPr lang="en-US" b="1" dirty="0"/>
                  <a:t>Example:</a:t>
                </a:r>
                <a:br>
                  <a:rPr lang="en-US" dirty="0"/>
                </a:br>
                <a:r>
                  <a:rPr lang="en-US" dirty="0"/>
                  <a:t>Decision:</a:t>
                </a:r>
              </a:p>
              <a:p>
                <a:pPr>
                  <a:buNone/>
                </a:pPr>
                <a14:m>
                  <m:oMathPara xmlns:m="http://schemas.openxmlformats.org/officeDocument/2006/math">
                    <m:oMathParaPr>
                      <m:jc m:val="centerGroup"/>
                    </m:oMathParaPr>
                    <m:oMath xmlns:m="http://schemas.openxmlformats.org/officeDocument/2006/math">
                      <m:d>
                        <m:dPr>
                          <m:ctrlPr>
                            <a:rPr lang="ar-AE" i="1">
                              <a:latin typeface="Cambria Math" panose="02040503050406030204" pitchFamily="18" charset="0"/>
                            </a:rPr>
                          </m:ctrlPr>
                        </m:dPr>
                        <m:e>
                          <m:r>
                            <a:rPr lang="ar-AE" i="1">
                              <a:latin typeface="Cambria Math" panose="02040503050406030204" pitchFamily="18" charset="0"/>
                            </a:rPr>
                            <m:t>𝑡𝑒𝑚𝑝𝑒𝑟𝑎𝑡𝑢𝑟𝑒</m:t>
                          </m:r>
                          <m:r>
                            <a:rPr lang="ar-AE" i="0">
                              <a:latin typeface="Cambria Math" panose="02040503050406030204" pitchFamily="18" charset="0"/>
                            </a:rPr>
                            <m:t>&gt;</m:t>
                          </m:r>
                          <m:r>
                            <a:rPr lang="ar-AE" i="0">
                              <a:latin typeface="Cambria Math" panose="02040503050406030204" pitchFamily="18" charset="0"/>
                            </a:rPr>
                            <m:t>150</m:t>
                          </m:r>
                        </m:e>
                      </m:d>
                      <m:r>
                        <m:rPr>
                          <m:nor/>
                        </m:rPr>
                        <a:rPr lang="ar-AE" b="0" i="1">
                          <a:latin typeface="Cambria Math" panose="02040503050406030204" pitchFamily="18" charset="0"/>
                        </a:rPr>
                        <m:t>  </m:t>
                      </m:r>
                      <m:r>
                        <a:rPr lang="ar-AE" b="0" i="0">
                          <a:latin typeface="Cambria Math" panose="02040503050406030204" pitchFamily="18" charset="0"/>
                        </a:rPr>
                        <m:t>∣∣</m:t>
                      </m:r>
                      <m:r>
                        <m:rPr>
                          <m:nor/>
                        </m:rPr>
                        <a:rPr lang="ar-AE" b="0" i="1">
                          <a:latin typeface="Cambria Math" panose="02040503050406030204" pitchFamily="18" charset="0"/>
                        </a:rPr>
                        <m:t>  </m:t>
                      </m:r>
                      <m:d>
                        <m:dPr>
                          <m:ctrlPr>
                            <a:rPr lang="ar-AE" b="0" i="1">
                              <a:latin typeface="Cambria Math" panose="02040503050406030204" pitchFamily="18" charset="0"/>
                            </a:rPr>
                          </m:ctrlPr>
                        </m:dPr>
                        <m:e>
                          <m:r>
                            <a:rPr lang="ar-AE" b="0" i="1">
                              <a:latin typeface="Cambria Math" panose="02040503050406030204" pitchFamily="18" charset="0"/>
                            </a:rPr>
                            <m:t>𝑡𝑒𝑚𝑝𝑒𝑟𝑎𝑡𝑢𝑟𝑒</m:t>
                          </m:r>
                          <m:r>
                            <a:rPr lang="ar-AE" b="0" i="0">
                              <a:latin typeface="Cambria Math" panose="02040503050406030204" pitchFamily="18" charset="0"/>
                            </a:rPr>
                            <m:t>&gt;</m:t>
                          </m:r>
                          <m:r>
                            <a:rPr lang="ar-AE" b="0" i="0">
                              <a:latin typeface="Cambria Math" panose="02040503050406030204" pitchFamily="18" charset="0"/>
                            </a:rPr>
                            <m:t>50</m:t>
                          </m:r>
                        </m:e>
                      </m:d>
                    </m:oMath>
                  </m:oMathPara>
                </a14:m>
                <a:endParaRPr lang="ar-AE" b="0" dirty="0"/>
              </a:p>
              <a:p>
                <a:pPr>
                  <a:buNone/>
                </a:pPr>
                <a:r>
                  <a:rPr lang="en-US" dirty="0"/>
                  <a:t>Here,</a:t>
                </a:r>
              </a:p>
              <a:p>
                <a:pPr>
                  <a:buFont typeface="Arial" panose="020B0604020202020204" pitchFamily="34" charset="0"/>
                  <a:buChar char="•"/>
                </a:pPr>
                <a:r>
                  <a:rPr lang="en-US" dirty="0"/>
                  <a:t>Condition 1: </a:t>
                </a:r>
                <a14:m>
                  <m:oMath xmlns:m="http://schemas.openxmlformats.org/officeDocument/2006/math">
                    <m:r>
                      <a:rPr lang="en-US" i="1">
                        <a:latin typeface="Cambria Math" panose="02040503050406030204" pitchFamily="18" charset="0"/>
                      </a:rPr>
                      <m:t>𝐶</m:t>
                    </m:r>
                    <m:r>
                      <a:rPr lang="en-US" i="0">
                        <a:latin typeface="Cambria Math" panose="02040503050406030204" pitchFamily="18" charset="0"/>
                      </a:rPr>
                      <m:t>1</m:t>
                    </m:r>
                    <m:r>
                      <a:rPr lang="en-US" i="0">
                        <a:latin typeface="Cambria Math" panose="02040503050406030204" pitchFamily="18" charset="0"/>
                      </a:rPr>
                      <m:t>=</m:t>
                    </m:r>
                    <m:d>
                      <m:dPr>
                        <m:ctrlPr>
                          <a:rPr lang="ar-AE" i="1">
                            <a:latin typeface="Cambria Math" panose="02040503050406030204" pitchFamily="18" charset="0"/>
                          </a:rPr>
                        </m:ctrlPr>
                      </m:dPr>
                      <m:e>
                        <m:r>
                          <a:rPr lang="ar-AE" i="1">
                            <a:latin typeface="Cambria Math" panose="02040503050406030204" pitchFamily="18" charset="0"/>
                          </a:rPr>
                          <m:t>𝑡𝑒𝑚𝑝𝑒𝑟𝑎𝑡𝑢𝑟𝑒</m:t>
                        </m:r>
                        <m:r>
                          <a:rPr lang="ar-AE" i="0">
                            <a:latin typeface="Cambria Math" panose="02040503050406030204" pitchFamily="18" charset="0"/>
                          </a:rPr>
                          <m:t>&gt;</m:t>
                        </m:r>
                        <m:r>
                          <a:rPr lang="ar-AE" i="0">
                            <a:latin typeface="Cambria Math" panose="02040503050406030204" pitchFamily="18" charset="0"/>
                          </a:rPr>
                          <m:t>150</m:t>
                        </m:r>
                      </m:e>
                    </m:d>
                  </m:oMath>
                </a14:m>
                <a:endParaRPr lang="ar-AE" dirty="0"/>
              </a:p>
              <a:p>
                <a:pPr>
                  <a:buFont typeface="Arial" panose="020B0604020202020204" pitchFamily="34" charset="0"/>
                  <a:buChar char="•"/>
                </a:pPr>
                <a:r>
                  <a:rPr lang="en-US" dirty="0"/>
                  <a:t>Condition 2: </a:t>
                </a:r>
                <a14:m>
                  <m:oMath xmlns:m="http://schemas.openxmlformats.org/officeDocument/2006/math">
                    <m:r>
                      <a:rPr lang="en-US" i="1">
                        <a:latin typeface="Cambria Math" panose="02040503050406030204" pitchFamily="18" charset="0"/>
                      </a:rPr>
                      <m:t>𝐶</m:t>
                    </m:r>
                    <m:r>
                      <a:rPr lang="en-US" i="0">
                        <a:latin typeface="Cambria Math" panose="02040503050406030204" pitchFamily="18" charset="0"/>
                      </a:rPr>
                      <m:t>2</m:t>
                    </m:r>
                    <m:r>
                      <a:rPr lang="en-US" i="0">
                        <a:latin typeface="Cambria Math" panose="02040503050406030204" pitchFamily="18" charset="0"/>
                      </a:rPr>
                      <m:t>=</m:t>
                    </m:r>
                    <m:d>
                      <m:dPr>
                        <m:ctrlPr>
                          <a:rPr lang="ar-AE" i="1">
                            <a:latin typeface="Cambria Math" panose="02040503050406030204" pitchFamily="18" charset="0"/>
                          </a:rPr>
                        </m:ctrlPr>
                      </m:dPr>
                      <m:e>
                        <m:r>
                          <a:rPr lang="ar-AE" i="1">
                            <a:latin typeface="Cambria Math" panose="02040503050406030204" pitchFamily="18" charset="0"/>
                          </a:rPr>
                          <m:t>𝑡𝑒𝑚𝑝𝑒𝑟𝑎𝑡𝑢𝑟𝑒</m:t>
                        </m:r>
                        <m:r>
                          <a:rPr lang="ar-AE" i="0">
                            <a:latin typeface="Cambria Math" panose="02040503050406030204" pitchFamily="18" charset="0"/>
                          </a:rPr>
                          <m:t>&gt;</m:t>
                        </m:r>
                        <m:r>
                          <a:rPr lang="ar-AE" i="0">
                            <a:latin typeface="Cambria Math" panose="02040503050406030204" pitchFamily="18" charset="0"/>
                          </a:rPr>
                          <m:t>50</m:t>
                        </m:r>
                      </m:e>
                    </m:d>
                  </m:oMath>
                </a14:m>
                <a:br>
                  <a:rPr lang="ar-AE" dirty="0"/>
                </a:br>
                <a:r>
                  <a:rPr lang="ar-AE" dirty="0"/>
                  <a:t>→ </a:t>
                </a:r>
                <a:r>
                  <a:rPr lang="en-US" dirty="0"/>
                  <a:t>n = 2 → 2² = </a:t>
                </a:r>
                <a:r>
                  <a:rPr lang="en-US" b="1" dirty="0"/>
                  <a:t>4 test cases</a:t>
                </a:r>
                <a:r>
                  <a:rPr lang="en-US" dirty="0"/>
                  <a:t> required.</a:t>
                </a:r>
              </a:p>
            </p:txBody>
          </p:sp>
        </mc:Choice>
        <mc:Fallback xmlns="">
          <p:sp>
            <p:nvSpPr>
              <p:cNvPr id="4" name="TextBox 3">
                <a:extLst>
                  <a:ext uri="{FF2B5EF4-FFF2-40B4-BE49-F238E27FC236}">
                    <a16:creationId xmlns:a16="http://schemas.microsoft.com/office/drawing/2014/main" id="{60EC264E-F023-F0DA-0509-A875774A1BF4}"/>
                  </a:ext>
                </a:extLst>
              </p:cNvPr>
              <p:cNvSpPr txBox="1">
                <a:spLocks noRot="1" noChangeAspect="1" noMove="1" noResize="1" noEditPoints="1" noAdjustHandles="1" noChangeArrowheads="1" noChangeShapeType="1" noTextEdit="1"/>
              </p:cNvSpPr>
              <p:nvPr/>
            </p:nvSpPr>
            <p:spPr>
              <a:xfrm>
                <a:off x="2608326" y="154770"/>
                <a:ext cx="6094476" cy="2031325"/>
              </a:xfrm>
              <a:prstGeom prst="rect">
                <a:avLst/>
              </a:prstGeom>
              <a:blipFill>
                <a:blip r:embed="rId2"/>
                <a:stretch>
                  <a:fillRect l="-1000" t="-1497" b="-3593"/>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789224CC-6C83-2EA7-5115-8D54D416CD69}"/>
              </a:ext>
            </a:extLst>
          </p:cNvPr>
          <p:cNvGraphicFramePr>
            <a:graphicFrameLocks noGrp="1"/>
          </p:cNvGraphicFramePr>
          <p:nvPr>
            <p:extLst>
              <p:ext uri="{D42A27DB-BD31-4B8C-83A1-F6EECF244321}">
                <p14:modId xmlns:p14="http://schemas.microsoft.com/office/powerpoint/2010/main" val="80437805"/>
              </p:ext>
            </p:extLst>
          </p:nvPr>
        </p:nvGraphicFramePr>
        <p:xfrm>
          <a:off x="838200" y="3086894"/>
          <a:ext cx="10515600" cy="1828800"/>
        </p:xfrm>
        <a:graphic>
          <a:graphicData uri="http://schemas.openxmlformats.org/drawingml/2006/table">
            <a:tbl>
              <a:tblPr>
                <a:tableStyleId>{284E427A-3D55-4303-BF80-6455036E1DE7}</a:tableStyleId>
              </a:tblPr>
              <a:tblGrid>
                <a:gridCol w="2628900">
                  <a:extLst>
                    <a:ext uri="{9D8B030D-6E8A-4147-A177-3AD203B41FA5}">
                      <a16:colId xmlns:a16="http://schemas.microsoft.com/office/drawing/2014/main" val="223965580"/>
                    </a:ext>
                  </a:extLst>
                </a:gridCol>
                <a:gridCol w="2628900">
                  <a:extLst>
                    <a:ext uri="{9D8B030D-6E8A-4147-A177-3AD203B41FA5}">
                      <a16:colId xmlns:a16="http://schemas.microsoft.com/office/drawing/2014/main" val="916012413"/>
                    </a:ext>
                  </a:extLst>
                </a:gridCol>
                <a:gridCol w="2628900">
                  <a:extLst>
                    <a:ext uri="{9D8B030D-6E8A-4147-A177-3AD203B41FA5}">
                      <a16:colId xmlns:a16="http://schemas.microsoft.com/office/drawing/2014/main" val="2842290881"/>
                    </a:ext>
                  </a:extLst>
                </a:gridCol>
                <a:gridCol w="2628900">
                  <a:extLst>
                    <a:ext uri="{9D8B030D-6E8A-4147-A177-3AD203B41FA5}">
                      <a16:colId xmlns:a16="http://schemas.microsoft.com/office/drawing/2014/main" val="2584330489"/>
                    </a:ext>
                  </a:extLst>
                </a:gridCol>
              </a:tblGrid>
              <a:tr h="0">
                <a:tc>
                  <a:txBody>
                    <a:bodyPr/>
                    <a:lstStyle/>
                    <a:p>
                      <a:pPr>
                        <a:buNone/>
                      </a:pPr>
                      <a:r>
                        <a:rPr lang="en-US"/>
                        <a:t>Test Case</a:t>
                      </a:r>
                    </a:p>
                  </a:txBody>
                  <a:tcPr anchor="ctr"/>
                </a:tc>
                <a:tc>
                  <a:txBody>
                    <a:bodyPr/>
                    <a:lstStyle/>
                    <a:p>
                      <a:pPr>
                        <a:buNone/>
                      </a:pPr>
                      <a:r>
                        <a:rPr lang="en-US"/>
                        <a:t>C1 (temp &gt;150)</a:t>
                      </a:r>
                    </a:p>
                  </a:txBody>
                  <a:tcPr anchor="ctr"/>
                </a:tc>
                <a:tc>
                  <a:txBody>
                    <a:bodyPr/>
                    <a:lstStyle/>
                    <a:p>
                      <a:pPr>
                        <a:buNone/>
                      </a:pPr>
                      <a:r>
                        <a:rPr lang="en-US"/>
                        <a:t>C2 (temp &gt;50)</a:t>
                      </a:r>
                    </a:p>
                  </a:txBody>
                  <a:tcPr anchor="ctr"/>
                </a:tc>
                <a:tc>
                  <a:txBody>
                    <a:bodyPr/>
                    <a:lstStyle/>
                    <a:p>
                      <a:pPr>
                        <a:buNone/>
                      </a:pPr>
                      <a:r>
                        <a:rPr lang="en-US"/>
                        <a:t>Decision Output</a:t>
                      </a:r>
                    </a:p>
                  </a:txBody>
                  <a:tcPr anchor="ctr"/>
                </a:tc>
                <a:extLst>
                  <a:ext uri="{0D108BD9-81ED-4DB2-BD59-A6C34878D82A}">
                    <a16:rowId xmlns:a16="http://schemas.microsoft.com/office/drawing/2014/main" val="2845586426"/>
                  </a:ext>
                </a:extLst>
              </a:tr>
              <a:tr h="0">
                <a:tc>
                  <a:txBody>
                    <a:bodyPr/>
                    <a:lstStyle/>
                    <a:p>
                      <a:pPr>
                        <a:buNone/>
                      </a:pPr>
                      <a:r>
                        <a:rPr lang="en-US"/>
                        <a:t>1</a:t>
                      </a:r>
                    </a:p>
                  </a:txBody>
                  <a:tcPr anchor="ctr"/>
                </a:tc>
                <a:tc>
                  <a:txBody>
                    <a:bodyPr/>
                    <a:lstStyle/>
                    <a:p>
                      <a:pPr>
                        <a:buNone/>
                      </a:pPr>
                      <a:r>
                        <a:rPr lang="en-US"/>
                        <a:t>F</a:t>
                      </a:r>
                    </a:p>
                  </a:txBody>
                  <a:tcPr anchor="ctr"/>
                </a:tc>
                <a:tc>
                  <a:txBody>
                    <a:bodyPr/>
                    <a:lstStyle/>
                    <a:p>
                      <a:pPr>
                        <a:buNone/>
                      </a:pPr>
                      <a:r>
                        <a:rPr lang="en-US"/>
                        <a:t>F</a:t>
                      </a:r>
                    </a:p>
                  </a:txBody>
                  <a:tcPr anchor="ctr"/>
                </a:tc>
                <a:tc>
                  <a:txBody>
                    <a:bodyPr/>
                    <a:lstStyle/>
                    <a:p>
                      <a:pPr>
                        <a:buNone/>
                      </a:pPr>
                      <a:r>
                        <a:rPr lang="en-US"/>
                        <a:t>F</a:t>
                      </a:r>
                    </a:p>
                  </a:txBody>
                  <a:tcPr anchor="ctr"/>
                </a:tc>
                <a:extLst>
                  <a:ext uri="{0D108BD9-81ED-4DB2-BD59-A6C34878D82A}">
                    <a16:rowId xmlns:a16="http://schemas.microsoft.com/office/drawing/2014/main" val="2246740416"/>
                  </a:ext>
                </a:extLst>
              </a:tr>
              <a:tr h="0">
                <a:tc>
                  <a:txBody>
                    <a:bodyPr/>
                    <a:lstStyle/>
                    <a:p>
                      <a:pPr>
                        <a:buNone/>
                      </a:pPr>
                      <a:r>
                        <a:rPr lang="en-US"/>
                        <a:t>2</a:t>
                      </a:r>
                    </a:p>
                  </a:txBody>
                  <a:tcPr anchor="ctr"/>
                </a:tc>
                <a:tc>
                  <a:txBody>
                    <a:bodyPr/>
                    <a:lstStyle/>
                    <a:p>
                      <a:pPr>
                        <a:buNone/>
                      </a:pPr>
                      <a:r>
                        <a:rPr lang="en-US"/>
                        <a:t>F</a:t>
                      </a:r>
                    </a:p>
                  </a:txBody>
                  <a:tcPr anchor="ctr"/>
                </a:tc>
                <a:tc>
                  <a:txBody>
                    <a:bodyPr/>
                    <a:lstStyle/>
                    <a:p>
                      <a:pPr>
                        <a:buNone/>
                      </a:pPr>
                      <a:r>
                        <a:rPr lang="en-US"/>
                        <a:t>T</a:t>
                      </a:r>
                    </a:p>
                  </a:txBody>
                  <a:tcPr anchor="ctr"/>
                </a:tc>
                <a:tc>
                  <a:txBody>
                    <a:bodyPr/>
                    <a:lstStyle/>
                    <a:p>
                      <a:pPr>
                        <a:buNone/>
                      </a:pPr>
                      <a:r>
                        <a:rPr lang="en-US"/>
                        <a:t>T</a:t>
                      </a:r>
                    </a:p>
                  </a:txBody>
                  <a:tcPr anchor="ctr"/>
                </a:tc>
                <a:extLst>
                  <a:ext uri="{0D108BD9-81ED-4DB2-BD59-A6C34878D82A}">
                    <a16:rowId xmlns:a16="http://schemas.microsoft.com/office/drawing/2014/main" val="2216990118"/>
                  </a:ext>
                </a:extLst>
              </a:tr>
              <a:tr h="0">
                <a:tc>
                  <a:txBody>
                    <a:bodyPr/>
                    <a:lstStyle/>
                    <a:p>
                      <a:pPr>
                        <a:buNone/>
                      </a:pPr>
                      <a:r>
                        <a:rPr lang="en-US"/>
                        <a:t>3</a:t>
                      </a:r>
                    </a:p>
                  </a:txBody>
                  <a:tcPr anchor="ctr"/>
                </a:tc>
                <a:tc>
                  <a:txBody>
                    <a:bodyPr/>
                    <a:lstStyle/>
                    <a:p>
                      <a:pPr>
                        <a:buNone/>
                      </a:pPr>
                      <a:r>
                        <a:rPr lang="en-US"/>
                        <a:t>T</a:t>
                      </a:r>
                    </a:p>
                  </a:txBody>
                  <a:tcPr anchor="ctr"/>
                </a:tc>
                <a:tc>
                  <a:txBody>
                    <a:bodyPr/>
                    <a:lstStyle/>
                    <a:p>
                      <a:pPr>
                        <a:buNone/>
                      </a:pPr>
                      <a:r>
                        <a:rPr lang="en-US"/>
                        <a:t>F</a:t>
                      </a:r>
                    </a:p>
                  </a:txBody>
                  <a:tcPr anchor="ctr"/>
                </a:tc>
                <a:tc>
                  <a:txBody>
                    <a:bodyPr/>
                    <a:lstStyle/>
                    <a:p>
                      <a:pPr>
                        <a:buNone/>
                      </a:pPr>
                      <a:r>
                        <a:rPr lang="en-US"/>
                        <a:t>T</a:t>
                      </a:r>
                    </a:p>
                  </a:txBody>
                  <a:tcPr anchor="ctr"/>
                </a:tc>
                <a:extLst>
                  <a:ext uri="{0D108BD9-81ED-4DB2-BD59-A6C34878D82A}">
                    <a16:rowId xmlns:a16="http://schemas.microsoft.com/office/drawing/2014/main" val="3987797674"/>
                  </a:ext>
                </a:extLst>
              </a:tr>
              <a:tr h="0">
                <a:tc>
                  <a:txBody>
                    <a:bodyPr/>
                    <a:lstStyle/>
                    <a:p>
                      <a:pPr>
                        <a:buNone/>
                      </a:pPr>
                      <a:r>
                        <a:rPr lang="en-US"/>
                        <a:t>4</a:t>
                      </a:r>
                    </a:p>
                  </a:txBody>
                  <a:tcPr anchor="ctr"/>
                </a:tc>
                <a:tc>
                  <a:txBody>
                    <a:bodyPr/>
                    <a:lstStyle/>
                    <a:p>
                      <a:pPr>
                        <a:buNone/>
                      </a:pPr>
                      <a:r>
                        <a:rPr lang="en-US"/>
                        <a:t>T</a:t>
                      </a:r>
                    </a:p>
                  </a:txBody>
                  <a:tcPr anchor="ctr"/>
                </a:tc>
                <a:tc>
                  <a:txBody>
                    <a:bodyPr/>
                    <a:lstStyle/>
                    <a:p>
                      <a:pPr>
                        <a:buNone/>
                      </a:pPr>
                      <a:r>
                        <a:rPr lang="en-US"/>
                        <a:t>T</a:t>
                      </a:r>
                    </a:p>
                  </a:txBody>
                  <a:tcPr anchor="ctr"/>
                </a:tc>
                <a:tc>
                  <a:txBody>
                    <a:bodyPr/>
                    <a:lstStyle/>
                    <a:p>
                      <a:pPr>
                        <a:buNone/>
                      </a:pPr>
                      <a:r>
                        <a:rPr lang="en-US" dirty="0"/>
                        <a:t>T</a:t>
                      </a:r>
                    </a:p>
                  </a:txBody>
                  <a:tcPr anchor="ctr"/>
                </a:tc>
                <a:extLst>
                  <a:ext uri="{0D108BD9-81ED-4DB2-BD59-A6C34878D82A}">
                    <a16:rowId xmlns:a16="http://schemas.microsoft.com/office/drawing/2014/main" val="4230335915"/>
                  </a:ext>
                </a:extLst>
              </a:tr>
            </a:tbl>
          </a:graphicData>
        </a:graphic>
      </p:graphicFrame>
      <p:sp>
        <p:nvSpPr>
          <p:cNvPr id="2" name="Date Placeholder 1">
            <a:extLst>
              <a:ext uri="{FF2B5EF4-FFF2-40B4-BE49-F238E27FC236}">
                <a16:creationId xmlns:a16="http://schemas.microsoft.com/office/drawing/2014/main" id="{660654A8-A421-2DC2-532E-73AFA9DD8C4E}"/>
              </a:ext>
            </a:extLst>
          </p:cNvPr>
          <p:cNvSpPr>
            <a:spLocks noGrp="1"/>
          </p:cNvSpPr>
          <p:nvPr>
            <p:ph type="dt" sz="half" idx="10"/>
          </p:nvPr>
        </p:nvSpPr>
        <p:spPr/>
        <p:txBody>
          <a:bodyPr/>
          <a:lstStyle/>
          <a:p>
            <a:fld id="{D55BFC67-9429-4EF6-9934-1B9F57E6D16F}" type="datetime1">
              <a:rPr lang="en-IN" smtClean="0"/>
              <a:t>03-11-2025</a:t>
            </a:fld>
            <a:endParaRPr lang="en-IN"/>
          </a:p>
        </p:txBody>
      </p:sp>
      <p:sp>
        <p:nvSpPr>
          <p:cNvPr id="3" name="Footer Placeholder 2">
            <a:extLst>
              <a:ext uri="{FF2B5EF4-FFF2-40B4-BE49-F238E27FC236}">
                <a16:creationId xmlns:a16="http://schemas.microsoft.com/office/drawing/2014/main" id="{14885789-F919-1770-DB21-37C447013C10}"/>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3624B149-CBB9-D1CB-3C26-338B7C67E079}"/>
              </a:ext>
            </a:extLst>
          </p:cNvPr>
          <p:cNvSpPr>
            <a:spLocks noGrp="1"/>
          </p:cNvSpPr>
          <p:nvPr>
            <p:ph type="sldNum" sz="quarter" idx="12"/>
          </p:nvPr>
        </p:nvSpPr>
        <p:spPr/>
        <p:txBody>
          <a:bodyPr/>
          <a:lstStyle/>
          <a:p>
            <a:fld id="{157E8F69-36B6-4843-A9CE-6B9353F4DBAF}" type="slidenum">
              <a:rPr lang="en-IN" smtClean="0"/>
              <a:t>56</a:t>
            </a:fld>
            <a:endParaRPr lang="en-IN"/>
          </a:p>
        </p:txBody>
      </p:sp>
    </p:spTree>
    <p:extLst>
      <p:ext uri="{BB962C8B-B14F-4D97-AF65-F5344CB8AC3E}">
        <p14:creationId xmlns:p14="http://schemas.microsoft.com/office/powerpoint/2010/main" val="17235707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B7FCF-AD6F-B98C-FA98-C8C2C19D80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9FCD228-72AB-4F4A-F2E6-668AC67C1882}"/>
              </a:ext>
            </a:extLst>
          </p:cNvPr>
          <p:cNvSpPr/>
          <p:nvPr/>
        </p:nvSpPr>
        <p:spPr>
          <a:xfrm>
            <a:off x="279266" y="64240"/>
            <a:ext cx="11505451" cy="6740307"/>
          </a:xfrm>
          <a:prstGeom prst="rect">
            <a:avLst/>
          </a:prstGeom>
        </p:spPr>
        <p:txBody>
          <a:bodyPr wrap="square">
            <a:spAutoFit/>
          </a:bodyPr>
          <a:lstStyle/>
          <a:p>
            <a:pPr algn="just"/>
            <a:r>
              <a:rPr lang="en-US" sz="2400" b="1" u="sng" dirty="0"/>
              <a:t>7.7.7 Modified Condition/Decision Coverage (MC/DC)</a:t>
            </a:r>
          </a:p>
          <a:p>
            <a:pPr algn="just"/>
            <a:r>
              <a:rPr lang="en-US" sz="2400" dirty="0"/>
              <a:t>Modified Condition/Decision Coverage (MC/DC) ensures that </a:t>
            </a:r>
            <a:r>
              <a:rPr lang="en-US" sz="2400" b="1" dirty="0"/>
              <a:t>each atomic condition within a decision</a:t>
            </a:r>
            <a:r>
              <a:rPr lang="en-US" sz="2400" dirty="0"/>
              <a:t> is shown to </a:t>
            </a:r>
            <a:r>
              <a:rPr lang="en-US" sz="2400" b="1" dirty="0"/>
              <a:t>independently affect the outcome</a:t>
            </a:r>
            <a:r>
              <a:rPr lang="en-US" sz="2400" dirty="0"/>
              <a:t> of that decision.</a:t>
            </a:r>
            <a:br>
              <a:rPr lang="en-US" sz="2400" dirty="0"/>
            </a:br>
            <a:r>
              <a:rPr lang="en-US" sz="2400" dirty="0"/>
              <a:t>It provides </a:t>
            </a:r>
            <a:r>
              <a:rPr lang="en-US" sz="2400" b="1" dirty="0"/>
              <a:t>almost the same fault-detection power as Multiple Condition Coverage (MCC)</a:t>
            </a:r>
            <a:r>
              <a:rPr lang="en-US" sz="2400" dirty="0"/>
              <a:t> but requires </a:t>
            </a:r>
            <a:r>
              <a:rPr lang="en-US" sz="2400" b="1" dirty="0"/>
              <a:t>significantly fewer test cases</a:t>
            </a:r>
            <a:r>
              <a:rPr lang="en-US" sz="2400" dirty="0"/>
              <a:t> (linear in </a:t>
            </a:r>
            <a:r>
              <a:rPr lang="en-US" sz="2400" i="1" dirty="0"/>
              <a:t>n</a:t>
            </a:r>
            <a:r>
              <a:rPr lang="en-US" sz="2400" dirty="0"/>
              <a:t> instead of exponential).</a:t>
            </a:r>
          </a:p>
          <a:p>
            <a:pPr algn="just"/>
            <a:endParaRPr lang="en-US" sz="2400" u="sng" dirty="0"/>
          </a:p>
          <a:p>
            <a:r>
              <a:rPr lang="en-US" sz="2400" b="1" dirty="0"/>
              <a:t>Key Points:</a:t>
            </a:r>
            <a:endParaRPr lang="en-US" sz="2400" dirty="0"/>
          </a:p>
          <a:p>
            <a:r>
              <a:rPr lang="en-US" sz="2400" dirty="0"/>
              <a:t>Each </a:t>
            </a:r>
            <a:r>
              <a:rPr lang="en-US" sz="2400" b="1" dirty="0"/>
              <a:t>decision</a:t>
            </a:r>
            <a:r>
              <a:rPr lang="en-US" sz="2400" dirty="0"/>
              <a:t> must evaluate to both </a:t>
            </a:r>
            <a:r>
              <a:rPr lang="en-US" sz="2400" b="1" dirty="0"/>
              <a:t>True</a:t>
            </a:r>
            <a:r>
              <a:rPr lang="en-US" sz="2400" dirty="0"/>
              <a:t> and </a:t>
            </a:r>
            <a:r>
              <a:rPr lang="en-US" sz="2400" b="1" dirty="0"/>
              <a:t>False</a:t>
            </a:r>
            <a:r>
              <a:rPr lang="en-US" sz="2400" dirty="0"/>
              <a:t>.</a:t>
            </a:r>
          </a:p>
          <a:p>
            <a:r>
              <a:rPr lang="en-US" sz="2400" dirty="0"/>
              <a:t>Each </a:t>
            </a:r>
            <a:r>
              <a:rPr lang="en-US" sz="2400" b="1" dirty="0"/>
              <a:t>atomic condition</a:t>
            </a:r>
            <a:r>
              <a:rPr lang="en-US" sz="2400" dirty="0"/>
              <a:t> must take on both </a:t>
            </a:r>
            <a:r>
              <a:rPr lang="en-US" sz="2400" b="1" dirty="0"/>
              <a:t>True</a:t>
            </a:r>
            <a:r>
              <a:rPr lang="en-US" sz="2400" dirty="0"/>
              <a:t> and </a:t>
            </a:r>
            <a:r>
              <a:rPr lang="en-US" sz="2400" b="1" dirty="0"/>
              <a:t>False</a:t>
            </a:r>
            <a:r>
              <a:rPr lang="en-US" sz="2400" dirty="0"/>
              <a:t> values.</a:t>
            </a:r>
          </a:p>
          <a:p>
            <a:r>
              <a:rPr lang="en-US" sz="2400" dirty="0"/>
              <a:t>Each </a:t>
            </a:r>
            <a:r>
              <a:rPr lang="en-US" sz="2400" b="1" dirty="0"/>
              <a:t>condition</a:t>
            </a:r>
            <a:r>
              <a:rPr lang="en-US" sz="2400" dirty="0"/>
              <a:t> must be shown to </a:t>
            </a:r>
            <a:r>
              <a:rPr lang="en-US" sz="2400" b="1" dirty="0"/>
              <a:t>independently influence</a:t>
            </a:r>
            <a:r>
              <a:rPr lang="en-US" sz="2400" dirty="0"/>
              <a:t> the decision’s result (i.e., changing only that condition flips the decision outcome).</a:t>
            </a:r>
            <a:endParaRPr lang="en-US" sz="2400" u="sng" dirty="0"/>
          </a:p>
          <a:p>
            <a:endParaRPr lang="en-US" sz="2400" b="1" dirty="0"/>
          </a:p>
          <a:p>
            <a:r>
              <a:rPr lang="en-US" sz="2400" b="1" dirty="0"/>
              <a:t>Why It’s Important:</a:t>
            </a:r>
            <a:endParaRPr lang="en-US" sz="2400" dirty="0"/>
          </a:p>
          <a:p>
            <a:r>
              <a:rPr lang="en-US" sz="2400" dirty="0"/>
              <a:t>Strikes a </a:t>
            </a:r>
            <a:r>
              <a:rPr lang="en-US" sz="2400" b="1" dirty="0"/>
              <a:t>balance between thoroughness and practicality</a:t>
            </a:r>
            <a:r>
              <a:rPr lang="en-US" sz="2400" dirty="0"/>
              <a:t>.</a:t>
            </a:r>
          </a:p>
          <a:p>
            <a:r>
              <a:rPr lang="en-US" sz="2400" dirty="0"/>
              <a:t>Widely used in </a:t>
            </a:r>
            <a:r>
              <a:rPr lang="en-US" sz="2400" b="1" dirty="0"/>
              <a:t>safety-critical systems</a:t>
            </a:r>
            <a:r>
              <a:rPr lang="en-US" sz="2400" dirty="0"/>
              <a:t> such as:</a:t>
            </a:r>
          </a:p>
          <a:p>
            <a:pPr lvl="1"/>
            <a:r>
              <a:rPr lang="en-US" sz="2400" b="1" dirty="0"/>
              <a:t>Avionics (FAA DO-178C)</a:t>
            </a:r>
            <a:endParaRPr lang="en-US" sz="2400" dirty="0"/>
          </a:p>
          <a:p>
            <a:pPr lvl="1"/>
            <a:r>
              <a:rPr lang="en-US" sz="2400" b="1" dirty="0"/>
              <a:t>Automotive (ISO 26262)</a:t>
            </a:r>
            <a:endParaRPr lang="en-US" sz="2400" dirty="0"/>
          </a:p>
          <a:p>
            <a:pPr lvl="1"/>
            <a:r>
              <a:rPr lang="en-US" sz="2400" b="1" dirty="0"/>
              <a:t>Medical devices and aerospace systems</a:t>
            </a:r>
            <a:endParaRPr lang="en-US" sz="2400" dirty="0"/>
          </a:p>
        </p:txBody>
      </p:sp>
      <p:sp>
        <p:nvSpPr>
          <p:cNvPr id="2" name="Date Placeholder 1">
            <a:extLst>
              <a:ext uri="{FF2B5EF4-FFF2-40B4-BE49-F238E27FC236}">
                <a16:creationId xmlns:a16="http://schemas.microsoft.com/office/drawing/2014/main" id="{CD26D9BE-A194-71E6-AB17-3796DA15915A}"/>
              </a:ext>
            </a:extLst>
          </p:cNvPr>
          <p:cNvSpPr>
            <a:spLocks noGrp="1"/>
          </p:cNvSpPr>
          <p:nvPr>
            <p:ph type="dt" sz="half" idx="10"/>
          </p:nvPr>
        </p:nvSpPr>
        <p:spPr/>
        <p:txBody>
          <a:bodyPr/>
          <a:lstStyle/>
          <a:p>
            <a:fld id="{17E19158-3593-4C24-BB5B-F33E4918F3F9}" type="datetime1">
              <a:rPr lang="en-IN" smtClean="0"/>
              <a:t>03-11-2025</a:t>
            </a:fld>
            <a:endParaRPr lang="en-IN"/>
          </a:p>
        </p:txBody>
      </p:sp>
      <p:sp>
        <p:nvSpPr>
          <p:cNvPr id="3" name="Footer Placeholder 2">
            <a:extLst>
              <a:ext uri="{FF2B5EF4-FFF2-40B4-BE49-F238E27FC236}">
                <a16:creationId xmlns:a16="http://schemas.microsoft.com/office/drawing/2014/main" id="{66D51896-81C6-8980-5CB7-C31C0AA5077D}"/>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65AD30F6-C397-F775-BECC-06EE2325D78D}"/>
              </a:ext>
            </a:extLst>
          </p:cNvPr>
          <p:cNvSpPr>
            <a:spLocks noGrp="1"/>
          </p:cNvSpPr>
          <p:nvPr>
            <p:ph type="sldNum" sz="quarter" idx="12"/>
          </p:nvPr>
        </p:nvSpPr>
        <p:spPr/>
        <p:txBody>
          <a:bodyPr/>
          <a:lstStyle/>
          <a:p>
            <a:fld id="{157E8F69-36B6-4843-A9CE-6B9353F4DBAF}" type="slidenum">
              <a:rPr lang="en-IN" smtClean="0"/>
              <a:t>57</a:t>
            </a:fld>
            <a:endParaRPr lang="en-IN"/>
          </a:p>
        </p:txBody>
      </p:sp>
    </p:spTree>
    <p:extLst>
      <p:ext uri="{BB962C8B-B14F-4D97-AF65-F5344CB8AC3E}">
        <p14:creationId xmlns:p14="http://schemas.microsoft.com/office/powerpoint/2010/main" val="12301850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5280" y="257354"/>
            <a:ext cx="11597640" cy="2185214"/>
          </a:xfrm>
          <a:prstGeom prst="rect">
            <a:avLst/>
          </a:prstGeom>
        </p:spPr>
        <p:txBody>
          <a:bodyPr wrap="square">
            <a:spAutoFit/>
          </a:bodyPr>
          <a:lstStyle/>
          <a:p>
            <a:pPr algn="just"/>
            <a:r>
              <a:rPr lang="en-IN" sz="2400" b="1" u="sng" dirty="0"/>
              <a:t>Subsumption hierarchy</a:t>
            </a:r>
          </a:p>
          <a:p>
            <a:pPr algn="just"/>
            <a:r>
              <a:rPr lang="en-US" sz="2400" dirty="0"/>
              <a:t>	</a:t>
            </a:r>
            <a:r>
              <a:rPr lang="en-US" sz="2200" dirty="0"/>
              <a:t>We have already pointed out that MCC subsumed the other condition-based test coverage metrics. In fact, it can be proved that we shall have the subsumption hierarchy shown in Figure 7.7 for the various coverage criteria discussed. We leave the proof to be worked out by the reader. Observe that MCC is the strongest, and statement and condition coverage are the weakest. However, statement and condition coverage are not strictly comparable </a:t>
            </a:r>
            <a:r>
              <a:rPr lang="en-IN" sz="2200" dirty="0"/>
              <a:t>and are complementary.</a:t>
            </a:r>
          </a:p>
        </p:txBody>
      </p:sp>
      <p:pic>
        <p:nvPicPr>
          <p:cNvPr id="4" name="Picture 3"/>
          <p:cNvPicPr>
            <a:picLocks noChangeAspect="1"/>
          </p:cNvPicPr>
          <p:nvPr/>
        </p:nvPicPr>
        <p:blipFill>
          <a:blip r:embed="rId2"/>
          <a:stretch>
            <a:fillRect/>
          </a:stretch>
        </p:blipFill>
        <p:spPr>
          <a:xfrm>
            <a:off x="2056830" y="2442568"/>
            <a:ext cx="7986329" cy="3866792"/>
          </a:xfrm>
          <a:prstGeom prst="rect">
            <a:avLst/>
          </a:prstGeom>
        </p:spPr>
      </p:pic>
      <p:sp>
        <p:nvSpPr>
          <p:cNvPr id="5" name="Rectangle 4"/>
          <p:cNvSpPr/>
          <p:nvPr/>
        </p:nvSpPr>
        <p:spPr>
          <a:xfrm>
            <a:off x="2056830" y="6309360"/>
            <a:ext cx="7986329" cy="369332"/>
          </a:xfrm>
          <a:prstGeom prst="rect">
            <a:avLst/>
          </a:prstGeom>
        </p:spPr>
        <p:txBody>
          <a:bodyPr wrap="square">
            <a:spAutoFit/>
          </a:bodyPr>
          <a:lstStyle/>
          <a:p>
            <a:pPr algn="ctr"/>
            <a:r>
              <a:rPr lang="en-US" b="1" dirty="0">
                <a:solidFill>
                  <a:srgbClr val="2F3193"/>
                </a:solidFill>
                <a:latin typeface="OfficinaSans-Bold"/>
              </a:rPr>
              <a:t>FIGURE 7.7 </a:t>
            </a:r>
            <a:r>
              <a:rPr lang="en-US" dirty="0">
                <a:solidFill>
                  <a:srgbClr val="2F3193"/>
                </a:solidFill>
                <a:latin typeface="OfficinaSans-Book"/>
              </a:rPr>
              <a:t>Subsumption hierarchy of various coverage criteria.</a:t>
            </a:r>
            <a:endParaRPr lang="en-IN" dirty="0"/>
          </a:p>
        </p:txBody>
      </p:sp>
      <p:sp>
        <p:nvSpPr>
          <p:cNvPr id="2" name="Date Placeholder 1">
            <a:extLst>
              <a:ext uri="{FF2B5EF4-FFF2-40B4-BE49-F238E27FC236}">
                <a16:creationId xmlns:a16="http://schemas.microsoft.com/office/drawing/2014/main" id="{1251C0E7-3D51-B0D3-E05F-79EB30708919}"/>
              </a:ext>
            </a:extLst>
          </p:cNvPr>
          <p:cNvSpPr>
            <a:spLocks noGrp="1"/>
          </p:cNvSpPr>
          <p:nvPr>
            <p:ph type="dt" sz="half" idx="10"/>
          </p:nvPr>
        </p:nvSpPr>
        <p:spPr/>
        <p:txBody>
          <a:bodyPr/>
          <a:lstStyle/>
          <a:p>
            <a:fld id="{0FAA4B87-8D8D-47E2-A0B6-3EBF23CBBBC4}" type="datetime1">
              <a:rPr lang="en-IN" smtClean="0"/>
              <a:t>03-11-2025</a:t>
            </a:fld>
            <a:endParaRPr lang="en-IN"/>
          </a:p>
        </p:txBody>
      </p:sp>
      <p:sp>
        <p:nvSpPr>
          <p:cNvPr id="6" name="Footer Placeholder 5">
            <a:extLst>
              <a:ext uri="{FF2B5EF4-FFF2-40B4-BE49-F238E27FC236}">
                <a16:creationId xmlns:a16="http://schemas.microsoft.com/office/drawing/2014/main" id="{C633A8E7-7BAC-B64B-1668-8028439620A7}"/>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9CE9957C-D00B-A4A3-5412-11F832E89EFD}"/>
              </a:ext>
            </a:extLst>
          </p:cNvPr>
          <p:cNvSpPr>
            <a:spLocks noGrp="1"/>
          </p:cNvSpPr>
          <p:nvPr>
            <p:ph type="sldNum" sz="quarter" idx="12"/>
          </p:nvPr>
        </p:nvSpPr>
        <p:spPr/>
        <p:txBody>
          <a:bodyPr/>
          <a:lstStyle/>
          <a:p>
            <a:fld id="{157E8F69-36B6-4843-A9CE-6B9353F4DBAF}" type="slidenum">
              <a:rPr lang="en-IN" smtClean="0"/>
              <a:t>58</a:t>
            </a:fld>
            <a:endParaRPr lang="en-IN"/>
          </a:p>
        </p:txBody>
      </p:sp>
    </p:spTree>
    <p:extLst>
      <p:ext uri="{BB962C8B-B14F-4D97-AF65-F5344CB8AC3E}">
        <p14:creationId xmlns:p14="http://schemas.microsoft.com/office/powerpoint/2010/main" val="13681306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64EFCE0-AD09-89E5-CBFF-3541BD98040E}"/>
              </a:ext>
            </a:extLst>
          </p:cNvPr>
          <p:cNvSpPr txBox="1"/>
          <p:nvPr/>
        </p:nvSpPr>
        <p:spPr>
          <a:xfrm>
            <a:off x="202692" y="66884"/>
            <a:ext cx="11622024" cy="6740307"/>
          </a:xfrm>
          <a:prstGeom prst="rect">
            <a:avLst/>
          </a:prstGeom>
          <a:noFill/>
        </p:spPr>
        <p:txBody>
          <a:bodyPr wrap="square">
            <a:spAutoFit/>
          </a:bodyPr>
          <a:lstStyle/>
          <a:p>
            <a:pPr>
              <a:buNone/>
            </a:pPr>
            <a:r>
              <a:rPr lang="en-US" sz="2400" dirty="0"/>
              <a:t>The figure illustrates how various </a:t>
            </a:r>
            <a:r>
              <a:rPr lang="en-US" sz="2400" b="1" dirty="0"/>
              <a:t>condition-based test coverage criteria</a:t>
            </a:r>
            <a:r>
              <a:rPr lang="en-US" sz="2400" dirty="0"/>
              <a:t> relate to one another in terms of </a:t>
            </a:r>
            <a:r>
              <a:rPr lang="en-US" sz="2400" b="1" dirty="0"/>
              <a:t>strength (or thoroughness)</a:t>
            </a:r>
            <a:r>
              <a:rPr lang="en-US" sz="2400" dirty="0"/>
              <a:t>.</a:t>
            </a:r>
          </a:p>
          <a:p>
            <a:pPr>
              <a:buNone/>
            </a:pPr>
            <a:endParaRPr lang="en-US" sz="2400" dirty="0"/>
          </a:p>
          <a:p>
            <a:pPr>
              <a:buFont typeface="Arial" panose="020B0604020202020204" pitchFamily="34" charset="0"/>
              <a:buChar char="•"/>
            </a:pPr>
            <a:r>
              <a:rPr lang="en-US" sz="2400" b="1" dirty="0"/>
              <a:t>Multiple Condition Coverage (MCC)</a:t>
            </a:r>
            <a:r>
              <a:rPr lang="en-US" sz="2400" dirty="0"/>
              <a:t> is the </a:t>
            </a:r>
            <a:r>
              <a:rPr lang="en-US" sz="2400" b="1" dirty="0"/>
              <a:t>strongest</a:t>
            </a:r>
            <a:r>
              <a:rPr lang="en-US" sz="2400" dirty="0"/>
              <a:t> criterion — it subsumes all the others because it requires testing </a:t>
            </a:r>
            <a:r>
              <a:rPr lang="en-US" sz="2400" b="1" dirty="0"/>
              <a:t>all combinations</a:t>
            </a:r>
            <a:r>
              <a:rPr lang="en-US" sz="2400" dirty="0"/>
              <a:t> of conditions.</a:t>
            </a:r>
          </a:p>
          <a:p>
            <a:pPr>
              <a:buFont typeface="Arial" panose="020B0604020202020204" pitchFamily="34" charset="0"/>
              <a:buChar char="•"/>
            </a:pPr>
            <a:endParaRPr lang="en-US" sz="2400" dirty="0"/>
          </a:p>
          <a:p>
            <a:pPr>
              <a:buFont typeface="Arial" panose="020B0604020202020204" pitchFamily="34" charset="0"/>
              <a:buChar char="•"/>
            </a:pPr>
            <a:r>
              <a:rPr lang="en-US" sz="2400" b="1" dirty="0"/>
              <a:t>Modified Condition/Decision Coverage (MC/DC)</a:t>
            </a:r>
            <a:r>
              <a:rPr lang="en-US" sz="2400" dirty="0"/>
              <a:t> is slightly weaker than MCC but still powerful, ensuring each atomic condition independently affects the decision outcome.</a:t>
            </a:r>
          </a:p>
          <a:p>
            <a:pPr>
              <a:buFont typeface="Arial" panose="020B0604020202020204" pitchFamily="34" charset="0"/>
              <a:buChar char="•"/>
            </a:pPr>
            <a:endParaRPr lang="en-US" sz="2400" dirty="0"/>
          </a:p>
          <a:p>
            <a:pPr>
              <a:buFont typeface="Arial" panose="020B0604020202020204" pitchFamily="34" charset="0"/>
              <a:buChar char="•"/>
            </a:pPr>
            <a:r>
              <a:rPr lang="en-US" sz="2400" b="1" dirty="0"/>
              <a:t>Condition/Decision Coverage</a:t>
            </a:r>
            <a:r>
              <a:rPr lang="en-US" sz="2400" dirty="0"/>
              <a:t> combines both decision and condition testing requirements.</a:t>
            </a:r>
          </a:p>
          <a:p>
            <a:pPr>
              <a:buFont typeface="Arial" panose="020B0604020202020204" pitchFamily="34" charset="0"/>
              <a:buChar char="•"/>
            </a:pPr>
            <a:endParaRPr lang="en-US" sz="2400" dirty="0"/>
          </a:p>
          <a:p>
            <a:pPr>
              <a:buFont typeface="Arial" panose="020B0604020202020204" pitchFamily="34" charset="0"/>
              <a:buChar char="•"/>
            </a:pPr>
            <a:r>
              <a:rPr lang="en-US" sz="2400" b="1" dirty="0"/>
              <a:t>Decision Coverage</a:t>
            </a:r>
            <a:r>
              <a:rPr lang="en-US" sz="2400" dirty="0"/>
              <a:t> ensures every decision’s outcome (True/False) is executed at least once.</a:t>
            </a:r>
          </a:p>
          <a:p>
            <a:pPr>
              <a:buFont typeface="Arial" panose="020B0604020202020204" pitchFamily="34" charset="0"/>
              <a:buChar char="•"/>
            </a:pPr>
            <a:endParaRPr lang="en-US" sz="2400" dirty="0"/>
          </a:p>
          <a:p>
            <a:pPr>
              <a:buFont typeface="Arial" panose="020B0604020202020204" pitchFamily="34" charset="0"/>
              <a:buChar char="•"/>
            </a:pPr>
            <a:r>
              <a:rPr lang="en-US" sz="2400" b="1" dirty="0"/>
              <a:t>Basic Condition Coverage</a:t>
            </a:r>
            <a:r>
              <a:rPr lang="en-US" sz="2400" dirty="0"/>
              <a:t> verifies that each individual condition is evaluated both True and False, but not necessarily in combination.</a:t>
            </a:r>
          </a:p>
          <a:p>
            <a:pPr>
              <a:buFont typeface="Arial" panose="020B0604020202020204" pitchFamily="34" charset="0"/>
              <a:buChar char="•"/>
            </a:pPr>
            <a:endParaRPr lang="en-US" sz="2400" dirty="0"/>
          </a:p>
          <a:p>
            <a:pPr>
              <a:buFont typeface="Arial" panose="020B0604020202020204" pitchFamily="34" charset="0"/>
              <a:buChar char="•"/>
            </a:pPr>
            <a:r>
              <a:rPr lang="en-US" sz="2400" b="1" dirty="0"/>
              <a:t>Statement Coverage</a:t>
            </a:r>
            <a:r>
              <a:rPr lang="en-US" sz="2400" dirty="0"/>
              <a:t> is the </a:t>
            </a:r>
            <a:r>
              <a:rPr lang="en-US" sz="2400" b="1" dirty="0"/>
              <a:t>weakest</a:t>
            </a:r>
            <a:r>
              <a:rPr lang="en-US" sz="2400" dirty="0"/>
              <a:t>, ensuring that every line or statement of code is executed at least once.</a:t>
            </a:r>
          </a:p>
        </p:txBody>
      </p:sp>
      <p:sp>
        <p:nvSpPr>
          <p:cNvPr id="2" name="Date Placeholder 1">
            <a:extLst>
              <a:ext uri="{FF2B5EF4-FFF2-40B4-BE49-F238E27FC236}">
                <a16:creationId xmlns:a16="http://schemas.microsoft.com/office/drawing/2014/main" id="{666E44C0-83E6-49F0-0A41-3772C8568FCC}"/>
              </a:ext>
            </a:extLst>
          </p:cNvPr>
          <p:cNvSpPr>
            <a:spLocks noGrp="1"/>
          </p:cNvSpPr>
          <p:nvPr>
            <p:ph type="dt" sz="half" idx="10"/>
          </p:nvPr>
        </p:nvSpPr>
        <p:spPr/>
        <p:txBody>
          <a:bodyPr/>
          <a:lstStyle/>
          <a:p>
            <a:fld id="{3173D0E6-6BC9-4061-8D91-4DF9D5AC4B44}" type="datetime1">
              <a:rPr lang="en-IN" smtClean="0"/>
              <a:t>03-11-2025</a:t>
            </a:fld>
            <a:endParaRPr lang="en-IN"/>
          </a:p>
        </p:txBody>
      </p:sp>
      <p:sp>
        <p:nvSpPr>
          <p:cNvPr id="3" name="Footer Placeholder 2">
            <a:extLst>
              <a:ext uri="{FF2B5EF4-FFF2-40B4-BE49-F238E27FC236}">
                <a16:creationId xmlns:a16="http://schemas.microsoft.com/office/drawing/2014/main" id="{7DF83A8C-835A-E3BD-C47B-0768BDEE9DE3}"/>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46043E67-A5CE-0386-4278-B42289D92B59}"/>
              </a:ext>
            </a:extLst>
          </p:cNvPr>
          <p:cNvSpPr>
            <a:spLocks noGrp="1"/>
          </p:cNvSpPr>
          <p:nvPr>
            <p:ph type="sldNum" sz="quarter" idx="12"/>
          </p:nvPr>
        </p:nvSpPr>
        <p:spPr/>
        <p:txBody>
          <a:bodyPr/>
          <a:lstStyle/>
          <a:p>
            <a:fld id="{157E8F69-36B6-4843-A9CE-6B9353F4DBAF}" type="slidenum">
              <a:rPr lang="en-IN" smtClean="0"/>
              <a:t>59</a:t>
            </a:fld>
            <a:endParaRPr lang="en-IN"/>
          </a:p>
        </p:txBody>
      </p:sp>
    </p:spTree>
    <p:extLst>
      <p:ext uri="{BB962C8B-B14F-4D97-AF65-F5344CB8AC3E}">
        <p14:creationId xmlns:p14="http://schemas.microsoft.com/office/powerpoint/2010/main" val="13187335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3360" y="196840"/>
            <a:ext cx="11719560" cy="5575052"/>
          </a:xfrm>
          <a:prstGeom prst="rect">
            <a:avLst/>
          </a:prstGeom>
        </p:spPr>
        <p:txBody>
          <a:bodyPr wrap="square">
            <a:spAutoFit/>
          </a:bodyPr>
          <a:lstStyle/>
          <a:p>
            <a:pPr algn="just">
              <a:lnSpc>
                <a:spcPct val="150000"/>
              </a:lnSpc>
            </a:pPr>
            <a:r>
              <a:rPr lang="en-US" sz="2400" b="1" u="sng" dirty="0"/>
              <a:t>📈 7.7.8 Path Coverage</a:t>
            </a:r>
          </a:p>
          <a:p>
            <a:pPr marL="800100" lvl="1" indent="-342900" algn="just">
              <a:lnSpc>
                <a:spcPct val="150000"/>
              </a:lnSpc>
              <a:buFont typeface="Wingdings" panose="05000000000000000000" pitchFamily="2" charset="2"/>
              <a:buChar char="Ø"/>
            </a:pPr>
            <a:r>
              <a:rPr lang="en-US" sz="2400" dirty="0"/>
              <a:t>Covers all </a:t>
            </a:r>
            <a:r>
              <a:rPr lang="en-US" sz="2400" b="1" dirty="0"/>
              <a:t>linearly independent paths</a:t>
            </a:r>
            <a:r>
              <a:rPr lang="en-US" sz="2400" dirty="0"/>
              <a:t> in the control flow graph (CFG).</a:t>
            </a:r>
          </a:p>
          <a:p>
            <a:pPr marL="800100" lvl="1" indent="-342900" algn="just">
              <a:lnSpc>
                <a:spcPct val="150000"/>
              </a:lnSpc>
              <a:buFont typeface="Wingdings" panose="05000000000000000000" pitchFamily="2" charset="2"/>
              <a:buChar char="Ø"/>
            </a:pPr>
            <a:r>
              <a:rPr lang="en-US" sz="2400" dirty="0"/>
              <a:t>Relies on </a:t>
            </a:r>
            <a:r>
              <a:rPr lang="en-US" sz="2400" b="1" dirty="0"/>
              <a:t>McCabe’s Cyclomatic Complexity (V(G))</a:t>
            </a:r>
            <a:r>
              <a:rPr lang="en-US" sz="2400" dirty="0"/>
              <a:t>:</a:t>
            </a:r>
          </a:p>
          <a:p>
            <a:pPr marL="1257300" lvl="2" indent="-342900" algn="just">
              <a:lnSpc>
                <a:spcPct val="150000"/>
              </a:lnSpc>
              <a:buFont typeface="Wingdings" panose="05000000000000000000" pitchFamily="2" charset="2"/>
              <a:buChar char="Ø"/>
            </a:pPr>
            <a:r>
              <a:rPr lang="en-US" sz="2400" b="1" dirty="0"/>
              <a:t>V(G) = E − N + 2</a:t>
            </a:r>
            <a:endParaRPr lang="en-US" sz="2400" dirty="0"/>
          </a:p>
          <a:p>
            <a:pPr marL="1257300" lvl="2" indent="-342900" algn="just">
              <a:lnSpc>
                <a:spcPct val="150000"/>
              </a:lnSpc>
              <a:buFont typeface="Wingdings" panose="05000000000000000000" pitchFamily="2" charset="2"/>
              <a:buChar char="Ø"/>
            </a:pPr>
            <a:r>
              <a:rPr lang="en-US" sz="2400" dirty="0"/>
              <a:t>E: Edges, N: Nodes in CFG.</a:t>
            </a:r>
          </a:p>
          <a:p>
            <a:pPr marL="1257300" lvl="2" indent="-342900" algn="just">
              <a:lnSpc>
                <a:spcPct val="150000"/>
              </a:lnSpc>
              <a:buFont typeface="Wingdings" panose="05000000000000000000" pitchFamily="2" charset="2"/>
              <a:buChar char="Ø"/>
            </a:pPr>
            <a:r>
              <a:rPr lang="en-US" sz="2400" dirty="0"/>
              <a:t>Also: V(G) = Number of decision points + 1</a:t>
            </a:r>
          </a:p>
          <a:p>
            <a:pPr algn="just">
              <a:lnSpc>
                <a:spcPct val="150000"/>
              </a:lnSpc>
            </a:pPr>
            <a:r>
              <a:rPr lang="en-US" sz="2400" b="1" dirty="0"/>
              <a:t>Steps for Path Testing</a:t>
            </a:r>
            <a:r>
              <a:rPr lang="en-US" sz="2400" dirty="0"/>
              <a:t>:</a:t>
            </a:r>
          </a:p>
          <a:p>
            <a:pPr lvl="1" algn="just">
              <a:lnSpc>
                <a:spcPct val="150000"/>
              </a:lnSpc>
              <a:buFont typeface="+mj-lt"/>
              <a:buAutoNum type="arabicPeriod"/>
            </a:pPr>
            <a:r>
              <a:rPr lang="en-US" sz="2400" dirty="0"/>
              <a:t>Draw CFG.</a:t>
            </a:r>
          </a:p>
          <a:p>
            <a:pPr lvl="1" algn="just">
              <a:lnSpc>
                <a:spcPct val="150000"/>
              </a:lnSpc>
              <a:buFont typeface="+mj-lt"/>
              <a:buAutoNum type="arabicPeriod"/>
            </a:pPr>
            <a:r>
              <a:rPr lang="en-US" sz="2400" dirty="0"/>
              <a:t>Compute V(G).</a:t>
            </a:r>
          </a:p>
          <a:p>
            <a:pPr lvl="1" algn="just">
              <a:lnSpc>
                <a:spcPct val="150000"/>
              </a:lnSpc>
              <a:buFont typeface="+mj-lt"/>
              <a:buAutoNum type="arabicPeriod"/>
            </a:pPr>
            <a:r>
              <a:rPr lang="en-US" sz="2400" dirty="0"/>
              <a:t>Random test cases + dynamic analysis until ~90% path coverage is achieved.</a:t>
            </a:r>
          </a:p>
        </p:txBody>
      </p:sp>
      <p:sp>
        <p:nvSpPr>
          <p:cNvPr id="2" name="Date Placeholder 1">
            <a:extLst>
              <a:ext uri="{FF2B5EF4-FFF2-40B4-BE49-F238E27FC236}">
                <a16:creationId xmlns:a16="http://schemas.microsoft.com/office/drawing/2014/main" id="{653A6763-8FBB-DD40-C734-1D8CEFBEE9CF}"/>
              </a:ext>
            </a:extLst>
          </p:cNvPr>
          <p:cNvSpPr>
            <a:spLocks noGrp="1"/>
          </p:cNvSpPr>
          <p:nvPr>
            <p:ph type="dt" sz="half" idx="10"/>
          </p:nvPr>
        </p:nvSpPr>
        <p:spPr/>
        <p:txBody>
          <a:bodyPr/>
          <a:lstStyle/>
          <a:p>
            <a:fld id="{2A3A73D8-5EE0-495C-B791-E0F5CBAB95EB}" type="datetime1">
              <a:rPr lang="en-IN" smtClean="0"/>
              <a:t>03-11-2025</a:t>
            </a:fld>
            <a:endParaRPr lang="en-IN"/>
          </a:p>
        </p:txBody>
      </p:sp>
      <p:sp>
        <p:nvSpPr>
          <p:cNvPr id="4" name="Footer Placeholder 3">
            <a:extLst>
              <a:ext uri="{FF2B5EF4-FFF2-40B4-BE49-F238E27FC236}">
                <a16:creationId xmlns:a16="http://schemas.microsoft.com/office/drawing/2014/main" id="{860CFDE9-25EB-A792-0DD1-84578EDE82C8}"/>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C465B619-9378-4931-C3F7-0818F34A1F4E}"/>
              </a:ext>
            </a:extLst>
          </p:cNvPr>
          <p:cNvSpPr>
            <a:spLocks noGrp="1"/>
          </p:cNvSpPr>
          <p:nvPr>
            <p:ph type="sldNum" sz="quarter" idx="12"/>
          </p:nvPr>
        </p:nvSpPr>
        <p:spPr/>
        <p:txBody>
          <a:bodyPr/>
          <a:lstStyle/>
          <a:p>
            <a:fld id="{157E8F69-36B6-4843-A9CE-6B9353F4DBAF}" type="slidenum">
              <a:rPr lang="en-IN" smtClean="0"/>
              <a:t>60</a:t>
            </a:fld>
            <a:endParaRPr lang="en-IN"/>
          </a:p>
        </p:txBody>
      </p:sp>
    </p:spTree>
    <p:extLst>
      <p:ext uri="{BB962C8B-B14F-4D97-AF65-F5344CB8AC3E}">
        <p14:creationId xmlns:p14="http://schemas.microsoft.com/office/powerpoint/2010/main" val="27085735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52924" y="963246"/>
            <a:ext cx="11212356" cy="5269914"/>
          </a:xfrm>
          <a:prstGeom prst="rect">
            <a:avLst/>
          </a:prstGeom>
        </p:spPr>
      </p:pic>
      <p:sp>
        <p:nvSpPr>
          <p:cNvPr id="4" name="Rectangle 3"/>
          <p:cNvSpPr/>
          <p:nvPr/>
        </p:nvSpPr>
        <p:spPr>
          <a:xfrm>
            <a:off x="552924" y="6351954"/>
            <a:ext cx="11212356" cy="369332"/>
          </a:xfrm>
          <a:prstGeom prst="rect">
            <a:avLst/>
          </a:prstGeom>
        </p:spPr>
        <p:txBody>
          <a:bodyPr wrap="square">
            <a:spAutoFit/>
          </a:bodyPr>
          <a:lstStyle/>
          <a:p>
            <a:pPr algn="ctr"/>
            <a:r>
              <a:rPr lang="en-US" b="1" dirty="0">
                <a:solidFill>
                  <a:srgbClr val="2F3193"/>
                </a:solidFill>
                <a:latin typeface="OfficinaSans-Bold"/>
              </a:rPr>
              <a:t>FIGURE 7.8 </a:t>
            </a:r>
            <a:r>
              <a:rPr lang="en-US" dirty="0">
                <a:solidFill>
                  <a:srgbClr val="2F3193"/>
                </a:solidFill>
                <a:latin typeface="OfficinaSans-Book"/>
              </a:rPr>
              <a:t>Control flow diagram of an example program.</a:t>
            </a:r>
            <a:endParaRPr lang="en-IN" dirty="0"/>
          </a:p>
        </p:txBody>
      </p:sp>
      <p:sp>
        <p:nvSpPr>
          <p:cNvPr id="5" name="Rectangle 4"/>
          <p:cNvSpPr/>
          <p:nvPr/>
        </p:nvSpPr>
        <p:spPr>
          <a:xfrm>
            <a:off x="383142" y="316914"/>
            <a:ext cx="11551920" cy="646331"/>
          </a:xfrm>
          <a:prstGeom prst="rect">
            <a:avLst/>
          </a:prstGeom>
        </p:spPr>
        <p:txBody>
          <a:bodyPr wrap="square">
            <a:spAutoFit/>
          </a:bodyPr>
          <a:lstStyle/>
          <a:p>
            <a:pPr algn="just"/>
            <a:r>
              <a:rPr lang="en-IN" dirty="0">
                <a:solidFill>
                  <a:srgbClr val="000000"/>
                </a:solidFill>
                <a:latin typeface="PalatinoLinotype-Roman"/>
              </a:rPr>
              <a:t>Using </a:t>
            </a:r>
            <a:r>
              <a:rPr lang="en-US" dirty="0">
                <a:solidFill>
                  <a:srgbClr val="000000"/>
                </a:solidFill>
                <a:latin typeface="PalatinoLinotype-Roman"/>
              </a:rPr>
              <a:t>these basic ideas, the CFG of the program given in Figure 10.8(a) can be drawn as shown </a:t>
            </a:r>
            <a:r>
              <a:rPr lang="en-IN" dirty="0">
                <a:solidFill>
                  <a:srgbClr val="000000"/>
                </a:solidFill>
                <a:latin typeface="PalatinoLinotype-Roman"/>
              </a:rPr>
              <a:t>in Figure 10.8(b).</a:t>
            </a:r>
          </a:p>
        </p:txBody>
      </p:sp>
      <p:sp>
        <p:nvSpPr>
          <p:cNvPr id="2" name="Date Placeholder 1">
            <a:extLst>
              <a:ext uri="{FF2B5EF4-FFF2-40B4-BE49-F238E27FC236}">
                <a16:creationId xmlns:a16="http://schemas.microsoft.com/office/drawing/2014/main" id="{ED086EC3-EDF5-0C71-1D52-2CB3FE7AD0DA}"/>
              </a:ext>
            </a:extLst>
          </p:cNvPr>
          <p:cNvSpPr>
            <a:spLocks noGrp="1"/>
          </p:cNvSpPr>
          <p:nvPr>
            <p:ph type="dt" sz="half" idx="10"/>
          </p:nvPr>
        </p:nvSpPr>
        <p:spPr/>
        <p:txBody>
          <a:bodyPr/>
          <a:lstStyle/>
          <a:p>
            <a:fld id="{3CAB10E2-F8B6-4E8F-91A3-890E1C6C096B}" type="datetime1">
              <a:rPr lang="en-IN" smtClean="0"/>
              <a:t>03-11-2025</a:t>
            </a:fld>
            <a:endParaRPr lang="en-IN"/>
          </a:p>
        </p:txBody>
      </p:sp>
      <p:sp>
        <p:nvSpPr>
          <p:cNvPr id="6" name="Footer Placeholder 5">
            <a:extLst>
              <a:ext uri="{FF2B5EF4-FFF2-40B4-BE49-F238E27FC236}">
                <a16:creationId xmlns:a16="http://schemas.microsoft.com/office/drawing/2014/main" id="{CBE7B0E0-E0A1-3B4B-EAA8-76BEBABD38C2}"/>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769E8F72-E107-D38E-C8A7-FA53BD737664}"/>
              </a:ext>
            </a:extLst>
          </p:cNvPr>
          <p:cNvSpPr>
            <a:spLocks noGrp="1"/>
          </p:cNvSpPr>
          <p:nvPr>
            <p:ph type="sldNum" sz="quarter" idx="12"/>
          </p:nvPr>
        </p:nvSpPr>
        <p:spPr/>
        <p:txBody>
          <a:bodyPr/>
          <a:lstStyle/>
          <a:p>
            <a:fld id="{157E8F69-36B6-4843-A9CE-6B9353F4DBAF}" type="slidenum">
              <a:rPr lang="en-IN" smtClean="0"/>
              <a:t>61</a:t>
            </a:fld>
            <a:endParaRPr lang="en-IN"/>
          </a:p>
        </p:txBody>
      </p:sp>
    </p:spTree>
    <p:extLst>
      <p:ext uri="{BB962C8B-B14F-4D97-AF65-F5344CB8AC3E}">
        <p14:creationId xmlns:p14="http://schemas.microsoft.com/office/powerpoint/2010/main" val="40512972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90023" y="287774"/>
            <a:ext cx="5977342" cy="461665"/>
          </a:xfrm>
          <a:prstGeom prst="rect">
            <a:avLst/>
          </a:prstGeom>
        </p:spPr>
        <p:txBody>
          <a:bodyPr wrap="none">
            <a:spAutoFit/>
          </a:bodyPr>
          <a:lstStyle/>
          <a:p>
            <a:pPr algn="just"/>
            <a:r>
              <a:rPr lang="en-US" sz="2400" b="1" u="sng" dirty="0"/>
              <a:t>7.7.9 McCabe’s Cyclomatic Complexity Metric</a:t>
            </a:r>
            <a:endParaRPr lang="en-IN" sz="2400" u="sng" dirty="0"/>
          </a:p>
        </p:txBody>
      </p:sp>
      <p:sp>
        <p:nvSpPr>
          <p:cNvPr id="4" name="Rectangle 3"/>
          <p:cNvSpPr/>
          <p:nvPr/>
        </p:nvSpPr>
        <p:spPr>
          <a:xfrm>
            <a:off x="290022" y="749439"/>
            <a:ext cx="11597177" cy="1569660"/>
          </a:xfrm>
          <a:prstGeom prst="rect">
            <a:avLst/>
          </a:prstGeom>
        </p:spPr>
        <p:txBody>
          <a:bodyPr wrap="square">
            <a:spAutoFit/>
          </a:bodyPr>
          <a:lstStyle/>
          <a:p>
            <a:pPr algn="just"/>
            <a:r>
              <a:rPr lang="en-US" sz="2400" dirty="0"/>
              <a:t>McCabe’s Cyclomatic Complexity is a </a:t>
            </a:r>
            <a:r>
              <a:rPr lang="en-US" sz="2400" b="1" dirty="0"/>
              <a:t>graph-based software metric</a:t>
            </a:r>
            <a:r>
              <a:rPr lang="en-US" sz="2400" dirty="0"/>
              <a:t> that provides:</a:t>
            </a:r>
          </a:p>
          <a:p>
            <a:pPr marL="800100" lvl="1" indent="-342900" algn="just">
              <a:buFont typeface="Wingdings" panose="05000000000000000000" pitchFamily="2" charset="2"/>
              <a:buChar char="Ø"/>
            </a:pPr>
            <a:r>
              <a:rPr lang="en-US" sz="2400" dirty="0"/>
              <a:t>An </a:t>
            </a:r>
            <a:r>
              <a:rPr lang="en-US" sz="2400" b="1" dirty="0"/>
              <a:t>upper bound on the number of linearly independent paths</a:t>
            </a:r>
            <a:r>
              <a:rPr lang="en-US" sz="2400" dirty="0"/>
              <a:t> through a program.</a:t>
            </a:r>
          </a:p>
          <a:p>
            <a:pPr marL="800100" lvl="1" indent="-342900" algn="just">
              <a:buFont typeface="Wingdings" panose="05000000000000000000" pitchFamily="2" charset="2"/>
              <a:buChar char="Ø"/>
            </a:pPr>
            <a:r>
              <a:rPr lang="en-US" sz="2400" dirty="0"/>
              <a:t>A </a:t>
            </a:r>
            <a:r>
              <a:rPr lang="en-US" sz="2400" b="1" dirty="0"/>
              <a:t>quantitative measure of code complexity</a:t>
            </a:r>
            <a:r>
              <a:rPr lang="en-US" sz="2400" dirty="0"/>
              <a:t>, helping estimate </a:t>
            </a:r>
            <a:r>
              <a:rPr lang="en-US" sz="2400" b="1" dirty="0"/>
              <a:t>testing effort</a:t>
            </a:r>
            <a:r>
              <a:rPr lang="en-US" sz="2400" dirty="0"/>
              <a:t>, </a:t>
            </a:r>
            <a:r>
              <a:rPr lang="en-US" sz="2400" b="1" dirty="0"/>
              <a:t>code maintainability</a:t>
            </a:r>
            <a:r>
              <a:rPr lang="en-US" sz="2400" dirty="0"/>
              <a:t>, and </a:t>
            </a:r>
            <a:r>
              <a:rPr lang="en-US" sz="2400" b="1" dirty="0"/>
              <a:t>reliability</a:t>
            </a:r>
            <a:r>
              <a:rPr lang="en-US" sz="2400" dirty="0"/>
              <a:t>.</a:t>
            </a:r>
          </a:p>
        </p:txBody>
      </p:sp>
      <p:sp>
        <p:nvSpPr>
          <p:cNvPr id="5" name="Rectangle 1"/>
          <p:cNvSpPr>
            <a:spLocks noChangeArrowheads="1"/>
          </p:cNvSpPr>
          <p:nvPr/>
        </p:nvSpPr>
        <p:spPr bwMode="auto">
          <a:xfrm>
            <a:off x="290021" y="2319099"/>
            <a:ext cx="11597178" cy="4467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Three Methods to Compute Cyclomatic Complexity</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Let V(G) be the cyclomatic complexity of the control flow graph (CFG) G.</a:t>
            </a:r>
            <a:endParaRPr kumimoji="0" lang="en-US" altLang="en-US" sz="2400" b="1" i="0" u="none" strike="noStrike" cap="none" normalizeH="0" baseline="0" dirty="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rPr>
              <a:t>Method 1: Using Nodes and Edges</a:t>
            </a:r>
          </a:p>
          <a:p>
            <a:pPr lvl="1"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rPr>
              <a:t>V(G) = E − N + 2 </a:t>
            </a:r>
          </a:p>
          <a:p>
            <a:pPr marL="1257300" lvl="2" indent="-342900" algn="just" eaLnBrk="0" fontAlgn="base" hangingPunct="0">
              <a:lnSpc>
                <a:spcPct val="150000"/>
              </a:lnSpc>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E: Number of edges in the CFG</a:t>
            </a:r>
          </a:p>
          <a:p>
            <a:pPr marL="1257300" lvl="2" indent="-342900" algn="just" eaLnBrk="0" fontAlgn="base" hangingPunct="0">
              <a:lnSpc>
                <a:spcPct val="150000"/>
              </a:lnSpc>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N: Number of nodes in the CFG</a:t>
            </a:r>
          </a:p>
          <a:p>
            <a:pPr marL="0" marR="0" lvl="0" indent="0"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 </a:t>
            </a:r>
            <a:r>
              <a:rPr kumimoji="0" lang="en-US" altLang="en-US" sz="2400" b="0" i="1" u="none" strike="noStrike" cap="none" normalizeH="0" baseline="0" dirty="0">
                <a:ln>
                  <a:noFill/>
                </a:ln>
                <a:solidFill>
                  <a:schemeClr val="tx1"/>
                </a:solidFill>
                <a:effectLst/>
              </a:rPr>
              <a:t>Example:</a:t>
            </a:r>
            <a:br>
              <a:rPr kumimoji="0" lang="en-US" altLang="en-US" sz="2400" b="0" i="0" u="none" strike="noStrike" cap="none" normalizeH="0" baseline="0" dirty="0">
                <a:ln>
                  <a:noFill/>
                </a:ln>
                <a:solidFill>
                  <a:schemeClr val="tx1"/>
                </a:solidFill>
                <a:effectLst/>
              </a:rPr>
            </a:br>
            <a:r>
              <a:rPr kumimoji="0" lang="en-US" altLang="en-US" sz="2400" b="0" i="0" u="none" strike="noStrike" cap="none" normalizeH="0" baseline="0" dirty="0">
                <a:ln>
                  <a:noFill/>
                </a:ln>
                <a:solidFill>
                  <a:schemeClr val="tx1"/>
                </a:solidFill>
                <a:effectLst/>
              </a:rPr>
              <a:t>If E = 7, N = 6 → V(G) = 7 - 6 + 2 = 3</a:t>
            </a:r>
          </a:p>
        </p:txBody>
      </p:sp>
      <p:sp>
        <p:nvSpPr>
          <p:cNvPr id="2" name="Date Placeholder 1">
            <a:extLst>
              <a:ext uri="{FF2B5EF4-FFF2-40B4-BE49-F238E27FC236}">
                <a16:creationId xmlns:a16="http://schemas.microsoft.com/office/drawing/2014/main" id="{961F9D78-DF6D-2EAB-2669-3A41809310A0}"/>
              </a:ext>
            </a:extLst>
          </p:cNvPr>
          <p:cNvSpPr>
            <a:spLocks noGrp="1"/>
          </p:cNvSpPr>
          <p:nvPr>
            <p:ph type="dt" sz="half" idx="10"/>
          </p:nvPr>
        </p:nvSpPr>
        <p:spPr/>
        <p:txBody>
          <a:bodyPr/>
          <a:lstStyle/>
          <a:p>
            <a:fld id="{EDFACA45-B41A-4CE2-A5C1-2F730294F840}" type="datetime1">
              <a:rPr lang="en-IN" smtClean="0"/>
              <a:t>03-11-2025</a:t>
            </a:fld>
            <a:endParaRPr lang="en-IN"/>
          </a:p>
        </p:txBody>
      </p:sp>
      <p:sp>
        <p:nvSpPr>
          <p:cNvPr id="6" name="Footer Placeholder 5">
            <a:extLst>
              <a:ext uri="{FF2B5EF4-FFF2-40B4-BE49-F238E27FC236}">
                <a16:creationId xmlns:a16="http://schemas.microsoft.com/office/drawing/2014/main" id="{930416F4-1D75-F2B8-C542-E12EE933A890}"/>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225C85F6-0881-6870-ABF5-8DFECF0F5F7E}"/>
              </a:ext>
            </a:extLst>
          </p:cNvPr>
          <p:cNvSpPr>
            <a:spLocks noGrp="1"/>
          </p:cNvSpPr>
          <p:nvPr>
            <p:ph type="sldNum" sz="quarter" idx="12"/>
          </p:nvPr>
        </p:nvSpPr>
        <p:spPr/>
        <p:txBody>
          <a:bodyPr/>
          <a:lstStyle/>
          <a:p>
            <a:fld id="{157E8F69-36B6-4843-A9CE-6B9353F4DBAF}" type="slidenum">
              <a:rPr lang="en-IN" smtClean="0"/>
              <a:t>62</a:t>
            </a:fld>
            <a:endParaRPr lang="en-IN"/>
          </a:p>
        </p:txBody>
      </p:sp>
    </p:spTree>
    <p:extLst>
      <p:ext uri="{BB962C8B-B14F-4D97-AF65-F5344CB8AC3E}">
        <p14:creationId xmlns:p14="http://schemas.microsoft.com/office/powerpoint/2010/main" val="31118289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365760" y="383292"/>
            <a:ext cx="1156716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Method 2: Using Bounded Areas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		</a:t>
            </a:r>
            <a:r>
              <a:rPr kumimoji="0" lang="en-US" altLang="en-US" sz="2400" b="1" i="0" u="none" strike="noStrike" cap="none" normalizeH="0" baseline="0" dirty="0">
                <a:ln>
                  <a:noFill/>
                </a:ln>
                <a:solidFill>
                  <a:schemeClr val="tx1"/>
                </a:solidFill>
                <a:effectLst/>
              </a:rPr>
              <a:t>V(G) = Number of bounded areas + 1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rPr>
              <a:t>Count the distinct </a:t>
            </a:r>
            <a:r>
              <a:rPr kumimoji="0" lang="en-US" altLang="en-US" sz="2400" b="1" i="0" u="none" strike="noStrike" cap="none" normalizeH="0" baseline="0" dirty="0">
                <a:ln>
                  <a:noFill/>
                </a:ln>
                <a:solidFill>
                  <a:schemeClr val="tx1"/>
                </a:solidFill>
                <a:effectLst/>
              </a:rPr>
              <a:t>non-overlapping bounded regions</a:t>
            </a:r>
            <a:r>
              <a:rPr kumimoji="0" lang="en-US" altLang="en-US" sz="2400" b="0" i="0" u="none" strike="noStrike" cap="none" normalizeH="0" baseline="0" dirty="0">
                <a:ln>
                  <a:noFill/>
                </a:ln>
                <a:solidFill>
                  <a:schemeClr val="tx1"/>
                </a:solidFill>
                <a:effectLst/>
              </a:rPr>
              <a:t> (closed loops) in a </a:t>
            </a:r>
            <a:r>
              <a:rPr kumimoji="0" lang="en-US" altLang="en-US" sz="2400" b="1" i="0" u="none" strike="noStrike" cap="none" normalizeH="0" baseline="0" dirty="0">
                <a:ln>
                  <a:noFill/>
                </a:ln>
                <a:solidFill>
                  <a:schemeClr val="tx1"/>
                </a:solidFill>
                <a:effectLst/>
              </a:rPr>
              <a:t>planar CFG</a:t>
            </a:r>
            <a:r>
              <a:rPr kumimoji="0" lang="en-US" altLang="en-US" sz="2400" b="0" i="0" u="none" strike="noStrike" cap="none" normalizeH="0" baseline="0" dirty="0">
                <a:ln>
                  <a:noFill/>
                </a:ln>
                <a:solidFill>
                  <a:schemeClr val="tx1"/>
                </a:solidFill>
                <a:effectLst/>
              </a:rPr>
              <a:t>.</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 </a:t>
            </a:r>
            <a:r>
              <a:rPr kumimoji="0" lang="en-US" altLang="en-US" sz="2400" b="0" i="1" u="none" strike="noStrike" cap="none" normalizeH="0" baseline="0" dirty="0">
                <a:ln>
                  <a:noFill/>
                </a:ln>
                <a:solidFill>
                  <a:schemeClr val="tx1"/>
                </a:solidFill>
                <a:effectLst/>
              </a:rPr>
              <a:t>Example:</a:t>
            </a:r>
            <a:br>
              <a:rPr kumimoji="0" lang="en-US" altLang="en-US" sz="2400" b="0" i="0" u="none" strike="noStrike" cap="none" normalizeH="0" baseline="0" dirty="0">
                <a:ln>
                  <a:noFill/>
                </a:ln>
                <a:solidFill>
                  <a:schemeClr val="tx1"/>
                </a:solidFill>
                <a:effectLst/>
              </a:rPr>
            </a:br>
            <a:r>
              <a:rPr kumimoji="0" lang="en-US" altLang="en-US" sz="2400" b="0" i="0" u="none" strike="noStrike" cap="none" normalizeH="0" baseline="0" dirty="0">
                <a:ln>
                  <a:noFill/>
                </a:ln>
                <a:solidFill>
                  <a:schemeClr val="tx1"/>
                </a:solidFill>
                <a:effectLst/>
              </a:rPr>
              <a:t>	2 bounded areas → V(G) = 2 + 1 = 3</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2060"/>
                </a:solidFill>
                <a:effectLst/>
              </a:rPr>
              <a:t>🔴 </a:t>
            </a:r>
            <a:r>
              <a:rPr kumimoji="0" lang="en-US" altLang="en-US" sz="2400" b="1" i="0" u="none" strike="noStrike" cap="none" normalizeH="0" baseline="0" dirty="0">
                <a:ln>
                  <a:noFill/>
                </a:ln>
                <a:solidFill>
                  <a:srgbClr val="002060"/>
                </a:solidFill>
                <a:effectLst/>
              </a:rPr>
              <a:t>Note:</a:t>
            </a:r>
            <a:r>
              <a:rPr kumimoji="0" lang="en-US" altLang="en-US" sz="2400" b="0" i="0" u="none" strike="noStrike" cap="none" normalizeH="0" baseline="0" dirty="0">
                <a:ln>
                  <a:noFill/>
                </a:ln>
                <a:solidFill>
                  <a:srgbClr val="002060"/>
                </a:solidFill>
                <a:effectLst/>
              </a:rPr>
              <a:t> This method does </a:t>
            </a:r>
            <a:r>
              <a:rPr kumimoji="0" lang="en-US" altLang="en-US" sz="2400" b="1" i="0" u="none" strike="noStrike" cap="none" normalizeH="0" baseline="0" dirty="0">
                <a:ln>
                  <a:noFill/>
                </a:ln>
                <a:solidFill>
                  <a:srgbClr val="002060"/>
                </a:solidFill>
                <a:effectLst/>
              </a:rPr>
              <a:t>not work</a:t>
            </a:r>
            <a:r>
              <a:rPr kumimoji="0" lang="en-US" altLang="en-US" sz="2400" b="0" i="0" u="none" strike="noStrike" cap="none" normalizeH="0" baseline="0" dirty="0">
                <a:ln>
                  <a:noFill/>
                </a:ln>
                <a:solidFill>
                  <a:srgbClr val="002060"/>
                </a:solidFill>
                <a:effectLst/>
              </a:rPr>
              <a:t> for </a:t>
            </a:r>
            <a:r>
              <a:rPr kumimoji="0" lang="en-US" altLang="en-US" sz="2400" b="1" i="0" u="none" strike="noStrike" cap="none" normalizeH="0" baseline="0" dirty="0">
                <a:ln>
                  <a:noFill/>
                </a:ln>
                <a:solidFill>
                  <a:srgbClr val="002060"/>
                </a:solidFill>
                <a:effectLst/>
              </a:rPr>
              <a:t>non-planar graphs</a:t>
            </a:r>
            <a:r>
              <a:rPr kumimoji="0" lang="en-US" altLang="en-US" sz="2400" b="0" i="0" u="none" strike="noStrike" cap="none" normalizeH="0" baseline="0" dirty="0">
                <a:ln>
                  <a:noFill/>
                </a:ln>
                <a:solidFill>
                  <a:srgbClr val="002060"/>
                </a:solidFill>
                <a:effectLst/>
              </a:rPr>
              <a:t> (e.g., those with </a:t>
            </a:r>
            <a:r>
              <a:rPr kumimoji="0" lang="en-US" altLang="en-US" sz="2400" b="0" i="0" u="none" strike="noStrike" cap="none" normalizeH="0" baseline="0" dirty="0" err="1">
                <a:ln>
                  <a:noFill/>
                </a:ln>
                <a:solidFill>
                  <a:srgbClr val="002060"/>
                </a:solidFill>
                <a:effectLst/>
              </a:rPr>
              <a:t>goto</a:t>
            </a:r>
            <a:r>
              <a:rPr kumimoji="0" lang="en-US" altLang="en-US" sz="2400" b="0" i="0" u="none" strike="noStrike" cap="none" normalizeH="0" baseline="0" dirty="0">
                <a:ln>
                  <a:noFill/>
                </a:ln>
                <a:solidFill>
                  <a:srgbClr val="002060"/>
                </a:solidFill>
                <a:effectLst/>
              </a:rPr>
              <a:t> statements).</a:t>
            </a:r>
          </a:p>
        </p:txBody>
      </p:sp>
      <p:sp>
        <p:nvSpPr>
          <p:cNvPr id="4" name="Rectangle 2"/>
          <p:cNvSpPr>
            <a:spLocks noChangeArrowheads="1"/>
          </p:cNvSpPr>
          <p:nvPr/>
        </p:nvSpPr>
        <p:spPr bwMode="auto">
          <a:xfrm>
            <a:off x="365760" y="3338959"/>
            <a:ext cx="1156716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Method 3: Using Decision/Loop Statements</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			V(G)=Number of decision/loop statements+1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Count all if, while, for, switch, etc.</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 </a:t>
            </a:r>
            <a:r>
              <a:rPr kumimoji="0" lang="en-US" altLang="en-US" sz="2400" b="0" i="1" u="none" strike="noStrike" cap="none" normalizeH="0" baseline="0" dirty="0">
                <a:ln>
                  <a:noFill/>
                </a:ln>
                <a:solidFill>
                  <a:schemeClr val="tx1"/>
                </a:solidFill>
                <a:effectLst/>
              </a:rPr>
              <a:t>Example:</a:t>
            </a:r>
            <a:br>
              <a:rPr kumimoji="0" lang="en-US" altLang="en-US" sz="2400" b="0" i="0" u="none" strike="noStrike" cap="none" normalizeH="0" baseline="0" dirty="0">
                <a:ln>
                  <a:noFill/>
                </a:ln>
                <a:solidFill>
                  <a:schemeClr val="tx1"/>
                </a:solidFill>
                <a:effectLst/>
              </a:rPr>
            </a:br>
            <a:r>
              <a:rPr kumimoji="0" lang="en-US" altLang="en-US" sz="2400" b="0" i="0" u="none" strike="noStrike" cap="none" normalizeH="0" baseline="0" dirty="0">
                <a:ln>
                  <a:noFill/>
                </a:ln>
                <a:solidFill>
                  <a:schemeClr val="tx1"/>
                </a:solidFill>
                <a:effectLst/>
              </a:rPr>
              <a:t>	2 decisions → V(G) = 2 + 1 = 3</a:t>
            </a:r>
          </a:p>
        </p:txBody>
      </p:sp>
      <p:sp>
        <p:nvSpPr>
          <p:cNvPr id="2" name="Date Placeholder 1">
            <a:extLst>
              <a:ext uri="{FF2B5EF4-FFF2-40B4-BE49-F238E27FC236}">
                <a16:creationId xmlns:a16="http://schemas.microsoft.com/office/drawing/2014/main" id="{D1CCA68B-286B-00F2-340B-D5DBE8FE5722}"/>
              </a:ext>
            </a:extLst>
          </p:cNvPr>
          <p:cNvSpPr>
            <a:spLocks noGrp="1"/>
          </p:cNvSpPr>
          <p:nvPr>
            <p:ph type="dt" sz="half" idx="10"/>
          </p:nvPr>
        </p:nvSpPr>
        <p:spPr/>
        <p:txBody>
          <a:bodyPr/>
          <a:lstStyle/>
          <a:p>
            <a:fld id="{7AB5473B-BA52-48F5-8CA4-976DD75263DC}" type="datetime1">
              <a:rPr lang="en-IN" smtClean="0"/>
              <a:t>03-11-2025</a:t>
            </a:fld>
            <a:endParaRPr lang="en-IN"/>
          </a:p>
        </p:txBody>
      </p:sp>
      <p:sp>
        <p:nvSpPr>
          <p:cNvPr id="5" name="Footer Placeholder 4">
            <a:extLst>
              <a:ext uri="{FF2B5EF4-FFF2-40B4-BE49-F238E27FC236}">
                <a16:creationId xmlns:a16="http://schemas.microsoft.com/office/drawing/2014/main" id="{5C652BDE-EA9D-CFC6-87B8-AE3583CA31FC}"/>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0E46926F-FD67-1DF9-CD41-E903D1006E4B}"/>
              </a:ext>
            </a:extLst>
          </p:cNvPr>
          <p:cNvSpPr>
            <a:spLocks noGrp="1"/>
          </p:cNvSpPr>
          <p:nvPr>
            <p:ph type="sldNum" sz="quarter" idx="12"/>
          </p:nvPr>
        </p:nvSpPr>
        <p:spPr/>
        <p:txBody>
          <a:bodyPr/>
          <a:lstStyle/>
          <a:p>
            <a:fld id="{157E8F69-36B6-4843-A9CE-6B9353F4DBAF}" type="slidenum">
              <a:rPr lang="en-IN" smtClean="0"/>
              <a:t>63</a:t>
            </a:fld>
            <a:endParaRPr lang="en-IN"/>
          </a:p>
        </p:txBody>
      </p:sp>
    </p:spTree>
    <p:extLst>
      <p:ext uri="{BB962C8B-B14F-4D97-AF65-F5344CB8AC3E}">
        <p14:creationId xmlns:p14="http://schemas.microsoft.com/office/powerpoint/2010/main" val="14368171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686E482-4F49-BFFA-A98C-147791959AC3}"/>
              </a:ext>
            </a:extLst>
          </p:cNvPr>
          <p:cNvSpPr>
            <a:spLocks noGrp="1"/>
          </p:cNvSpPr>
          <p:nvPr>
            <p:ph type="dt" sz="half" idx="10"/>
          </p:nvPr>
        </p:nvSpPr>
        <p:spPr/>
        <p:txBody>
          <a:bodyPr/>
          <a:lstStyle/>
          <a:p>
            <a:fld id="{F8E011B5-E856-4942-87BA-BEDC0539DA11}" type="datetime1">
              <a:rPr lang="en-IN" smtClean="0"/>
              <a:t>03-11-2025</a:t>
            </a:fld>
            <a:endParaRPr lang="en-IN"/>
          </a:p>
        </p:txBody>
      </p:sp>
      <p:sp>
        <p:nvSpPr>
          <p:cNvPr id="4" name="Footer Placeholder 3">
            <a:extLst>
              <a:ext uri="{FF2B5EF4-FFF2-40B4-BE49-F238E27FC236}">
                <a16:creationId xmlns:a16="http://schemas.microsoft.com/office/drawing/2014/main" id="{08C688A3-5657-EF78-D304-275AFA363866}"/>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3F228570-2242-764D-3789-B38FF03C7C26}"/>
              </a:ext>
            </a:extLst>
          </p:cNvPr>
          <p:cNvSpPr>
            <a:spLocks noGrp="1"/>
          </p:cNvSpPr>
          <p:nvPr>
            <p:ph type="sldNum" sz="quarter" idx="12"/>
          </p:nvPr>
        </p:nvSpPr>
        <p:spPr/>
        <p:txBody>
          <a:bodyPr/>
          <a:lstStyle/>
          <a:p>
            <a:fld id="{157E8F69-36B6-4843-A9CE-6B9353F4DBAF}" type="slidenum">
              <a:rPr lang="en-IN" smtClean="0"/>
              <a:t>64</a:t>
            </a:fld>
            <a:endParaRPr lang="en-IN"/>
          </a:p>
        </p:txBody>
      </p:sp>
      <p:sp>
        <p:nvSpPr>
          <p:cNvPr id="7" name="TextBox 6">
            <a:extLst>
              <a:ext uri="{FF2B5EF4-FFF2-40B4-BE49-F238E27FC236}">
                <a16:creationId xmlns:a16="http://schemas.microsoft.com/office/drawing/2014/main" id="{DC683818-4430-7033-4CF8-13E073408B02}"/>
              </a:ext>
            </a:extLst>
          </p:cNvPr>
          <p:cNvSpPr txBox="1"/>
          <p:nvPr/>
        </p:nvSpPr>
        <p:spPr>
          <a:xfrm>
            <a:off x="185166" y="136525"/>
            <a:ext cx="6094476" cy="3046988"/>
          </a:xfrm>
          <a:prstGeom prst="rect">
            <a:avLst/>
          </a:prstGeom>
          <a:noFill/>
        </p:spPr>
        <p:txBody>
          <a:bodyPr wrap="square">
            <a:spAutoFit/>
          </a:bodyPr>
          <a:lstStyle/>
          <a:p>
            <a:pPr>
              <a:buNone/>
            </a:pPr>
            <a:r>
              <a:rPr lang="en-US" sz="2400" b="1" dirty="0"/>
              <a:t>Count the following statements:</a:t>
            </a:r>
          </a:p>
          <a:p>
            <a:pPr>
              <a:buNone/>
            </a:pPr>
            <a:r>
              <a:rPr lang="en-US" sz="2400" dirty="0"/>
              <a:t>✅ </a:t>
            </a:r>
            <a:r>
              <a:rPr lang="en-US" sz="2400" dirty="0">
                <a:latin typeface="Courier New" panose="02070309020205020404" pitchFamily="49" charset="0"/>
              </a:rPr>
              <a:t>if</a:t>
            </a:r>
            <a:br>
              <a:rPr lang="en-US" sz="2400" dirty="0"/>
            </a:br>
            <a:r>
              <a:rPr lang="en-US" sz="2400" dirty="0"/>
              <a:t>✅ </a:t>
            </a:r>
            <a:r>
              <a:rPr lang="en-US" sz="2400" dirty="0">
                <a:latin typeface="Courier New" panose="02070309020205020404" pitchFamily="49" charset="0"/>
              </a:rPr>
              <a:t>else if</a:t>
            </a:r>
            <a:br>
              <a:rPr lang="en-US" sz="2400" dirty="0"/>
            </a:br>
            <a:r>
              <a:rPr lang="en-US" sz="2400" dirty="0"/>
              <a:t>✅ </a:t>
            </a:r>
            <a:r>
              <a:rPr lang="en-US" sz="2400" dirty="0">
                <a:latin typeface="Courier New" panose="02070309020205020404" pitchFamily="49" charset="0"/>
              </a:rPr>
              <a:t>while</a:t>
            </a:r>
            <a:br>
              <a:rPr lang="en-US" sz="2400" dirty="0"/>
            </a:br>
            <a:r>
              <a:rPr lang="en-US" sz="2400" dirty="0"/>
              <a:t>✅ </a:t>
            </a:r>
            <a:r>
              <a:rPr lang="en-US" sz="2400" dirty="0">
                <a:latin typeface="Courier New" panose="02070309020205020404" pitchFamily="49" charset="0"/>
              </a:rPr>
              <a:t>for</a:t>
            </a:r>
            <a:br>
              <a:rPr lang="en-US" sz="2400" dirty="0"/>
            </a:br>
            <a:r>
              <a:rPr lang="en-US" sz="2400" dirty="0"/>
              <a:t>✅ </a:t>
            </a:r>
            <a:r>
              <a:rPr lang="en-US" sz="2400" dirty="0">
                <a:latin typeface="Courier New" panose="02070309020205020404" pitchFamily="49" charset="0"/>
              </a:rPr>
              <a:t>do-while</a:t>
            </a:r>
            <a:br>
              <a:rPr lang="en-US" sz="2400" dirty="0"/>
            </a:br>
            <a:r>
              <a:rPr lang="en-US" sz="2400" dirty="0"/>
              <a:t>✅ </a:t>
            </a:r>
            <a:r>
              <a:rPr lang="en-US" sz="2400" dirty="0">
                <a:latin typeface="Courier New" panose="02070309020205020404" pitchFamily="49" charset="0"/>
              </a:rPr>
              <a:t>switch</a:t>
            </a:r>
            <a:br>
              <a:rPr lang="en-US" sz="2400" dirty="0"/>
            </a:br>
            <a:r>
              <a:rPr lang="en-US" sz="2400" dirty="0"/>
              <a:t>✅ Conditional operator </a:t>
            </a:r>
            <a:r>
              <a:rPr lang="en-US" sz="2400" dirty="0">
                <a:latin typeface="Courier New" panose="02070309020205020404" pitchFamily="49" charset="0"/>
              </a:rPr>
              <a:t>?:</a:t>
            </a:r>
            <a:r>
              <a:rPr lang="en-US" sz="2400" dirty="0"/>
              <a:t> (in some cases)</a:t>
            </a:r>
          </a:p>
        </p:txBody>
      </p:sp>
      <p:sp>
        <p:nvSpPr>
          <p:cNvPr id="9" name="TextBox 8">
            <a:extLst>
              <a:ext uri="{FF2B5EF4-FFF2-40B4-BE49-F238E27FC236}">
                <a16:creationId xmlns:a16="http://schemas.microsoft.com/office/drawing/2014/main" id="{D98EF5E4-7C5D-5978-1070-7F7BC9C3CF3F}"/>
              </a:ext>
            </a:extLst>
          </p:cNvPr>
          <p:cNvSpPr txBox="1"/>
          <p:nvPr/>
        </p:nvSpPr>
        <p:spPr>
          <a:xfrm>
            <a:off x="2077974" y="3493669"/>
            <a:ext cx="1680210" cy="2677656"/>
          </a:xfrm>
          <a:prstGeom prst="rect">
            <a:avLst/>
          </a:prstGeom>
          <a:noFill/>
        </p:spPr>
        <p:txBody>
          <a:bodyPr wrap="square">
            <a:spAutoFit/>
          </a:bodyPr>
          <a:lstStyle/>
          <a:p>
            <a:r>
              <a:rPr lang="en-US" sz="2400" dirty="0"/>
              <a:t>if (x &gt; 0)</a:t>
            </a:r>
          </a:p>
          <a:p>
            <a:r>
              <a:rPr lang="en-US" sz="2400" dirty="0"/>
              <a:t>    y++;</a:t>
            </a:r>
          </a:p>
          <a:p>
            <a:r>
              <a:rPr lang="en-US" sz="2400" dirty="0"/>
              <a:t>else</a:t>
            </a:r>
          </a:p>
          <a:p>
            <a:r>
              <a:rPr lang="en-US" sz="2400" dirty="0"/>
              <a:t>    y--;</a:t>
            </a:r>
          </a:p>
          <a:p>
            <a:r>
              <a:rPr lang="en-US" sz="2400" dirty="0"/>
              <a:t>while (y &lt; 10)</a:t>
            </a:r>
          </a:p>
          <a:p>
            <a:r>
              <a:rPr lang="en-US" sz="2400" dirty="0"/>
              <a:t>    y++;</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BAF1D2C-D8B7-D0E4-46DB-319625262B0D}"/>
                  </a:ext>
                </a:extLst>
              </p:cNvPr>
              <p:cNvSpPr txBox="1"/>
              <p:nvPr/>
            </p:nvSpPr>
            <p:spPr>
              <a:xfrm>
                <a:off x="6560820" y="3658200"/>
                <a:ext cx="4448556" cy="1938992"/>
              </a:xfrm>
              <a:prstGeom prst="rect">
                <a:avLst/>
              </a:prstGeom>
              <a:noFill/>
            </p:spPr>
            <p:txBody>
              <a:bodyPr wrap="square">
                <a:spAutoFit/>
              </a:bodyPr>
              <a:lstStyle/>
              <a:p>
                <a:pPr>
                  <a:buNone/>
                </a:pPr>
                <a:r>
                  <a:rPr lang="en-US" sz="2400" dirty="0"/>
                  <a:t>Here:</a:t>
                </a:r>
              </a:p>
              <a:p>
                <a:pPr>
                  <a:buFont typeface="Arial" panose="020B0604020202020204" pitchFamily="34" charset="0"/>
                  <a:buChar char="•"/>
                </a:pPr>
                <a:r>
                  <a:rPr lang="en-US" sz="2400" dirty="0">
                    <a:latin typeface="Courier New" panose="02070309020205020404" pitchFamily="49" charset="0"/>
                  </a:rPr>
                  <a:t>if</a:t>
                </a:r>
                <a:r>
                  <a:rPr lang="en-US" sz="2400" dirty="0"/>
                  <a:t> → 1 decision</a:t>
                </a:r>
              </a:p>
              <a:p>
                <a:pPr>
                  <a:buFont typeface="Arial" panose="020B0604020202020204" pitchFamily="34" charset="0"/>
                  <a:buChar char="•"/>
                </a:pPr>
                <a:r>
                  <a:rPr lang="en-US" sz="2400" dirty="0">
                    <a:latin typeface="Courier New" panose="02070309020205020404" pitchFamily="49" charset="0"/>
                  </a:rPr>
                  <a:t>while</a:t>
                </a:r>
                <a:r>
                  <a:rPr lang="en-US" sz="2400" dirty="0"/>
                  <a:t> → 1 loop</a:t>
                </a:r>
              </a:p>
              <a:p>
                <a:pPr>
                  <a:buNone/>
                </a:pPr>
                <a:r>
                  <a:rPr lang="en-US" sz="2400" dirty="0"/>
                  <a:t>Total decisions/loops = 2</a:t>
                </a:r>
              </a:p>
              <a:p>
                <a:pPr>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𝑉</m:t>
                      </m:r>
                      <m:d>
                        <m:dPr>
                          <m:ctrlPr>
                            <a:rPr lang="ar-AE" sz="2400" i="1">
                              <a:latin typeface="Cambria Math" panose="02040503050406030204" pitchFamily="18" charset="0"/>
                            </a:rPr>
                          </m:ctrlPr>
                        </m:dPr>
                        <m:e>
                          <m:r>
                            <a:rPr lang="ar-AE" sz="2400" i="1">
                              <a:latin typeface="Cambria Math" panose="02040503050406030204" pitchFamily="18" charset="0"/>
                            </a:rPr>
                            <m:t>𝐺</m:t>
                          </m:r>
                        </m:e>
                      </m:d>
                      <m:r>
                        <a:rPr lang="ar-AE" sz="2400" i="0">
                          <a:latin typeface="Cambria Math" panose="02040503050406030204" pitchFamily="18" charset="0"/>
                        </a:rPr>
                        <m:t>=</m:t>
                      </m:r>
                      <m:r>
                        <a:rPr lang="ar-AE" sz="2400" i="0">
                          <a:latin typeface="Cambria Math" panose="02040503050406030204" pitchFamily="18" charset="0"/>
                        </a:rPr>
                        <m:t>2</m:t>
                      </m:r>
                      <m:r>
                        <a:rPr lang="ar-AE" sz="2400" i="0">
                          <a:latin typeface="Cambria Math" panose="02040503050406030204" pitchFamily="18" charset="0"/>
                        </a:rPr>
                        <m:t>+</m:t>
                      </m:r>
                      <m:r>
                        <a:rPr lang="ar-AE" sz="2400" i="0">
                          <a:latin typeface="Cambria Math" panose="02040503050406030204" pitchFamily="18" charset="0"/>
                        </a:rPr>
                        <m:t>1</m:t>
                      </m:r>
                      <m:r>
                        <a:rPr lang="ar-AE" sz="2400" i="0">
                          <a:latin typeface="Cambria Math" panose="02040503050406030204" pitchFamily="18" charset="0"/>
                        </a:rPr>
                        <m:t>=</m:t>
                      </m:r>
                      <m:r>
                        <a:rPr lang="ar-AE" sz="2400" i="0">
                          <a:latin typeface="Cambria Math" panose="02040503050406030204" pitchFamily="18" charset="0"/>
                        </a:rPr>
                        <m:t>3</m:t>
                      </m:r>
                    </m:oMath>
                  </m:oMathPara>
                </a14:m>
                <a:endParaRPr lang="ar-AE" sz="2400" dirty="0"/>
              </a:p>
            </p:txBody>
          </p:sp>
        </mc:Choice>
        <mc:Fallback xmlns="">
          <p:sp>
            <p:nvSpPr>
              <p:cNvPr id="11" name="TextBox 10">
                <a:extLst>
                  <a:ext uri="{FF2B5EF4-FFF2-40B4-BE49-F238E27FC236}">
                    <a16:creationId xmlns:a16="http://schemas.microsoft.com/office/drawing/2014/main" id="{8BAF1D2C-D8B7-D0E4-46DB-319625262B0D}"/>
                  </a:ext>
                </a:extLst>
              </p:cNvPr>
              <p:cNvSpPr txBox="1">
                <a:spLocks noRot="1" noChangeAspect="1" noMove="1" noResize="1" noEditPoints="1" noAdjustHandles="1" noChangeArrowheads="1" noChangeShapeType="1" noTextEdit="1"/>
              </p:cNvSpPr>
              <p:nvPr/>
            </p:nvSpPr>
            <p:spPr>
              <a:xfrm>
                <a:off x="6560820" y="3658200"/>
                <a:ext cx="4448556" cy="1938992"/>
              </a:xfrm>
              <a:prstGeom prst="rect">
                <a:avLst/>
              </a:prstGeom>
              <a:blipFill>
                <a:blip r:embed="rId2"/>
                <a:stretch>
                  <a:fillRect l="-2055" t="-2516"/>
                </a:stretch>
              </a:blipFill>
            </p:spPr>
            <p:txBody>
              <a:bodyPr/>
              <a:lstStyle/>
              <a:p>
                <a:r>
                  <a:rPr lang="en-US">
                    <a:noFill/>
                  </a:rPr>
                  <a:t> </a:t>
                </a:r>
              </a:p>
            </p:txBody>
          </p:sp>
        </mc:Fallback>
      </mc:AlternateContent>
    </p:spTree>
    <p:extLst>
      <p:ext uri="{BB962C8B-B14F-4D97-AF65-F5344CB8AC3E}">
        <p14:creationId xmlns:p14="http://schemas.microsoft.com/office/powerpoint/2010/main" val="42558096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335281" y="283755"/>
            <a:ext cx="1154402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 Interpretation</a:t>
            </a:r>
          </a:p>
          <a:p>
            <a:pPr marL="800100" lvl="1" indent="-342900" algn="just"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A higher V(G) indicates </a:t>
            </a:r>
            <a:r>
              <a:rPr kumimoji="0" lang="en-US" altLang="en-US" sz="2400" b="1" i="0" u="none" strike="noStrike" cap="none" normalizeH="0" baseline="0" dirty="0">
                <a:ln>
                  <a:noFill/>
                </a:ln>
                <a:solidFill>
                  <a:schemeClr val="tx1"/>
                </a:solidFill>
                <a:effectLst/>
              </a:rPr>
              <a:t>more complex code</a:t>
            </a:r>
            <a:r>
              <a:rPr kumimoji="0" lang="en-US" altLang="en-US" sz="2400" b="0" i="0" u="none" strike="noStrike" cap="none" normalizeH="0" baseline="0" dirty="0">
                <a:ln>
                  <a:noFill/>
                </a:ln>
                <a:solidFill>
                  <a:schemeClr val="tx1"/>
                </a:solidFill>
                <a:effectLst/>
              </a:rPr>
              <a:t>, requiring </a:t>
            </a:r>
            <a:r>
              <a:rPr kumimoji="0" lang="en-US" altLang="en-US" sz="2400" b="1" i="0" u="none" strike="noStrike" cap="none" normalizeH="0" baseline="0" dirty="0">
                <a:ln>
                  <a:noFill/>
                </a:ln>
                <a:solidFill>
                  <a:schemeClr val="tx1"/>
                </a:solidFill>
                <a:effectLst/>
              </a:rPr>
              <a:t>more test cases</a:t>
            </a:r>
            <a:r>
              <a:rPr kumimoji="0" lang="en-US" altLang="en-US" sz="2400" b="0" i="0" u="none" strike="noStrike" cap="none" normalizeH="0" baseline="0" dirty="0">
                <a:ln>
                  <a:noFill/>
                </a:ln>
                <a:solidFill>
                  <a:schemeClr val="tx1"/>
                </a:solidFill>
                <a:effectLst/>
              </a:rPr>
              <a:t>.</a:t>
            </a:r>
          </a:p>
          <a:p>
            <a:pPr marL="800100" lvl="1" indent="-342900" algn="just"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Typically, V(G) ≤ 10 is acceptable. Beyond that, functions are considered </a:t>
            </a:r>
            <a:r>
              <a:rPr kumimoji="0" lang="en-US" altLang="en-US" sz="2400" b="1" i="0" u="none" strike="noStrike" cap="none" normalizeH="0" baseline="0" dirty="0">
                <a:ln>
                  <a:noFill/>
                </a:ln>
                <a:solidFill>
                  <a:schemeClr val="tx1"/>
                </a:solidFill>
                <a:effectLst/>
              </a:rPr>
              <a:t>too complex</a:t>
            </a:r>
            <a:r>
              <a:rPr kumimoji="0" lang="en-US" altLang="en-US" sz="2400" b="0" i="0" u="none" strike="noStrike" cap="none" normalizeH="0" baseline="0" dirty="0">
                <a:ln>
                  <a:noFill/>
                </a:ln>
                <a:solidFill>
                  <a:schemeClr val="tx1"/>
                </a:solidFill>
                <a:effectLst/>
              </a:rPr>
              <a:t>.</a:t>
            </a:r>
          </a:p>
        </p:txBody>
      </p:sp>
      <p:sp>
        <p:nvSpPr>
          <p:cNvPr id="4" name="Rectangle 2"/>
          <p:cNvSpPr>
            <a:spLocks noChangeArrowheads="1"/>
          </p:cNvSpPr>
          <p:nvPr/>
        </p:nvSpPr>
        <p:spPr bwMode="auto">
          <a:xfrm>
            <a:off x="335281" y="1666814"/>
            <a:ext cx="11544028"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ts val="600"/>
              </a:spcBef>
              <a:spcAft>
                <a:spcPct val="0"/>
              </a:spcAft>
              <a:buClrTx/>
              <a:buSzTx/>
              <a:buFontTx/>
              <a:buNone/>
              <a:tabLst/>
            </a:pPr>
            <a:r>
              <a:rPr kumimoji="0" lang="en-US" altLang="en-US" sz="2400" b="1" i="0" u="sng" strike="noStrike" cap="none" normalizeH="0" baseline="0" dirty="0">
                <a:ln>
                  <a:noFill/>
                </a:ln>
                <a:solidFill>
                  <a:schemeClr val="tx1"/>
                </a:solidFill>
                <a:effectLst/>
              </a:rPr>
              <a:t>🧪 Using McCabe’s Metric for Path Testing</a:t>
            </a:r>
          </a:p>
          <a:p>
            <a:pPr marL="0" marR="0" lvl="0" indent="0" algn="just" defTabSz="914400" rtl="0" eaLnBrk="0" fontAlgn="base" latinLnBrk="0" hangingPunct="0">
              <a:spcBef>
                <a:spcPts val="600"/>
              </a:spcBef>
              <a:spcAft>
                <a:spcPct val="0"/>
              </a:spcAft>
              <a:buClrTx/>
              <a:buSzTx/>
              <a:buFontTx/>
              <a:buNone/>
              <a:tabLst/>
            </a:pPr>
            <a:r>
              <a:rPr kumimoji="0" lang="en-US" altLang="en-US" sz="2400" b="1" i="0" u="none" strike="noStrike" cap="none" normalizeH="0" baseline="0" dirty="0">
                <a:ln>
                  <a:noFill/>
                </a:ln>
                <a:solidFill>
                  <a:schemeClr val="tx1"/>
                </a:solidFill>
                <a:effectLst/>
              </a:rPr>
              <a:t>🚶 Steps to Perform Path Coverage Testing</a:t>
            </a:r>
          </a:p>
          <a:p>
            <a:pPr lvl="1" algn="just" eaLnBrk="0" fontAlgn="base" hangingPunct="0">
              <a:spcBef>
                <a:spcPts val="600"/>
              </a:spcBef>
              <a:spcAft>
                <a:spcPct val="0"/>
              </a:spcAft>
              <a:buFontTx/>
              <a:buAutoNum type="arabicPeriod"/>
            </a:pPr>
            <a:r>
              <a:rPr kumimoji="0" lang="en-US" altLang="en-US" sz="2400" b="1" i="0" u="none" strike="noStrike" cap="none" normalizeH="0" baseline="0" dirty="0">
                <a:ln>
                  <a:noFill/>
                </a:ln>
                <a:solidFill>
                  <a:schemeClr val="tx1"/>
                </a:solidFill>
                <a:effectLst/>
              </a:rPr>
              <a:t>Draw</a:t>
            </a:r>
            <a:r>
              <a:rPr kumimoji="0" lang="en-US" altLang="en-US" sz="2400" b="0" i="0" u="none" strike="noStrike" cap="none" normalizeH="0" baseline="0" dirty="0">
                <a:ln>
                  <a:noFill/>
                </a:ln>
                <a:solidFill>
                  <a:schemeClr val="tx1"/>
                </a:solidFill>
                <a:effectLst/>
              </a:rPr>
              <a:t> the control flow graph (CFG) of the program.</a:t>
            </a:r>
          </a:p>
          <a:p>
            <a:pPr lvl="1" algn="just" eaLnBrk="0" fontAlgn="base" hangingPunct="0">
              <a:spcBef>
                <a:spcPts val="600"/>
              </a:spcBef>
              <a:spcAft>
                <a:spcPct val="0"/>
              </a:spcAft>
              <a:buFontTx/>
              <a:buAutoNum type="arabicPeriod"/>
            </a:pPr>
            <a:r>
              <a:rPr kumimoji="0" lang="en-US" altLang="en-US" sz="2400" b="1" i="0" u="none" strike="noStrike" cap="none" normalizeH="0" baseline="0" dirty="0">
                <a:ln>
                  <a:noFill/>
                </a:ln>
                <a:solidFill>
                  <a:schemeClr val="tx1"/>
                </a:solidFill>
                <a:effectLst/>
              </a:rPr>
              <a:t>Compute</a:t>
            </a:r>
            <a:r>
              <a:rPr kumimoji="0" lang="en-US" altLang="en-US" sz="2400" b="0" i="0" u="none" strike="noStrike" cap="none" normalizeH="0" baseline="0" dirty="0">
                <a:ln>
                  <a:noFill/>
                </a:ln>
                <a:solidFill>
                  <a:schemeClr val="tx1"/>
                </a:solidFill>
                <a:effectLst/>
              </a:rPr>
              <a:t> cyclomatic complexity V(G) using one of the above methods.</a:t>
            </a:r>
          </a:p>
          <a:p>
            <a:pPr lvl="1" algn="just" eaLnBrk="0" fontAlgn="base" hangingPunct="0">
              <a:spcBef>
                <a:spcPts val="600"/>
              </a:spcBef>
              <a:spcAft>
                <a:spcPct val="0"/>
              </a:spcAft>
              <a:buFontTx/>
              <a:buAutoNum type="arabicPeriod"/>
            </a:pPr>
            <a:r>
              <a:rPr kumimoji="0" lang="en-US" altLang="en-US" sz="2400" b="1" i="0" u="none" strike="noStrike" cap="none" normalizeH="0" baseline="0" dirty="0">
                <a:ln>
                  <a:noFill/>
                </a:ln>
                <a:solidFill>
                  <a:schemeClr val="tx1"/>
                </a:solidFill>
                <a:effectLst/>
              </a:rPr>
              <a:t>Determine</a:t>
            </a:r>
            <a:r>
              <a:rPr kumimoji="0" lang="en-US" altLang="en-US" sz="2400" b="0" i="0" u="none" strike="noStrike" cap="none" normalizeH="0" baseline="0" dirty="0">
                <a:ln>
                  <a:noFill/>
                </a:ln>
                <a:solidFill>
                  <a:schemeClr val="tx1"/>
                </a:solidFill>
                <a:effectLst/>
              </a:rPr>
              <a:t> the minimum number of test cases needed = V(G).</a:t>
            </a:r>
          </a:p>
          <a:p>
            <a:pPr lvl="1" algn="just" eaLnBrk="0" fontAlgn="base" hangingPunct="0">
              <a:spcBef>
                <a:spcPts val="600"/>
              </a:spcBef>
              <a:spcAft>
                <a:spcPct val="0"/>
              </a:spcAft>
              <a:buFontTx/>
              <a:buAutoNum type="arabicPeriod"/>
            </a:pPr>
            <a:r>
              <a:rPr kumimoji="0" lang="en-US" altLang="en-US" sz="2400" b="1" i="0" u="none" strike="noStrike" cap="none" normalizeH="0" baseline="0" dirty="0">
                <a:ln>
                  <a:noFill/>
                </a:ln>
                <a:solidFill>
                  <a:schemeClr val="tx1"/>
                </a:solidFill>
                <a:effectLst/>
              </a:rPr>
              <a:t>Generate</a:t>
            </a:r>
            <a:r>
              <a:rPr kumimoji="0" lang="en-US" altLang="en-US" sz="2400" b="0" i="0" u="none" strike="noStrike" cap="none" normalizeH="0" baseline="0" dirty="0">
                <a:ln>
                  <a:noFill/>
                </a:ln>
                <a:solidFill>
                  <a:schemeClr val="tx1"/>
                </a:solidFill>
                <a:effectLst/>
              </a:rPr>
              <a:t> test cases (often random inputs).</a:t>
            </a:r>
          </a:p>
          <a:p>
            <a:pPr lvl="1" algn="just" eaLnBrk="0" fontAlgn="base" hangingPunct="0">
              <a:spcBef>
                <a:spcPts val="600"/>
              </a:spcBef>
              <a:spcAft>
                <a:spcPct val="0"/>
              </a:spcAft>
              <a:buFontTx/>
              <a:buAutoNum type="arabicPeriod"/>
            </a:pPr>
            <a:r>
              <a:rPr kumimoji="0" lang="en-US" altLang="en-US" sz="2400" b="1" i="0" u="none" strike="noStrike" cap="none" normalizeH="0" baseline="0" dirty="0">
                <a:ln>
                  <a:noFill/>
                </a:ln>
                <a:solidFill>
                  <a:schemeClr val="tx1"/>
                </a:solidFill>
                <a:effectLst/>
              </a:rPr>
              <a:t>Execute</a:t>
            </a:r>
            <a:r>
              <a:rPr kumimoji="0" lang="en-US" altLang="en-US" sz="2400" b="0" i="0" u="none" strike="noStrike" cap="none" normalizeH="0" baseline="0" dirty="0">
                <a:ln>
                  <a:noFill/>
                </a:ln>
                <a:solidFill>
                  <a:schemeClr val="tx1"/>
                </a:solidFill>
                <a:effectLst/>
              </a:rPr>
              <a:t> and monitor path coverage with tools (like dynamic program analyzers).</a:t>
            </a:r>
          </a:p>
          <a:p>
            <a:pPr lvl="1" algn="just" eaLnBrk="0" fontAlgn="base" hangingPunct="0">
              <a:spcBef>
                <a:spcPts val="600"/>
              </a:spcBef>
              <a:spcAft>
                <a:spcPct val="0"/>
              </a:spcAft>
              <a:buFontTx/>
              <a:buAutoNum type="arabicPeriod"/>
            </a:pPr>
            <a:r>
              <a:rPr kumimoji="0" lang="en-US" altLang="en-US" sz="2400" b="1" i="0" u="none" strike="noStrike" cap="none" normalizeH="0" baseline="0" dirty="0">
                <a:ln>
                  <a:noFill/>
                </a:ln>
                <a:solidFill>
                  <a:schemeClr val="tx1"/>
                </a:solidFill>
                <a:effectLst/>
              </a:rPr>
              <a:t>Repeat</a:t>
            </a:r>
            <a:r>
              <a:rPr kumimoji="0" lang="en-US" altLang="en-US" sz="2400" b="0" i="0" u="none" strike="noStrike" cap="none" normalizeH="0" baseline="0" dirty="0">
                <a:ln>
                  <a:noFill/>
                </a:ln>
                <a:solidFill>
                  <a:schemeClr val="tx1"/>
                </a:solidFill>
                <a:effectLst/>
              </a:rPr>
              <a:t> until ≥90% path coverage is achieved.</a:t>
            </a:r>
          </a:p>
          <a:p>
            <a:pPr marL="0" marR="0" lvl="0" indent="0" algn="just" defTabSz="914400" rtl="0" eaLnBrk="0" fontAlgn="base" latinLnBrk="0" hangingPunct="0">
              <a:spcBef>
                <a:spcPts val="600"/>
              </a:spcBef>
              <a:spcAft>
                <a:spcPct val="0"/>
              </a:spcAft>
              <a:buClrTx/>
              <a:buSzTx/>
              <a:buFontTx/>
              <a:buNone/>
              <a:tabLst/>
            </a:pPr>
            <a:r>
              <a:rPr kumimoji="0" lang="en-US" altLang="en-US" sz="2400" b="0" i="0" u="none" strike="noStrike" cap="none" normalizeH="0" baseline="0" dirty="0">
                <a:ln>
                  <a:noFill/>
                </a:ln>
                <a:solidFill>
                  <a:schemeClr val="tx1"/>
                </a:solidFill>
                <a:effectLst/>
              </a:rPr>
              <a:t>🟡 </a:t>
            </a:r>
            <a:r>
              <a:rPr kumimoji="0" lang="en-US" altLang="en-US" sz="2400" b="0" i="1" u="none" strike="noStrike" cap="none" normalizeH="0" baseline="0" dirty="0">
                <a:ln>
                  <a:noFill/>
                </a:ln>
                <a:solidFill>
                  <a:schemeClr val="tx1"/>
                </a:solidFill>
                <a:effectLst/>
              </a:rPr>
              <a:t>Note:</a:t>
            </a:r>
            <a:r>
              <a:rPr kumimoji="0" lang="en-US" altLang="en-US" sz="2400" b="0" i="0" u="none" strike="noStrike" cap="none" normalizeH="0" baseline="0" dirty="0">
                <a:ln>
                  <a:noFill/>
                </a:ln>
                <a:solidFill>
                  <a:schemeClr val="tx1"/>
                </a:solidFill>
                <a:effectLst/>
              </a:rPr>
              <a:t> Full 100% path coverage is </a:t>
            </a:r>
            <a:r>
              <a:rPr kumimoji="0" lang="en-US" altLang="en-US" sz="2400" b="1" i="0" u="none" strike="noStrike" cap="none" normalizeH="0" baseline="0" dirty="0">
                <a:ln>
                  <a:noFill/>
                </a:ln>
                <a:solidFill>
                  <a:schemeClr val="tx1"/>
                </a:solidFill>
                <a:effectLst/>
              </a:rPr>
              <a:t>not practical</a:t>
            </a:r>
            <a:r>
              <a:rPr kumimoji="0" lang="en-US" altLang="en-US" sz="2400" b="0" i="0" u="none" strike="noStrike" cap="none" normalizeH="0" baseline="0" dirty="0">
                <a:ln>
                  <a:noFill/>
                </a:ln>
                <a:solidFill>
                  <a:schemeClr val="tx1"/>
                </a:solidFill>
                <a:effectLst/>
              </a:rPr>
              <a:t> due to:</a:t>
            </a:r>
          </a:p>
          <a:p>
            <a:pPr marL="800100" lvl="1" indent="-342900" algn="just" eaLnBrk="0" fontAlgn="base" hangingPunct="0">
              <a:spcBef>
                <a:spcPts val="60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Infeasible paths</a:t>
            </a:r>
            <a:r>
              <a:rPr kumimoji="0" lang="en-US" altLang="en-US" sz="2400" b="0" i="0" u="none" strike="noStrike" cap="none" normalizeH="0" baseline="0" dirty="0">
                <a:ln>
                  <a:noFill/>
                </a:ln>
                <a:solidFill>
                  <a:schemeClr val="tx1"/>
                </a:solidFill>
                <a:effectLst/>
              </a:rPr>
              <a:t> (e.g., contradictory conditions)</a:t>
            </a:r>
          </a:p>
          <a:p>
            <a:pPr marL="800100" lvl="1" indent="-342900" algn="just" eaLnBrk="0" fontAlgn="base" hangingPunct="0">
              <a:spcBef>
                <a:spcPts val="60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Exponential increase</a:t>
            </a:r>
            <a:r>
              <a:rPr kumimoji="0" lang="en-US" altLang="en-US" sz="2400" b="0" i="0" u="none" strike="noStrike" cap="none" normalizeH="0" baseline="0" dirty="0">
                <a:ln>
                  <a:noFill/>
                </a:ln>
                <a:solidFill>
                  <a:schemeClr val="tx1"/>
                </a:solidFill>
                <a:effectLst/>
              </a:rPr>
              <a:t> in path count with code complexity</a:t>
            </a:r>
          </a:p>
        </p:txBody>
      </p:sp>
      <p:sp>
        <p:nvSpPr>
          <p:cNvPr id="2" name="Date Placeholder 1">
            <a:extLst>
              <a:ext uri="{FF2B5EF4-FFF2-40B4-BE49-F238E27FC236}">
                <a16:creationId xmlns:a16="http://schemas.microsoft.com/office/drawing/2014/main" id="{CAE3675A-9DFB-7505-FB0A-D6B21CBA8F0E}"/>
              </a:ext>
            </a:extLst>
          </p:cNvPr>
          <p:cNvSpPr>
            <a:spLocks noGrp="1"/>
          </p:cNvSpPr>
          <p:nvPr>
            <p:ph type="dt" sz="half" idx="10"/>
          </p:nvPr>
        </p:nvSpPr>
        <p:spPr/>
        <p:txBody>
          <a:bodyPr/>
          <a:lstStyle/>
          <a:p>
            <a:fld id="{0F793216-6AA2-434D-92EA-4054F0CDC3A8}" type="datetime1">
              <a:rPr lang="en-IN" smtClean="0"/>
              <a:t>03-11-2025</a:t>
            </a:fld>
            <a:endParaRPr lang="en-IN"/>
          </a:p>
        </p:txBody>
      </p:sp>
      <p:sp>
        <p:nvSpPr>
          <p:cNvPr id="5" name="Footer Placeholder 4">
            <a:extLst>
              <a:ext uri="{FF2B5EF4-FFF2-40B4-BE49-F238E27FC236}">
                <a16:creationId xmlns:a16="http://schemas.microsoft.com/office/drawing/2014/main" id="{F9B79845-A8E1-4127-C12B-5FB2AE0EBAF7}"/>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964224F5-298C-1EFB-A793-2B9DA2841F10}"/>
              </a:ext>
            </a:extLst>
          </p:cNvPr>
          <p:cNvSpPr>
            <a:spLocks noGrp="1"/>
          </p:cNvSpPr>
          <p:nvPr>
            <p:ph type="sldNum" sz="quarter" idx="12"/>
          </p:nvPr>
        </p:nvSpPr>
        <p:spPr/>
        <p:txBody>
          <a:bodyPr/>
          <a:lstStyle/>
          <a:p>
            <a:fld id="{157E8F69-36B6-4843-A9CE-6B9353F4DBAF}" type="slidenum">
              <a:rPr lang="en-IN" smtClean="0"/>
              <a:t>65</a:t>
            </a:fld>
            <a:endParaRPr lang="en-IN"/>
          </a:p>
        </p:txBody>
      </p:sp>
    </p:spTree>
    <p:extLst>
      <p:ext uri="{BB962C8B-B14F-4D97-AF65-F5344CB8AC3E}">
        <p14:creationId xmlns:p14="http://schemas.microsoft.com/office/powerpoint/2010/main" val="18859225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95432" y="379214"/>
            <a:ext cx="5747022" cy="461665"/>
          </a:xfrm>
          <a:prstGeom prst="rect">
            <a:avLst/>
          </a:prstGeom>
        </p:spPr>
        <p:txBody>
          <a:bodyPr wrap="none">
            <a:spAutoFit/>
          </a:bodyPr>
          <a:lstStyle/>
          <a:p>
            <a:r>
              <a:rPr lang="en-US" sz="2400" u="sng" dirty="0"/>
              <a:t>📌 </a:t>
            </a:r>
            <a:r>
              <a:rPr lang="en-US" sz="2400" b="1" u="sng" dirty="0"/>
              <a:t>Uses of McCabe’s Cyclomatic Complexity</a:t>
            </a:r>
            <a:endParaRPr lang="en-IN" sz="2400" u="sng" dirty="0"/>
          </a:p>
        </p:txBody>
      </p:sp>
      <p:graphicFrame>
        <p:nvGraphicFramePr>
          <p:cNvPr id="4" name="Table 3"/>
          <p:cNvGraphicFramePr>
            <a:graphicFrameLocks noGrp="1"/>
          </p:cNvGraphicFramePr>
          <p:nvPr>
            <p:extLst>
              <p:ext uri="{D42A27DB-BD31-4B8C-83A1-F6EECF244321}">
                <p14:modId xmlns:p14="http://schemas.microsoft.com/office/powerpoint/2010/main" val="203966487"/>
              </p:ext>
            </p:extLst>
          </p:nvPr>
        </p:nvGraphicFramePr>
        <p:xfrm>
          <a:off x="295432" y="1029494"/>
          <a:ext cx="11561288" cy="1645920"/>
        </p:xfrm>
        <a:graphic>
          <a:graphicData uri="http://schemas.openxmlformats.org/drawingml/2006/table">
            <a:tbl>
              <a:tblPr>
                <a:tableStyleId>{5940675A-B579-460E-94D1-54222C63F5DA}</a:tableStyleId>
              </a:tblPr>
              <a:tblGrid>
                <a:gridCol w="4718528">
                  <a:extLst>
                    <a:ext uri="{9D8B030D-6E8A-4147-A177-3AD203B41FA5}">
                      <a16:colId xmlns:a16="http://schemas.microsoft.com/office/drawing/2014/main" val="1562289048"/>
                    </a:ext>
                  </a:extLst>
                </a:gridCol>
                <a:gridCol w="6842760">
                  <a:extLst>
                    <a:ext uri="{9D8B030D-6E8A-4147-A177-3AD203B41FA5}">
                      <a16:colId xmlns:a16="http://schemas.microsoft.com/office/drawing/2014/main" val="2155616058"/>
                    </a:ext>
                  </a:extLst>
                </a:gridCol>
              </a:tblGrid>
              <a:tr h="0">
                <a:tc>
                  <a:txBody>
                    <a:bodyPr/>
                    <a:lstStyle/>
                    <a:p>
                      <a:pPr algn="ctr"/>
                      <a:r>
                        <a:rPr lang="en-IN" sz="2400" b="1" u="sng" dirty="0"/>
                        <a:t>Use</a:t>
                      </a:r>
                    </a:p>
                  </a:txBody>
                  <a:tcPr anchor="ctr"/>
                </a:tc>
                <a:tc>
                  <a:txBody>
                    <a:bodyPr/>
                    <a:lstStyle/>
                    <a:p>
                      <a:pPr algn="ctr"/>
                      <a:r>
                        <a:rPr lang="en-IN" sz="2400" b="1" u="sng" dirty="0"/>
                        <a:t>Purpose</a:t>
                      </a:r>
                    </a:p>
                  </a:txBody>
                  <a:tcPr anchor="ctr"/>
                </a:tc>
                <a:extLst>
                  <a:ext uri="{0D108BD9-81ED-4DB2-BD59-A6C34878D82A}">
                    <a16:rowId xmlns:a16="http://schemas.microsoft.com/office/drawing/2014/main" val="1116070232"/>
                  </a:ext>
                </a:extLst>
              </a:tr>
              <a:tr h="0">
                <a:tc>
                  <a:txBody>
                    <a:bodyPr/>
                    <a:lstStyle/>
                    <a:p>
                      <a:r>
                        <a:rPr lang="en-IN" sz="2000" dirty="0"/>
                        <a:t>Structural Complexity Estimation</a:t>
                      </a:r>
                    </a:p>
                  </a:txBody>
                  <a:tcPr anchor="ctr"/>
                </a:tc>
                <a:tc>
                  <a:txBody>
                    <a:bodyPr/>
                    <a:lstStyle/>
                    <a:p>
                      <a:r>
                        <a:rPr lang="en-US" sz="2000" dirty="0"/>
                        <a:t>Indicates code difficulty and maintainability</a:t>
                      </a:r>
                    </a:p>
                  </a:txBody>
                  <a:tcPr anchor="ctr"/>
                </a:tc>
                <a:extLst>
                  <a:ext uri="{0D108BD9-81ED-4DB2-BD59-A6C34878D82A}">
                    <a16:rowId xmlns:a16="http://schemas.microsoft.com/office/drawing/2014/main" val="3378575877"/>
                  </a:ext>
                </a:extLst>
              </a:tr>
              <a:tr h="0">
                <a:tc>
                  <a:txBody>
                    <a:bodyPr/>
                    <a:lstStyle/>
                    <a:p>
                      <a:r>
                        <a:rPr lang="en-IN" sz="2000" dirty="0"/>
                        <a:t>Testing Effort Estimation</a:t>
                      </a:r>
                    </a:p>
                  </a:txBody>
                  <a:tcPr anchor="ctr"/>
                </a:tc>
                <a:tc>
                  <a:txBody>
                    <a:bodyPr/>
                    <a:lstStyle/>
                    <a:p>
                      <a:r>
                        <a:rPr lang="en-US" sz="2000" dirty="0"/>
                        <a:t>Cyclomatic complexity ≈ Minimum test cases required</a:t>
                      </a:r>
                    </a:p>
                  </a:txBody>
                  <a:tcPr anchor="ctr"/>
                </a:tc>
                <a:extLst>
                  <a:ext uri="{0D108BD9-81ED-4DB2-BD59-A6C34878D82A}">
                    <a16:rowId xmlns:a16="http://schemas.microsoft.com/office/drawing/2014/main" val="3426726788"/>
                  </a:ext>
                </a:extLst>
              </a:tr>
              <a:tr h="0">
                <a:tc>
                  <a:txBody>
                    <a:bodyPr/>
                    <a:lstStyle/>
                    <a:p>
                      <a:r>
                        <a:rPr lang="en-IN" sz="2000"/>
                        <a:t>Reliability Estimation</a:t>
                      </a:r>
                    </a:p>
                  </a:txBody>
                  <a:tcPr anchor="ctr"/>
                </a:tc>
                <a:tc>
                  <a:txBody>
                    <a:bodyPr/>
                    <a:lstStyle/>
                    <a:p>
                      <a:r>
                        <a:rPr lang="en-US" sz="2000" dirty="0"/>
                        <a:t>Higher complexity ⇒ Higher chance of undetected errors</a:t>
                      </a:r>
                    </a:p>
                  </a:txBody>
                  <a:tcPr anchor="ctr"/>
                </a:tc>
                <a:extLst>
                  <a:ext uri="{0D108BD9-81ED-4DB2-BD59-A6C34878D82A}">
                    <a16:rowId xmlns:a16="http://schemas.microsoft.com/office/drawing/2014/main" val="1214204052"/>
                  </a:ext>
                </a:extLst>
              </a:tr>
            </a:tbl>
          </a:graphicData>
        </a:graphic>
      </p:graphicFrame>
      <p:sp>
        <p:nvSpPr>
          <p:cNvPr id="5" name="Rectangle 4"/>
          <p:cNvSpPr/>
          <p:nvPr/>
        </p:nvSpPr>
        <p:spPr>
          <a:xfrm>
            <a:off x="295432" y="2864029"/>
            <a:ext cx="11561288" cy="1200329"/>
          </a:xfrm>
          <a:prstGeom prst="rect">
            <a:avLst/>
          </a:prstGeom>
        </p:spPr>
        <p:txBody>
          <a:bodyPr wrap="square">
            <a:spAutoFit/>
          </a:bodyPr>
          <a:lstStyle/>
          <a:p>
            <a:r>
              <a:rPr lang="en-US" sz="2400" u="sng" dirty="0"/>
              <a:t>✅ </a:t>
            </a:r>
            <a:r>
              <a:rPr lang="en-US" sz="2400" b="1" u="sng" dirty="0"/>
              <a:t>Best Practice:</a:t>
            </a:r>
            <a:endParaRPr lang="en-US" sz="2400" u="sng" dirty="0"/>
          </a:p>
          <a:p>
            <a:pPr marL="800100" lvl="1" indent="-342900">
              <a:buFont typeface="Wingdings" panose="05000000000000000000" pitchFamily="2" charset="2"/>
              <a:buChar char="Ø"/>
            </a:pPr>
            <a:r>
              <a:rPr lang="en-US" sz="2400" dirty="0"/>
              <a:t>Keep function complexity under </a:t>
            </a:r>
            <a:r>
              <a:rPr lang="en-US" sz="2400" b="1" dirty="0"/>
              <a:t>10</a:t>
            </a:r>
            <a:r>
              <a:rPr lang="en-US" sz="2400" dirty="0"/>
              <a:t> for maintainability</a:t>
            </a:r>
          </a:p>
          <a:p>
            <a:pPr marL="800100" lvl="1" indent="-342900">
              <a:buFont typeface="Wingdings" panose="05000000000000000000" pitchFamily="2" charset="2"/>
              <a:buChar char="Ø"/>
            </a:pPr>
            <a:r>
              <a:rPr lang="en-US" sz="2400" dirty="0"/>
              <a:t>Limit complexity to </a:t>
            </a:r>
            <a:r>
              <a:rPr lang="en-US" sz="2400" b="1" dirty="0"/>
              <a:t>≤7</a:t>
            </a:r>
            <a:r>
              <a:rPr lang="en-US" sz="2400" dirty="0"/>
              <a:t> to reduce </a:t>
            </a:r>
            <a:r>
              <a:rPr lang="en-US" sz="2400" b="1" dirty="0"/>
              <a:t>testing effort</a:t>
            </a:r>
            <a:endParaRPr lang="en-US" sz="2400" dirty="0"/>
          </a:p>
        </p:txBody>
      </p:sp>
      <p:sp>
        <p:nvSpPr>
          <p:cNvPr id="6" name="Rectangle 1"/>
          <p:cNvSpPr>
            <a:spLocks noChangeArrowheads="1"/>
          </p:cNvSpPr>
          <p:nvPr/>
        </p:nvSpPr>
        <p:spPr bwMode="auto">
          <a:xfrm>
            <a:off x="295432" y="4671091"/>
            <a:ext cx="1156128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1" i="0" u="none" strike="noStrike" cap="none" normalizeH="0" baseline="0" dirty="0">
                <a:ln>
                  <a:noFill/>
                </a:ln>
                <a:solidFill>
                  <a:srgbClr val="002060"/>
                </a:solidFill>
                <a:effectLst/>
              </a:rPr>
              <a:t>Cyclomatic Complexity</a:t>
            </a:r>
            <a:r>
              <a:rPr kumimoji="0" lang="en-US" altLang="en-US" sz="2400" b="0" i="0" u="none" strike="noStrike" cap="none" normalizeH="0" baseline="0" dirty="0">
                <a:ln>
                  <a:noFill/>
                </a:ln>
                <a:solidFill>
                  <a:srgbClr val="002060"/>
                </a:solidFill>
                <a:effectLst/>
              </a:rPr>
              <a:t> measures the </a:t>
            </a:r>
            <a:r>
              <a:rPr kumimoji="0" lang="en-US" altLang="en-US" sz="2400" b="1" i="0" u="none" strike="noStrike" cap="none" normalizeH="0" baseline="0" dirty="0">
                <a:ln>
                  <a:noFill/>
                </a:ln>
                <a:solidFill>
                  <a:srgbClr val="002060"/>
                </a:solidFill>
                <a:effectLst/>
              </a:rPr>
              <a:t>logical complexity</a:t>
            </a:r>
            <a:r>
              <a:rPr kumimoji="0" lang="en-US" altLang="en-US" sz="2400" b="0" i="0" u="none" strike="noStrike" cap="none" normalizeH="0" baseline="0" dirty="0">
                <a:ln>
                  <a:noFill/>
                </a:ln>
                <a:solidFill>
                  <a:srgbClr val="002060"/>
                </a:solidFill>
                <a:effectLst/>
              </a:rPr>
              <a:t> of code.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rgbClr val="002060"/>
                </a:solidFill>
                <a:effectLst/>
              </a:rPr>
              <a:t>It helps in estimating </a:t>
            </a:r>
            <a:r>
              <a:rPr kumimoji="0" lang="en-US" altLang="en-US" sz="2400" b="1" i="0" u="none" strike="noStrike" cap="none" normalizeH="0" baseline="0" dirty="0">
                <a:ln>
                  <a:noFill/>
                </a:ln>
                <a:solidFill>
                  <a:srgbClr val="002060"/>
                </a:solidFill>
                <a:effectLst/>
              </a:rPr>
              <a:t>testing efforts</a:t>
            </a:r>
            <a:r>
              <a:rPr kumimoji="0" lang="en-US" altLang="en-US" sz="2400" b="0" i="0" u="none" strike="noStrike" cap="none" normalizeH="0" baseline="0" dirty="0">
                <a:ln>
                  <a:noFill/>
                </a:ln>
                <a:solidFill>
                  <a:srgbClr val="002060"/>
                </a:solidFill>
                <a:effectLst/>
              </a:rPr>
              <a:t>, understanding </a:t>
            </a:r>
            <a:r>
              <a:rPr kumimoji="0" lang="en-US" altLang="en-US" sz="2400" b="1" i="0" u="none" strike="noStrike" cap="none" normalizeH="0" baseline="0" dirty="0">
                <a:ln>
                  <a:noFill/>
                </a:ln>
                <a:solidFill>
                  <a:srgbClr val="002060"/>
                </a:solidFill>
                <a:effectLst/>
              </a:rPr>
              <a:t>code structure</a:t>
            </a:r>
            <a:r>
              <a:rPr kumimoji="0" lang="en-US" altLang="en-US" sz="2400" b="0" i="0" u="none" strike="noStrike" cap="none" normalizeH="0" baseline="0" dirty="0">
                <a:ln>
                  <a:noFill/>
                </a:ln>
                <a:solidFill>
                  <a:srgbClr val="002060"/>
                </a:solidFill>
                <a:effectLst/>
              </a:rPr>
              <a:t>, and ensuring </a:t>
            </a:r>
            <a:r>
              <a:rPr kumimoji="0" lang="en-US" altLang="en-US" sz="2400" b="1" i="0" u="none" strike="noStrike" cap="none" normalizeH="0" baseline="0" dirty="0">
                <a:ln>
                  <a:noFill/>
                </a:ln>
                <a:solidFill>
                  <a:srgbClr val="002060"/>
                </a:solidFill>
                <a:effectLst/>
              </a:rPr>
              <a:t>software reliability</a:t>
            </a:r>
            <a:r>
              <a:rPr kumimoji="0" lang="en-US" altLang="en-US" sz="2400" b="0" i="0" u="none" strike="noStrike" cap="none" normalizeH="0" baseline="0" dirty="0">
                <a:ln>
                  <a:noFill/>
                </a:ln>
                <a:solidFill>
                  <a:srgbClr val="002060"/>
                </a:solidFill>
                <a:effectLst/>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rgbClr val="002060"/>
                </a:solidFill>
                <a:effectLst/>
              </a:rPr>
              <a:t>It is widely used in </a:t>
            </a:r>
            <a:r>
              <a:rPr kumimoji="0" lang="en-US" altLang="en-US" sz="2400" b="1" i="0" u="none" strike="noStrike" cap="none" normalizeH="0" baseline="0" dirty="0">
                <a:ln>
                  <a:noFill/>
                </a:ln>
                <a:solidFill>
                  <a:srgbClr val="002060"/>
                </a:solidFill>
                <a:effectLst/>
              </a:rPr>
              <a:t>path-based testing</a:t>
            </a:r>
            <a:r>
              <a:rPr kumimoji="0" lang="en-US" altLang="en-US" sz="2400" b="0" i="0" u="none" strike="noStrike" cap="none" normalizeH="0" baseline="0" dirty="0">
                <a:ln>
                  <a:noFill/>
                </a:ln>
                <a:solidFill>
                  <a:srgbClr val="002060"/>
                </a:solidFill>
                <a:effectLst/>
              </a:rPr>
              <a:t> to determine </a:t>
            </a:r>
            <a:r>
              <a:rPr kumimoji="0" lang="en-US" altLang="en-US" sz="2400" b="1" i="0" u="none" strike="noStrike" cap="none" normalizeH="0" baseline="0" dirty="0">
                <a:ln>
                  <a:noFill/>
                </a:ln>
                <a:solidFill>
                  <a:srgbClr val="002060"/>
                </a:solidFill>
                <a:effectLst/>
              </a:rPr>
              <a:t>minimum required test cases</a:t>
            </a:r>
            <a:r>
              <a:rPr kumimoji="0" lang="en-US" altLang="en-US" sz="2400" b="0" i="0" u="none" strike="noStrike" cap="none" normalizeH="0" baseline="0" dirty="0">
                <a:ln>
                  <a:noFill/>
                </a:ln>
                <a:solidFill>
                  <a:srgbClr val="002060"/>
                </a:solidFill>
                <a:effectLst/>
              </a:rPr>
              <a:t>.</a:t>
            </a:r>
          </a:p>
        </p:txBody>
      </p:sp>
      <p:sp>
        <p:nvSpPr>
          <p:cNvPr id="2" name="Date Placeholder 1">
            <a:extLst>
              <a:ext uri="{FF2B5EF4-FFF2-40B4-BE49-F238E27FC236}">
                <a16:creationId xmlns:a16="http://schemas.microsoft.com/office/drawing/2014/main" id="{824D16E7-2EFF-AE67-9F3F-9AE2260E04CD}"/>
              </a:ext>
            </a:extLst>
          </p:cNvPr>
          <p:cNvSpPr>
            <a:spLocks noGrp="1"/>
          </p:cNvSpPr>
          <p:nvPr>
            <p:ph type="dt" sz="half" idx="10"/>
          </p:nvPr>
        </p:nvSpPr>
        <p:spPr/>
        <p:txBody>
          <a:bodyPr/>
          <a:lstStyle/>
          <a:p>
            <a:fld id="{A54D275C-5A94-456E-8204-C1B5BE12F052}" type="datetime1">
              <a:rPr lang="en-IN" smtClean="0"/>
              <a:t>03-11-2025</a:t>
            </a:fld>
            <a:endParaRPr lang="en-IN"/>
          </a:p>
        </p:txBody>
      </p:sp>
      <p:sp>
        <p:nvSpPr>
          <p:cNvPr id="7" name="Footer Placeholder 6">
            <a:extLst>
              <a:ext uri="{FF2B5EF4-FFF2-40B4-BE49-F238E27FC236}">
                <a16:creationId xmlns:a16="http://schemas.microsoft.com/office/drawing/2014/main" id="{C2BA03B2-C07C-1274-37C9-69FF6DA3B068}"/>
              </a:ext>
            </a:extLst>
          </p:cNvPr>
          <p:cNvSpPr>
            <a:spLocks noGrp="1"/>
          </p:cNvSpPr>
          <p:nvPr>
            <p:ph type="ftr" sz="quarter" idx="11"/>
          </p:nvPr>
        </p:nvSpPr>
        <p:spPr/>
        <p:txBody>
          <a:bodyPr/>
          <a:lstStyle/>
          <a:p>
            <a:r>
              <a:rPr lang="en-IN"/>
              <a:t>MIT</a:t>
            </a:r>
          </a:p>
        </p:txBody>
      </p:sp>
      <p:sp>
        <p:nvSpPr>
          <p:cNvPr id="8" name="Slide Number Placeholder 7">
            <a:extLst>
              <a:ext uri="{FF2B5EF4-FFF2-40B4-BE49-F238E27FC236}">
                <a16:creationId xmlns:a16="http://schemas.microsoft.com/office/drawing/2014/main" id="{A22EFDD4-7E48-4D25-493D-2CA43BE85086}"/>
              </a:ext>
            </a:extLst>
          </p:cNvPr>
          <p:cNvSpPr>
            <a:spLocks noGrp="1"/>
          </p:cNvSpPr>
          <p:nvPr>
            <p:ph type="sldNum" sz="quarter" idx="12"/>
          </p:nvPr>
        </p:nvSpPr>
        <p:spPr/>
        <p:txBody>
          <a:bodyPr/>
          <a:lstStyle/>
          <a:p>
            <a:fld id="{157E8F69-36B6-4843-A9CE-6B9353F4DBAF}" type="slidenum">
              <a:rPr lang="en-IN" smtClean="0"/>
              <a:t>66</a:t>
            </a:fld>
            <a:endParaRPr lang="en-IN"/>
          </a:p>
        </p:txBody>
      </p:sp>
    </p:spTree>
    <p:extLst>
      <p:ext uri="{BB962C8B-B14F-4D97-AF65-F5344CB8AC3E}">
        <p14:creationId xmlns:p14="http://schemas.microsoft.com/office/powerpoint/2010/main" val="4591027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3360" y="136525"/>
            <a:ext cx="11765280" cy="2805063"/>
          </a:xfrm>
          <a:prstGeom prst="rect">
            <a:avLst/>
          </a:prstGeom>
        </p:spPr>
        <p:txBody>
          <a:bodyPr wrap="square">
            <a:spAutoFit/>
          </a:bodyPr>
          <a:lstStyle/>
          <a:p>
            <a:pPr algn="just">
              <a:lnSpc>
                <a:spcPct val="150000"/>
              </a:lnSpc>
            </a:pPr>
            <a:r>
              <a:rPr lang="en-US" sz="2400" b="1" u="sng" dirty="0"/>
              <a:t>7.7.10 Data Flow-Based Testing</a:t>
            </a:r>
          </a:p>
          <a:p>
            <a:pPr algn="just">
              <a:lnSpc>
                <a:spcPct val="150000"/>
              </a:lnSpc>
            </a:pPr>
            <a:r>
              <a:rPr lang="en-US" sz="2400" b="1" u="sng" dirty="0"/>
              <a:t>💡 Purpose: </a:t>
            </a:r>
            <a:r>
              <a:rPr lang="en-US" sz="2400" dirty="0"/>
              <a:t>To ensure that </a:t>
            </a:r>
            <a:r>
              <a:rPr lang="en-US" sz="2400" b="1" dirty="0"/>
              <a:t>data (variables)</a:t>
            </a:r>
            <a:r>
              <a:rPr lang="en-US" sz="2400" dirty="0"/>
              <a:t> in a program are </a:t>
            </a:r>
            <a:r>
              <a:rPr lang="en-US" sz="2400" b="1" dirty="0"/>
              <a:t>defined, used, and killed (redefined)</a:t>
            </a:r>
            <a:r>
              <a:rPr lang="en-US" sz="2400" dirty="0"/>
              <a:t> properly — and that no variable is used </a:t>
            </a:r>
            <a:r>
              <a:rPr lang="en-US" sz="2400" b="1" dirty="0"/>
              <a:t>before initialization</a:t>
            </a:r>
            <a:r>
              <a:rPr lang="en-US" sz="2400" dirty="0"/>
              <a:t> or </a:t>
            </a:r>
            <a:r>
              <a:rPr lang="en-US" sz="2400" b="1" dirty="0"/>
              <a:t>after its value becomes invalid</a:t>
            </a:r>
            <a:r>
              <a:rPr lang="en-US" sz="2400" dirty="0"/>
              <a:t>. Focuses on </a:t>
            </a:r>
            <a:r>
              <a:rPr lang="en-US" sz="2400" b="1" dirty="0"/>
              <a:t>how variables are defined and used</a:t>
            </a:r>
            <a:r>
              <a:rPr lang="en-US" sz="2400" dirty="0"/>
              <a:t> in the code, aiming to test </a:t>
            </a:r>
            <a:r>
              <a:rPr lang="en-US" sz="2400" b="1" dirty="0"/>
              <a:t>data usage across paths</a:t>
            </a:r>
            <a:r>
              <a:rPr lang="en-US" sz="2400" dirty="0"/>
              <a:t> in a program.</a:t>
            </a:r>
          </a:p>
        </p:txBody>
      </p:sp>
      <p:sp>
        <p:nvSpPr>
          <p:cNvPr id="4" name="Rectangle 1"/>
          <p:cNvSpPr>
            <a:spLocks noChangeArrowheads="1"/>
          </p:cNvSpPr>
          <p:nvPr/>
        </p:nvSpPr>
        <p:spPr bwMode="auto">
          <a:xfrm>
            <a:off x="213360" y="2692440"/>
            <a:ext cx="11765281" cy="3913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 Key Concepts:</a:t>
            </a:r>
          </a:p>
          <a:p>
            <a:pPr marL="800100" lvl="1" indent="-342900" eaLnBrk="0" fontAlgn="base" hangingPunct="0">
              <a:lnSpc>
                <a:spcPct val="150000"/>
              </a:lnSpc>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DEF(S):</a:t>
            </a:r>
            <a:r>
              <a:rPr kumimoji="0" lang="en-US" altLang="en-US" sz="2400" b="0" i="0" u="none" strike="noStrike" cap="none" normalizeH="0" baseline="0" dirty="0">
                <a:ln>
                  <a:noFill/>
                </a:ln>
                <a:solidFill>
                  <a:schemeClr val="tx1"/>
                </a:solidFill>
                <a:effectLst/>
              </a:rPr>
              <a:t> Variables </a:t>
            </a:r>
            <a:r>
              <a:rPr kumimoji="0" lang="en-US" altLang="en-US" sz="2400" b="1" i="0" u="none" strike="noStrike" cap="none" normalizeH="0" baseline="0" dirty="0">
                <a:ln>
                  <a:noFill/>
                </a:ln>
                <a:solidFill>
                  <a:schemeClr val="tx1"/>
                </a:solidFill>
                <a:effectLst/>
              </a:rPr>
              <a:t>defined</a:t>
            </a:r>
            <a:r>
              <a:rPr kumimoji="0" lang="en-US" altLang="en-US" sz="2400" b="0" i="0" u="none" strike="noStrike" cap="none" normalizeH="0" baseline="0" dirty="0">
                <a:ln>
                  <a:noFill/>
                </a:ln>
                <a:solidFill>
                  <a:schemeClr val="tx1"/>
                </a:solidFill>
                <a:effectLst/>
              </a:rPr>
              <a:t> at statement S</a:t>
            </a:r>
            <a:br>
              <a:rPr kumimoji="0" lang="en-US" altLang="en-US" sz="2400" b="0" i="0" u="none" strike="noStrike" cap="none" normalizeH="0" baseline="0" dirty="0">
                <a:ln>
                  <a:noFill/>
                </a:ln>
                <a:solidFill>
                  <a:schemeClr val="tx1"/>
                </a:solidFill>
                <a:effectLst/>
              </a:rPr>
            </a:br>
            <a:r>
              <a:rPr kumimoji="0" lang="en-US" altLang="en-US" sz="2400" b="0" i="0" u="none" strike="noStrike" cap="none" normalizeH="0" baseline="0" dirty="0">
                <a:ln>
                  <a:noFill/>
                </a:ln>
                <a:solidFill>
                  <a:schemeClr val="tx1"/>
                </a:solidFill>
                <a:effectLst/>
              </a:rPr>
              <a:t>→ e.g., for a = b + c;, DEF(S) = {a}</a:t>
            </a:r>
          </a:p>
          <a:p>
            <a:pPr marL="800100" lvl="1" indent="-342900" eaLnBrk="0" fontAlgn="base" hangingPunct="0">
              <a:lnSpc>
                <a:spcPct val="150000"/>
              </a:lnSpc>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USES(S):</a:t>
            </a:r>
            <a:r>
              <a:rPr kumimoji="0" lang="en-US" altLang="en-US" sz="2400" b="0" i="0" u="none" strike="noStrike" cap="none" normalizeH="0" baseline="0" dirty="0">
                <a:ln>
                  <a:noFill/>
                </a:ln>
                <a:solidFill>
                  <a:schemeClr val="tx1"/>
                </a:solidFill>
                <a:effectLst/>
              </a:rPr>
              <a:t> Variables </a:t>
            </a:r>
            <a:r>
              <a:rPr kumimoji="0" lang="en-US" altLang="en-US" sz="2400" b="1" i="0" u="none" strike="noStrike" cap="none" normalizeH="0" baseline="0" dirty="0">
                <a:ln>
                  <a:noFill/>
                </a:ln>
                <a:solidFill>
                  <a:schemeClr val="tx1"/>
                </a:solidFill>
                <a:effectLst/>
              </a:rPr>
              <a:t>used</a:t>
            </a:r>
            <a:r>
              <a:rPr kumimoji="0" lang="en-US" altLang="en-US" sz="2400" b="0" i="0" u="none" strike="noStrike" cap="none" normalizeH="0" baseline="0" dirty="0">
                <a:ln>
                  <a:noFill/>
                </a:ln>
                <a:solidFill>
                  <a:schemeClr val="tx1"/>
                </a:solidFill>
                <a:effectLst/>
              </a:rPr>
              <a:t> at statement S</a:t>
            </a:r>
            <a:br>
              <a:rPr kumimoji="0" lang="en-US" altLang="en-US" sz="2400" b="0" i="0" u="none" strike="noStrike" cap="none" normalizeH="0" baseline="0" dirty="0">
                <a:ln>
                  <a:noFill/>
                </a:ln>
                <a:solidFill>
                  <a:schemeClr val="tx1"/>
                </a:solidFill>
                <a:effectLst/>
              </a:rPr>
            </a:br>
            <a:r>
              <a:rPr kumimoji="0" lang="en-US" altLang="en-US" sz="2400" b="0" i="0" u="none" strike="noStrike" cap="none" normalizeH="0" baseline="0" dirty="0">
                <a:ln>
                  <a:noFill/>
                </a:ln>
                <a:solidFill>
                  <a:schemeClr val="tx1"/>
                </a:solidFill>
                <a:effectLst/>
              </a:rPr>
              <a:t>→ e.g., for a = b + c;, USES(S) = {b, c}</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rPr>
              <a:t>A definition is </a:t>
            </a:r>
            <a:r>
              <a:rPr kumimoji="0" lang="en-US" altLang="en-US" sz="2400" b="1" i="0" u="none" strike="noStrike" cap="none" normalizeH="0" baseline="0" dirty="0">
                <a:ln>
                  <a:noFill/>
                </a:ln>
                <a:solidFill>
                  <a:schemeClr val="tx1"/>
                </a:solidFill>
                <a:effectLst/>
              </a:rPr>
              <a:t>live</a:t>
            </a:r>
            <a:r>
              <a:rPr kumimoji="0" lang="en-US" altLang="en-US" sz="2400" b="0" i="0" u="none" strike="noStrike" cap="none" normalizeH="0" baseline="0" dirty="0">
                <a:ln>
                  <a:noFill/>
                </a:ln>
                <a:solidFill>
                  <a:schemeClr val="tx1"/>
                </a:solidFill>
                <a:effectLst/>
              </a:rPr>
              <a:t> at a statement S1 if there's a </a:t>
            </a:r>
            <a:r>
              <a:rPr kumimoji="0" lang="en-US" altLang="en-US" sz="2400" b="1" i="0" u="none" strike="noStrike" cap="none" normalizeH="0" baseline="0" dirty="0">
                <a:ln>
                  <a:noFill/>
                </a:ln>
                <a:solidFill>
                  <a:schemeClr val="tx1"/>
                </a:solidFill>
                <a:effectLst/>
              </a:rPr>
              <a:t>path from S to S1</a:t>
            </a:r>
            <a:r>
              <a:rPr kumimoji="0" lang="en-US" altLang="en-US" sz="2400" b="0" i="0" u="none" strike="noStrike" cap="none" normalizeH="0" baseline="0" dirty="0">
                <a:ln>
                  <a:noFill/>
                </a:ln>
                <a:solidFill>
                  <a:schemeClr val="tx1"/>
                </a:solidFill>
                <a:effectLst/>
              </a:rPr>
              <a:t> with </a:t>
            </a:r>
            <a:r>
              <a:rPr kumimoji="0" lang="en-US" altLang="en-US" sz="2400" b="1" i="0" u="none" strike="noStrike" cap="none" normalizeH="0" baseline="0" dirty="0">
                <a:ln>
                  <a:noFill/>
                </a:ln>
                <a:solidFill>
                  <a:schemeClr val="tx1"/>
                </a:solidFill>
                <a:effectLst/>
              </a:rPr>
              <a:t>no redefinition</a:t>
            </a:r>
            <a:r>
              <a:rPr kumimoji="0" lang="en-US" altLang="en-US" sz="2400" b="0" i="0" u="none" strike="noStrike" cap="none" normalizeH="0" baseline="0" dirty="0">
                <a:ln>
                  <a:noFill/>
                </a:ln>
                <a:solidFill>
                  <a:schemeClr val="tx1"/>
                </a:solidFill>
                <a:effectLst/>
              </a:rPr>
              <a:t> of that variable.</a:t>
            </a:r>
          </a:p>
        </p:txBody>
      </p:sp>
      <p:sp>
        <p:nvSpPr>
          <p:cNvPr id="2" name="Date Placeholder 1">
            <a:extLst>
              <a:ext uri="{FF2B5EF4-FFF2-40B4-BE49-F238E27FC236}">
                <a16:creationId xmlns:a16="http://schemas.microsoft.com/office/drawing/2014/main" id="{C75E6FB6-C40F-4870-4CFA-9556A0862987}"/>
              </a:ext>
            </a:extLst>
          </p:cNvPr>
          <p:cNvSpPr>
            <a:spLocks noGrp="1"/>
          </p:cNvSpPr>
          <p:nvPr>
            <p:ph type="dt" sz="half" idx="10"/>
          </p:nvPr>
        </p:nvSpPr>
        <p:spPr/>
        <p:txBody>
          <a:bodyPr/>
          <a:lstStyle/>
          <a:p>
            <a:fld id="{F1C6816A-EA06-4FE9-9D05-6DFEB606970A}" type="datetime1">
              <a:rPr lang="en-IN" smtClean="0"/>
              <a:t>03-11-2025</a:t>
            </a:fld>
            <a:endParaRPr lang="en-IN"/>
          </a:p>
        </p:txBody>
      </p:sp>
      <p:sp>
        <p:nvSpPr>
          <p:cNvPr id="5" name="Footer Placeholder 4">
            <a:extLst>
              <a:ext uri="{FF2B5EF4-FFF2-40B4-BE49-F238E27FC236}">
                <a16:creationId xmlns:a16="http://schemas.microsoft.com/office/drawing/2014/main" id="{557B8BB2-5858-E3B7-E180-4363320FDA7B}"/>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74A89795-71B7-7F68-4903-65BF49757A43}"/>
              </a:ext>
            </a:extLst>
          </p:cNvPr>
          <p:cNvSpPr>
            <a:spLocks noGrp="1"/>
          </p:cNvSpPr>
          <p:nvPr>
            <p:ph type="sldNum" sz="quarter" idx="12"/>
          </p:nvPr>
        </p:nvSpPr>
        <p:spPr/>
        <p:txBody>
          <a:bodyPr/>
          <a:lstStyle/>
          <a:p>
            <a:fld id="{157E8F69-36B6-4843-A9CE-6B9353F4DBAF}" type="slidenum">
              <a:rPr lang="en-IN" smtClean="0"/>
              <a:t>67</a:t>
            </a:fld>
            <a:endParaRPr lang="en-IN"/>
          </a:p>
        </p:txBody>
      </p:sp>
    </p:spTree>
    <p:extLst>
      <p:ext uri="{BB962C8B-B14F-4D97-AF65-F5344CB8AC3E}">
        <p14:creationId xmlns:p14="http://schemas.microsoft.com/office/powerpoint/2010/main" val="18229264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3301" y="303014"/>
            <a:ext cx="6036332" cy="461665"/>
          </a:xfrm>
          <a:prstGeom prst="rect">
            <a:avLst/>
          </a:prstGeom>
        </p:spPr>
        <p:txBody>
          <a:bodyPr wrap="none">
            <a:spAutoFit/>
          </a:bodyPr>
          <a:lstStyle/>
          <a:p>
            <a:r>
              <a:rPr lang="en-US" sz="2400" b="1" u="sng" dirty="0"/>
              <a:t>🔍 Test Coverage Criteria in Data Flow Testing:</a:t>
            </a:r>
            <a:endParaRPr lang="en-IN" sz="2400" b="1" u="sng" dirty="0"/>
          </a:p>
        </p:txBody>
      </p:sp>
      <p:graphicFrame>
        <p:nvGraphicFramePr>
          <p:cNvPr id="4" name="Table 3"/>
          <p:cNvGraphicFramePr>
            <a:graphicFrameLocks noGrp="1"/>
          </p:cNvGraphicFramePr>
          <p:nvPr>
            <p:extLst>
              <p:ext uri="{D42A27DB-BD31-4B8C-83A1-F6EECF244321}">
                <p14:modId xmlns:p14="http://schemas.microsoft.com/office/powerpoint/2010/main" val="439982211"/>
              </p:ext>
            </p:extLst>
          </p:nvPr>
        </p:nvGraphicFramePr>
        <p:xfrm>
          <a:off x="263300" y="892334"/>
          <a:ext cx="11532459" cy="2346960"/>
        </p:xfrm>
        <a:graphic>
          <a:graphicData uri="http://schemas.openxmlformats.org/drawingml/2006/table">
            <a:tbl>
              <a:tblPr>
                <a:tableStyleId>{5940675A-B579-460E-94D1-54222C63F5DA}</a:tableStyleId>
              </a:tblPr>
              <a:tblGrid>
                <a:gridCol w="3135220">
                  <a:extLst>
                    <a:ext uri="{9D8B030D-6E8A-4147-A177-3AD203B41FA5}">
                      <a16:colId xmlns:a16="http://schemas.microsoft.com/office/drawing/2014/main" val="936050185"/>
                    </a:ext>
                  </a:extLst>
                </a:gridCol>
                <a:gridCol w="8397239">
                  <a:extLst>
                    <a:ext uri="{9D8B030D-6E8A-4147-A177-3AD203B41FA5}">
                      <a16:colId xmlns:a16="http://schemas.microsoft.com/office/drawing/2014/main" val="4009499146"/>
                    </a:ext>
                  </a:extLst>
                </a:gridCol>
              </a:tblGrid>
              <a:tr h="0">
                <a:tc>
                  <a:txBody>
                    <a:bodyPr/>
                    <a:lstStyle/>
                    <a:p>
                      <a:pPr algn="ctr"/>
                      <a:r>
                        <a:rPr lang="en-IN" sz="2400" b="1" u="sng" dirty="0"/>
                        <a:t>Criterion</a:t>
                      </a:r>
                    </a:p>
                  </a:txBody>
                  <a:tcPr anchor="ctr"/>
                </a:tc>
                <a:tc>
                  <a:txBody>
                    <a:bodyPr/>
                    <a:lstStyle/>
                    <a:p>
                      <a:pPr algn="ctr"/>
                      <a:r>
                        <a:rPr lang="en-IN" sz="2400" b="1" u="sng" dirty="0"/>
                        <a:t>Meaning</a:t>
                      </a:r>
                    </a:p>
                  </a:txBody>
                  <a:tcPr anchor="ctr"/>
                </a:tc>
                <a:extLst>
                  <a:ext uri="{0D108BD9-81ED-4DB2-BD59-A6C34878D82A}">
                    <a16:rowId xmlns:a16="http://schemas.microsoft.com/office/drawing/2014/main" val="23874178"/>
                  </a:ext>
                </a:extLst>
              </a:tr>
              <a:tr h="0">
                <a:tc>
                  <a:txBody>
                    <a:bodyPr/>
                    <a:lstStyle/>
                    <a:p>
                      <a:r>
                        <a:rPr lang="en-IN" sz="2000" dirty="0"/>
                        <a:t>All-Definitions Criterion</a:t>
                      </a:r>
                    </a:p>
                  </a:txBody>
                  <a:tcPr anchor="ctr"/>
                </a:tc>
                <a:tc>
                  <a:txBody>
                    <a:bodyPr/>
                    <a:lstStyle/>
                    <a:p>
                      <a:r>
                        <a:rPr lang="en-US" sz="2000" dirty="0"/>
                        <a:t>At least one use of each variable definition must be tested.</a:t>
                      </a:r>
                    </a:p>
                  </a:txBody>
                  <a:tcPr anchor="ctr"/>
                </a:tc>
                <a:extLst>
                  <a:ext uri="{0D108BD9-81ED-4DB2-BD59-A6C34878D82A}">
                    <a16:rowId xmlns:a16="http://schemas.microsoft.com/office/drawing/2014/main" val="1313489413"/>
                  </a:ext>
                </a:extLst>
              </a:tr>
              <a:tr h="0">
                <a:tc>
                  <a:txBody>
                    <a:bodyPr/>
                    <a:lstStyle/>
                    <a:p>
                      <a:r>
                        <a:rPr lang="en-IN" sz="2000" dirty="0"/>
                        <a:t>All-Uses Criterion</a:t>
                      </a:r>
                    </a:p>
                  </a:txBody>
                  <a:tcPr anchor="ctr"/>
                </a:tc>
                <a:tc>
                  <a:txBody>
                    <a:bodyPr/>
                    <a:lstStyle/>
                    <a:p>
                      <a:r>
                        <a:rPr lang="en-US" sz="2000" dirty="0"/>
                        <a:t>All uses of each variable definition must be tested.</a:t>
                      </a:r>
                    </a:p>
                  </a:txBody>
                  <a:tcPr anchor="ctr"/>
                </a:tc>
                <a:extLst>
                  <a:ext uri="{0D108BD9-81ED-4DB2-BD59-A6C34878D82A}">
                    <a16:rowId xmlns:a16="http://schemas.microsoft.com/office/drawing/2014/main" val="874078778"/>
                  </a:ext>
                </a:extLst>
              </a:tr>
              <a:tr h="0">
                <a:tc>
                  <a:txBody>
                    <a:bodyPr/>
                    <a:lstStyle/>
                    <a:p>
                      <a:r>
                        <a:rPr lang="en-IN" sz="2000"/>
                        <a:t>All DU-Paths Criterion</a:t>
                      </a:r>
                    </a:p>
                  </a:txBody>
                  <a:tcPr anchor="ctr"/>
                </a:tc>
                <a:tc>
                  <a:txBody>
                    <a:bodyPr/>
                    <a:lstStyle/>
                    <a:p>
                      <a:r>
                        <a:rPr lang="en-US" sz="2000" dirty="0"/>
                        <a:t>Test every path between a variable's definition and its use, excluding complex cycles.</a:t>
                      </a:r>
                    </a:p>
                  </a:txBody>
                  <a:tcPr anchor="ctr"/>
                </a:tc>
                <a:extLst>
                  <a:ext uri="{0D108BD9-81ED-4DB2-BD59-A6C34878D82A}">
                    <a16:rowId xmlns:a16="http://schemas.microsoft.com/office/drawing/2014/main" val="2765290871"/>
                  </a:ext>
                </a:extLst>
              </a:tr>
              <a:tr h="0">
                <a:tc>
                  <a:txBody>
                    <a:bodyPr/>
                    <a:lstStyle/>
                    <a:p>
                      <a:r>
                        <a:rPr lang="en-IN" sz="2000"/>
                        <a:t>DU Chain Coverage</a:t>
                      </a:r>
                    </a:p>
                  </a:txBody>
                  <a:tcPr anchor="ctr"/>
                </a:tc>
                <a:tc>
                  <a:txBody>
                    <a:bodyPr/>
                    <a:lstStyle/>
                    <a:p>
                      <a:r>
                        <a:rPr lang="en-US" sz="2000" dirty="0"/>
                        <a:t>Each Definition-Use (DU) chain must be tested at least once.</a:t>
                      </a:r>
                    </a:p>
                  </a:txBody>
                  <a:tcPr anchor="ctr"/>
                </a:tc>
                <a:extLst>
                  <a:ext uri="{0D108BD9-81ED-4DB2-BD59-A6C34878D82A}">
                    <a16:rowId xmlns:a16="http://schemas.microsoft.com/office/drawing/2014/main" val="1197524112"/>
                  </a:ext>
                </a:extLst>
              </a:tr>
            </a:tbl>
          </a:graphicData>
        </a:graphic>
      </p:graphicFrame>
      <p:sp>
        <p:nvSpPr>
          <p:cNvPr id="5" name="Rectangle 1"/>
          <p:cNvSpPr>
            <a:spLocks noChangeArrowheads="1"/>
          </p:cNvSpPr>
          <p:nvPr/>
        </p:nvSpPr>
        <p:spPr bwMode="auto">
          <a:xfrm>
            <a:off x="263300" y="3565709"/>
            <a:ext cx="11532459" cy="280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r>
              <a:rPr kumimoji="0" lang="en-US" altLang="en-US" sz="2400" b="1" i="0" u="sng" strike="noStrike" cap="none" normalizeH="0" baseline="0" dirty="0">
                <a:ln>
                  <a:noFill/>
                </a:ln>
                <a:solidFill>
                  <a:schemeClr val="tx1"/>
                </a:solidFill>
                <a:effectLst/>
              </a:rPr>
              <a:t>🔗 DU Pair and DU Chain (</a:t>
            </a:r>
            <a:r>
              <a:rPr lang="en-US" sz="2400" b="1" u="sng" dirty="0"/>
              <a:t>Definition-Use Chain (DU Chain)):</a:t>
            </a:r>
            <a:endParaRPr kumimoji="0" lang="en-US" altLang="en-US" sz="2400" b="1" i="0" u="sng" strike="noStrike" cap="none" normalizeH="0" baseline="0" dirty="0">
              <a:ln>
                <a:noFill/>
              </a:ln>
              <a:solidFill>
                <a:schemeClr val="tx1"/>
              </a:solidFill>
              <a:effectLst/>
            </a:endParaRP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DU Pair:</a:t>
            </a:r>
            <a:r>
              <a:rPr kumimoji="0" lang="en-US" altLang="en-US" sz="2400" b="0" i="0" u="none" strike="noStrike" cap="none" normalizeH="0" baseline="0" dirty="0">
                <a:ln>
                  <a:noFill/>
                </a:ln>
                <a:solidFill>
                  <a:schemeClr val="tx1"/>
                </a:solidFill>
                <a:effectLst/>
              </a:rPr>
              <a:t> [X, S, S1] → Variable X is defined at S, used at S1, and is live in between.</a:t>
            </a: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DU Chain:</a:t>
            </a:r>
            <a:r>
              <a:rPr kumimoji="0" lang="en-US" altLang="en-US" sz="2400" b="0" i="0" u="none" strike="noStrike" cap="none" normalizeH="0" baseline="0" dirty="0">
                <a:ln>
                  <a:noFill/>
                </a:ln>
                <a:solidFill>
                  <a:schemeClr val="tx1"/>
                </a:solidFill>
                <a:effectLst/>
              </a:rPr>
              <a:t> A sequence of DU pairs.</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 </a:t>
            </a:r>
            <a:r>
              <a:rPr kumimoji="0" lang="en-US" altLang="en-US" sz="2400" b="1" i="1" u="none" strike="noStrike" cap="none" normalizeH="0" baseline="0" dirty="0">
                <a:ln>
                  <a:noFill/>
                </a:ln>
                <a:solidFill>
                  <a:srgbClr val="002060"/>
                </a:solidFill>
                <a:effectLst/>
              </a:rPr>
              <a:t>Used to ensure the data is handled correctly from assignment to use across the program’s execution.</a:t>
            </a:r>
            <a:endParaRPr kumimoji="0" lang="en-US" altLang="en-US" sz="2400" b="1" i="0" u="none" strike="noStrike" cap="none" normalizeH="0" baseline="0" dirty="0">
              <a:ln>
                <a:noFill/>
              </a:ln>
              <a:solidFill>
                <a:srgbClr val="002060"/>
              </a:solidFill>
              <a:effectLst/>
            </a:endParaRPr>
          </a:p>
        </p:txBody>
      </p:sp>
      <p:sp>
        <p:nvSpPr>
          <p:cNvPr id="2" name="Date Placeholder 1">
            <a:extLst>
              <a:ext uri="{FF2B5EF4-FFF2-40B4-BE49-F238E27FC236}">
                <a16:creationId xmlns:a16="http://schemas.microsoft.com/office/drawing/2014/main" id="{A336677D-C80D-90A1-756B-A5F09AECCEFC}"/>
              </a:ext>
            </a:extLst>
          </p:cNvPr>
          <p:cNvSpPr>
            <a:spLocks noGrp="1"/>
          </p:cNvSpPr>
          <p:nvPr>
            <p:ph type="dt" sz="half" idx="10"/>
          </p:nvPr>
        </p:nvSpPr>
        <p:spPr/>
        <p:txBody>
          <a:bodyPr/>
          <a:lstStyle/>
          <a:p>
            <a:fld id="{EAA491D4-0B57-4D88-A529-538214E4C119}" type="datetime1">
              <a:rPr lang="en-IN" smtClean="0"/>
              <a:t>03-11-2025</a:t>
            </a:fld>
            <a:endParaRPr lang="en-IN"/>
          </a:p>
        </p:txBody>
      </p:sp>
      <p:sp>
        <p:nvSpPr>
          <p:cNvPr id="6" name="Footer Placeholder 5">
            <a:extLst>
              <a:ext uri="{FF2B5EF4-FFF2-40B4-BE49-F238E27FC236}">
                <a16:creationId xmlns:a16="http://schemas.microsoft.com/office/drawing/2014/main" id="{FED993A4-06D0-F2BE-0B90-28A453EED592}"/>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C2A2A06D-EDED-BAA5-35BE-682458BE1173}"/>
              </a:ext>
            </a:extLst>
          </p:cNvPr>
          <p:cNvSpPr>
            <a:spLocks noGrp="1"/>
          </p:cNvSpPr>
          <p:nvPr>
            <p:ph type="sldNum" sz="quarter" idx="12"/>
          </p:nvPr>
        </p:nvSpPr>
        <p:spPr/>
        <p:txBody>
          <a:bodyPr/>
          <a:lstStyle/>
          <a:p>
            <a:fld id="{157E8F69-36B6-4843-A9CE-6B9353F4DBAF}" type="slidenum">
              <a:rPr lang="en-IN" smtClean="0"/>
              <a:t>68</a:t>
            </a:fld>
            <a:endParaRPr lang="en-IN"/>
          </a:p>
        </p:txBody>
      </p:sp>
    </p:spTree>
    <p:extLst>
      <p:ext uri="{BB962C8B-B14F-4D97-AF65-F5344CB8AC3E}">
        <p14:creationId xmlns:p14="http://schemas.microsoft.com/office/powerpoint/2010/main" val="40344908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56446CE-6625-34F7-37AA-3244BDF442E9}"/>
              </a:ext>
            </a:extLst>
          </p:cNvPr>
          <p:cNvSpPr>
            <a:spLocks noGrp="1"/>
          </p:cNvSpPr>
          <p:nvPr>
            <p:ph type="dt" sz="half" idx="10"/>
          </p:nvPr>
        </p:nvSpPr>
        <p:spPr/>
        <p:txBody>
          <a:bodyPr/>
          <a:lstStyle/>
          <a:p>
            <a:fld id="{F8E011B5-E856-4942-87BA-BEDC0539DA11}" type="datetime1">
              <a:rPr lang="en-IN" smtClean="0"/>
              <a:t>03-11-2025</a:t>
            </a:fld>
            <a:endParaRPr lang="en-IN"/>
          </a:p>
        </p:txBody>
      </p:sp>
      <p:sp>
        <p:nvSpPr>
          <p:cNvPr id="4" name="Footer Placeholder 3">
            <a:extLst>
              <a:ext uri="{FF2B5EF4-FFF2-40B4-BE49-F238E27FC236}">
                <a16:creationId xmlns:a16="http://schemas.microsoft.com/office/drawing/2014/main" id="{1327E75E-166D-5843-3280-CB8AF7557AF1}"/>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B838001C-77DB-BE24-3D67-05FB4A974DBB}"/>
              </a:ext>
            </a:extLst>
          </p:cNvPr>
          <p:cNvSpPr>
            <a:spLocks noGrp="1"/>
          </p:cNvSpPr>
          <p:nvPr>
            <p:ph type="sldNum" sz="quarter" idx="12"/>
          </p:nvPr>
        </p:nvSpPr>
        <p:spPr/>
        <p:txBody>
          <a:bodyPr/>
          <a:lstStyle/>
          <a:p>
            <a:fld id="{157E8F69-36B6-4843-A9CE-6B9353F4DBAF}" type="slidenum">
              <a:rPr lang="en-IN" smtClean="0"/>
              <a:t>69</a:t>
            </a:fld>
            <a:endParaRPr lang="en-IN"/>
          </a:p>
        </p:txBody>
      </p:sp>
      <p:sp>
        <p:nvSpPr>
          <p:cNvPr id="7" name="TextBox 6">
            <a:extLst>
              <a:ext uri="{FF2B5EF4-FFF2-40B4-BE49-F238E27FC236}">
                <a16:creationId xmlns:a16="http://schemas.microsoft.com/office/drawing/2014/main" id="{75EBC672-F0C9-D28B-60B4-4CE106174D83}"/>
              </a:ext>
            </a:extLst>
          </p:cNvPr>
          <p:cNvSpPr txBox="1"/>
          <p:nvPr/>
        </p:nvSpPr>
        <p:spPr>
          <a:xfrm>
            <a:off x="697992" y="214991"/>
            <a:ext cx="8052816" cy="1785104"/>
          </a:xfrm>
          <a:prstGeom prst="rect">
            <a:avLst/>
          </a:prstGeom>
          <a:noFill/>
        </p:spPr>
        <p:txBody>
          <a:bodyPr wrap="square">
            <a:spAutoFit/>
          </a:bodyPr>
          <a:lstStyle/>
          <a:p>
            <a:r>
              <a:rPr lang="en-US" sz="2200" dirty="0"/>
              <a:t>Example:</a:t>
            </a:r>
          </a:p>
          <a:p>
            <a:endParaRPr lang="en-US" sz="2200" dirty="0"/>
          </a:p>
          <a:p>
            <a:r>
              <a:rPr lang="en-US" sz="2200" dirty="0"/>
              <a:t>1. a = 10;       // Definition of a</a:t>
            </a:r>
          </a:p>
          <a:p>
            <a:r>
              <a:rPr lang="en-US" sz="2200" dirty="0"/>
              <a:t>2. b = a + 5;    // Use of a (DU chain: a₁ → a₂)</a:t>
            </a:r>
          </a:p>
          <a:p>
            <a:r>
              <a:rPr lang="en-US" sz="2200" dirty="0"/>
              <a:t>3. a = 20;       // Redefinition (kills previous definition)</a:t>
            </a:r>
          </a:p>
        </p:txBody>
      </p:sp>
      <p:sp>
        <p:nvSpPr>
          <p:cNvPr id="9" name="TextBox 8">
            <a:extLst>
              <a:ext uri="{FF2B5EF4-FFF2-40B4-BE49-F238E27FC236}">
                <a16:creationId xmlns:a16="http://schemas.microsoft.com/office/drawing/2014/main" id="{B32FCE49-AD71-29EC-AE18-6B353EAB37B6}"/>
              </a:ext>
            </a:extLst>
          </p:cNvPr>
          <p:cNvSpPr txBox="1"/>
          <p:nvPr/>
        </p:nvSpPr>
        <p:spPr>
          <a:xfrm>
            <a:off x="534162" y="2222447"/>
            <a:ext cx="6094476" cy="523220"/>
          </a:xfrm>
          <a:prstGeom prst="rect">
            <a:avLst/>
          </a:prstGeom>
          <a:noFill/>
        </p:spPr>
        <p:txBody>
          <a:bodyPr wrap="square">
            <a:spAutoFit/>
          </a:bodyPr>
          <a:lstStyle/>
          <a:p>
            <a:r>
              <a:rPr lang="en-US" sz="2800" b="1" dirty="0"/>
              <a:t>Live Definition Example:</a:t>
            </a:r>
          </a:p>
        </p:txBody>
      </p:sp>
      <p:sp>
        <p:nvSpPr>
          <p:cNvPr id="11" name="TextBox 10">
            <a:extLst>
              <a:ext uri="{FF2B5EF4-FFF2-40B4-BE49-F238E27FC236}">
                <a16:creationId xmlns:a16="http://schemas.microsoft.com/office/drawing/2014/main" id="{EACCB357-7013-6F69-8526-F507B5A83236}"/>
              </a:ext>
            </a:extLst>
          </p:cNvPr>
          <p:cNvSpPr txBox="1"/>
          <p:nvPr/>
        </p:nvSpPr>
        <p:spPr>
          <a:xfrm>
            <a:off x="433578" y="2968019"/>
            <a:ext cx="8774430" cy="1107996"/>
          </a:xfrm>
          <a:prstGeom prst="rect">
            <a:avLst/>
          </a:prstGeom>
          <a:noFill/>
        </p:spPr>
        <p:txBody>
          <a:bodyPr wrap="square">
            <a:spAutoFit/>
          </a:bodyPr>
          <a:lstStyle/>
          <a:p>
            <a:r>
              <a:rPr lang="en-US" sz="2200" dirty="0"/>
              <a:t>S1: a = 5;        → defines a</a:t>
            </a:r>
          </a:p>
          <a:p>
            <a:r>
              <a:rPr lang="en-US" sz="2200" dirty="0"/>
              <a:t>S2: if (a &gt; 0)    → uses a (a is live here)</a:t>
            </a:r>
          </a:p>
          <a:p>
            <a:r>
              <a:rPr lang="en-US" sz="2200" dirty="0"/>
              <a:t>S3: a = 7;        → redefines a (previous definition no longer live)</a:t>
            </a:r>
          </a:p>
        </p:txBody>
      </p:sp>
      <p:sp>
        <p:nvSpPr>
          <p:cNvPr id="13" name="TextBox 12">
            <a:extLst>
              <a:ext uri="{FF2B5EF4-FFF2-40B4-BE49-F238E27FC236}">
                <a16:creationId xmlns:a16="http://schemas.microsoft.com/office/drawing/2014/main" id="{04AE1DF9-A5C2-10BB-1DDB-3D5C89069439}"/>
              </a:ext>
            </a:extLst>
          </p:cNvPr>
          <p:cNvSpPr txBox="1"/>
          <p:nvPr/>
        </p:nvSpPr>
        <p:spPr>
          <a:xfrm>
            <a:off x="433578" y="4298367"/>
            <a:ext cx="9679686" cy="1938992"/>
          </a:xfrm>
          <a:prstGeom prst="rect">
            <a:avLst/>
          </a:prstGeom>
          <a:noFill/>
        </p:spPr>
        <p:txBody>
          <a:bodyPr wrap="square">
            <a:spAutoFit/>
          </a:bodyPr>
          <a:lstStyle/>
          <a:p>
            <a:pPr>
              <a:buNone/>
            </a:pPr>
            <a:r>
              <a:rPr lang="en-US" sz="2000" b="1" dirty="0"/>
              <a:t>⚙️ Purpose of Data Flow Testing</a:t>
            </a:r>
          </a:p>
          <a:p>
            <a:pPr>
              <a:buFont typeface="Arial" panose="020B0604020202020204" pitchFamily="34" charset="0"/>
              <a:buChar char="•"/>
            </a:pPr>
            <a:r>
              <a:rPr lang="en-US" sz="2000" dirty="0"/>
              <a:t>Detects </a:t>
            </a:r>
            <a:r>
              <a:rPr lang="en-US" sz="2000" b="1" dirty="0"/>
              <a:t>data anomalies</a:t>
            </a:r>
            <a:r>
              <a:rPr lang="en-US" sz="2000" dirty="0"/>
              <a:t> such as:</a:t>
            </a:r>
          </a:p>
          <a:p>
            <a:pPr marL="742950" lvl="1" indent="-285750">
              <a:buFont typeface="Arial" panose="020B0604020202020204" pitchFamily="34" charset="0"/>
              <a:buChar char="•"/>
            </a:pPr>
            <a:r>
              <a:rPr lang="en-US" sz="2000" b="1" dirty="0"/>
              <a:t>Undefined variable use</a:t>
            </a:r>
            <a:endParaRPr lang="en-US" sz="2000" dirty="0"/>
          </a:p>
          <a:p>
            <a:pPr marL="742950" lvl="1" indent="-285750">
              <a:buFont typeface="Arial" panose="020B0604020202020204" pitchFamily="34" charset="0"/>
              <a:buChar char="•"/>
            </a:pPr>
            <a:r>
              <a:rPr lang="en-US" sz="2000" b="1" dirty="0"/>
              <a:t>Unreferenced definitions</a:t>
            </a:r>
            <a:endParaRPr lang="en-US" sz="2000" dirty="0"/>
          </a:p>
          <a:p>
            <a:pPr marL="742950" lvl="1" indent="-285750">
              <a:buFont typeface="Arial" panose="020B0604020202020204" pitchFamily="34" charset="0"/>
              <a:buChar char="•"/>
            </a:pPr>
            <a:r>
              <a:rPr lang="en-US" sz="2000" b="1" dirty="0"/>
              <a:t>Multiple redundant definitions</a:t>
            </a:r>
            <a:endParaRPr lang="en-US" sz="2000" dirty="0"/>
          </a:p>
          <a:p>
            <a:pPr>
              <a:buFont typeface="Arial" panose="020B0604020202020204" pitchFamily="34" charset="0"/>
              <a:buChar char="•"/>
            </a:pPr>
            <a:r>
              <a:rPr lang="en-US" sz="2000" dirty="0"/>
              <a:t>Ensures that each defined variable is used meaningfully.</a:t>
            </a:r>
          </a:p>
        </p:txBody>
      </p:sp>
    </p:spTree>
    <p:extLst>
      <p:ext uri="{BB962C8B-B14F-4D97-AF65-F5344CB8AC3E}">
        <p14:creationId xmlns:p14="http://schemas.microsoft.com/office/powerpoint/2010/main" val="26879929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3840" y="207556"/>
            <a:ext cx="11643360" cy="2251065"/>
          </a:xfrm>
          <a:prstGeom prst="rect">
            <a:avLst/>
          </a:prstGeom>
        </p:spPr>
        <p:txBody>
          <a:bodyPr wrap="square">
            <a:spAutoFit/>
          </a:bodyPr>
          <a:lstStyle/>
          <a:p>
            <a:pPr algn="just">
              <a:lnSpc>
                <a:spcPct val="150000"/>
              </a:lnSpc>
            </a:pPr>
            <a:r>
              <a:rPr lang="en-US" sz="2400" b="1" u="sng" dirty="0"/>
              <a:t>7.7.11 Mutation Testing</a:t>
            </a:r>
          </a:p>
          <a:p>
            <a:pPr algn="just">
              <a:lnSpc>
                <a:spcPct val="150000"/>
              </a:lnSpc>
            </a:pPr>
            <a:r>
              <a:rPr lang="en-US" sz="2400" b="1" u="sng" dirty="0"/>
              <a:t>💡 Purpose:</a:t>
            </a:r>
          </a:p>
          <a:p>
            <a:pPr algn="just">
              <a:lnSpc>
                <a:spcPct val="150000"/>
              </a:lnSpc>
            </a:pPr>
            <a:r>
              <a:rPr lang="en-US" sz="2400" dirty="0"/>
              <a:t>	A </a:t>
            </a:r>
            <a:r>
              <a:rPr lang="en-US" sz="2400" b="1" dirty="0"/>
              <a:t>fault-based testing</a:t>
            </a:r>
            <a:r>
              <a:rPr lang="en-US" sz="2400" dirty="0"/>
              <a:t> method to evaluate the </a:t>
            </a:r>
            <a:r>
              <a:rPr lang="en-US" sz="2400" b="1" dirty="0"/>
              <a:t>effectiveness of a test suite</a:t>
            </a:r>
            <a:r>
              <a:rPr lang="en-US" sz="2400" dirty="0"/>
              <a:t> by introducing </a:t>
            </a:r>
            <a:r>
              <a:rPr lang="en-US" sz="2400" b="1" dirty="0"/>
              <a:t>small code errors</a:t>
            </a:r>
            <a:r>
              <a:rPr lang="en-US" sz="2400" dirty="0"/>
              <a:t> (mutants).</a:t>
            </a:r>
          </a:p>
        </p:txBody>
      </p:sp>
      <p:sp>
        <p:nvSpPr>
          <p:cNvPr id="4" name="Rectangle 1"/>
          <p:cNvSpPr>
            <a:spLocks noChangeArrowheads="1"/>
          </p:cNvSpPr>
          <p:nvPr/>
        </p:nvSpPr>
        <p:spPr bwMode="auto">
          <a:xfrm>
            <a:off x="243840" y="2645951"/>
            <a:ext cx="11643360" cy="3913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 Key Concepts:</a:t>
            </a:r>
          </a:p>
          <a:p>
            <a:pPr marL="800100" lvl="1" indent="-342900" eaLnBrk="0" fontAlgn="base" hangingPunct="0">
              <a:lnSpc>
                <a:spcPct val="150000"/>
              </a:lnSpc>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A </a:t>
            </a:r>
            <a:r>
              <a:rPr kumimoji="0" lang="en-US" altLang="en-US" sz="2400" b="1" i="0" u="none" strike="noStrike" cap="none" normalizeH="0" baseline="0" dirty="0">
                <a:ln>
                  <a:noFill/>
                </a:ln>
                <a:solidFill>
                  <a:schemeClr val="tx1"/>
                </a:solidFill>
                <a:effectLst/>
              </a:rPr>
              <a:t>mutant</a:t>
            </a:r>
            <a:r>
              <a:rPr kumimoji="0" lang="en-US" altLang="en-US" sz="2400" b="0" i="0" u="none" strike="noStrike" cap="none" normalizeH="0" baseline="0" dirty="0">
                <a:ln>
                  <a:noFill/>
                </a:ln>
                <a:solidFill>
                  <a:schemeClr val="tx1"/>
                </a:solidFill>
                <a:effectLst/>
              </a:rPr>
              <a:t> is a version of the program with a </a:t>
            </a:r>
            <a:r>
              <a:rPr kumimoji="0" lang="en-US" altLang="en-US" sz="2400" b="1" i="0" u="none" strike="noStrike" cap="none" normalizeH="0" baseline="0" dirty="0">
                <a:ln>
                  <a:noFill/>
                </a:ln>
                <a:solidFill>
                  <a:schemeClr val="tx1"/>
                </a:solidFill>
                <a:effectLst/>
              </a:rPr>
              <a:t>small change</a:t>
            </a:r>
            <a:r>
              <a:rPr kumimoji="0" lang="en-US" altLang="en-US" sz="2400" b="0" i="0" u="none" strike="noStrike" cap="none" normalizeH="0" baseline="0" dirty="0">
                <a:ln>
                  <a:noFill/>
                </a:ln>
                <a:solidFill>
                  <a:schemeClr val="tx1"/>
                </a:solidFill>
                <a:effectLst/>
              </a:rPr>
              <a:t>, like:</a:t>
            </a:r>
          </a:p>
          <a:p>
            <a:pPr marL="1714500" lvl="3" indent="-342900" eaLnBrk="0" fontAlgn="base" hangingPunct="0">
              <a:lnSpc>
                <a:spcPct val="150000"/>
              </a:lnSpc>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 → -</a:t>
            </a:r>
          </a:p>
          <a:p>
            <a:pPr marL="1714500" lvl="3" indent="-342900" eaLnBrk="0" fontAlgn="base" hangingPunct="0">
              <a:lnSpc>
                <a:spcPct val="150000"/>
              </a:lnSpc>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&amp;&amp; → ||</a:t>
            </a:r>
          </a:p>
          <a:p>
            <a:pPr marL="1714500" lvl="3" indent="-342900" eaLnBrk="0" fontAlgn="base" hangingPunct="0">
              <a:lnSpc>
                <a:spcPct val="150000"/>
              </a:lnSpc>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Deleting a statement</a:t>
            </a:r>
          </a:p>
          <a:p>
            <a:pPr marL="1714500" lvl="3" indent="-342900" eaLnBrk="0" fontAlgn="base" hangingPunct="0">
              <a:lnSpc>
                <a:spcPct val="150000"/>
              </a:lnSpc>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Changing variable type or value</a:t>
            </a:r>
          </a:p>
          <a:p>
            <a:pPr marL="800100" lvl="1" indent="-342900" eaLnBrk="0" fontAlgn="base" hangingPunct="0">
              <a:lnSpc>
                <a:spcPct val="150000"/>
              </a:lnSpc>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If a test case detects a difference (i.e., fails on the mutant), the </a:t>
            </a:r>
            <a:r>
              <a:rPr kumimoji="0" lang="en-US" altLang="en-US" sz="2400" b="1" i="0" u="none" strike="noStrike" cap="none" normalizeH="0" baseline="0" dirty="0">
                <a:ln>
                  <a:noFill/>
                </a:ln>
                <a:solidFill>
                  <a:schemeClr val="tx1"/>
                </a:solidFill>
                <a:effectLst/>
              </a:rPr>
              <a:t>mutant is killed</a:t>
            </a:r>
            <a:r>
              <a:rPr kumimoji="0" lang="en-US" altLang="en-US" sz="2400" b="0" i="0" u="none" strike="noStrike" cap="none" normalizeH="0" baseline="0" dirty="0">
                <a:ln>
                  <a:noFill/>
                </a:ln>
                <a:solidFill>
                  <a:schemeClr val="tx1"/>
                </a:solidFill>
                <a:effectLst/>
              </a:rPr>
              <a:t>.</a:t>
            </a:r>
          </a:p>
        </p:txBody>
      </p:sp>
      <p:sp>
        <p:nvSpPr>
          <p:cNvPr id="2" name="Date Placeholder 1">
            <a:extLst>
              <a:ext uri="{FF2B5EF4-FFF2-40B4-BE49-F238E27FC236}">
                <a16:creationId xmlns:a16="http://schemas.microsoft.com/office/drawing/2014/main" id="{FBF320AF-C91D-B53C-A194-AEB62F426720}"/>
              </a:ext>
            </a:extLst>
          </p:cNvPr>
          <p:cNvSpPr>
            <a:spLocks noGrp="1"/>
          </p:cNvSpPr>
          <p:nvPr>
            <p:ph type="dt" sz="half" idx="10"/>
          </p:nvPr>
        </p:nvSpPr>
        <p:spPr/>
        <p:txBody>
          <a:bodyPr/>
          <a:lstStyle/>
          <a:p>
            <a:fld id="{6554CAFE-A403-4ACC-9207-CCEFB7660FD0}" type="datetime1">
              <a:rPr lang="en-IN" smtClean="0"/>
              <a:t>03-11-2025</a:t>
            </a:fld>
            <a:endParaRPr lang="en-IN"/>
          </a:p>
        </p:txBody>
      </p:sp>
      <p:sp>
        <p:nvSpPr>
          <p:cNvPr id="5" name="Footer Placeholder 4">
            <a:extLst>
              <a:ext uri="{FF2B5EF4-FFF2-40B4-BE49-F238E27FC236}">
                <a16:creationId xmlns:a16="http://schemas.microsoft.com/office/drawing/2014/main" id="{9EE75971-8B80-D8AF-B5D3-73C8F0B16860}"/>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8132892D-FEAF-C54F-578E-4C6CD499D65C}"/>
              </a:ext>
            </a:extLst>
          </p:cNvPr>
          <p:cNvSpPr>
            <a:spLocks noGrp="1"/>
          </p:cNvSpPr>
          <p:nvPr>
            <p:ph type="sldNum" sz="quarter" idx="12"/>
          </p:nvPr>
        </p:nvSpPr>
        <p:spPr/>
        <p:txBody>
          <a:bodyPr/>
          <a:lstStyle/>
          <a:p>
            <a:fld id="{157E8F69-36B6-4843-A9CE-6B9353F4DBAF}" type="slidenum">
              <a:rPr lang="en-IN" smtClean="0"/>
              <a:t>70</a:t>
            </a:fld>
            <a:endParaRPr lang="en-IN"/>
          </a:p>
        </p:txBody>
      </p:sp>
    </p:spTree>
    <p:extLst>
      <p:ext uri="{BB962C8B-B14F-4D97-AF65-F5344CB8AC3E}">
        <p14:creationId xmlns:p14="http://schemas.microsoft.com/office/powerpoint/2010/main" val="42215617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3840" y="257800"/>
            <a:ext cx="11689080" cy="4124206"/>
          </a:xfrm>
          <a:prstGeom prst="rect">
            <a:avLst/>
          </a:prstGeom>
        </p:spPr>
        <p:txBody>
          <a:bodyPr wrap="square">
            <a:spAutoFit/>
          </a:bodyPr>
          <a:lstStyle/>
          <a:p>
            <a:pPr algn="just">
              <a:spcBef>
                <a:spcPts val="1200"/>
              </a:spcBef>
            </a:pPr>
            <a:r>
              <a:rPr lang="en-US" sz="2400" b="1" u="sng" dirty="0"/>
              <a:t>🧪 Process of Mutation Testing:</a:t>
            </a:r>
          </a:p>
          <a:p>
            <a:pPr algn="just">
              <a:spcBef>
                <a:spcPts val="1200"/>
              </a:spcBef>
              <a:buFont typeface="+mj-lt"/>
              <a:buAutoNum type="arabicPeriod"/>
            </a:pPr>
            <a:r>
              <a:rPr lang="en-US" sz="2400" b="1" dirty="0"/>
              <a:t>Initial Testing</a:t>
            </a:r>
            <a:r>
              <a:rPr lang="en-US" sz="2400" dirty="0"/>
              <a:t>: Test the original program with existing test cases.</a:t>
            </a:r>
          </a:p>
          <a:p>
            <a:pPr algn="just">
              <a:spcBef>
                <a:spcPts val="1200"/>
              </a:spcBef>
              <a:buFont typeface="+mj-lt"/>
              <a:buAutoNum type="arabicPeriod"/>
            </a:pPr>
            <a:r>
              <a:rPr lang="en-US" sz="2400" b="1" dirty="0"/>
              <a:t>Mutant Generation</a:t>
            </a:r>
            <a:r>
              <a:rPr lang="en-US" sz="2400" dirty="0"/>
              <a:t>: Apply </a:t>
            </a:r>
            <a:r>
              <a:rPr lang="en-US" sz="2400" b="1" dirty="0"/>
              <a:t>mutation operators</a:t>
            </a:r>
            <a:r>
              <a:rPr lang="en-US" sz="2400" dirty="0"/>
              <a:t> to create mutants.</a:t>
            </a:r>
          </a:p>
          <a:p>
            <a:pPr algn="just">
              <a:spcBef>
                <a:spcPts val="1200"/>
              </a:spcBef>
              <a:buFont typeface="+mj-lt"/>
              <a:buAutoNum type="arabicPeriod"/>
            </a:pPr>
            <a:r>
              <a:rPr lang="en-US" sz="2400" b="1" dirty="0"/>
              <a:t>Testing Mutants</a:t>
            </a:r>
            <a:r>
              <a:rPr lang="en-US" sz="2400" dirty="0"/>
              <a:t>: Run original test suite on each mutant.</a:t>
            </a:r>
          </a:p>
          <a:p>
            <a:pPr algn="just">
              <a:spcBef>
                <a:spcPts val="1200"/>
              </a:spcBef>
              <a:buFont typeface="+mj-lt"/>
              <a:buAutoNum type="arabicPeriod"/>
            </a:pPr>
            <a:r>
              <a:rPr lang="en-US" sz="2400" b="1" dirty="0"/>
              <a:t>Evaluate:</a:t>
            </a:r>
            <a:endParaRPr lang="en-US" sz="2400" dirty="0"/>
          </a:p>
          <a:p>
            <a:pPr marL="742950" lvl="1" indent="-285750" algn="just">
              <a:spcBef>
                <a:spcPts val="1200"/>
              </a:spcBef>
              <a:buFont typeface="+mj-lt"/>
              <a:buAutoNum type="arabicPeriod"/>
            </a:pPr>
            <a:r>
              <a:rPr lang="en-US" sz="2400" b="1" dirty="0"/>
              <a:t>Killed mutant</a:t>
            </a:r>
            <a:r>
              <a:rPr lang="en-US" sz="2400" dirty="0"/>
              <a:t>: Detected by test suite (good).</a:t>
            </a:r>
          </a:p>
          <a:p>
            <a:pPr marL="742950" lvl="1" indent="-285750" algn="just">
              <a:spcBef>
                <a:spcPts val="1200"/>
              </a:spcBef>
              <a:buFont typeface="+mj-lt"/>
              <a:buAutoNum type="arabicPeriod"/>
            </a:pPr>
            <a:r>
              <a:rPr lang="en-US" sz="2400" b="1" dirty="0"/>
              <a:t>Alive mutant</a:t>
            </a:r>
            <a:r>
              <a:rPr lang="en-US" sz="2400" dirty="0"/>
              <a:t>: Not detected (test suite is weak → improve tests).</a:t>
            </a:r>
          </a:p>
          <a:p>
            <a:pPr marL="742950" lvl="1" indent="-285750" algn="just">
              <a:spcBef>
                <a:spcPts val="1200"/>
              </a:spcBef>
              <a:buFont typeface="+mj-lt"/>
              <a:buAutoNum type="arabicPeriod"/>
            </a:pPr>
            <a:r>
              <a:rPr lang="en-US" sz="2400" b="1" dirty="0"/>
              <a:t>Equivalent mutant</a:t>
            </a:r>
            <a:r>
              <a:rPr lang="en-US" sz="2400" dirty="0"/>
              <a:t>: Functionally same as original (cannot be killed).</a:t>
            </a:r>
          </a:p>
        </p:txBody>
      </p:sp>
      <p:sp>
        <p:nvSpPr>
          <p:cNvPr id="4" name="Rectangle 1"/>
          <p:cNvSpPr>
            <a:spLocks noChangeArrowheads="1"/>
          </p:cNvSpPr>
          <p:nvPr/>
        </p:nvSpPr>
        <p:spPr bwMode="auto">
          <a:xfrm>
            <a:off x="335280" y="4515100"/>
            <a:ext cx="1152144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 Mutation Operators Examples:</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Replace + with -</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Replace &gt; with &lt;</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Change constant 5 to 0</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Delete a line or variable</a:t>
            </a:r>
          </a:p>
        </p:txBody>
      </p:sp>
      <p:sp>
        <p:nvSpPr>
          <p:cNvPr id="2" name="Date Placeholder 1">
            <a:extLst>
              <a:ext uri="{FF2B5EF4-FFF2-40B4-BE49-F238E27FC236}">
                <a16:creationId xmlns:a16="http://schemas.microsoft.com/office/drawing/2014/main" id="{DB58B310-9D7B-4EEE-BACA-3B510F53D2B2}"/>
              </a:ext>
            </a:extLst>
          </p:cNvPr>
          <p:cNvSpPr>
            <a:spLocks noGrp="1"/>
          </p:cNvSpPr>
          <p:nvPr>
            <p:ph type="dt" sz="half" idx="10"/>
          </p:nvPr>
        </p:nvSpPr>
        <p:spPr/>
        <p:txBody>
          <a:bodyPr/>
          <a:lstStyle/>
          <a:p>
            <a:fld id="{CF9A388F-5C25-4AD2-AAD6-DF9E7762ED06}" type="datetime1">
              <a:rPr lang="en-IN" smtClean="0"/>
              <a:t>03-11-2025</a:t>
            </a:fld>
            <a:endParaRPr lang="en-IN"/>
          </a:p>
        </p:txBody>
      </p:sp>
      <p:sp>
        <p:nvSpPr>
          <p:cNvPr id="5" name="Footer Placeholder 4">
            <a:extLst>
              <a:ext uri="{FF2B5EF4-FFF2-40B4-BE49-F238E27FC236}">
                <a16:creationId xmlns:a16="http://schemas.microsoft.com/office/drawing/2014/main" id="{0F851396-E238-8497-1DF9-72D8696D1E4C}"/>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AFAB85E7-7023-2C6E-9F33-0A49FB565B13}"/>
              </a:ext>
            </a:extLst>
          </p:cNvPr>
          <p:cNvSpPr>
            <a:spLocks noGrp="1"/>
          </p:cNvSpPr>
          <p:nvPr>
            <p:ph type="sldNum" sz="quarter" idx="12"/>
          </p:nvPr>
        </p:nvSpPr>
        <p:spPr/>
        <p:txBody>
          <a:bodyPr/>
          <a:lstStyle/>
          <a:p>
            <a:fld id="{157E8F69-36B6-4843-A9CE-6B9353F4DBAF}" type="slidenum">
              <a:rPr lang="en-IN" smtClean="0"/>
              <a:t>71</a:t>
            </a:fld>
            <a:endParaRPr lang="en-IN"/>
          </a:p>
        </p:txBody>
      </p:sp>
    </p:spTree>
    <p:extLst>
      <p:ext uri="{BB962C8B-B14F-4D97-AF65-F5344CB8AC3E}">
        <p14:creationId xmlns:p14="http://schemas.microsoft.com/office/powerpoint/2010/main" val="24821360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5760" y="310218"/>
            <a:ext cx="11490960" cy="3913059"/>
          </a:xfrm>
          <a:prstGeom prst="rect">
            <a:avLst/>
          </a:prstGeom>
        </p:spPr>
        <p:txBody>
          <a:bodyPr wrap="square">
            <a:spAutoFit/>
          </a:bodyPr>
          <a:lstStyle/>
          <a:p>
            <a:pPr algn="just">
              <a:lnSpc>
                <a:spcPct val="150000"/>
              </a:lnSpc>
            </a:pPr>
            <a:r>
              <a:rPr lang="en-US" sz="2400" b="1" u="sng" dirty="0"/>
              <a:t>📈 Advantages:</a:t>
            </a:r>
          </a:p>
          <a:p>
            <a:pPr marL="800100" lvl="1" indent="-342900" algn="just">
              <a:lnSpc>
                <a:spcPct val="150000"/>
              </a:lnSpc>
              <a:buFont typeface="Wingdings" panose="05000000000000000000" pitchFamily="2" charset="2"/>
              <a:buChar char="Ø"/>
            </a:pPr>
            <a:r>
              <a:rPr lang="en-US" sz="2400" dirty="0"/>
              <a:t>Reveals weaknesses in test suites.</a:t>
            </a:r>
          </a:p>
          <a:p>
            <a:pPr marL="800100" lvl="1" indent="-342900" algn="just">
              <a:lnSpc>
                <a:spcPct val="150000"/>
              </a:lnSpc>
              <a:buFont typeface="Wingdings" panose="05000000000000000000" pitchFamily="2" charset="2"/>
              <a:buChar char="Ø"/>
            </a:pPr>
            <a:r>
              <a:rPr lang="en-US" sz="2400" dirty="0"/>
              <a:t>Automatable using mutation tools (e.g., PIT, </a:t>
            </a:r>
            <a:r>
              <a:rPr lang="en-US" sz="2400" dirty="0" err="1"/>
              <a:t>MutPy</a:t>
            </a:r>
            <a:r>
              <a:rPr lang="en-US" sz="2400" dirty="0"/>
              <a:t>).</a:t>
            </a:r>
          </a:p>
          <a:p>
            <a:pPr algn="just">
              <a:lnSpc>
                <a:spcPct val="150000"/>
              </a:lnSpc>
            </a:pPr>
            <a:r>
              <a:rPr lang="en-US" sz="2400" b="1" u="sng" dirty="0"/>
              <a:t>⚠️ Challenges:</a:t>
            </a:r>
          </a:p>
          <a:p>
            <a:pPr marL="800100" lvl="1" indent="-342900" algn="just">
              <a:lnSpc>
                <a:spcPct val="150000"/>
              </a:lnSpc>
              <a:buFont typeface="Wingdings" panose="05000000000000000000" pitchFamily="2" charset="2"/>
              <a:buChar char="Ø"/>
            </a:pPr>
            <a:r>
              <a:rPr lang="en-US" sz="2400" b="1" dirty="0"/>
              <a:t>High computational cost</a:t>
            </a:r>
            <a:endParaRPr lang="en-US" sz="2400" dirty="0"/>
          </a:p>
          <a:p>
            <a:pPr marL="800100" lvl="1" indent="-342900" algn="just">
              <a:lnSpc>
                <a:spcPct val="150000"/>
              </a:lnSpc>
              <a:buFont typeface="Wingdings" panose="05000000000000000000" pitchFamily="2" charset="2"/>
              <a:buChar char="Ø"/>
            </a:pPr>
            <a:r>
              <a:rPr lang="en-US" sz="2400" b="1" dirty="0"/>
              <a:t>Many mutants</a:t>
            </a:r>
            <a:r>
              <a:rPr lang="en-US" sz="2400" dirty="0"/>
              <a:t> generated</a:t>
            </a:r>
          </a:p>
          <a:p>
            <a:pPr marL="800100" lvl="1" indent="-342900" algn="just">
              <a:lnSpc>
                <a:spcPct val="150000"/>
              </a:lnSpc>
              <a:buFont typeface="Wingdings" panose="05000000000000000000" pitchFamily="2" charset="2"/>
              <a:buChar char="Ø"/>
            </a:pPr>
            <a:r>
              <a:rPr lang="en-US" sz="2400" b="1" dirty="0"/>
              <a:t>Difficult</a:t>
            </a:r>
            <a:r>
              <a:rPr lang="en-US" sz="2400" dirty="0"/>
              <a:t> to detect </a:t>
            </a:r>
            <a:r>
              <a:rPr lang="en-US" sz="2400" b="1" dirty="0"/>
              <a:t>equivalent mutants</a:t>
            </a:r>
            <a:endParaRPr lang="en-US" sz="2400" dirty="0"/>
          </a:p>
        </p:txBody>
      </p:sp>
      <p:sp>
        <p:nvSpPr>
          <p:cNvPr id="2" name="Date Placeholder 1">
            <a:extLst>
              <a:ext uri="{FF2B5EF4-FFF2-40B4-BE49-F238E27FC236}">
                <a16:creationId xmlns:a16="http://schemas.microsoft.com/office/drawing/2014/main" id="{D79CE404-1F1E-C6AB-D840-53FFE8EE0900}"/>
              </a:ext>
            </a:extLst>
          </p:cNvPr>
          <p:cNvSpPr>
            <a:spLocks noGrp="1"/>
          </p:cNvSpPr>
          <p:nvPr>
            <p:ph type="dt" sz="half" idx="10"/>
          </p:nvPr>
        </p:nvSpPr>
        <p:spPr/>
        <p:txBody>
          <a:bodyPr/>
          <a:lstStyle/>
          <a:p>
            <a:fld id="{ABF72F81-CC66-49F6-B359-AB5F3632C8CE}" type="datetime1">
              <a:rPr lang="en-IN" smtClean="0"/>
              <a:t>03-11-2025</a:t>
            </a:fld>
            <a:endParaRPr lang="en-IN"/>
          </a:p>
        </p:txBody>
      </p:sp>
      <p:sp>
        <p:nvSpPr>
          <p:cNvPr id="4" name="Footer Placeholder 3">
            <a:extLst>
              <a:ext uri="{FF2B5EF4-FFF2-40B4-BE49-F238E27FC236}">
                <a16:creationId xmlns:a16="http://schemas.microsoft.com/office/drawing/2014/main" id="{6A4D9242-47E0-571D-708C-A64E76DE7CB6}"/>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2B7475AF-868D-BB6A-733E-0943C8DF8189}"/>
              </a:ext>
            </a:extLst>
          </p:cNvPr>
          <p:cNvSpPr>
            <a:spLocks noGrp="1"/>
          </p:cNvSpPr>
          <p:nvPr>
            <p:ph type="sldNum" sz="quarter" idx="12"/>
          </p:nvPr>
        </p:nvSpPr>
        <p:spPr/>
        <p:txBody>
          <a:bodyPr/>
          <a:lstStyle/>
          <a:p>
            <a:fld id="{157E8F69-36B6-4843-A9CE-6B9353F4DBAF}" type="slidenum">
              <a:rPr lang="en-IN" smtClean="0"/>
              <a:t>72</a:t>
            </a:fld>
            <a:endParaRPr lang="en-IN"/>
          </a:p>
        </p:txBody>
      </p:sp>
    </p:spTree>
    <p:extLst>
      <p:ext uri="{BB962C8B-B14F-4D97-AF65-F5344CB8AC3E}">
        <p14:creationId xmlns:p14="http://schemas.microsoft.com/office/powerpoint/2010/main" val="5444852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82880" y="239375"/>
            <a:ext cx="11765280" cy="1569660"/>
          </a:xfrm>
          <a:prstGeom prst="rect">
            <a:avLst/>
          </a:prstGeom>
        </p:spPr>
        <p:txBody>
          <a:bodyPr wrap="square">
            <a:spAutoFit/>
          </a:bodyPr>
          <a:lstStyle/>
          <a:p>
            <a:pPr algn="ctr"/>
            <a:r>
              <a:rPr lang="en-US" sz="2400" b="1" u="sng" dirty="0"/>
              <a:t>7.8 DEBUGGING</a:t>
            </a:r>
          </a:p>
          <a:p>
            <a:pPr algn="just"/>
            <a:r>
              <a:rPr lang="en-US" sz="2400" b="1" u="sng" dirty="0"/>
              <a:t>💡 Definition:</a:t>
            </a:r>
          </a:p>
          <a:p>
            <a:pPr algn="just"/>
            <a:r>
              <a:rPr lang="en-US" sz="2400" dirty="0"/>
              <a:t>	Debugging is the process of </a:t>
            </a:r>
            <a:r>
              <a:rPr lang="en-US" sz="2400" b="1" dirty="0"/>
              <a:t>identifying, locating, and fixing errors (bugs)</a:t>
            </a:r>
            <a:r>
              <a:rPr lang="en-US" sz="2400" dirty="0"/>
              <a:t> in a program after a </a:t>
            </a:r>
            <a:r>
              <a:rPr lang="en-US" sz="2400" b="1" dirty="0"/>
              <a:t>failure</a:t>
            </a:r>
            <a:r>
              <a:rPr lang="en-US" sz="2400" dirty="0"/>
              <a:t> has been detected.</a:t>
            </a:r>
          </a:p>
        </p:txBody>
      </p:sp>
      <p:sp>
        <p:nvSpPr>
          <p:cNvPr id="12" name="Rectangle 11"/>
          <p:cNvSpPr/>
          <p:nvPr/>
        </p:nvSpPr>
        <p:spPr>
          <a:xfrm>
            <a:off x="182880" y="2022395"/>
            <a:ext cx="11765280" cy="1200329"/>
          </a:xfrm>
          <a:prstGeom prst="rect">
            <a:avLst/>
          </a:prstGeom>
        </p:spPr>
        <p:txBody>
          <a:bodyPr wrap="square">
            <a:spAutoFit/>
          </a:bodyPr>
          <a:lstStyle/>
          <a:p>
            <a:pPr algn="just"/>
            <a:r>
              <a:rPr lang="en-US" sz="2400" b="1" u="sng" dirty="0"/>
              <a:t>7.8.1 Debugging Approaches</a:t>
            </a:r>
          </a:p>
          <a:p>
            <a:pPr marL="342900" indent="-342900" algn="just">
              <a:buFont typeface="Wingdings" panose="05000000000000000000" pitchFamily="2" charset="2"/>
              <a:buChar char="Ø"/>
            </a:pPr>
            <a:r>
              <a:rPr lang="en-US" sz="2400" dirty="0"/>
              <a:t>Different strategies can be used to trace the cause of an error. Each has its </a:t>
            </a:r>
            <a:r>
              <a:rPr lang="en-US" sz="2400" b="1" dirty="0"/>
              <a:t>pros and cons</a:t>
            </a:r>
            <a:r>
              <a:rPr lang="en-US" sz="2400" dirty="0"/>
              <a:t> depending on the complexity and nature of the program.</a:t>
            </a:r>
          </a:p>
        </p:txBody>
      </p:sp>
      <p:sp>
        <p:nvSpPr>
          <p:cNvPr id="13" name="Rectangle 9"/>
          <p:cNvSpPr>
            <a:spLocks noChangeArrowheads="1"/>
          </p:cNvSpPr>
          <p:nvPr/>
        </p:nvSpPr>
        <p:spPr bwMode="auto">
          <a:xfrm>
            <a:off x="182880" y="3344644"/>
            <a:ext cx="1176528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1. Brute Force Method</a:t>
            </a:r>
          </a:p>
          <a:p>
            <a:pPr marL="800100" lvl="1" indent="-342900" algn="just" eaLnBrk="0" fontAlgn="base" hangingPunct="0">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What it is</a:t>
            </a:r>
            <a:r>
              <a:rPr kumimoji="0" lang="en-US" altLang="en-US" sz="2400" b="0" i="0" u="none" strike="noStrike" cap="none" normalizeH="0" baseline="0" dirty="0">
                <a:ln>
                  <a:noFill/>
                </a:ln>
                <a:solidFill>
                  <a:schemeClr val="tx1"/>
                </a:solidFill>
                <a:effectLst/>
              </a:rPr>
              <a:t>: Adding print statements to check values at various points.</a:t>
            </a:r>
          </a:p>
          <a:p>
            <a:pPr marL="800100" lvl="1" indent="-342900" algn="just" eaLnBrk="0" fontAlgn="base" hangingPunct="0">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Advanced tool</a:t>
            </a:r>
            <a:r>
              <a:rPr kumimoji="0" lang="en-US" altLang="en-US" sz="2400" b="0" i="0" u="none" strike="noStrike" cap="none" normalizeH="0" baseline="0" dirty="0">
                <a:ln>
                  <a:noFill/>
                </a:ln>
                <a:solidFill>
                  <a:schemeClr val="tx1"/>
                </a:solidFill>
                <a:effectLst/>
              </a:rPr>
              <a:t>: Use a </a:t>
            </a:r>
            <a:r>
              <a:rPr kumimoji="0" lang="en-US" altLang="en-US" sz="2400" b="1" i="0" u="none" strike="noStrike" cap="none" normalizeH="0" baseline="0" dirty="0">
                <a:ln>
                  <a:noFill/>
                </a:ln>
                <a:solidFill>
                  <a:schemeClr val="tx1"/>
                </a:solidFill>
                <a:effectLst/>
              </a:rPr>
              <a:t>symbolic debugger</a:t>
            </a:r>
            <a:r>
              <a:rPr kumimoji="0" lang="en-US" altLang="en-US" sz="2400" b="0" i="0" u="none" strike="noStrike" cap="none" normalizeH="0" baseline="0" dirty="0">
                <a:ln>
                  <a:noFill/>
                </a:ln>
                <a:solidFill>
                  <a:schemeClr val="tx1"/>
                </a:solidFill>
                <a:effectLst/>
              </a:rPr>
              <a:t> to check variable values, set breakpoints, and step through code.</a:t>
            </a:r>
          </a:p>
          <a:p>
            <a:pPr marL="800100" lvl="1" indent="-342900" algn="just" eaLnBrk="0" fontAlgn="base" hangingPunct="0">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Form</a:t>
            </a:r>
            <a:r>
              <a:rPr kumimoji="0" lang="en-US" altLang="en-US" sz="2400" b="0" i="0" u="none" strike="noStrike" cap="none" normalizeH="0" baseline="0" dirty="0">
                <a:ln>
                  <a:noFill/>
                </a:ln>
                <a:solidFill>
                  <a:schemeClr val="tx1"/>
                </a:solidFill>
                <a:effectLst/>
              </a:rPr>
              <a:t>: Single-stepping with expected vs actual results.</a:t>
            </a:r>
          </a:p>
          <a:p>
            <a:pPr marL="800100" lvl="1" indent="-342900" algn="just" eaLnBrk="0" fontAlgn="base" hangingPunct="0">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Drawback</a:t>
            </a:r>
            <a:r>
              <a:rPr kumimoji="0" lang="en-US" altLang="en-US" sz="2400" b="0" i="0" u="none" strike="noStrike" cap="none" normalizeH="0" baseline="0" dirty="0">
                <a:ln>
                  <a:noFill/>
                </a:ln>
                <a:solidFill>
                  <a:schemeClr val="tx1"/>
                </a:solidFill>
                <a:effectLst/>
              </a:rPr>
              <a:t>: </a:t>
            </a:r>
            <a:r>
              <a:rPr kumimoji="0" lang="en-US" altLang="en-US" sz="2400" b="1" i="0" u="none" strike="noStrike" cap="none" normalizeH="0" baseline="0" dirty="0">
                <a:ln>
                  <a:noFill/>
                </a:ln>
                <a:solidFill>
                  <a:schemeClr val="tx1"/>
                </a:solidFill>
                <a:effectLst/>
              </a:rPr>
              <a:t>Inefficient</a:t>
            </a:r>
            <a:r>
              <a:rPr kumimoji="0" lang="en-US" altLang="en-US" sz="2400" b="0" i="0" u="none" strike="noStrike" cap="none" normalizeH="0" baseline="0" dirty="0">
                <a:ln>
                  <a:noFill/>
                </a:ln>
                <a:solidFill>
                  <a:schemeClr val="tx1"/>
                </a:solidFill>
                <a:effectLst/>
              </a:rPr>
              <a:t> and time-consuming, especially for large programs.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p:txBody>
      </p:sp>
      <p:sp>
        <p:nvSpPr>
          <p:cNvPr id="2" name="Date Placeholder 1">
            <a:extLst>
              <a:ext uri="{FF2B5EF4-FFF2-40B4-BE49-F238E27FC236}">
                <a16:creationId xmlns:a16="http://schemas.microsoft.com/office/drawing/2014/main" id="{2E61F609-D6D8-F775-F285-7CD68E880326}"/>
              </a:ext>
            </a:extLst>
          </p:cNvPr>
          <p:cNvSpPr>
            <a:spLocks noGrp="1"/>
          </p:cNvSpPr>
          <p:nvPr>
            <p:ph type="dt" sz="half" idx="10"/>
          </p:nvPr>
        </p:nvSpPr>
        <p:spPr/>
        <p:txBody>
          <a:bodyPr/>
          <a:lstStyle/>
          <a:p>
            <a:fld id="{61CAAA44-B6FB-43D6-AB93-929088C8C943}" type="datetime1">
              <a:rPr lang="en-IN" smtClean="0"/>
              <a:t>03-11-2025</a:t>
            </a:fld>
            <a:endParaRPr lang="en-IN"/>
          </a:p>
        </p:txBody>
      </p:sp>
      <p:sp>
        <p:nvSpPr>
          <p:cNvPr id="3" name="Footer Placeholder 2">
            <a:extLst>
              <a:ext uri="{FF2B5EF4-FFF2-40B4-BE49-F238E27FC236}">
                <a16:creationId xmlns:a16="http://schemas.microsoft.com/office/drawing/2014/main" id="{933F57DC-6042-1ECA-A3D4-4BDC34DF09BE}"/>
              </a:ext>
            </a:extLst>
          </p:cNvPr>
          <p:cNvSpPr>
            <a:spLocks noGrp="1"/>
          </p:cNvSpPr>
          <p:nvPr>
            <p:ph type="ftr" sz="quarter" idx="11"/>
          </p:nvPr>
        </p:nvSpPr>
        <p:spPr/>
        <p:txBody>
          <a:bodyPr/>
          <a:lstStyle/>
          <a:p>
            <a:r>
              <a:rPr lang="en-IN"/>
              <a:t>MIT</a:t>
            </a:r>
          </a:p>
        </p:txBody>
      </p:sp>
      <p:sp>
        <p:nvSpPr>
          <p:cNvPr id="4" name="Slide Number Placeholder 3">
            <a:extLst>
              <a:ext uri="{FF2B5EF4-FFF2-40B4-BE49-F238E27FC236}">
                <a16:creationId xmlns:a16="http://schemas.microsoft.com/office/drawing/2014/main" id="{8FF85596-B247-3634-6A82-EC5D513797E9}"/>
              </a:ext>
            </a:extLst>
          </p:cNvPr>
          <p:cNvSpPr>
            <a:spLocks noGrp="1"/>
          </p:cNvSpPr>
          <p:nvPr>
            <p:ph type="sldNum" sz="quarter" idx="12"/>
          </p:nvPr>
        </p:nvSpPr>
        <p:spPr/>
        <p:txBody>
          <a:bodyPr/>
          <a:lstStyle/>
          <a:p>
            <a:fld id="{157E8F69-36B6-4843-A9CE-6B9353F4DBAF}" type="slidenum">
              <a:rPr lang="en-IN" smtClean="0"/>
              <a:t>73</a:t>
            </a:fld>
            <a:endParaRPr lang="en-IN"/>
          </a:p>
        </p:txBody>
      </p:sp>
    </p:spTree>
    <p:extLst>
      <p:ext uri="{BB962C8B-B14F-4D97-AF65-F5344CB8AC3E}">
        <p14:creationId xmlns:p14="http://schemas.microsoft.com/office/powerpoint/2010/main" val="3417338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9080" y="2150746"/>
            <a:ext cx="11658600" cy="1938992"/>
          </a:xfrm>
          <a:prstGeom prst="rect">
            <a:avLst/>
          </a:prstGeom>
        </p:spPr>
        <p:txBody>
          <a:bodyPr wrap="square">
            <a:spAutoFit/>
          </a:bodyPr>
          <a:lstStyle/>
          <a:p>
            <a:pPr algn="just"/>
            <a:r>
              <a:rPr lang="en-US" sz="2400" b="1" u="sng" dirty="0"/>
              <a:t>3. Cause Elimination Method</a:t>
            </a:r>
          </a:p>
          <a:p>
            <a:pPr marL="800100" lvl="1" indent="-342900" algn="just">
              <a:buFont typeface="Wingdings" panose="05000000000000000000" pitchFamily="2" charset="2"/>
              <a:buChar char="Ø"/>
            </a:pPr>
            <a:r>
              <a:rPr lang="en-US" sz="2400" b="1" dirty="0"/>
              <a:t>What it is</a:t>
            </a:r>
            <a:r>
              <a:rPr lang="en-US" sz="2400" dirty="0"/>
              <a:t>: List </a:t>
            </a:r>
            <a:r>
              <a:rPr lang="en-US" sz="2400" b="1" dirty="0"/>
              <a:t>possible causes</a:t>
            </a:r>
            <a:r>
              <a:rPr lang="en-US" sz="2400" dirty="0"/>
              <a:t> for the error and eliminate them </a:t>
            </a:r>
            <a:r>
              <a:rPr lang="en-US" sz="2400" b="1" dirty="0"/>
              <a:t>one by one</a:t>
            </a:r>
            <a:r>
              <a:rPr lang="en-US" sz="2400" dirty="0"/>
              <a:t> through testing.</a:t>
            </a:r>
          </a:p>
          <a:p>
            <a:pPr marL="800100" lvl="1" indent="-342900" algn="just">
              <a:buFont typeface="Wingdings" panose="05000000000000000000" pitchFamily="2" charset="2"/>
              <a:buChar char="Ø"/>
            </a:pPr>
            <a:r>
              <a:rPr lang="en-US" sz="2400" b="1" dirty="0"/>
              <a:t>Technique</a:t>
            </a:r>
            <a:r>
              <a:rPr lang="en-US" sz="2400" dirty="0"/>
              <a:t>: Similar to </a:t>
            </a:r>
            <a:r>
              <a:rPr lang="en-US" sz="2400" b="1" dirty="0"/>
              <a:t>fault tree analysis</a:t>
            </a:r>
            <a:r>
              <a:rPr lang="en-US" sz="2400" dirty="0"/>
              <a:t>.</a:t>
            </a:r>
          </a:p>
          <a:p>
            <a:pPr marL="800100" lvl="1" indent="-342900" algn="just">
              <a:buFont typeface="Wingdings" panose="05000000000000000000" pitchFamily="2" charset="2"/>
              <a:buChar char="Ø"/>
            </a:pPr>
            <a:r>
              <a:rPr lang="en-US" sz="2400" b="1" dirty="0"/>
              <a:t>Strength</a:t>
            </a:r>
            <a:r>
              <a:rPr lang="en-US" sz="2400" dirty="0"/>
              <a:t>: Good for </a:t>
            </a:r>
            <a:r>
              <a:rPr lang="en-US" sz="2400" b="1" dirty="0"/>
              <a:t>systematic narrowing</a:t>
            </a:r>
            <a:r>
              <a:rPr lang="en-US" sz="2400" dirty="0"/>
              <a:t> of fault source.</a:t>
            </a:r>
          </a:p>
        </p:txBody>
      </p:sp>
      <p:sp>
        <p:nvSpPr>
          <p:cNvPr id="4" name="Rectangle 3"/>
          <p:cNvSpPr/>
          <p:nvPr/>
        </p:nvSpPr>
        <p:spPr>
          <a:xfrm>
            <a:off x="259080" y="4272618"/>
            <a:ext cx="11658600" cy="1938992"/>
          </a:xfrm>
          <a:prstGeom prst="rect">
            <a:avLst/>
          </a:prstGeom>
        </p:spPr>
        <p:txBody>
          <a:bodyPr wrap="square">
            <a:spAutoFit/>
          </a:bodyPr>
          <a:lstStyle/>
          <a:p>
            <a:pPr algn="just"/>
            <a:r>
              <a:rPr lang="en-US" sz="2400" b="1" u="sng" dirty="0"/>
              <a:t>4. Program Slicing</a:t>
            </a:r>
          </a:p>
          <a:p>
            <a:pPr marL="800100" lvl="1" indent="-342900" algn="just">
              <a:buFont typeface="Wingdings" panose="05000000000000000000" pitchFamily="2" charset="2"/>
              <a:buChar char="Ø"/>
            </a:pPr>
            <a:r>
              <a:rPr lang="en-US" sz="2400" b="1" dirty="0"/>
              <a:t>What it is</a:t>
            </a:r>
            <a:r>
              <a:rPr lang="en-US" sz="2400" dirty="0"/>
              <a:t>: Identify </a:t>
            </a:r>
            <a:r>
              <a:rPr lang="en-US" sz="2400" b="1" dirty="0"/>
              <a:t>only the relevant code lines</a:t>
            </a:r>
            <a:r>
              <a:rPr lang="en-US" sz="2400" dirty="0"/>
              <a:t> affecting the value of a variable.</a:t>
            </a:r>
          </a:p>
          <a:p>
            <a:pPr marL="800100" lvl="1" indent="-342900" algn="just">
              <a:buFont typeface="Wingdings" panose="05000000000000000000" pitchFamily="2" charset="2"/>
              <a:buChar char="Ø"/>
            </a:pPr>
            <a:r>
              <a:rPr lang="en-US" sz="2400" b="1" dirty="0"/>
              <a:t>Definition</a:t>
            </a:r>
            <a:r>
              <a:rPr lang="en-US" sz="2400" dirty="0"/>
              <a:t>: A </a:t>
            </a:r>
            <a:r>
              <a:rPr lang="en-US" sz="2400" b="1" dirty="0"/>
              <a:t>slice</a:t>
            </a:r>
            <a:r>
              <a:rPr lang="en-US" sz="2400" dirty="0"/>
              <a:t> is the set of statements that influence the value of a variable at a particular point.</a:t>
            </a:r>
          </a:p>
          <a:p>
            <a:pPr marL="800100" lvl="1" indent="-342900" algn="just">
              <a:buFont typeface="Wingdings" panose="05000000000000000000" pitchFamily="2" charset="2"/>
              <a:buChar char="Ø"/>
            </a:pPr>
            <a:r>
              <a:rPr lang="en-US" sz="2400" b="1" dirty="0"/>
              <a:t>Advantage</a:t>
            </a:r>
            <a:r>
              <a:rPr lang="en-US" sz="2400" dirty="0"/>
              <a:t>: </a:t>
            </a:r>
            <a:r>
              <a:rPr lang="en-US" sz="2400" b="1" dirty="0"/>
              <a:t>Reduces search space</a:t>
            </a:r>
            <a:r>
              <a:rPr lang="en-US" sz="2400" dirty="0"/>
              <a:t> compared to full backtracking.</a:t>
            </a:r>
          </a:p>
        </p:txBody>
      </p:sp>
      <p:sp>
        <p:nvSpPr>
          <p:cNvPr id="5" name="Rectangle 4"/>
          <p:cNvSpPr/>
          <p:nvPr/>
        </p:nvSpPr>
        <p:spPr>
          <a:xfrm>
            <a:off x="259080" y="379394"/>
            <a:ext cx="11765280" cy="1569660"/>
          </a:xfrm>
          <a:prstGeom prst="rect">
            <a:avLst/>
          </a:prstGeom>
        </p:spPr>
        <p:txBody>
          <a:bodyPr wrap="square">
            <a:spAutoFit/>
          </a:bodyPr>
          <a:lstStyle/>
          <a:p>
            <a:pPr algn="just"/>
            <a:r>
              <a:rPr lang="en-US" sz="2400" b="1" u="sng" dirty="0"/>
              <a:t>2. Backtracking</a:t>
            </a:r>
          </a:p>
          <a:p>
            <a:pPr marL="800100" lvl="1" indent="-342900" algn="just">
              <a:buFont typeface="Wingdings" panose="05000000000000000000" pitchFamily="2" charset="2"/>
              <a:buChar char="Ø"/>
            </a:pPr>
            <a:r>
              <a:rPr lang="en-US" sz="2400" b="1" dirty="0"/>
              <a:t>What it is</a:t>
            </a:r>
            <a:r>
              <a:rPr lang="en-US" sz="2400" dirty="0"/>
              <a:t>: Trace code </a:t>
            </a:r>
            <a:r>
              <a:rPr lang="en-US" sz="2400" b="1" dirty="0"/>
              <a:t>backward</a:t>
            </a:r>
            <a:r>
              <a:rPr lang="en-US" sz="2400" dirty="0"/>
              <a:t> from where failure occurred to find the bug.</a:t>
            </a:r>
          </a:p>
          <a:p>
            <a:pPr marL="800100" lvl="1" indent="-342900" algn="just">
              <a:buFont typeface="Wingdings" panose="05000000000000000000" pitchFamily="2" charset="2"/>
              <a:buChar char="Ø"/>
            </a:pPr>
            <a:r>
              <a:rPr lang="en-US" sz="2400" b="1" dirty="0"/>
              <a:t>Drawback</a:t>
            </a:r>
            <a:r>
              <a:rPr lang="en-US" sz="2400" dirty="0"/>
              <a:t>: Becomes </a:t>
            </a:r>
            <a:r>
              <a:rPr lang="en-US" sz="2400" b="1" dirty="0"/>
              <a:t>complex</a:t>
            </a:r>
            <a:r>
              <a:rPr lang="en-US" sz="2400" dirty="0"/>
              <a:t> and </a:t>
            </a:r>
            <a:r>
              <a:rPr lang="en-US" sz="2400" b="1" dirty="0"/>
              <a:t>impractical</a:t>
            </a:r>
            <a:r>
              <a:rPr lang="en-US" sz="2400" dirty="0"/>
              <a:t> with </a:t>
            </a:r>
            <a:r>
              <a:rPr lang="en-US" sz="2400" b="1" dirty="0"/>
              <a:t>loops, branches</a:t>
            </a:r>
            <a:r>
              <a:rPr lang="en-US" sz="2400" dirty="0"/>
              <a:t>, and long control paths.</a:t>
            </a:r>
          </a:p>
        </p:txBody>
      </p:sp>
      <p:sp>
        <p:nvSpPr>
          <p:cNvPr id="2" name="Date Placeholder 1">
            <a:extLst>
              <a:ext uri="{FF2B5EF4-FFF2-40B4-BE49-F238E27FC236}">
                <a16:creationId xmlns:a16="http://schemas.microsoft.com/office/drawing/2014/main" id="{27EC236B-6C8B-DBC8-46DB-333DAD65C1A9}"/>
              </a:ext>
            </a:extLst>
          </p:cNvPr>
          <p:cNvSpPr>
            <a:spLocks noGrp="1"/>
          </p:cNvSpPr>
          <p:nvPr>
            <p:ph type="dt" sz="half" idx="10"/>
          </p:nvPr>
        </p:nvSpPr>
        <p:spPr/>
        <p:txBody>
          <a:bodyPr/>
          <a:lstStyle/>
          <a:p>
            <a:fld id="{56636A7A-0B8F-4CCA-8627-B7EE6EA88659}" type="datetime1">
              <a:rPr lang="en-IN" smtClean="0"/>
              <a:t>03-11-2025</a:t>
            </a:fld>
            <a:endParaRPr lang="en-IN"/>
          </a:p>
        </p:txBody>
      </p:sp>
      <p:sp>
        <p:nvSpPr>
          <p:cNvPr id="6" name="Footer Placeholder 5">
            <a:extLst>
              <a:ext uri="{FF2B5EF4-FFF2-40B4-BE49-F238E27FC236}">
                <a16:creationId xmlns:a16="http://schemas.microsoft.com/office/drawing/2014/main" id="{AB10190A-F679-7EE4-7795-09F503BF9D91}"/>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58437446-D650-C1A4-56E2-9AAF5F547845}"/>
              </a:ext>
            </a:extLst>
          </p:cNvPr>
          <p:cNvSpPr>
            <a:spLocks noGrp="1"/>
          </p:cNvSpPr>
          <p:nvPr>
            <p:ph type="sldNum" sz="quarter" idx="12"/>
          </p:nvPr>
        </p:nvSpPr>
        <p:spPr/>
        <p:txBody>
          <a:bodyPr/>
          <a:lstStyle/>
          <a:p>
            <a:fld id="{157E8F69-36B6-4843-A9CE-6B9353F4DBAF}" type="slidenum">
              <a:rPr lang="en-IN" smtClean="0"/>
              <a:t>74</a:t>
            </a:fld>
            <a:endParaRPr lang="en-IN"/>
          </a:p>
        </p:txBody>
      </p:sp>
    </p:spTree>
    <p:extLst>
      <p:ext uri="{BB962C8B-B14F-4D97-AF65-F5344CB8AC3E}">
        <p14:creationId xmlns:p14="http://schemas.microsoft.com/office/powerpoint/2010/main" val="165835591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9080" y="271195"/>
            <a:ext cx="11734800" cy="1143070"/>
          </a:xfrm>
          <a:prstGeom prst="rect">
            <a:avLst/>
          </a:prstGeom>
        </p:spPr>
        <p:txBody>
          <a:bodyPr wrap="square">
            <a:spAutoFit/>
          </a:bodyPr>
          <a:lstStyle/>
          <a:p>
            <a:pPr algn="just">
              <a:lnSpc>
                <a:spcPct val="150000"/>
              </a:lnSpc>
            </a:pPr>
            <a:r>
              <a:rPr lang="en-US" sz="2400" b="1" u="sng" dirty="0"/>
              <a:t>7.8.2 Debugging Guidelines</a:t>
            </a:r>
          </a:p>
          <a:p>
            <a:pPr algn="just">
              <a:lnSpc>
                <a:spcPct val="150000"/>
              </a:lnSpc>
            </a:pPr>
            <a:r>
              <a:rPr lang="en-US" sz="2400" dirty="0"/>
              <a:t>Here are some key </a:t>
            </a:r>
            <a:r>
              <a:rPr lang="en-US" sz="2400" b="1" dirty="0"/>
              <a:t>best practices</a:t>
            </a:r>
            <a:r>
              <a:rPr lang="en-US" sz="2400" dirty="0"/>
              <a:t> for effective debugging:</a:t>
            </a:r>
          </a:p>
        </p:txBody>
      </p:sp>
      <p:graphicFrame>
        <p:nvGraphicFramePr>
          <p:cNvPr id="4" name="Table 3"/>
          <p:cNvGraphicFramePr>
            <a:graphicFrameLocks noGrp="1"/>
          </p:cNvGraphicFramePr>
          <p:nvPr>
            <p:extLst>
              <p:ext uri="{D42A27DB-BD31-4B8C-83A1-F6EECF244321}">
                <p14:modId xmlns:p14="http://schemas.microsoft.com/office/powerpoint/2010/main" val="1040332092"/>
              </p:ext>
            </p:extLst>
          </p:nvPr>
        </p:nvGraphicFramePr>
        <p:xfrm>
          <a:off x="259080" y="1943894"/>
          <a:ext cx="11536680" cy="3359626"/>
        </p:xfrm>
        <a:graphic>
          <a:graphicData uri="http://schemas.openxmlformats.org/drawingml/2006/table">
            <a:tbl>
              <a:tblPr>
                <a:tableStyleId>{BDBED569-4797-4DF1-A0F4-6AAB3CD982D8}</a:tableStyleId>
              </a:tblPr>
              <a:tblGrid>
                <a:gridCol w="5364480">
                  <a:extLst>
                    <a:ext uri="{9D8B030D-6E8A-4147-A177-3AD203B41FA5}">
                      <a16:colId xmlns:a16="http://schemas.microsoft.com/office/drawing/2014/main" val="309733157"/>
                    </a:ext>
                  </a:extLst>
                </a:gridCol>
                <a:gridCol w="6172200">
                  <a:extLst>
                    <a:ext uri="{9D8B030D-6E8A-4147-A177-3AD203B41FA5}">
                      <a16:colId xmlns:a16="http://schemas.microsoft.com/office/drawing/2014/main" val="2863426682"/>
                    </a:ext>
                  </a:extLst>
                </a:gridCol>
              </a:tblGrid>
              <a:tr h="579246">
                <a:tc>
                  <a:txBody>
                    <a:bodyPr/>
                    <a:lstStyle/>
                    <a:p>
                      <a:pPr algn="ctr"/>
                      <a:r>
                        <a:rPr lang="en-IN" sz="2400" b="1" u="sng" dirty="0"/>
                        <a:t>Guideline</a:t>
                      </a:r>
                    </a:p>
                  </a:txBody>
                  <a:tcPr anchor="ctr"/>
                </a:tc>
                <a:tc>
                  <a:txBody>
                    <a:bodyPr/>
                    <a:lstStyle/>
                    <a:p>
                      <a:pPr algn="ctr"/>
                      <a:r>
                        <a:rPr lang="en-IN" sz="2400" b="1" u="sng" dirty="0"/>
                        <a:t>Why it matters</a:t>
                      </a:r>
                    </a:p>
                  </a:txBody>
                  <a:tcPr anchor="ctr"/>
                </a:tc>
                <a:extLst>
                  <a:ext uri="{0D108BD9-81ED-4DB2-BD59-A6C34878D82A}">
                    <a16:rowId xmlns:a16="http://schemas.microsoft.com/office/drawing/2014/main" val="2279121443"/>
                  </a:ext>
                </a:extLst>
              </a:tr>
              <a:tr h="502013">
                <a:tc>
                  <a:txBody>
                    <a:bodyPr/>
                    <a:lstStyle/>
                    <a:p>
                      <a:r>
                        <a:rPr lang="en-US" sz="2000" dirty="0"/>
                        <a:t>✅ Understand the program design completely</a:t>
                      </a:r>
                    </a:p>
                  </a:txBody>
                  <a:tcPr anchor="ctr"/>
                </a:tc>
                <a:tc>
                  <a:txBody>
                    <a:bodyPr/>
                    <a:lstStyle/>
                    <a:p>
                      <a:r>
                        <a:rPr lang="en-US" sz="2000" dirty="0"/>
                        <a:t>Partial understanding can mislead debugging efforts.</a:t>
                      </a:r>
                    </a:p>
                  </a:txBody>
                  <a:tcPr anchor="ctr"/>
                </a:tc>
                <a:extLst>
                  <a:ext uri="{0D108BD9-81ED-4DB2-BD59-A6C34878D82A}">
                    <a16:rowId xmlns:a16="http://schemas.microsoft.com/office/drawing/2014/main" val="2129158426"/>
                  </a:ext>
                </a:extLst>
              </a:tr>
              <a:tr h="502013">
                <a:tc>
                  <a:txBody>
                    <a:bodyPr/>
                    <a:lstStyle/>
                    <a:p>
                      <a:r>
                        <a:rPr lang="en-US" sz="2000" dirty="0"/>
                        <a:t>⚠️ Avoid fixing only the symptoms</a:t>
                      </a:r>
                    </a:p>
                  </a:txBody>
                  <a:tcPr anchor="ctr"/>
                </a:tc>
                <a:tc>
                  <a:txBody>
                    <a:bodyPr/>
                    <a:lstStyle/>
                    <a:p>
                      <a:r>
                        <a:rPr lang="en-US" sz="2000" dirty="0"/>
                        <a:t>Might hide the real bug and cause deeper issues later.</a:t>
                      </a:r>
                    </a:p>
                  </a:txBody>
                  <a:tcPr anchor="ctr"/>
                </a:tc>
                <a:extLst>
                  <a:ext uri="{0D108BD9-81ED-4DB2-BD59-A6C34878D82A}">
                    <a16:rowId xmlns:a16="http://schemas.microsoft.com/office/drawing/2014/main" val="3633018622"/>
                  </a:ext>
                </a:extLst>
              </a:tr>
              <a:tr h="888177">
                <a:tc>
                  <a:txBody>
                    <a:bodyPr/>
                    <a:lstStyle/>
                    <a:p>
                      <a:r>
                        <a:rPr lang="en-US" sz="2000"/>
                        <a:t>🔁 Be prepared to redesign if necessary</a:t>
                      </a:r>
                    </a:p>
                  </a:txBody>
                  <a:tcPr anchor="ctr"/>
                </a:tc>
                <a:tc>
                  <a:txBody>
                    <a:bodyPr/>
                    <a:lstStyle/>
                    <a:p>
                      <a:r>
                        <a:rPr lang="en-US" sz="2000" dirty="0"/>
                        <a:t>Sometimes, poor design is the root cause, not just faulty logic.</a:t>
                      </a:r>
                    </a:p>
                  </a:txBody>
                  <a:tcPr anchor="ctr"/>
                </a:tc>
                <a:extLst>
                  <a:ext uri="{0D108BD9-81ED-4DB2-BD59-A6C34878D82A}">
                    <a16:rowId xmlns:a16="http://schemas.microsoft.com/office/drawing/2014/main" val="1657939283"/>
                  </a:ext>
                </a:extLst>
              </a:tr>
              <a:tr h="888177">
                <a:tc>
                  <a:txBody>
                    <a:bodyPr/>
                    <a:lstStyle/>
                    <a:p>
                      <a:r>
                        <a:rPr lang="en-US" sz="2000"/>
                        <a:t>🔄 Always do regression testing after fixing bugs</a:t>
                      </a:r>
                    </a:p>
                  </a:txBody>
                  <a:tcPr anchor="ctr"/>
                </a:tc>
                <a:tc>
                  <a:txBody>
                    <a:bodyPr/>
                    <a:lstStyle/>
                    <a:p>
                      <a:r>
                        <a:rPr lang="en-US" sz="2000" dirty="0"/>
                        <a:t>To ensure that new bugs aren't introduced while fixing old ones.</a:t>
                      </a:r>
                    </a:p>
                  </a:txBody>
                  <a:tcPr anchor="ctr"/>
                </a:tc>
                <a:extLst>
                  <a:ext uri="{0D108BD9-81ED-4DB2-BD59-A6C34878D82A}">
                    <a16:rowId xmlns:a16="http://schemas.microsoft.com/office/drawing/2014/main" val="3389768339"/>
                  </a:ext>
                </a:extLst>
              </a:tr>
            </a:tbl>
          </a:graphicData>
        </a:graphic>
      </p:graphicFrame>
      <p:sp>
        <p:nvSpPr>
          <p:cNvPr id="2" name="Date Placeholder 1">
            <a:extLst>
              <a:ext uri="{FF2B5EF4-FFF2-40B4-BE49-F238E27FC236}">
                <a16:creationId xmlns:a16="http://schemas.microsoft.com/office/drawing/2014/main" id="{38EAF2A3-EF20-7153-B2BD-85CC3EA1C85B}"/>
              </a:ext>
            </a:extLst>
          </p:cNvPr>
          <p:cNvSpPr>
            <a:spLocks noGrp="1"/>
          </p:cNvSpPr>
          <p:nvPr>
            <p:ph type="dt" sz="half" idx="10"/>
          </p:nvPr>
        </p:nvSpPr>
        <p:spPr/>
        <p:txBody>
          <a:bodyPr/>
          <a:lstStyle/>
          <a:p>
            <a:fld id="{682CAD65-DED1-4CED-91FB-4DC7AF8B9A38}" type="datetime1">
              <a:rPr lang="en-IN" smtClean="0"/>
              <a:t>03-11-2025</a:t>
            </a:fld>
            <a:endParaRPr lang="en-IN"/>
          </a:p>
        </p:txBody>
      </p:sp>
      <p:sp>
        <p:nvSpPr>
          <p:cNvPr id="5" name="Footer Placeholder 4">
            <a:extLst>
              <a:ext uri="{FF2B5EF4-FFF2-40B4-BE49-F238E27FC236}">
                <a16:creationId xmlns:a16="http://schemas.microsoft.com/office/drawing/2014/main" id="{ED2A74F0-8166-25A8-3533-79CE42534CF8}"/>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8F6ACEAA-0AE9-1D0D-E7F5-CA8B59878DDB}"/>
              </a:ext>
            </a:extLst>
          </p:cNvPr>
          <p:cNvSpPr>
            <a:spLocks noGrp="1"/>
          </p:cNvSpPr>
          <p:nvPr>
            <p:ph type="sldNum" sz="quarter" idx="12"/>
          </p:nvPr>
        </p:nvSpPr>
        <p:spPr/>
        <p:txBody>
          <a:bodyPr/>
          <a:lstStyle/>
          <a:p>
            <a:fld id="{157E8F69-36B6-4843-A9CE-6B9353F4DBAF}" type="slidenum">
              <a:rPr lang="en-IN" smtClean="0"/>
              <a:t>75</a:t>
            </a:fld>
            <a:endParaRPr lang="en-IN"/>
          </a:p>
        </p:txBody>
      </p:sp>
    </p:spTree>
    <p:extLst>
      <p:ext uri="{BB962C8B-B14F-4D97-AF65-F5344CB8AC3E}">
        <p14:creationId xmlns:p14="http://schemas.microsoft.com/office/powerpoint/2010/main" val="25937164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4320" y="257800"/>
            <a:ext cx="11612880" cy="3785652"/>
          </a:xfrm>
          <a:prstGeom prst="rect">
            <a:avLst/>
          </a:prstGeom>
        </p:spPr>
        <p:txBody>
          <a:bodyPr wrap="square">
            <a:spAutoFit/>
          </a:bodyPr>
          <a:lstStyle/>
          <a:p>
            <a:pPr algn="just"/>
            <a:r>
              <a:rPr lang="en-US" sz="2400" b="1" u="sng" dirty="0"/>
              <a:t>7.9 PROGRAM ANALYSIS TOOLS</a:t>
            </a:r>
          </a:p>
          <a:p>
            <a:pPr algn="just"/>
            <a:r>
              <a:rPr lang="en-US" sz="2400" b="1" u="sng" dirty="0"/>
              <a:t>✅ Definition:</a:t>
            </a:r>
          </a:p>
          <a:p>
            <a:pPr algn="just"/>
            <a:r>
              <a:rPr lang="en-US" sz="2400" dirty="0"/>
              <a:t>Program analysis tools are </a:t>
            </a:r>
            <a:r>
              <a:rPr lang="en-US" sz="2400" b="1" dirty="0"/>
              <a:t>automated software tools</a:t>
            </a:r>
            <a:r>
              <a:rPr lang="en-US" sz="2400" dirty="0"/>
              <a:t> that analyze a program’s </a:t>
            </a:r>
            <a:r>
              <a:rPr lang="en-US" sz="2400" b="1" dirty="0"/>
              <a:t>source or executable code</a:t>
            </a:r>
            <a:r>
              <a:rPr lang="en-US" sz="2400" dirty="0"/>
              <a:t> to assess various attributes such as:</a:t>
            </a:r>
          </a:p>
          <a:p>
            <a:pPr marL="800100" lvl="1" indent="-342900" algn="just">
              <a:buFont typeface="Wingdings" panose="05000000000000000000" pitchFamily="2" charset="2"/>
              <a:buChar char="Ø"/>
            </a:pPr>
            <a:r>
              <a:rPr lang="en-US" sz="2400" dirty="0"/>
              <a:t>Size</a:t>
            </a:r>
          </a:p>
          <a:p>
            <a:pPr marL="800100" lvl="1" indent="-342900" algn="just">
              <a:buFont typeface="Wingdings" panose="05000000000000000000" pitchFamily="2" charset="2"/>
              <a:buChar char="Ø"/>
            </a:pPr>
            <a:r>
              <a:rPr lang="en-US" sz="2400" dirty="0"/>
              <a:t>Complexity</a:t>
            </a:r>
          </a:p>
          <a:p>
            <a:pPr marL="800100" lvl="1" indent="-342900" algn="just">
              <a:buFont typeface="Wingdings" panose="05000000000000000000" pitchFamily="2" charset="2"/>
              <a:buChar char="Ø"/>
            </a:pPr>
            <a:r>
              <a:rPr lang="en-US" sz="2400" dirty="0"/>
              <a:t>Comment quality</a:t>
            </a:r>
          </a:p>
          <a:p>
            <a:pPr marL="800100" lvl="1" indent="-342900" algn="just">
              <a:buFont typeface="Wingdings" panose="05000000000000000000" pitchFamily="2" charset="2"/>
              <a:buChar char="Ø"/>
            </a:pPr>
            <a:r>
              <a:rPr lang="en-US" sz="2400" dirty="0"/>
              <a:t>Coding standard adherence</a:t>
            </a:r>
          </a:p>
          <a:p>
            <a:pPr marL="800100" lvl="1" indent="-342900" algn="just">
              <a:buFont typeface="Wingdings" panose="05000000000000000000" pitchFamily="2" charset="2"/>
              <a:buChar char="Ø"/>
            </a:pPr>
            <a:r>
              <a:rPr lang="en-US" sz="2400" dirty="0"/>
              <a:t>Testing adequacy</a:t>
            </a:r>
          </a:p>
          <a:p>
            <a:pPr algn="just"/>
            <a:r>
              <a:rPr lang="en-US" sz="2400" dirty="0"/>
              <a:t>These tools help </a:t>
            </a:r>
            <a:r>
              <a:rPr lang="en-US" sz="2400" b="1" dirty="0"/>
              <a:t>improve code quality</a:t>
            </a:r>
            <a:r>
              <a:rPr lang="en-US" sz="2400" dirty="0"/>
              <a:t> and ensure </a:t>
            </a:r>
            <a:r>
              <a:rPr lang="en-US" sz="2400" b="1" dirty="0"/>
              <a:t>reliable software</a:t>
            </a:r>
            <a:r>
              <a:rPr lang="en-US" sz="2400" dirty="0"/>
              <a:t> development.</a:t>
            </a:r>
          </a:p>
        </p:txBody>
      </p:sp>
      <p:sp>
        <p:nvSpPr>
          <p:cNvPr id="4" name="Rectangle 3"/>
          <p:cNvSpPr/>
          <p:nvPr/>
        </p:nvSpPr>
        <p:spPr>
          <a:xfrm>
            <a:off x="274320" y="4050169"/>
            <a:ext cx="11612880" cy="830997"/>
          </a:xfrm>
          <a:prstGeom prst="rect">
            <a:avLst/>
          </a:prstGeom>
        </p:spPr>
        <p:txBody>
          <a:bodyPr wrap="square">
            <a:spAutoFit/>
          </a:bodyPr>
          <a:lstStyle/>
          <a:p>
            <a:r>
              <a:rPr lang="en-US" sz="2400" b="1" u="sng" dirty="0"/>
              <a:t>🔸 TYPES OF PROGRAM ANALYSIS TOOLS</a:t>
            </a:r>
          </a:p>
          <a:p>
            <a:r>
              <a:rPr lang="en-US" sz="2400" dirty="0"/>
              <a:t>Program analysis tools are broadly classified into:</a:t>
            </a:r>
          </a:p>
        </p:txBody>
      </p:sp>
      <p:graphicFrame>
        <p:nvGraphicFramePr>
          <p:cNvPr id="5" name="Table 4"/>
          <p:cNvGraphicFramePr>
            <a:graphicFrameLocks noGrp="1"/>
          </p:cNvGraphicFramePr>
          <p:nvPr>
            <p:extLst>
              <p:ext uri="{D42A27DB-BD31-4B8C-83A1-F6EECF244321}">
                <p14:modId xmlns:p14="http://schemas.microsoft.com/office/powerpoint/2010/main" val="2404270111"/>
              </p:ext>
            </p:extLst>
          </p:nvPr>
        </p:nvGraphicFramePr>
        <p:xfrm>
          <a:off x="274320" y="4993918"/>
          <a:ext cx="11612880" cy="1249680"/>
        </p:xfrm>
        <a:graphic>
          <a:graphicData uri="http://schemas.openxmlformats.org/drawingml/2006/table">
            <a:tbl>
              <a:tblPr>
                <a:tableStyleId>{5DA37D80-6434-44D0-A028-1B22A696006F}</a:tableStyleId>
              </a:tblPr>
              <a:tblGrid>
                <a:gridCol w="5806440">
                  <a:extLst>
                    <a:ext uri="{9D8B030D-6E8A-4147-A177-3AD203B41FA5}">
                      <a16:colId xmlns:a16="http://schemas.microsoft.com/office/drawing/2014/main" val="779943135"/>
                    </a:ext>
                  </a:extLst>
                </a:gridCol>
                <a:gridCol w="5806440">
                  <a:extLst>
                    <a:ext uri="{9D8B030D-6E8A-4147-A177-3AD203B41FA5}">
                      <a16:colId xmlns:a16="http://schemas.microsoft.com/office/drawing/2014/main" val="1793914065"/>
                    </a:ext>
                  </a:extLst>
                </a:gridCol>
              </a:tblGrid>
              <a:tr h="0">
                <a:tc>
                  <a:txBody>
                    <a:bodyPr/>
                    <a:lstStyle/>
                    <a:p>
                      <a:pPr algn="ctr"/>
                      <a:r>
                        <a:rPr lang="en-IN" sz="2400" b="1" u="sng" dirty="0"/>
                        <a:t>Type</a:t>
                      </a:r>
                    </a:p>
                  </a:txBody>
                  <a:tcPr anchor="ctr"/>
                </a:tc>
                <a:tc>
                  <a:txBody>
                    <a:bodyPr/>
                    <a:lstStyle/>
                    <a:p>
                      <a:pPr algn="ctr"/>
                      <a:r>
                        <a:rPr lang="en-IN" sz="2400" b="1" u="sng" dirty="0"/>
                        <a:t>Description</a:t>
                      </a:r>
                    </a:p>
                  </a:txBody>
                  <a:tcPr anchor="ctr"/>
                </a:tc>
                <a:extLst>
                  <a:ext uri="{0D108BD9-81ED-4DB2-BD59-A6C34878D82A}">
                    <a16:rowId xmlns:a16="http://schemas.microsoft.com/office/drawing/2014/main" val="108925827"/>
                  </a:ext>
                </a:extLst>
              </a:tr>
              <a:tr h="0">
                <a:tc>
                  <a:txBody>
                    <a:bodyPr/>
                    <a:lstStyle/>
                    <a:p>
                      <a:r>
                        <a:rPr lang="en-IN" sz="2000" dirty="0"/>
                        <a:t>Static Analysis Tools</a:t>
                      </a:r>
                    </a:p>
                  </a:txBody>
                  <a:tcPr anchor="ctr"/>
                </a:tc>
                <a:tc>
                  <a:txBody>
                    <a:bodyPr/>
                    <a:lstStyle/>
                    <a:p>
                      <a:r>
                        <a:rPr lang="en-US" sz="2000" dirty="0"/>
                        <a:t>Analyze code without executing it</a:t>
                      </a:r>
                    </a:p>
                  </a:txBody>
                  <a:tcPr anchor="ctr"/>
                </a:tc>
                <a:extLst>
                  <a:ext uri="{0D108BD9-81ED-4DB2-BD59-A6C34878D82A}">
                    <a16:rowId xmlns:a16="http://schemas.microsoft.com/office/drawing/2014/main" val="2064067781"/>
                  </a:ext>
                </a:extLst>
              </a:tr>
              <a:tr h="0">
                <a:tc>
                  <a:txBody>
                    <a:bodyPr/>
                    <a:lstStyle/>
                    <a:p>
                      <a:r>
                        <a:rPr lang="en-IN" sz="2000" dirty="0"/>
                        <a:t>Dynamic Analysis Tools</a:t>
                      </a:r>
                    </a:p>
                  </a:txBody>
                  <a:tcPr anchor="ctr"/>
                </a:tc>
                <a:tc>
                  <a:txBody>
                    <a:bodyPr/>
                    <a:lstStyle/>
                    <a:p>
                      <a:r>
                        <a:rPr lang="en-US" sz="2000" dirty="0"/>
                        <a:t>Analyze program during execution using real inputs</a:t>
                      </a:r>
                    </a:p>
                  </a:txBody>
                  <a:tcPr anchor="ctr"/>
                </a:tc>
                <a:extLst>
                  <a:ext uri="{0D108BD9-81ED-4DB2-BD59-A6C34878D82A}">
                    <a16:rowId xmlns:a16="http://schemas.microsoft.com/office/drawing/2014/main" val="3352397725"/>
                  </a:ext>
                </a:extLst>
              </a:tr>
            </a:tbl>
          </a:graphicData>
        </a:graphic>
      </p:graphicFrame>
      <p:sp>
        <p:nvSpPr>
          <p:cNvPr id="2" name="Date Placeholder 1">
            <a:extLst>
              <a:ext uri="{FF2B5EF4-FFF2-40B4-BE49-F238E27FC236}">
                <a16:creationId xmlns:a16="http://schemas.microsoft.com/office/drawing/2014/main" id="{1C693D0A-FE02-498F-5D10-7FFA88EE3B20}"/>
              </a:ext>
            </a:extLst>
          </p:cNvPr>
          <p:cNvSpPr>
            <a:spLocks noGrp="1"/>
          </p:cNvSpPr>
          <p:nvPr>
            <p:ph type="dt" sz="half" idx="10"/>
          </p:nvPr>
        </p:nvSpPr>
        <p:spPr/>
        <p:txBody>
          <a:bodyPr/>
          <a:lstStyle/>
          <a:p>
            <a:fld id="{32444964-76EE-4147-8F59-7BDF7D1F5456}" type="datetime1">
              <a:rPr lang="en-IN" smtClean="0"/>
              <a:t>03-11-2025</a:t>
            </a:fld>
            <a:endParaRPr lang="en-IN"/>
          </a:p>
        </p:txBody>
      </p:sp>
      <p:sp>
        <p:nvSpPr>
          <p:cNvPr id="6" name="Footer Placeholder 5">
            <a:extLst>
              <a:ext uri="{FF2B5EF4-FFF2-40B4-BE49-F238E27FC236}">
                <a16:creationId xmlns:a16="http://schemas.microsoft.com/office/drawing/2014/main" id="{149EE031-52C3-177F-08B1-C9EC736E57FE}"/>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C20CE25B-A9B6-F135-3BD8-79D3A57BD121}"/>
              </a:ext>
            </a:extLst>
          </p:cNvPr>
          <p:cNvSpPr>
            <a:spLocks noGrp="1"/>
          </p:cNvSpPr>
          <p:nvPr>
            <p:ph type="sldNum" sz="quarter" idx="12"/>
          </p:nvPr>
        </p:nvSpPr>
        <p:spPr/>
        <p:txBody>
          <a:bodyPr/>
          <a:lstStyle/>
          <a:p>
            <a:fld id="{157E8F69-36B6-4843-A9CE-6B9353F4DBAF}" type="slidenum">
              <a:rPr lang="en-IN" smtClean="0"/>
              <a:t>76</a:t>
            </a:fld>
            <a:endParaRPr lang="en-IN"/>
          </a:p>
        </p:txBody>
      </p:sp>
    </p:spTree>
    <p:extLst>
      <p:ext uri="{BB962C8B-B14F-4D97-AF65-F5344CB8AC3E}">
        <p14:creationId xmlns:p14="http://schemas.microsoft.com/office/powerpoint/2010/main" val="24267001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9560" y="245239"/>
            <a:ext cx="11628120" cy="4647426"/>
          </a:xfrm>
          <a:prstGeom prst="rect">
            <a:avLst/>
          </a:prstGeom>
        </p:spPr>
        <p:txBody>
          <a:bodyPr wrap="square">
            <a:spAutoFit/>
          </a:bodyPr>
          <a:lstStyle/>
          <a:p>
            <a:pPr algn="just">
              <a:spcBef>
                <a:spcPts val="1200"/>
              </a:spcBef>
            </a:pPr>
            <a:r>
              <a:rPr lang="en-IN" sz="2400" b="1" u="sng" dirty="0"/>
              <a:t>7.9.1 Static Analysis Tools</a:t>
            </a:r>
          </a:p>
          <a:p>
            <a:pPr algn="just">
              <a:spcBef>
                <a:spcPts val="1200"/>
              </a:spcBef>
            </a:pPr>
            <a:r>
              <a:rPr lang="en-IN" sz="2400" b="1" u="sng" dirty="0"/>
              <a:t>📌 What They Do:</a:t>
            </a:r>
          </a:p>
          <a:p>
            <a:pPr algn="just">
              <a:spcBef>
                <a:spcPts val="1200"/>
              </a:spcBef>
            </a:pPr>
            <a:r>
              <a:rPr lang="en-IN" sz="2400" dirty="0"/>
              <a:t>Static analysis tools check the </a:t>
            </a:r>
            <a:r>
              <a:rPr lang="en-IN" sz="2400" b="1" dirty="0"/>
              <a:t>source code</a:t>
            </a:r>
            <a:r>
              <a:rPr lang="en-IN" sz="2400" dirty="0"/>
              <a:t> to:</a:t>
            </a:r>
          </a:p>
          <a:p>
            <a:pPr marL="800100" lvl="1" indent="-342900" algn="just">
              <a:spcBef>
                <a:spcPts val="1200"/>
              </a:spcBef>
              <a:buFont typeface="Wingdings" panose="05000000000000000000" pitchFamily="2" charset="2"/>
              <a:buChar char="Ø"/>
            </a:pPr>
            <a:r>
              <a:rPr lang="en-IN" sz="2400" dirty="0"/>
              <a:t>Calculate metrics: Cyclomatic complexity, Halstead’s metrics, size</a:t>
            </a:r>
          </a:p>
          <a:p>
            <a:pPr marL="800100" lvl="1" indent="-342900" algn="just">
              <a:spcBef>
                <a:spcPts val="1200"/>
              </a:spcBef>
              <a:buFont typeface="Wingdings" panose="05000000000000000000" pitchFamily="2" charset="2"/>
              <a:buChar char="Ø"/>
            </a:pPr>
            <a:r>
              <a:rPr lang="en-IN" sz="2400" dirty="0"/>
              <a:t>Check </a:t>
            </a:r>
            <a:r>
              <a:rPr lang="en-IN" sz="2400" b="1" dirty="0"/>
              <a:t>coding standard compliance</a:t>
            </a:r>
            <a:endParaRPr lang="en-IN" sz="2400" dirty="0"/>
          </a:p>
          <a:p>
            <a:pPr marL="800100" lvl="1" indent="-342900" algn="just">
              <a:spcBef>
                <a:spcPts val="1200"/>
              </a:spcBef>
              <a:buFont typeface="Wingdings" panose="05000000000000000000" pitchFamily="2" charset="2"/>
              <a:buChar char="Ø"/>
            </a:pPr>
            <a:r>
              <a:rPr lang="en-IN" sz="2400" dirty="0"/>
              <a:t>Detect </a:t>
            </a:r>
            <a:r>
              <a:rPr lang="en-IN" sz="2400" b="1" dirty="0"/>
              <a:t>common programming errors</a:t>
            </a:r>
            <a:r>
              <a:rPr lang="en-IN" sz="2400" dirty="0"/>
              <a:t>, e.g.:</a:t>
            </a:r>
          </a:p>
          <a:p>
            <a:pPr marL="1257300" lvl="2" indent="-342900" algn="just">
              <a:spcBef>
                <a:spcPts val="1200"/>
              </a:spcBef>
              <a:buFont typeface="Wingdings" panose="05000000000000000000" pitchFamily="2" charset="2"/>
              <a:buChar char="Ø"/>
            </a:pPr>
            <a:r>
              <a:rPr lang="en-IN" sz="2400" dirty="0"/>
              <a:t>Uninitialized variables</a:t>
            </a:r>
          </a:p>
          <a:p>
            <a:pPr marL="1257300" lvl="2" indent="-342900" algn="just">
              <a:spcBef>
                <a:spcPts val="1200"/>
              </a:spcBef>
              <a:buFont typeface="Wingdings" panose="05000000000000000000" pitchFamily="2" charset="2"/>
              <a:buChar char="Ø"/>
            </a:pPr>
            <a:r>
              <a:rPr lang="en-IN" sz="2400" dirty="0"/>
              <a:t>Unused variables</a:t>
            </a:r>
          </a:p>
          <a:p>
            <a:pPr marL="1257300" lvl="2" indent="-342900" algn="just">
              <a:spcBef>
                <a:spcPts val="1200"/>
              </a:spcBef>
              <a:buFont typeface="Wingdings" panose="05000000000000000000" pitchFamily="2" charset="2"/>
              <a:buChar char="Ø"/>
            </a:pPr>
            <a:r>
              <a:rPr lang="en-IN" sz="2400" dirty="0"/>
              <a:t>Mismatched function parameters</a:t>
            </a:r>
          </a:p>
        </p:txBody>
      </p:sp>
      <p:sp>
        <p:nvSpPr>
          <p:cNvPr id="4" name="Rectangle 1"/>
          <p:cNvSpPr>
            <a:spLocks noChangeArrowheads="1"/>
          </p:cNvSpPr>
          <p:nvPr/>
        </p:nvSpPr>
        <p:spPr bwMode="auto">
          <a:xfrm>
            <a:off x="289560" y="4892665"/>
            <a:ext cx="1162812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 Examples of Static Analysis Activities:</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Code walkthroughs</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Code inspections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(These are </a:t>
            </a:r>
            <a:r>
              <a:rPr kumimoji="0" lang="en-US" altLang="en-US" sz="2400" b="1" i="0" u="none" strike="noStrike" cap="none" normalizeH="0" baseline="0" dirty="0">
                <a:ln>
                  <a:noFill/>
                </a:ln>
                <a:solidFill>
                  <a:schemeClr val="tx1"/>
                </a:solidFill>
                <a:effectLst/>
              </a:rPr>
              <a:t>manual static methods</a:t>
            </a:r>
            <a:r>
              <a:rPr kumimoji="0" lang="en-US" altLang="en-US" sz="2400" b="0" i="0" u="none" strike="noStrike" cap="none" normalizeH="0" baseline="0" dirty="0">
                <a:ln>
                  <a:noFill/>
                </a:ln>
                <a:solidFill>
                  <a:schemeClr val="tx1"/>
                </a:solidFill>
                <a:effectLst/>
              </a:rPr>
              <a:t>, not automated tools)</a:t>
            </a:r>
          </a:p>
        </p:txBody>
      </p:sp>
      <p:sp>
        <p:nvSpPr>
          <p:cNvPr id="2" name="Date Placeholder 1">
            <a:extLst>
              <a:ext uri="{FF2B5EF4-FFF2-40B4-BE49-F238E27FC236}">
                <a16:creationId xmlns:a16="http://schemas.microsoft.com/office/drawing/2014/main" id="{97E7D3EB-DEF3-F27C-DE6D-087D5E7427B4}"/>
              </a:ext>
            </a:extLst>
          </p:cNvPr>
          <p:cNvSpPr>
            <a:spLocks noGrp="1"/>
          </p:cNvSpPr>
          <p:nvPr>
            <p:ph type="dt" sz="half" idx="10"/>
          </p:nvPr>
        </p:nvSpPr>
        <p:spPr/>
        <p:txBody>
          <a:bodyPr/>
          <a:lstStyle/>
          <a:p>
            <a:fld id="{65FDB3E0-DBEA-4E33-810D-1A338785ADD1}" type="datetime1">
              <a:rPr lang="en-IN" smtClean="0"/>
              <a:t>03-11-2025</a:t>
            </a:fld>
            <a:endParaRPr lang="en-IN"/>
          </a:p>
        </p:txBody>
      </p:sp>
      <p:sp>
        <p:nvSpPr>
          <p:cNvPr id="5" name="Footer Placeholder 4">
            <a:extLst>
              <a:ext uri="{FF2B5EF4-FFF2-40B4-BE49-F238E27FC236}">
                <a16:creationId xmlns:a16="http://schemas.microsoft.com/office/drawing/2014/main" id="{5DFB835D-07AA-77D8-7FFE-21870A60FEA9}"/>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DEE52FBE-D6E3-9258-58EC-744B1080DCDB}"/>
              </a:ext>
            </a:extLst>
          </p:cNvPr>
          <p:cNvSpPr>
            <a:spLocks noGrp="1"/>
          </p:cNvSpPr>
          <p:nvPr>
            <p:ph type="sldNum" sz="quarter" idx="12"/>
          </p:nvPr>
        </p:nvSpPr>
        <p:spPr/>
        <p:txBody>
          <a:bodyPr/>
          <a:lstStyle/>
          <a:p>
            <a:fld id="{157E8F69-36B6-4843-A9CE-6B9353F4DBAF}" type="slidenum">
              <a:rPr lang="en-IN" smtClean="0"/>
              <a:t>77</a:t>
            </a:fld>
            <a:endParaRPr lang="en-IN"/>
          </a:p>
        </p:txBody>
      </p:sp>
    </p:spTree>
    <p:extLst>
      <p:ext uri="{BB962C8B-B14F-4D97-AF65-F5344CB8AC3E}">
        <p14:creationId xmlns:p14="http://schemas.microsoft.com/office/powerpoint/2010/main" val="28916276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304800" y="231488"/>
            <a:ext cx="1162812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1200"/>
              </a:spcBef>
              <a:spcAft>
                <a:spcPct val="0"/>
              </a:spcAft>
              <a:buClrTx/>
              <a:buSzTx/>
              <a:buFontTx/>
              <a:buNone/>
              <a:tabLst/>
            </a:pPr>
            <a:r>
              <a:rPr kumimoji="0" lang="en-US" altLang="en-US" sz="2400" b="1" i="0" u="sng" strike="noStrike" cap="none" normalizeH="0" baseline="0" dirty="0">
                <a:ln>
                  <a:noFill/>
                </a:ln>
                <a:solidFill>
                  <a:schemeClr val="tx1"/>
                </a:solidFill>
                <a:effectLst/>
              </a:rPr>
              <a:t>⚠️ Limitations:</a:t>
            </a:r>
          </a:p>
          <a:p>
            <a:pPr marL="800100" lvl="1" indent="-342900" eaLnBrk="0" fontAlgn="base" hangingPunct="0">
              <a:spcBef>
                <a:spcPts val="120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Cannot evaluate </a:t>
            </a:r>
            <a:r>
              <a:rPr kumimoji="0" lang="en-US" altLang="en-US" sz="2400" b="1" i="0" u="none" strike="noStrike" cap="none" normalizeH="0" baseline="0" dirty="0">
                <a:ln>
                  <a:noFill/>
                </a:ln>
                <a:solidFill>
                  <a:schemeClr val="tx1"/>
                </a:solidFill>
                <a:effectLst/>
              </a:rPr>
              <a:t>run-time </a:t>
            </a:r>
            <a:r>
              <a:rPr kumimoji="0" lang="en-US" altLang="en-US" sz="2400" b="1" i="0" u="none" strike="noStrike" cap="none" normalizeH="0" baseline="0" dirty="0" err="1">
                <a:ln>
                  <a:noFill/>
                </a:ln>
                <a:solidFill>
                  <a:schemeClr val="tx1"/>
                </a:solidFill>
                <a:effectLst/>
              </a:rPr>
              <a:t>behaviour</a:t>
            </a:r>
            <a:endParaRPr kumimoji="0" lang="en-US" altLang="en-US" sz="2400" b="0" i="0" u="none" strike="noStrike" cap="none" normalizeH="0" baseline="0" dirty="0">
              <a:ln>
                <a:noFill/>
              </a:ln>
              <a:solidFill>
                <a:schemeClr val="tx1"/>
              </a:solidFill>
              <a:effectLst/>
            </a:endParaRPr>
          </a:p>
          <a:p>
            <a:pPr marL="800100" lvl="1" indent="-342900" eaLnBrk="0" fontAlgn="base" hangingPunct="0">
              <a:spcBef>
                <a:spcPts val="120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Cannot handle </a:t>
            </a:r>
            <a:r>
              <a:rPr kumimoji="0" lang="en-US" altLang="en-US" sz="2400" b="1" i="0" u="none" strike="noStrike" cap="none" normalizeH="0" baseline="0" dirty="0">
                <a:ln>
                  <a:noFill/>
                </a:ln>
                <a:solidFill>
                  <a:schemeClr val="tx1"/>
                </a:solidFill>
                <a:effectLst/>
              </a:rPr>
              <a:t>dynamic memory</a:t>
            </a:r>
            <a:r>
              <a:rPr kumimoji="0" lang="en-US" altLang="en-US" sz="2400" b="0" i="0" u="none" strike="noStrike" cap="none" normalizeH="0" baseline="0" dirty="0">
                <a:ln>
                  <a:noFill/>
                </a:ln>
                <a:solidFill>
                  <a:schemeClr val="tx1"/>
                </a:solidFill>
                <a:effectLst/>
              </a:rPr>
              <a:t> issues caused by:</a:t>
            </a:r>
          </a:p>
          <a:p>
            <a:pPr marL="1257300" lvl="2" indent="-342900" eaLnBrk="0" fontAlgn="base" hangingPunct="0">
              <a:spcBef>
                <a:spcPts val="120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Pointer arithmetic</a:t>
            </a:r>
          </a:p>
          <a:p>
            <a:pPr marL="1257300" lvl="2" indent="-342900" eaLnBrk="0" fontAlgn="base" hangingPunct="0">
              <a:spcBef>
                <a:spcPts val="120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Dynamic memory allocation (e.g., using </a:t>
            </a:r>
            <a:r>
              <a:rPr kumimoji="0" lang="en-US" altLang="en-US" sz="2400" b="0" i="0" u="none" strike="noStrike" cap="none" normalizeH="0" baseline="0" dirty="0" err="1">
                <a:ln>
                  <a:noFill/>
                </a:ln>
                <a:solidFill>
                  <a:schemeClr val="tx1"/>
                </a:solidFill>
                <a:effectLst/>
              </a:rPr>
              <a:t>malloc</a:t>
            </a:r>
            <a:r>
              <a:rPr kumimoji="0" lang="en-US" altLang="en-US" sz="2400" b="0" i="0" u="none" strike="noStrike" cap="none" normalizeH="0" baseline="0" dirty="0">
                <a:ln>
                  <a:noFill/>
                </a:ln>
                <a:solidFill>
                  <a:schemeClr val="tx1"/>
                </a:solidFill>
                <a:effectLst/>
              </a:rPr>
              <a:t> in C)</a:t>
            </a:r>
          </a:p>
        </p:txBody>
      </p:sp>
      <p:sp>
        <p:nvSpPr>
          <p:cNvPr id="4" name="Rectangle 3"/>
          <p:cNvSpPr/>
          <p:nvPr/>
        </p:nvSpPr>
        <p:spPr>
          <a:xfrm>
            <a:off x="304800" y="3038178"/>
            <a:ext cx="11628120" cy="3139321"/>
          </a:xfrm>
          <a:prstGeom prst="rect">
            <a:avLst/>
          </a:prstGeom>
        </p:spPr>
        <p:txBody>
          <a:bodyPr wrap="square">
            <a:spAutoFit/>
          </a:bodyPr>
          <a:lstStyle/>
          <a:p>
            <a:pPr algn="just">
              <a:spcBef>
                <a:spcPts val="600"/>
              </a:spcBef>
            </a:pPr>
            <a:r>
              <a:rPr lang="en-US" sz="2400" b="1" u="sng" dirty="0"/>
              <a:t>📈 </a:t>
            </a:r>
            <a:r>
              <a:rPr lang="en-US" sz="2400" b="1" u="sng" dirty="0" err="1"/>
              <a:t>Kiviat</a:t>
            </a:r>
            <a:r>
              <a:rPr lang="en-US" sz="2400" b="1" u="sng" dirty="0"/>
              <a:t> Chart (a.k.a. Radar Chart):</a:t>
            </a:r>
          </a:p>
          <a:p>
            <a:pPr marL="800100" lvl="1" indent="-342900" algn="just">
              <a:spcBef>
                <a:spcPts val="600"/>
              </a:spcBef>
              <a:buFont typeface="Wingdings" panose="05000000000000000000" pitchFamily="2" charset="2"/>
              <a:buChar char="Ø"/>
            </a:pPr>
            <a:r>
              <a:rPr lang="en-US" sz="2400" dirty="0"/>
              <a:t>A graphical tool used to </a:t>
            </a:r>
            <a:r>
              <a:rPr lang="en-US" sz="2400" b="1" dirty="0"/>
              <a:t>summarize analysis</a:t>
            </a:r>
            <a:r>
              <a:rPr lang="en-US" sz="2400" dirty="0"/>
              <a:t> of each function</a:t>
            </a:r>
          </a:p>
          <a:p>
            <a:pPr marL="800100" lvl="1" indent="-342900" algn="just">
              <a:spcBef>
                <a:spcPts val="600"/>
              </a:spcBef>
              <a:buFont typeface="Wingdings" panose="05000000000000000000" pitchFamily="2" charset="2"/>
              <a:buChar char="Ø"/>
            </a:pPr>
            <a:r>
              <a:rPr lang="en-US" sz="2400" dirty="0"/>
              <a:t>Axes show:</a:t>
            </a:r>
          </a:p>
          <a:p>
            <a:pPr marL="1257300" lvl="2" indent="-342900" algn="just">
              <a:spcBef>
                <a:spcPts val="600"/>
              </a:spcBef>
              <a:buFont typeface="Wingdings" panose="05000000000000000000" pitchFamily="2" charset="2"/>
              <a:buChar char="Ø"/>
            </a:pPr>
            <a:r>
              <a:rPr lang="en-US" sz="2400" dirty="0"/>
              <a:t>Cyclomatic complexity</a:t>
            </a:r>
          </a:p>
          <a:p>
            <a:pPr marL="1257300" lvl="2" indent="-342900" algn="just">
              <a:spcBef>
                <a:spcPts val="600"/>
              </a:spcBef>
              <a:buFont typeface="Wingdings" panose="05000000000000000000" pitchFamily="2" charset="2"/>
              <a:buChar char="Ø"/>
            </a:pPr>
            <a:r>
              <a:rPr lang="en-US" sz="2400" dirty="0"/>
              <a:t>Lines of code</a:t>
            </a:r>
          </a:p>
          <a:p>
            <a:pPr marL="1257300" lvl="2" indent="-342900" algn="just">
              <a:spcBef>
                <a:spcPts val="600"/>
              </a:spcBef>
              <a:buFont typeface="Wingdings" panose="05000000000000000000" pitchFamily="2" charset="2"/>
              <a:buChar char="Ø"/>
            </a:pPr>
            <a:r>
              <a:rPr lang="en-US" sz="2400" dirty="0"/>
              <a:t>% of comment lines</a:t>
            </a:r>
          </a:p>
          <a:p>
            <a:pPr marL="1257300" lvl="2" indent="-342900" algn="just">
              <a:spcBef>
                <a:spcPts val="600"/>
              </a:spcBef>
              <a:buFont typeface="Wingdings" panose="05000000000000000000" pitchFamily="2" charset="2"/>
              <a:buChar char="Ø"/>
            </a:pPr>
            <a:r>
              <a:rPr lang="en-US" sz="2400" dirty="0"/>
              <a:t>Halstead metrics, etc.</a:t>
            </a:r>
          </a:p>
        </p:txBody>
      </p:sp>
      <p:sp>
        <p:nvSpPr>
          <p:cNvPr id="2" name="Date Placeholder 1">
            <a:extLst>
              <a:ext uri="{FF2B5EF4-FFF2-40B4-BE49-F238E27FC236}">
                <a16:creationId xmlns:a16="http://schemas.microsoft.com/office/drawing/2014/main" id="{412827FA-400E-8036-4F51-A7F5C414BF06}"/>
              </a:ext>
            </a:extLst>
          </p:cNvPr>
          <p:cNvSpPr>
            <a:spLocks noGrp="1"/>
          </p:cNvSpPr>
          <p:nvPr>
            <p:ph type="dt" sz="half" idx="10"/>
          </p:nvPr>
        </p:nvSpPr>
        <p:spPr/>
        <p:txBody>
          <a:bodyPr/>
          <a:lstStyle/>
          <a:p>
            <a:fld id="{1667B1EE-0BDB-4158-B9A8-843D7B84E7CE}" type="datetime1">
              <a:rPr lang="en-IN" smtClean="0"/>
              <a:t>03-11-2025</a:t>
            </a:fld>
            <a:endParaRPr lang="en-IN"/>
          </a:p>
        </p:txBody>
      </p:sp>
      <p:sp>
        <p:nvSpPr>
          <p:cNvPr id="5" name="Footer Placeholder 4">
            <a:extLst>
              <a:ext uri="{FF2B5EF4-FFF2-40B4-BE49-F238E27FC236}">
                <a16:creationId xmlns:a16="http://schemas.microsoft.com/office/drawing/2014/main" id="{00B671CA-C1BA-CF4E-A10A-1ED6AAB6278F}"/>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F8A8D74F-BC58-D895-5CA9-47C028F8F682}"/>
              </a:ext>
            </a:extLst>
          </p:cNvPr>
          <p:cNvSpPr>
            <a:spLocks noGrp="1"/>
          </p:cNvSpPr>
          <p:nvPr>
            <p:ph type="sldNum" sz="quarter" idx="12"/>
          </p:nvPr>
        </p:nvSpPr>
        <p:spPr/>
        <p:txBody>
          <a:bodyPr/>
          <a:lstStyle/>
          <a:p>
            <a:fld id="{157E8F69-36B6-4843-A9CE-6B9353F4DBAF}" type="slidenum">
              <a:rPr lang="en-IN" smtClean="0"/>
              <a:t>78</a:t>
            </a:fld>
            <a:endParaRPr lang="en-IN"/>
          </a:p>
        </p:txBody>
      </p:sp>
    </p:spTree>
    <p:extLst>
      <p:ext uri="{BB962C8B-B14F-4D97-AF65-F5344CB8AC3E}">
        <p14:creationId xmlns:p14="http://schemas.microsoft.com/office/powerpoint/2010/main" val="4758985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3360" y="241221"/>
            <a:ext cx="11734800" cy="4154984"/>
          </a:xfrm>
          <a:prstGeom prst="rect">
            <a:avLst/>
          </a:prstGeom>
        </p:spPr>
        <p:txBody>
          <a:bodyPr wrap="square">
            <a:spAutoFit/>
          </a:bodyPr>
          <a:lstStyle/>
          <a:p>
            <a:pPr algn="just"/>
            <a:r>
              <a:rPr lang="en-US" sz="2400" b="1" u="sng" dirty="0"/>
              <a:t>7.9.2 Dynamic Analysis Tools</a:t>
            </a:r>
          </a:p>
          <a:p>
            <a:pPr algn="just"/>
            <a:r>
              <a:rPr lang="en-US" sz="2400" b="1" u="sng" dirty="0"/>
              <a:t>📌 What They Do:</a:t>
            </a:r>
          </a:p>
          <a:p>
            <a:pPr algn="just"/>
            <a:r>
              <a:rPr lang="en-US" sz="2400" dirty="0"/>
              <a:t>Dynamic analysis tools monitor the </a:t>
            </a:r>
            <a:r>
              <a:rPr lang="en-US" sz="2400" b="1" dirty="0"/>
              <a:t>program’s </a:t>
            </a:r>
            <a:r>
              <a:rPr lang="en-US" sz="2400" b="1" dirty="0" err="1"/>
              <a:t>behaviour</a:t>
            </a:r>
            <a:r>
              <a:rPr lang="en-US" sz="2400" b="1" dirty="0"/>
              <a:t> during execution</a:t>
            </a:r>
            <a:r>
              <a:rPr lang="en-US" sz="2400" dirty="0"/>
              <a:t> to:</a:t>
            </a:r>
          </a:p>
          <a:p>
            <a:pPr marL="800100" lvl="1" indent="-342900" algn="just">
              <a:buFont typeface="Wingdings" panose="05000000000000000000" pitchFamily="2" charset="2"/>
              <a:buChar char="Ø"/>
            </a:pPr>
            <a:r>
              <a:rPr lang="en-US" sz="2400" dirty="0"/>
              <a:t>Evaluate </a:t>
            </a:r>
            <a:r>
              <a:rPr lang="en-US" sz="2400" b="1" dirty="0"/>
              <a:t>test coverage</a:t>
            </a:r>
            <a:endParaRPr lang="en-US" sz="2400" dirty="0"/>
          </a:p>
          <a:p>
            <a:pPr marL="800100" lvl="1" indent="-342900" algn="just">
              <a:buFont typeface="Wingdings" panose="05000000000000000000" pitchFamily="2" charset="2"/>
              <a:buChar char="Ø"/>
            </a:pPr>
            <a:r>
              <a:rPr lang="en-US" sz="2400" dirty="0"/>
              <a:t>Record execution trace (values of variables, paths taken, etc.)</a:t>
            </a:r>
          </a:p>
          <a:p>
            <a:pPr algn="just"/>
            <a:r>
              <a:rPr lang="en-US" sz="2400" b="1" u="sng" dirty="0"/>
              <a:t>⚙️ How It Works:</a:t>
            </a:r>
          </a:p>
          <a:p>
            <a:pPr marL="800100" lvl="1" indent="-342900" algn="just">
              <a:buFont typeface="Wingdings" panose="05000000000000000000" pitchFamily="2" charset="2"/>
              <a:buChar char="Ø"/>
            </a:pPr>
            <a:r>
              <a:rPr lang="en-US" sz="2400" dirty="0"/>
              <a:t>Uses </a:t>
            </a:r>
            <a:r>
              <a:rPr lang="en-US" sz="2400" b="1" dirty="0"/>
              <a:t>instrumentation</a:t>
            </a:r>
            <a:r>
              <a:rPr lang="en-US" sz="2400" dirty="0"/>
              <a:t>: Adds extra code to log </a:t>
            </a:r>
            <a:r>
              <a:rPr lang="en-US" sz="2400" dirty="0" err="1"/>
              <a:t>behaviour</a:t>
            </a:r>
            <a:r>
              <a:rPr lang="en-US" sz="2400" dirty="0"/>
              <a:t> during execution</a:t>
            </a:r>
          </a:p>
          <a:p>
            <a:pPr marL="800100" lvl="1" indent="-342900" algn="just">
              <a:buFont typeface="Wingdings" panose="05000000000000000000" pitchFamily="2" charset="2"/>
              <a:buChar char="Ø"/>
            </a:pPr>
            <a:r>
              <a:rPr lang="en-US" sz="2400" dirty="0"/>
              <a:t>Collected data includes:</a:t>
            </a:r>
          </a:p>
          <a:p>
            <a:pPr marL="1257300" lvl="2" indent="-342900" algn="just">
              <a:buFont typeface="Wingdings" panose="05000000000000000000" pitchFamily="2" charset="2"/>
              <a:buChar char="Ø"/>
            </a:pPr>
            <a:r>
              <a:rPr lang="en-US" sz="2400" dirty="0"/>
              <a:t>Path coverage</a:t>
            </a:r>
          </a:p>
          <a:p>
            <a:pPr marL="1257300" lvl="2" indent="-342900" algn="just">
              <a:buFont typeface="Wingdings" panose="05000000000000000000" pitchFamily="2" charset="2"/>
              <a:buChar char="Ø"/>
            </a:pPr>
            <a:r>
              <a:rPr lang="en-US" sz="2400" dirty="0"/>
              <a:t>Statement coverage</a:t>
            </a:r>
          </a:p>
          <a:p>
            <a:pPr marL="1257300" lvl="2" indent="-342900" algn="just">
              <a:buFont typeface="Wingdings" panose="05000000000000000000" pitchFamily="2" charset="2"/>
              <a:buChar char="Ø"/>
            </a:pPr>
            <a:r>
              <a:rPr lang="en-US" sz="2400" dirty="0"/>
              <a:t>Branch coverage</a:t>
            </a:r>
          </a:p>
        </p:txBody>
      </p:sp>
      <p:sp>
        <p:nvSpPr>
          <p:cNvPr id="4" name="Rectangle 3"/>
          <p:cNvSpPr/>
          <p:nvPr/>
        </p:nvSpPr>
        <p:spPr>
          <a:xfrm>
            <a:off x="213360" y="4472405"/>
            <a:ext cx="11734800" cy="1938992"/>
          </a:xfrm>
          <a:prstGeom prst="rect">
            <a:avLst/>
          </a:prstGeom>
        </p:spPr>
        <p:txBody>
          <a:bodyPr wrap="square">
            <a:spAutoFit/>
          </a:bodyPr>
          <a:lstStyle/>
          <a:p>
            <a:pPr algn="just"/>
            <a:r>
              <a:rPr lang="en-US" sz="2400" b="1" u="sng" dirty="0"/>
              <a:t>✅ Use Cases:</a:t>
            </a:r>
          </a:p>
          <a:p>
            <a:pPr marL="800100" lvl="1" indent="-342900" algn="just">
              <a:buFont typeface="Wingdings" panose="05000000000000000000" pitchFamily="2" charset="2"/>
              <a:buChar char="Ø"/>
            </a:pPr>
            <a:r>
              <a:rPr lang="en-US" sz="2400" dirty="0"/>
              <a:t>Analyze and improve </a:t>
            </a:r>
            <a:r>
              <a:rPr lang="en-US" sz="2400" b="1" dirty="0"/>
              <a:t>test suite effectiveness</a:t>
            </a:r>
            <a:endParaRPr lang="en-US" sz="2400" dirty="0"/>
          </a:p>
          <a:p>
            <a:pPr marL="800100" lvl="1" indent="-342900" algn="just">
              <a:buFont typeface="Wingdings" panose="05000000000000000000" pitchFamily="2" charset="2"/>
              <a:buChar char="Ø"/>
            </a:pPr>
            <a:r>
              <a:rPr lang="en-US" sz="2400" dirty="0"/>
              <a:t>Identify </a:t>
            </a:r>
            <a:r>
              <a:rPr lang="en-US" sz="2400" b="1" dirty="0"/>
              <a:t>redundant</a:t>
            </a:r>
            <a:r>
              <a:rPr lang="en-US" sz="2400" dirty="0"/>
              <a:t> or </a:t>
            </a:r>
            <a:r>
              <a:rPr lang="en-US" sz="2400" b="1" dirty="0"/>
              <a:t>missing</a:t>
            </a:r>
            <a:r>
              <a:rPr lang="en-US" sz="2400" dirty="0"/>
              <a:t> test cases</a:t>
            </a:r>
          </a:p>
          <a:p>
            <a:pPr marL="800100" lvl="1" indent="-342900" algn="just">
              <a:buFont typeface="Wingdings" panose="05000000000000000000" pitchFamily="2" charset="2"/>
              <a:buChar char="Ø"/>
            </a:pPr>
            <a:r>
              <a:rPr lang="en-US" sz="2400" dirty="0"/>
              <a:t>Ensure </a:t>
            </a:r>
            <a:r>
              <a:rPr lang="en-US" sz="2400" b="1" dirty="0"/>
              <a:t>sufficient coverage</a:t>
            </a:r>
            <a:r>
              <a:rPr lang="en-US" sz="2400" dirty="0"/>
              <a:t> has been achieved</a:t>
            </a:r>
          </a:p>
          <a:p>
            <a:pPr marL="800100" lvl="1" indent="-342900" algn="just">
              <a:buFont typeface="Wingdings" panose="05000000000000000000" pitchFamily="2" charset="2"/>
              <a:buChar char="Ø"/>
            </a:pPr>
            <a:r>
              <a:rPr lang="en-US" sz="2400" dirty="0"/>
              <a:t>Provide </a:t>
            </a:r>
            <a:r>
              <a:rPr lang="en-US" sz="2400" b="1" dirty="0"/>
              <a:t>evidence</a:t>
            </a:r>
            <a:r>
              <a:rPr lang="en-US" sz="2400" dirty="0"/>
              <a:t> of proper testing (e.g., printed reports, graphs)</a:t>
            </a:r>
          </a:p>
        </p:txBody>
      </p:sp>
      <p:sp>
        <p:nvSpPr>
          <p:cNvPr id="2" name="Date Placeholder 1">
            <a:extLst>
              <a:ext uri="{FF2B5EF4-FFF2-40B4-BE49-F238E27FC236}">
                <a16:creationId xmlns:a16="http://schemas.microsoft.com/office/drawing/2014/main" id="{D08C6071-F096-5EC1-D32B-56A8E3C707E1}"/>
              </a:ext>
            </a:extLst>
          </p:cNvPr>
          <p:cNvSpPr>
            <a:spLocks noGrp="1"/>
          </p:cNvSpPr>
          <p:nvPr>
            <p:ph type="dt" sz="half" idx="10"/>
          </p:nvPr>
        </p:nvSpPr>
        <p:spPr/>
        <p:txBody>
          <a:bodyPr/>
          <a:lstStyle/>
          <a:p>
            <a:fld id="{14A5F0F5-CC8A-46A7-A552-6BE63C92AD53}" type="datetime1">
              <a:rPr lang="en-IN" smtClean="0"/>
              <a:t>03-11-2025</a:t>
            </a:fld>
            <a:endParaRPr lang="en-IN"/>
          </a:p>
        </p:txBody>
      </p:sp>
      <p:sp>
        <p:nvSpPr>
          <p:cNvPr id="5" name="Footer Placeholder 4">
            <a:extLst>
              <a:ext uri="{FF2B5EF4-FFF2-40B4-BE49-F238E27FC236}">
                <a16:creationId xmlns:a16="http://schemas.microsoft.com/office/drawing/2014/main" id="{92AC518C-2F1E-AA7D-E1DE-1D086687D4BA}"/>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A7458604-212B-EE5B-97BD-1BF8A175347D}"/>
              </a:ext>
            </a:extLst>
          </p:cNvPr>
          <p:cNvSpPr>
            <a:spLocks noGrp="1"/>
          </p:cNvSpPr>
          <p:nvPr>
            <p:ph type="sldNum" sz="quarter" idx="12"/>
          </p:nvPr>
        </p:nvSpPr>
        <p:spPr/>
        <p:txBody>
          <a:bodyPr/>
          <a:lstStyle/>
          <a:p>
            <a:fld id="{157E8F69-36B6-4843-A9CE-6B9353F4DBAF}" type="slidenum">
              <a:rPr lang="en-IN" smtClean="0"/>
              <a:t>79</a:t>
            </a:fld>
            <a:endParaRPr lang="en-IN"/>
          </a:p>
        </p:txBody>
      </p:sp>
    </p:spTree>
    <p:extLst>
      <p:ext uri="{BB962C8B-B14F-4D97-AF65-F5344CB8AC3E}">
        <p14:creationId xmlns:p14="http://schemas.microsoft.com/office/powerpoint/2010/main" val="9026397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2880" y="236696"/>
            <a:ext cx="11780520" cy="1938992"/>
          </a:xfrm>
          <a:prstGeom prst="rect">
            <a:avLst/>
          </a:prstGeom>
        </p:spPr>
        <p:txBody>
          <a:bodyPr wrap="square">
            <a:spAutoFit/>
          </a:bodyPr>
          <a:lstStyle/>
          <a:p>
            <a:pPr algn="just"/>
            <a:r>
              <a:rPr lang="en-US" sz="2400" b="1" u="sng" dirty="0"/>
              <a:t>📊 Output Format:</a:t>
            </a:r>
          </a:p>
          <a:p>
            <a:pPr marL="800100" lvl="1" indent="-342900" algn="just">
              <a:buFont typeface="Wingdings" panose="05000000000000000000" pitchFamily="2" charset="2"/>
              <a:buChar char="Ø"/>
            </a:pPr>
            <a:r>
              <a:rPr lang="en-US" sz="2400" dirty="0"/>
              <a:t>Coverage results are often shown using:</a:t>
            </a:r>
          </a:p>
          <a:p>
            <a:pPr marL="1257300" lvl="2" indent="-342900" algn="just">
              <a:buFont typeface="Wingdings" panose="05000000000000000000" pitchFamily="2" charset="2"/>
              <a:buChar char="Ø"/>
            </a:pPr>
            <a:r>
              <a:rPr lang="en-US" sz="2400" b="1" dirty="0"/>
              <a:t>Histograms</a:t>
            </a:r>
            <a:endParaRPr lang="en-US" sz="2400" dirty="0"/>
          </a:p>
          <a:p>
            <a:pPr marL="1257300" lvl="2" indent="-342900" algn="just">
              <a:buFont typeface="Wingdings" panose="05000000000000000000" pitchFamily="2" charset="2"/>
              <a:buChar char="Ø"/>
            </a:pPr>
            <a:r>
              <a:rPr lang="en-US" sz="2400" b="1" dirty="0"/>
              <a:t>Pie charts</a:t>
            </a:r>
            <a:endParaRPr lang="en-US" sz="2400" dirty="0"/>
          </a:p>
          <a:p>
            <a:pPr marL="1257300" lvl="2" indent="-342900" algn="just">
              <a:buFont typeface="Wingdings" panose="05000000000000000000" pitchFamily="2" charset="2"/>
              <a:buChar char="Ø"/>
            </a:pPr>
            <a:r>
              <a:rPr lang="en-US" sz="2400" b="1" dirty="0"/>
              <a:t>Reports per module</a:t>
            </a:r>
            <a:endParaRPr lang="en-US" sz="2400" dirty="0"/>
          </a:p>
        </p:txBody>
      </p:sp>
      <p:graphicFrame>
        <p:nvGraphicFramePr>
          <p:cNvPr id="4" name="Table 3"/>
          <p:cNvGraphicFramePr>
            <a:graphicFrameLocks noGrp="1"/>
          </p:cNvGraphicFramePr>
          <p:nvPr>
            <p:extLst>
              <p:ext uri="{D42A27DB-BD31-4B8C-83A1-F6EECF244321}">
                <p14:modId xmlns:p14="http://schemas.microsoft.com/office/powerpoint/2010/main" val="4192465048"/>
              </p:ext>
            </p:extLst>
          </p:nvPr>
        </p:nvGraphicFramePr>
        <p:xfrm>
          <a:off x="182880" y="2690654"/>
          <a:ext cx="11780520" cy="2743200"/>
        </p:xfrm>
        <a:graphic>
          <a:graphicData uri="http://schemas.openxmlformats.org/drawingml/2006/table">
            <a:tbl>
              <a:tblPr>
                <a:tableStyleId>{BC89EF96-8CEA-46FF-86C4-4CE0E7609802}</a:tableStyleId>
              </a:tblPr>
              <a:tblGrid>
                <a:gridCol w="3246120">
                  <a:extLst>
                    <a:ext uri="{9D8B030D-6E8A-4147-A177-3AD203B41FA5}">
                      <a16:colId xmlns:a16="http://schemas.microsoft.com/office/drawing/2014/main" val="1709685161"/>
                    </a:ext>
                  </a:extLst>
                </a:gridCol>
                <a:gridCol w="3962400">
                  <a:extLst>
                    <a:ext uri="{9D8B030D-6E8A-4147-A177-3AD203B41FA5}">
                      <a16:colId xmlns:a16="http://schemas.microsoft.com/office/drawing/2014/main" val="3286125472"/>
                    </a:ext>
                  </a:extLst>
                </a:gridCol>
                <a:gridCol w="4572000">
                  <a:extLst>
                    <a:ext uri="{9D8B030D-6E8A-4147-A177-3AD203B41FA5}">
                      <a16:colId xmlns:a16="http://schemas.microsoft.com/office/drawing/2014/main" val="1272368195"/>
                    </a:ext>
                  </a:extLst>
                </a:gridCol>
              </a:tblGrid>
              <a:tr h="0">
                <a:tc>
                  <a:txBody>
                    <a:bodyPr/>
                    <a:lstStyle/>
                    <a:p>
                      <a:pPr algn="ctr"/>
                      <a:r>
                        <a:rPr lang="en-IN" sz="2400" b="1" u="sng" dirty="0"/>
                        <a:t>Feature</a:t>
                      </a:r>
                    </a:p>
                  </a:txBody>
                  <a:tcPr anchor="ctr"/>
                </a:tc>
                <a:tc>
                  <a:txBody>
                    <a:bodyPr/>
                    <a:lstStyle/>
                    <a:p>
                      <a:pPr algn="ctr"/>
                      <a:r>
                        <a:rPr lang="en-IN" sz="2400" b="1" u="sng" dirty="0"/>
                        <a:t>Static Analysis Tools</a:t>
                      </a:r>
                    </a:p>
                  </a:txBody>
                  <a:tcPr anchor="ctr"/>
                </a:tc>
                <a:tc>
                  <a:txBody>
                    <a:bodyPr/>
                    <a:lstStyle/>
                    <a:p>
                      <a:pPr algn="ctr"/>
                      <a:r>
                        <a:rPr lang="en-IN" sz="2400" b="1" u="sng" dirty="0"/>
                        <a:t>Dynamic Analysis Tools</a:t>
                      </a:r>
                    </a:p>
                  </a:txBody>
                  <a:tcPr anchor="ctr"/>
                </a:tc>
                <a:extLst>
                  <a:ext uri="{0D108BD9-81ED-4DB2-BD59-A6C34878D82A}">
                    <a16:rowId xmlns:a16="http://schemas.microsoft.com/office/drawing/2014/main" val="1497903747"/>
                  </a:ext>
                </a:extLst>
              </a:tr>
              <a:tr h="0">
                <a:tc>
                  <a:txBody>
                    <a:bodyPr/>
                    <a:lstStyle/>
                    <a:p>
                      <a:r>
                        <a:rPr lang="en-IN" sz="2000" dirty="0"/>
                        <a:t>Execution Required?</a:t>
                      </a:r>
                    </a:p>
                  </a:txBody>
                  <a:tcPr anchor="ctr"/>
                </a:tc>
                <a:tc>
                  <a:txBody>
                    <a:bodyPr/>
                    <a:lstStyle/>
                    <a:p>
                      <a:r>
                        <a:rPr lang="en-IN" sz="2000" dirty="0"/>
                        <a:t>❌ No</a:t>
                      </a:r>
                    </a:p>
                  </a:txBody>
                  <a:tcPr anchor="ctr"/>
                </a:tc>
                <a:tc>
                  <a:txBody>
                    <a:bodyPr/>
                    <a:lstStyle/>
                    <a:p>
                      <a:r>
                        <a:rPr lang="en-IN" sz="2000" dirty="0"/>
                        <a:t>✅ Yes</a:t>
                      </a:r>
                    </a:p>
                  </a:txBody>
                  <a:tcPr anchor="ctr"/>
                </a:tc>
                <a:extLst>
                  <a:ext uri="{0D108BD9-81ED-4DB2-BD59-A6C34878D82A}">
                    <a16:rowId xmlns:a16="http://schemas.microsoft.com/office/drawing/2014/main" val="2822692945"/>
                  </a:ext>
                </a:extLst>
              </a:tr>
              <a:tr h="0">
                <a:tc>
                  <a:txBody>
                    <a:bodyPr/>
                    <a:lstStyle/>
                    <a:p>
                      <a:r>
                        <a:rPr lang="en-IN" sz="2000"/>
                        <a:t>Detects Run-time Issues?</a:t>
                      </a:r>
                    </a:p>
                  </a:txBody>
                  <a:tcPr anchor="ctr"/>
                </a:tc>
                <a:tc>
                  <a:txBody>
                    <a:bodyPr/>
                    <a:lstStyle/>
                    <a:p>
                      <a:r>
                        <a:rPr lang="en-IN" sz="2000" dirty="0"/>
                        <a:t>❌ No</a:t>
                      </a:r>
                    </a:p>
                  </a:txBody>
                  <a:tcPr anchor="ctr"/>
                </a:tc>
                <a:tc>
                  <a:txBody>
                    <a:bodyPr/>
                    <a:lstStyle/>
                    <a:p>
                      <a:r>
                        <a:rPr lang="en-IN" sz="2000" dirty="0"/>
                        <a:t>✅ Yes</a:t>
                      </a:r>
                    </a:p>
                  </a:txBody>
                  <a:tcPr anchor="ctr"/>
                </a:tc>
                <a:extLst>
                  <a:ext uri="{0D108BD9-81ED-4DB2-BD59-A6C34878D82A}">
                    <a16:rowId xmlns:a16="http://schemas.microsoft.com/office/drawing/2014/main" val="3939185293"/>
                  </a:ext>
                </a:extLst>
              </a:tr>
              <a:tr h="0">
                <a:tc>
                  <a:txBody>
                    <a:bodyPr/>
                    <a:lstStyle/>
                    <a:p>
                      <a:r>
                        <a:rPr lang="en-IN" sz="2000" dirty="0"/>
                        <a:t>Useful for Early Detection</a:t>
                      </a:r>
                    </a:p>
                  </a:txBody>
                  <a:tcPr anchor="ctr"/>
                </a:tc>
                <a:tc>
                  <a:txBody>
                    <a:bodyPr/>
                    <a:lstStyle/>
                    <a:p>
                      <a:r>
                        <a:rPr lang="en-IN" sz="2000" dirty="0"/>
                        <a:t>✅ Yes</a:t>
                      </a:r>
                    </a:p>
                  </a:txBody>
                  <a:tcPr anchor="ctr"/>
                </a:tc>
                <a:tc>
                  <a:txBody>
                    <a:bodyPr/>
                    <a:lstStyle/>
                    <a:p>
                      <a:r>
                        <a:rPr lang="en-IN" sz="2000" dirty="0"/>
                        <a:t>❌ No (Requires executable/test cases)</a:t>
                      </a:r>
                    </a:p>
                  </a:txBody>
                  <a:tcPr anchor="ctr"/>
                </a:tc>
                <a:extLst>
                  <a:ext uri="{0D108BD9-81ED-4DB2-BD59-A6C34878D82A}">
                    <a16:rowId xmlns:a16="http://schemas.microsoft.com/office/drawing/2014/main" val="1576457878"/>
                  </a:ext>
                </a:extLst>
              </a:tr>
              <a:tr h="0">
                <a:tc>
                  <a:txBody>
                    <a:bodyPr/>
                    <a:lstStyle/>
                    <a:p>
                      <a:r>
                        <a:rPr lang="en-IN" sz="2000"/>
                        <a:t>Typical Output</a:t>
                      </a:r>
                    </a:p>
                  </a:txBody>
                  <a:tcPr anchor="ctr"/>
                </a:tc>
                <a:tc>
                  <a:txBody>
                    <a:bodyPr/>
                    <a:lstStyle/>
                    <a:p>
                      <a:r>
                        <a:rPr lang="en-IN" sz="2000"/>
                        <a:t>Kiviat charts, metrics, error lists</a:t>
                      </a:r>
                    </a:p>
                  </a:txBody>
                  <a:tcPr anchor="ctr"/>
                </a:tc>
                <a:tc>
                  <a:txBody>
                    <a:bodyPr/>
                    <a:lstStyle/>
                    <a:p>
                      <a:r>
                        <a:rPr lang="en-US" sz="2000" dirty="0"/>
                        <a:t>Histograms, pie charts, coverage reports</a:t>
                      </a:r>
                    </a:p>
                  </a:txBody>
                  <a:tcPr anchor="ctr"/>
                </a:tc>
                <a:extLst>
                  <a:ext uri="{0D108BD9-81ED-4DB2-BD59-A6C34878D82A}">
                    <a16:rowId xmlns:a16="http://schemas.microsoft.com/office/drawing/2014/main" val="471879697"/>
                  </a:ext>
                </a:extLst>
              </a:tr>
              <a:tr h="0">
                <a:tc>
                  <a:txBody>
                    <a:bodyPr/>
                    <a:lstStyle/>
                    <a:p>
                      <a:r>
                        <a:rPr lang="en-IN" sz="2000"/>
                        <a:t>Examples of Use</a:t>
                      </a:r>
                    </a:p>
                  </a:txBody>
                  <a:tcPr anchor="ctr"/>
                </a:tc>
                <a:tc>
                  <a:txBody>
                    <a:bodyPr/>
                    <a:lstStyle/>
                    <a:p>
                      <a:r>
                        <a:rPr lang="en-US" sz="2000"/>
                        <a:t>Coding standard checks, complexity stats</a:t>
                      </a:r>
                    </a:p>
                  </a:txBody>
                  <a:tcPr anchor="ctr"/>
                </a:tc>
                <a:tc>
                  <a:txBody>
                    <a:bodyPr/>
                    <a:lstStyle/>
                    <a:p>
                      <a:r>
                        <a:rPr lang="en-US" sz="2000" dirty="0"/>
                        <a:t>Path coverage, identifying weak test cases</a:t>
                      </a:r>
                    </a:p>
                  </a:txBody>
                  <a:tcPr anchor="ctr"/>
                </a:tc>
                <a:extLst>
                  <a:ext uri="{0D108BD9-81ED-4DB2-BD59-A6C34878D82A}">
                    <a16:rowId xmlns:a16="http://schemas.microsoft.com/office/drawing/2014/main" val="2240818931"/>
                  </a:ext>
                </a:extLst>
              </a:tr>
            </a:tbl>
          </a:graphicData>
        </a:graphic>
      </p:graphicFrame>
      <p:sp>
        <p:nvSpPr>
          <p:cNvPr id="2" name="Date Placeholder 1">
            <a:extLst>
              <a:ext uri="{FF2B5EF4-FFF2-40B4-BE49-F238E27FC236}">
                <a16:creationId xmlns:a16="http://schemas.microsoft.com/office/drawing/2014/main" id="{B7782D5C-C2B6-687B-C0AE-28B4AA4D8583}"/>
              </a:ext>
            </a:extLst>
          </p:cNvPr>
          <p:cNvSpPr>
            <a:spLocks noGrp="1"/>
          </p:cNvSpPr>
          <p:nvPr>
            <p:ph type="dt" sz="half" idx="10"/>
          </p:nvPr>
        </p:nvSpPr>
        <p:spPr/>
        <p:txBody>
          <a:bodyPr/>
          <a:lstStyle/>
          <a:p>
            <a:fld id="{C14B9956-DEFB-4ED9-AD31-B5A989B549AB}" type="datetime1">
              <a:rPr lang="en-IN" smtClean="0"/>
              <a:t>03-11-2025</a:t>
            </a:fld>
            <a:endParaRPr lang="en-IN"/>
          </a:p>
        </p:txBody>
      </p:sp>
      <p:sp>
        <p:nvSpPr>
          <p:cNvPr id="5" name="Footer Placeholder 4">
            <a:extLst>
              <a:ext uri="{FF2B5EF4-FFF2-40B4-BE49-F238E27FC236}">
                <a16:creationId xmlns:a16="http://schemas.microsoft.com/office/drawing/2014/main" id="{7FBBAAC9-C8A0-6CE8-EEB8-56ECAD5488FB}"/>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5A5C39D5-4079-1450-D0AF-4BD1DFF050C0}"/>
              </a:ext>
            </a:extLst>
          </p:cNvPr>
          <p:cNvSpPr>
            <a:spLocks noGrp="1"/>
          </p:cNvSpPr>
          <p:nvPr>
            <p:ph type="sldNum" sz="quarter" idx="12"/>
          </p:nvPr>
        </p:nvSpPr>
        <p:spPr/>
        <p:txBody>
          <a:bodyPr/>
          <a:lstStyle/>
          <a:p>
            <a:fld id="{157E8F69-36B6-4843-A9CE-6B9353F4DBAF}" type="slidenum">
              <a:rPr lang="en-IN" smtClean="0"/>
              <a:t>80</a:t>
            </a:fld>
            <a:endParaRPr lang="en-IN"/>
          </a:p>
        </p:txBody>
      </p:sp>
    </p:spTree>
    <p:extLst>
      <p:ext uri="{BB962C8B-B14F-4D97-AF65-F5344CB8AC3E}">
        <p14:creationId xmlns:p14="http://schemas.microsoft.com/office/powerpoint/2010/main" val="30405711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3840" y="310218"/>
            <a:ext cx="11689080" cy="2923877"/>
          </a:xfrm>
          <a:prstGeom prst="rect">
            <a:avLst/>
          </a:prstGeom>
        </p:spPr>
        <p:txBody>
          <a:bodyPr wrap="square">
            <a:spAutoFit/>
          </a:bodyPr>
          <a:lstStyle/>
          <a:p>
            <a:pPr algn="ctr">
              <a:spcBef>
                <a:spcPts val="1200"/>
              </a:spcBef>
            </a:pPr>
            <a:r>
              <a:rPr lang="en-US" sz="2400" b="1" u="sng" dirty="0"/>
              <a:t>Regression Testing</a:t>
            </a:r>
          </a:p>
          <a:p>
            <a:pPr algn="just">
              <a:spcBef>
                <a:spcPts val="1200"/>
              </a:spcBef>
            </a:pPr>
            <a:r>
              <a:rPr lang="en-US" sz="2400" b="1" u="sng" dirty="0"/>
              <a:t>🔸 Definition:</a:t>
            </a:r>
          </a:p>
          <a:p>
            <a:pPr algn="just">
              <a:spcBef>
                <a:spcPts val="1200"/>
              </a:spcBef>
            </a:pPr>
            <a:r>
              <a:rPr lang="en-US" sz="2400" b="1" dirty="0"/>
              <a:t>	Regression Testing</a:t>
            </a:r>
            <a:r>
              <a:rPr lang="en-US" sz="2400" dirty="0"/>
              <a:t> is the process of re-running previously executed test cases </a:t>
            </a:r>
            <a:r>
              <a:rPr lang="en-US" sz="2400" b="1" dirty="0"/>
              <a:t>after a change</a:t>
            </a:r>
            <a:r>
              <a:rPr lang="en-US" sz="2400" dirty="0"/>
              <a:t> is made to the code (e.g., bug fix or enhancement) to ensure that:</a:t>
            </a:r>
          </a:p>
          <a:p>
            <a:pPr marL="800100" lvl="1" indent="-342900" algn="just">
              <a:spcBef>
                <a:spcPts val="1200"/>
              </a:spcBef>
              <a:buFont typeface="Wingdings" panose="05000000000000000000" pitchFamily="2" charset="2"/>
              <a:buChar char="Ø"/>
            </a:pPr>
            <a:r>
              <a:rPr lang="en-US" sz="2400" dirty="0"/>
              <a:t>Existing functionalities </a:t>
            </a:r>
            <a:r>
              <a:rPr lang="en-US" sz="2400" b="1" dirty="0"/>
              <a:t>still work correctly</a:t>
            </a:r>
            <a:endParaRPr lang="en-US" sz="2400" dirty="0"/>
          </a:p>
          <a:p>
            <a:pPr marL="800100" lvl="1" indent="-342900" algn="just">
              <a:spcBef>
                <a:spcPts val="1200"/>
              </a:spcBef>
              <a:buFont typeface="Wingdings" panose="05000000000000000000" pitchFamily="2" charset="2"/>
              <a:buChar char="Ø"/>
            </a:pPr>
            <a:r>
              <a:rPr lang="en-US" sz="2400" b="1" dirty="0"/>
              <a:t>No new bugs</a:t>
            </a:r>
            <a:r>
              <a:rPr lang="en-US" sz="2400" dirty="0"/>
              <a:t> are introduced as a side-effect</a:t>
            </a:r>
          </a:p>
        </p:txBody>
      </p:sp>
      <p:sp>
        <p:nvSpPr>
          <p:cNvPr id="4" name="Rectangle 3"/>
          <p:cNvSpPr/>
          <p:nvPr/>
        </p:nvSpPr>
        <p:spPr>
          <a:xfrm>
            <a:off x="243840" y="3462219"/>
            <a:ext cx="11689080" cy="3046988"/>
          </a:xfrm>
          <a:prstGeom prst="rect">
            <a:avLst/>
          </a:prstGeom>
        </p:spPr>
        <p:txBody>
          <a:bodyPr wrap="square">
            <a:spAutoFit/>
          </a:bodyPr>
          <a:lstStyle/>
          <a:p>
            <a:pPr algn="just"/>
            <a:r>
              <a:rPr lang="en-US" sz="2400" b="1" u="sng" dirty="0"/>
              <a:t>📍 Key Characteristics:</a:t>
            </a:r>
          </a:p>
          <a:p>
            <a:pPr marL="800100" lvl="1" indent="-342900" algn="just">
              <a:buFont typeface="Wingdings" panose="05000000000000000000" pitchFamily="2" charset="2"/>
              <a:buChar char="Ø"/>
            </a:pPr>
            <a:r>
              <a:rPr lang="en-US" sz="2400" b="1" dirty="0"/>
              <a:t>Spans multiple levels</a:t>
            </a:r>
            <a:r>
              <a:rPr lang="en-US" sz="2400" dirty="0"/>
              <a:t>: Regression testing is </a:t>
            </a:r>
            <a:r>
              <a:rPr lang="en-US" sz="2400" b="1" dirty="0"/>
              <a:t>not limited</a:t>
            </a:r>
            <a:r>
              <a:rPr lang="en-US" sz="2400" dirty="0"/>
              <a:t> to unit, integration, or system testing—it's an </a:t>
            </a:r>
            <a:r>
              <a:rPr lang="en-US" sz="2400" b="1" dirty="0"/>
              <a:t>orthogonal</a:t>
            </a:r>
            <a:r>
              <a:rPr lang="en-US" sz="2400" dirty="0"/>
              <a:t> (separate) activity that applies across all these levels.</a:t>
            </a:r>
          </a:p>
          <a:p>
            <a:pPr marL="800100" lvl="1" indent="-342900" algn="just">
              <a:buFont typeface="Wingdings" panose="05000000000000000000" pitchFamily="2" charset="2"/>
              <a:buChar char="Ø"/>
            </a:pPr>
            <a:r>
              <a:rPr lang="en-US" sz="2400" dirty="0"/>
              <a:t>Must be </a:t>
            </a:r>
            <a:r>
              <a:rPr lang="en-US" sz="2400" b="1" dirty="0"/>
              <a:t>repeated</a:t>
            </a:r>
            <a:r>
              <a:rPr lang="en-US" sz="2400" dirty="0"/>
              <a:t> after:</a:t>
            </a:r>
          </a:p>
          <a:p>
            <a:pPr marL="1257300" lvl="2" indent="-342900" algn="just">
              <a:buFont typeface="Wingdings" panose="05000000000000000000" pitchFamily="2" charset="2"/>
              <a:buChar char="Ø"/>
            </a:pPr>
            <a:r>
              <a:rPr lang="en-US" sz="2400" dirty="0"/>
              <a:t>Bug fixes</a:t>
            </a:r>
          </a:p>
          <a:p>
            <a:pPr marL="1257300" lvl="2" indent="-342900" algn="just">
              <a:buFont typeface="Wingdings" panose="05000000000000000000" pitchFamily="2" charset="2"/>
              <a:buChar char="Ø"/>
            </a:pPr>
            <a:r>
              <a:rPr lang="en-US" sz="2400" dirty="0"/>
              <a:t>Code changes</a:t>
            </a:r>
          </a:p>
          <a:p>
            <a:pPr marL="1257300" lvl="2" indent="-342900" algn="just">
              <a:buFont typeface="Wingdings" panose="05000000000000000000" pitchFamily="2" charset="2"/>
              <a:buChar char="Ø"/>
            </a:pPr>
            <a:r>
              <a:rPr lang="en-US" sz="2400" dirty="0"/>
              <a:t>Feature additions</a:t>
            </a:r>
          </a:p>
          <a:p>
            <a:pPr marL="800100" lvl="1" indent="-342900" algn="just">
              <a:buFont typeface="Wingdings" panose="05000000000000000000" pitchFamily="2" charset="2"/>
              <a:buChar char="Ø"/>
            </a:pPr>
            <a:r>
              <a:rPr lang="en-US" sz="2400" dirty="0"/>
              <a:t>Helps ensure </a:t>
            </a:r>
            <a:r>
              <a:rPr lang="en-US" sz="2400" b="1" dirty="0"/>
              <a:t>software stability</a:t>
            </a:r>
            <a:r>
              <a:rPr lang="en-US" sz="2400" dirty="0"/>
              <a:t> after changes.</a:t>
            </a:r>
          </a:p>
        </p:txBody>
      </p:sp>
      <p:sp>
        <p:nvSpPr>
          <p:cNvPr id="2" name="Date Placeholder 1">
            <a:extLst>
              <a:ext uri="{FF2B5EF4-FFF2-40B4-BE49-F238E27FC236}">
                <a16:creationId xmlns:a16="http://schemas.microsoft.com/office/drawing/2014/main" id="{313D8AA2-98B3-F90C-1BF4-FFDEF7CBE1F8}"/>
              </a:ext>
            </a:extLst>
          </p:cNvPr>
          <p:cNvSpPr>
            <a:spLocks noGrp="1"/>
          </p:cNvSpPr>
          <p:nvPr>
            <p:ph type="dt" sz="half" idx="10"/>
          </p:nvPr>
        </p:nvSpPr>
        <p:spPr/>
        <p:txBody>
          <a:bodyPr/>
          <a:lstStyle/>
          <a:p>
            <a:fld id="{BBB6660B-D556-4F60-9520-B25FF49A7F1B}" type="datetime1">
              <a:rPr lang="en-IN" smtClean="0"/>
              <a:t>03-11-2025</a:t>
            </a:fld>
            <a:endParaRPr lang="en-IN"/>
          </a:p>
        </p:txBody>
      </p:sp>
      <p:sp>
        <p:nvSpPr>
          <p:cNvPr id="5" name="Footer Placeholder 4">
            <a:extLst>
              <a:ext uri="{FF2B5EF4-FFF2-40B4-BE49-F238E27FC236}">
                <a16:creationId xmlns:a16="http://schemas.microsoft.com/office/drawing/2014/main" id="{08D13DAF-7564-80CE-F8B7-BAD46314E634}"/>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7E2000A0-44E1-B1FB-8E02-FA979E97B304}"/>
              </a:ext>
            </a:extLst>
          </p:cNvPr>
          <p:cNvSpPr>
            <a:spLocks noGrp="1"/>
          </p:cNvSpPr>
          <p:nvPr>
            <p:ph type="sldNum" sz="quarter" idx="12"/>
          </p:nvPr>
        </p:nvSpPr>
        <p:spPr/>
        <p:txBody>
          <a:bodyPr/>
          <a:lstStyle/>
          <a:p>
            <a:fld id="{157E8F69-36B6-4843-A9CE-6B9353F4DBAF}" type="slidenum">
              <a:rPr lang="en-IN" smtClean="0"/>
              <a:t>81</a:t>
            </a:fld>
            <a:endParaRPr lang="en-IN"/>
          </a:p>
        </p:txBody>
      </p:sp>
    </p:spTree>
    <p:extLst>
      <p:ext uri="{BB962C8B-B14F-4D97-AF65-F5344CB8AC3E}">
        <p14:creationId xmlns:p14="http://schemas.microsoft.com/office/powerpoint/2010/main" val="5952181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5727" y="164960"/>
            <a:ext cx="3680688" cy="461665"/>
          </a:xfrm>
          <a:prstGeom prst="rect">
            <a:avLst/>
          </a:prstGeom>
        </p:spPr>
        <p:txBody>
          <a:bodyPr wrap="none">
            <a:spAutoFit/>
          </a:bodyPr>
          <a:lstStyle/>
          <a:p>
            <a:pPr algn="just"/>
            <a:r>
              <a:rPr lang="en-US" sz="2400" b="1" u="sng" dirty="0"/>
              <a:t>🧪 Types of Testing Involved:</a:t>
            </a:r>
            <a:endParaRPr lang="en-IN" sz="2400" b="1" u="sng" dirty="0"/>
          </a:p>
        </p:txBody>
      </p:sp>
      <p:graphicFrame>
        <p:nvGraphicFramePr>
          <p:cNvPr id="4" name="Table 3"/>
          <p:cNvGraphicFramePr>
            <a:graphicFrameLocks noGrp="1"/>
          </p:cNvGraphicFramePr>
          <p:nvPr>
            <p:extLst>
              <p:ext uri="{D42A27DB-BD31-4B8C-83A1-F6EECF244321}">
                <p14:modId xmlns:p14="http://schemas.microsoft.com/office/powerpoint/2010/main" val="671358805"/>
              </p:ext>
            </p:extLst>
          </p:nvPr>
        </p:nvGraphicFramePr>
        <p:xfrm>
          <a:off x="245727" y="666151"/>
          <a:ext cx="11656712" cy="1249680"/>
        </p:xfrm>
        <a:graphic>
          <a:graphicData uri="http://schemas.openxmlformats.org/drawingml/2006/table">
            <a:tbl>
              <a:tblPr>
                <a:tableStyleId>{ED083AE6-46FA-4A59-8FB0-9F97EB10719F}</a:tableStyleId>
              </a:tblPr>
              <a:tblGrid>
                <a:gridCol w="5828356">
                  <a:extLst>
                    <a:ext uri="{9D8B030D-6E8A-4147-A177-3AD203B41FA5}">
                      <a16:colId xmlns:a16="http://schemas.microsoft.com/office/drawing/2014/main" val="513539059"/>
                    </a:ext>
                  </a:extLst>
                </a:gridCol>
                <a:gridCol w="5828356">
                  <a:extLst>
                    <a:ext uri="{9D8B030D-6E8A-4147-A177-3AD203B41FA5}">
                      <a16:colId xmlns:a16="http://schemas.microsoft.com/office/drawing/2014/main" val="3345353313"/>
                    </a:ext>
                  </a:extLst>
                </a:gridCol>
              </a:tblGrid>
              <a:tr h="0">
                <a:tc>
                  <a:txBody>
                    <a:bodyPr/>
                    <a:lstStyle/>
                    <a:p>
                      <a:pPr algn="ctr"/>
                      <a:r>
                        <a:rPr lang="en-IN" sz="2400" b="1" u="sng" dirty="0"/>
                        <a:t>Type</a:t>
                      </a:r>
                    </a:p>
                  </a:txBody>
                  <a:tcPr anchor="ctr"/>
                </a:tc>
                <a:tc>
                  <a:txBody>
                    <a:bodyPr/>
                    <a:lstStyle/>
                    <a:p>
                      <a:pPr algn="ctr"/>
                      <a:r>
                        <a:rPr lang="en-IN" sz="2400" b="1" u="sng" dirty="0"/>
                        <a:t>Checks For</a:t>
                      </a:r>
                    </a:p>
                  </a:txBody>
                  <a:tcPr anchor="ctr"/>
                </a:tc>
                <a:extLst>
                  <a:ext uri="{0D108BD9-81ED-4DB2-BD59-A6C34878D82A}">
                    <a16:rowId xmlns:a16="http://schemas.microsoft.com/office/drawing/2014/main" val="1507655098"/>
                  </a:ext>
                </a:extLst>
              </a:tr>
              <a:tr h="0">
                <a:tc>
                  <a:txBody>
                    <a:bodyPr/>
                    <a:lstStyle/>
                    <a:p>
                      <a:pPr algn="just"/>
                      <a:r>
                        <a:rPr lang="en-IN" sz="2000" dirty="0"/>
                        <a:t>Resolution Testing</a:t>
                      </a:r>
                    </a:p>
                  </a:txBody>
                  <a:tcPr anchor="ctr"/>
                </a:tc>
                <a:tc>
                  <a:txBody>
                    <a:bodyPr/>
                    <a:lstStyle/>
                    <a:p>
                      <a:pPr algn="just"/>
                      <a:r>
                        <a:rPr lang="en-US" sz="2000" dirty="0"/>
                        <a:t>Verifies that a specific bug has been fixed</a:t>
                      </a:r>
                    </a:p>
                  </a:txBody>
                  <a:tcPr anchor="ctr"/>
                </a:tc>
                <a:extLst>
                  <a:ext uri="{0D108BD9-81ED-4DB2-BD59-A6C34878D82A}">
                    <a16:rowId xmlns:a16="http://schemas.microsoft.com/office/drawing/2014/main" val="89125431"/>
                  </a:ext>
                </a:extLst>
              </a:tr>
              <a:tr h="0">
                <a:tc>
                  <a:txBody>
                    <a:bodyPr/>
                    <a:lstStyle/>
                    <a:p>
                      <a:pPr algn="just"/>
                      <a:r>
                        <a:rPr lang="en-IN" sz="2000"/>
                        <a:t>Regression Testing</a:t>
                      </a:r>
                    </a:p>
                  </a:txBody>
                  <a:tcPr anchor="ctr"/>
                </a:tc>
                <a:tc>
                  <a:txBody>
                    <a:bodyPr/>
                    <a:lstStyle/>
                    <a:p>
                      <a:pPr algn="just"/>
                      <a:r>
                        <a:rPr lang="en-US" sz="2000" dirty="0"/>
                        <a:t>Ensures other unaffected code still works</a:t>
                      </a:r>
                    </a:p>
                  </a:txBody>
                  <a:tcPr anchor="ctr"/>
                </a:tc>
                <a:extLst>
                  <a:ext uri="{0D108BD9-81ED-4DB2-BD59-A6C34878D82A}">
                    <a16:rowId xmlns:a16="http://schemas.microsoft.com/office/drawing/2014/main" val="2287898790"/>
                  </a:ext>
                </a:extLst>
              </a:tr>
            </a:tbl>
          </a:graphicData>
        </a:graphic>
      </p:graphicFrame>
      <p:pic>
        <p:nvPicPr>
          <p:cNvPr id="5" name="Picture 4"/>
          <p:cNvPicPr>
            <a:picLocks noChangeAspect="1"/>
          </p:cNvPicPr>
          <p:nvPr/>
        </p:nvPicPr>
        <p:blipFill>
          <a:blip r:embed="rId2"/>
          <a:stretch>
            <a:fillRect/>
          </a:stretch>
        </p:blipFill>
        <p:spPr>
          <a:xfrm>
            <a:off x="5271233" y="2498223"/>
            <a:ext cx="6522714" cy="3600000"/>
          </a:xfrm>
          <a:prstGeom prst="rect">
            <a:avLst/>
          </a:prstGeom>
        </p:spPr>
      </p:pic>
      <p:sp>
        <p:nvSpPr>
          <p:cNvPr id="7" name="Rectangle 6"/>
          <p:cNvSpPr/>
          <p:nvPr/>
        </p:nvSpPr>
        <p:spPr>
          <a:xfrm>
            <a:off x="5271233" y="6116026"/>
            <a:ext cx="6522714" cy="646331"/>
          </a:xfrm>
          <a:prstGeom prst="rect">
            <a:avLst/>
          </a:prstGeom>
        </p:spPr>
        <p:txBody>
          <a:bodyPr wrap="square">
            <a:spAutoFit/>
          </a:bodyPr>
          <a:lstStyle/>
          <a:p>
            <a:pPr algn="ctr"/>
            <a:r>
              <a:rPr lang="en-US" b="1" dirty="0">
                <a:solidFill>
                  <a:srgbClr val="2F3193"/>
                </a:solidFill>
                <a:latin typeface="OfficinaSans-Bold"/>
              </a:rPr>
              <a:t>FIGURE 7.9 </a:t>
            </a:r>
            <a:r>
              <a:rPr lang="en-US" dirty="0">
                <a:solidFill>
                  <a:srgbClr val="2F3193"/>
                </a:solidFill>
                <a:latin typeface="OfficinaSans-Book"/>
              </a:rPr>
              <a:t>Types of test cases in the original test suite after a change.</a:t>
            </a:r>
            <a:endParaRPr lang="en-IN" dirty="0"/>
          </a:p>
        </p:txBody>
      </p:sp>
      <p:sp>
        <p:nvSpPr>
          <p:cNvPr id="2" name="Date Placeholder 1">
            <a:extLst>
              <a:ext uri="{FF2B5EF4-FFF2-40B4-BE49-F238E27FC236}">
                <a16:creationId xmlns:a16="http://schemas.microsoft.com/office/drawing/2014/main" id="{FA7A6445-4FF1-808E-3311-C927E40BB04B}"/>
              </a:ext>
            </a:extLst>
          </p:cNvPr>
          <p:cNvSpPr>
            <a:spLocks noGrp="1"/>
          </p:cNvSpPr>
          <p:nvPr>
            <p:ph type="dt" sz="half" idx="10"/>
          </p:nvPr>
        </p:nvSpPr>
        <p:spPr/>
        <p:txBody>
          <a:bodyPr/>
          <a:lstStyle/>
          <a:p>
            <a:fld id="{CB615639-F6DB-45CD-9A8F-9B8D7C4CFBCD}" type="datetime1">
              <a:rPr lang="en-IN" smtClean="0"/>
              <a:t>03-11-2025</a:t>
            </a:fld>
            <a:endParaRPr lang="en-IN"/>
          </a:p>
        </p:txBody>
      </p:sp>
      <p:sp>
        <p:nvSpPr>
          <p:cNvPr id="8" name="Footer Placeholder 7">
            <a:extLst>
              <a:ext uri="{FF2B5EF4-FFF2-40B4-BE49-F238E27FC236}">
                <a16:creationId xmlns:a16="http://schemas.microsoft.com/office/drawing/2014/main" id="{A614DD0D-7205-17AD-6FB2-8142A1D06B53}"/>
              </a:ext>
            </a:extLst>
          </p:cNvPr>
          <p:cNvSpPr>
            <a:spLocks noGrp="1"/>
          </p:cNvSpPr>
          <p:nvPr>
            <p:ph type="ftr" sz="quarter" idx="11"/>
          </p:nvPr>
        </p:nvSpPr>
        <p:spPr/>
        <p:txBody>
          <a:bodyPr/>
          <a:lstStyle/>
          <a:p>
            <a:r>
              <a:rPr lang="en-IN"/>
              <a:t>MIT</a:t>
            </a:r>
          </a:p>
        </p:txBody>
      </p:sp>
      <p:sp>
        <p:nvSpPr>
          <p:cNvPr id="9" name="Slide Number Placeholder 8">
            <a:extLst>
              <a:ext uri="{FF2B5EF4-FFF2-40B4-BE49-F238E27FC236}">
                <a16:creationId xmlns:a16="http://schemas.microsoft.com/office/drawing/2014/main" id="{97B7E699-D79E-F310-AB67-57CDBD03C1E3}"/>
              </a:ext>
            </a:extLst>
          </p:cNvPr>
          <p:cNvSpPr>
            <a:spLocks noGrp="1"/>
          </p:cNvSpPr>
          <p:nvPr>
            <p:ph type="sldNum" sz="quarter" idx="12"/>
          </p:nvPr>
        </p:nvSpPr>
        <p:spPr/>
        <p:txBody>
          <a:bodyPr/>
          <a:lstStyle/>
          <a:p>
            <a:fld id="{157E8F69-36B6-4843-A9CE-6B9353F4DBAF}" type="slidenum">
              <a:rPr lang="en-IN" smtClean="0"/>
              <a:t>82</a:t>
            </a:fld>
            <a:endParaRPr lang="en-IN"/>
          </a:p>
        </p:txBody>
      </p:sp>
      <p:sp>
        <p:nvSpPr>
          <p:cNvPr id="11" name="TextBox 10">
            <a:extLst>
              <a:ext uri="{FF2B5EF4-FFF2-40B4-BE49-F238E27FC236}">
                <a16:creationId xmlns:a16="http://schemas.microsoft.com/office/drawing/2014/main" id="{85472E1A-F29D-CD95-63ED-47FEC290ACFD}"/>
              </a:ext>
            </a:extLst>
          </p:cNvPr>
          <p:cNvSpPr txBox="1"/>
          <p:nvPr/>
        </p:nvSpPr>
        <p:spPr>
          <a:xfrm>
            <a:off x="-1" y="2074850"/>
            <a:ext cx="5177609" cy="923330"/>
          </a:xfrm>
          <a:prstGeom prst="rect">
            <a:avLst/>
          </a:prstGeom>
          <a:noFill/>
        </p:spPr>
        <p:txBody>
          <a:bodyPr wrap="square">
            <a:spAutoFit/>
          </a:bodyPr>
          <a:lstStyle/>
          <a:p>
            <a:pPr>
              <a:buNone/>
            </a:pPr>
            <a:r>
              <a:rPr lang="en-US" b="1" dirty="0"/>
              <a:t>1. Redundant Test Cases</a:t>
            </a:r>
          </a:p>
          <a:p>
            <a:pPr>
              <a:buFont typeface="Arial" panose="020B0604020202020204" pitchFamily="34" charset="0"/>
              <a:buChar char="•"/>
            </a:pPr>
            <a:r>
              <a:rPr lang="en-US" dirty="0"/>
              <a:t>These are </a:t>
            </a:r>
            <a:r>
              <a:rPr lang="en-US" b="1" dirty="0"/>
              <a:t>duplicate or overlapping</a:t>
            </a:r>
            <a:r>
              <a:rPr lang="en-US" dirty="0"/>
              <a:t> tests that check the </a:t>
            </a:r>
            <a:r>
              <a:rPr lang="en-US" b="1" dirty="0"/>
              <a:t>same functionality</a:t>
            </a:r>
            <a:r>
              <a:rPr lang="en-US" dirty="0"/>
              <a:t> multiple times.</a:t>
            </a:r>
          </a:p>
        </p:txBody>
      </p:sp>
      <p:sp>
        <p:nvSpPr>
          <p:cNvPr id="13" name="TextBox 12">
            <a:extLst>
              <a:ext uri="{FF2B5EF4-FFF2-40B4-BE49-F238E27FC236}">
                <a16:creationId xmlns:a16="http://schemas.microsoft.com/office/drawing/2014/main" id="{30F60E79-33DB-11C1-7C87-708228AD814C}"/>
              </a:ext>
            </a:extLst>
          </p:cNvPr>
          <p:cNvSpPr txBox="1"/>
          <p:nvPr/>
        </p:nvSpPr>
        <p:spPr>
          <a:xfrm>
            <a:off x="-2" y="3018699"/>
            <a:ext cx="5177609" cy="1200329"/>
          </a:xfrm>
          <a:prstGeom prst="rect">
            <a:avLst/>
          </a:prstGeom>
          <a:noFill/>
        </p:spPr>
        <p:txBody>
          <a:bodyPr wrap="square">
            <a:spAutoFit/>
          </a:bodyPr>
          <a:lstStyle/>
          <a:p>
            <a:pPr>
              <a:buNone/>
            </a:pPr>
            <a:r>
              <a:rPr lang="en-US" b="1" dirty="0"/>
              <a:t>2. Regression Test Cases</a:t>
            </a:r>
          </a:p>
          <a:p>
            <a:pPr>
              <a:buFont typeface="Arial" panose="020B0604020202020204" pitchFamily="34" charset="0"/>
              <a:buChar char="•"/>
            </a:pPr>
            <a:r>
              <a:rPr lang="en-US" dirty="0"/>
              <a:t>These are designed to </a:t>
            </a:r>
            <a:r>
              <a:rPr lang="en-US" b="1" dirty="0"/>
              <a:t>ensure that previously working functionality</a:t>
            </a:r>
            <a:r>
              <a:rPr lang="en-US" dirty="0"/>
              <a:t> still works correctly </a:t>
            </a:r>
            <a:r>
              <a:rPr lang="en-US" b="1" dirty="0"/>
              <a:t>after code changes, bug fixes, or enhancements</a:t>
            </a:r>
            <a:r>
              <a:rPr lang="en-US" dirty="0"/>
              <a:t>.</a:t>
            </a:r>
          </a:p>
        </p:txBody>
      </p:sp>
      <p:sp>
        <p:nvSpPr>
          <p:cNvPr id="15" name="TextBox 14">
            <a:extLst>
              <a:ext uri="{FF2B5EF4-FFF2-40B4-BE49-F238E27FC236}">
                <a16:creationId xmlns:a16="http://schemas.microsoft.com/office/drawing/2014/main" id="{E0183696-D271-4563-65BE-217627538D09}"/>
              </a:ext>
            </a:extLst>
          </p:cNvPr>
          <p:cNvSpPr txBox="1"/>
          <p:nvPr/>
        </p:nvSpPr>
        <p:spPr>
          <a:xfrm>
            <a:off x="-2" y="4298223"/>
            <a:ext cx="5177608" cy="1200329"/>
          </a:xfrm>
          <a:prstGeom prst="rect">
            <a:avLst/>
          </a:prstGeom>
          <a:noFill/>
        </p:spPr>
        <p:txBody>
          <a:bodyPr wrap="square">
            <a:spAutoFit/>
          </a:bodyPr>
          <a:lstStyle/>
          <a:p>
            <a:pPr>
              <a:buNone/>
            </a:pPr>
            <a:r>
              <a:rPr lang="en-US" b="1" dirty="0"/>
              <a:t>3. Resolution Test Cases</a:t>
            </a:r>
          </a:p>
          <a:p>
            <a:pPr>
              <a:buFont typeface="Arial" panose="020B0604020202020204" pitchFamily="34" charset="0"/>
              <a:buChar char="•"/>
            </a:pPr>
            <a:r>
              <a:rPr lang="en-US" dirty="0"/>
              <a:t>These are the </a:t>
            </a:r>
            <a:r>
              <a:rPr lang="en-US" b="1" dirty="0"/>
              <a:t>newly added tests</a:t>
            </a:r>
            <a:r>
              <a:rPr lang="en-US" dirty="0"/>
              <a:t> to </a:t>
            </a:r>
            <a:r>
              <a:rPr lang="en-US" b="1" dirty="0"/>
              <a:t>verify that a specific bug fix (defect resolution)</a:t>
            </a:r>
            <a:r>
              <a:rPr lang="en-US" dirty="0"/>
              <a:t> has indeed corrected the problem.</a:t>
            </a:r>
          </a:p>
        </p:txBody>
      </p:sp>
      <p:sp>
        <p:nvSpPr>
          <p:cNvPr id="17" name="TextBox 16">
            <a:extLst>
              <a:ext uri="{FF2B5EF4-FFF2-40B4-BE49-F238E27FC236}">
                <a16:creationId xmlns:a16="http://schemas.microsoft.com/office/drawing/2014/main" id="{7FE1AF81-6BA6-94CA-DF28-5540E19D4459}"/>
              </a:ext>
            </a:extLst>
          </p:cNvPr>
          <p:cNvSpPr txBox="1"/>
          <p:nvPr/>
        </p:nvSpPr>
        <p:spPr>
          <a:xfrm>
            <a:off x="0" y="5498552"/>
            <a:ext cx="5271231" cy="1200329"/>
          </a:xfrm>
          <a:prstGeom prst="rect">
            <a:avLst/>
          </a:prstGeom>
          <a:noFill/>
        </p:spPr>
        <p:txBody>
          <a:bodyPr wrap="square">
            <a:spAutoFit/>
          </a:bodyPr>
          <a:lstStyle/>
          <a:p>
            <a:pPr>
              <a:buNone/>
            </a:pPr>
            <a:r>
              <a:rPr lang="en-US" b="1" dirty="0"/>
              <a:t>4. Invalid Test Cases</a:t>
            </a:r>
          </a:p>
          <a:p>
            <a:pPr>
              <a:buFont typeface="Arial" panose="020B0604020202020204" pitchFamily="34" charset="0"/>
              <a:buChar char="•"/>
            </a:pPr>
            <a:r>
              <a:rPr lang="en-US" dirty="0"/>
              <a:t>These tests are </a:t>
            </a:r>
            <a:r>
              <a:rPr lang="en-US" b="1" dirty="0"/>
              <a:t>obsolete, poorly designed, or no longer applicable</a:t>
            </a:r>
            <a:r>
              <a:rPr lang="en-US" dirty="0"/>
              <a:t> due to code or requirement changes.</a:t>
            </a:r>
          </a:p>
        </p:txBody>
      </p:sp>
    </p:spTree>
    <p:extLst>
      <p:ext uri="{BB962C8B-B14F-4D97-AF65-F5344CB8AC3E}">
        <p14:creationId xmlns:p14="http://schemas.microsoft.com/office/powerpoint/2010/main" val="404006182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5562" y="272534"/>
            <a:ext cx="6715428" cy="461665"/>
          </a:xfrm>
          <a:prstGeom prst="rect">
            <a:avLst/>
          </a:prstGeom>
        </p:spPr>
        <p:txBody>
          <a:bodyPr wrap="none">
            <a:spAutoFit/>
          </a:bodyPr>
          <a:lstStyle/>
          <a:p>
            <a:r>
              <a:rPr lang="en-IN" sz="2400" dirty="0"/>
              <a:t>After a code change, the </a:t>
            </a:r>
            <a:r>
              <a:rPr lang="en-IN" sz="2400" b="1" dirty="0"/>
              <a:t>original test suite</a:t>
            </a:r>
            <a:r>
              <a:rPr lang="en-IN" sz="2400" dirty="0"/>
              <a:t> contains:</a:t>
            </a:r>
          </a:p>
        </p:txBody>
      </p:sp>
      <p:graphicFrame>
        <p:nvGraphicFramePr>
          <p:cNvPr id="4" name="Table 3"/>
          <p:cNvGraphicFramePr>
            <a:graphicFrameLocks noGrp="1"/>
          </p:cNvGraphicFramePr>
          <p:nvPr>
            <p:extLst>
              <p:ext uri="{D42A27DB-BD31-4B8C-83A1-F6EECF244321}">
                <p14:modId xmlns:p14="http://schemas.microsoft.com/office/powerpoint/2010/main" val="1974327047"/>
              </p:ext>
            </p:extLst>
          </p:nvPr>
        </p:nvGraphicFramePr>
        <p:xfrm>
          <a:off x="275562" y="861854"/>
          <a:ext cx="11642118" cy="2490946"/>
        </p:xfrm>
        <a:graphic>
          <a:graphicData uri="http://schemas.openxmlformats.org/drawingml/2006/table">
            <a:tbl>
              <a:tblPr>
                <a:tableStyleId>{616DA210-FB5B-4158-B5E0-FEB733F419BA}</a:tableStyleId>
              </a:tblPr>
              <a:tblGrid>
                <a:gridCol w="3676859">
                  <a:extLst>
                    <a:ext uri="{9D8B030D-6E8A-4147-A177-3AD203B41FA5}">
                      <a16:colId xmlns:a16="http://schemas.microsoft.com/office/drawing/2014/main" val="3417116566"/>
                    </a:ext>
                  </a:extLst>
                </a:gridCol>
                <a:gridCol w="7965259">
                  <a:extLst>
                    <a:ext uri="{9D8B030D-6E8A-4147-A177-3AD203B41FA5}">
                      <a16:colId xmlns:a16="http://schemas.microsoft.com/office/drawing/2014/main" val="3584752349"/>
                    </a:ext>
                  </a:extLst>
                </a:gridCol>
              </a:tblGrid>
              <a:tr h="557674">
                <a:tc>
                  <a:txBody>
                    <a:bodyPr/>
                    <a:lstStyle/>
                    <a:p>
                      <a:pPr algn="ctr"/>
                      <a:r>
                        <a:rPr lang="en-IN" sz="2400" b="1" u="sng" dirty="0"/>
                        <a:t>Type of Test Case</a:t>
                      </a:r>
                    </a:p>
                  </a:txBody>
                  <a:tcPr anchor="ctr"/>
                </a:tc>
                <a:tc>
                  <a:txBody>
                    <a:bodyPr/>
                    <a:lstStyle/>
                    <a:p>
                      <a:pPr algn="ctr"/>
                      <a:r>
                        <a:rPr lang="en-IN" sz="2400" b="1" u="sng" dirty="0"/>
                        <a:t>Description</a:t>
                      </a:r>
                    </a:p>
                  </a:txBody>
                  <a:tcPr anchor="ctr"/>
                </a:tc>
                <a:extLst>
                  <a:ext uri="{0D108BD9-81ED-4DB2-BD59-A6C34878D82A}">
                    <a16:rowId xmlns:a16="http://schemas.microsoft.com/office/drawing/2014/main" val="2749974900"/>
                  </a:ext>
                </a:extLst>
              </a:tr>
              <a:tr h="483318">
                <a:tc>
                  <a:txBody>
                    <a:bodyPr/>
                    <a:lstStyle/>
                    <a:p>
                      <a:r>
                        <a:rPr lang="en-IN" sz="2000" dirty="0"/>
                        <a:t>✅ Valid Tests</a:t>
                      </a:r>
                    </a:p>
                  </a:txBody>
                  <a:tcPr anchor="ctr"/>
                </a:tc>
                <a:tc>
                  <a:txBody>
                    <a:bodyPr/>
                    <a:lstStyle/>
                    <a:p>
                      <a:r>
                        <a:rPr lang="en-US" sz="2000" dirty="0"/>
                        <a:t>Still applicable to the modified program</a:t>
                      </a:r>
                    </a:p>
                  </a:txBody>
                  <a:tcPr anchor="ctr"/>
                </a:tc>
                <a:extLst>
                  <a:ext uri="{0D108BD9-81ED-4DB2-BD59-A6C34878D82A}">
                    <a16:rowId xmlns:a16="http://schemas.microsoft.com/office/drawing/2014/main" val="3732578346"/>
                  </a:ext>
                </a:extLst>
              </a:tr>
              <a:tr h="483318">
                <a:tc>
                  <a:txBody>
                    <a:bodyPr/>
                    <a:lstStyle/>
                    <a:p>
                      <a:r>
                        <a:rPr lang="en-IN" sz="2000" dirty="0"/>
                        <a:t>🔁 Redundant Tests</a:t>
                      </a:r>
                    </a:p>
                  </a:txBody>
                  <a:tcPr anchor="ctr"/>
                </a:tc>
                <a:tc>
                  <a:txBody>
                    <a:bodyPr/>
                    <a:lstStyle/>
                    <a:p>
                      <a:r>
                        <a:rPr lang="en-US" sz="2000" dirty="0"/>
                        <a:t>Test unaffected parts of code (still correct but not essential to rerun)</a:t>
                      </a:r>
                    </a:p>
                  </a:txBody>
                  <a:tcPr anchor="ctr"/>
                </a:tc>
                <a:extLst>
                  <a:ext uri="{0D108BD9-81ED-4DB2-BD59-A6C34878D82A}">
                    <a16:rowId xmlns:a16="http://schemas.microsoft.com/office/drawing/2014/main" val="847696928"/>
                  </a:ext>
                </a:extLst>
              </a:tr>
              <a:tr h="483318">
                <a:tc>
                  <a:txBody>
                    <a:bodyPr/>
                    <a:lstStyle/>
                    <a:p>
                      <a:r>
                        <a:rPr lang="en-IN" sz="2000"/>
                        <a:t>❌ Invalid Tests</a:t>
                      </a:r>
                    </a:p>
                  </a:txBody>
                  <a:tcPr anchor="ctr"/>
                </a:tc>
                <a:tc>
                  <a:txBody>
                    <a:bodyPr/>
                    <a:lstStyle/>
                    <a:p>
                      <a:r>
                        <a:rPr lang="en-US" sz="2000" dirty="0"/>
                        <a:t>No longer valid due to structural change in code or logic</a:t>
                      </a:r>
                    </a:p>
                  </a:txBody>
                  <a:tcPr anchor="ctr"/>
                </a:tc>
                <a:extLst>
                  <a:ext uri="{0D108BD9-81ED-4DB2-BD59-A6C34878D82A}">
                    <a16:rowId xmlns:a16="http://schemas.microsoft.com/office/drawing/2014/main" val="1730124493"/>
                  </a:ext>
                </a:extLst>
              </a:tr>
              <a:tr h="483318">
                <a:tc>
                  <a:txBody>
                    <a:bodyPr/>
                    <a:lstStyle/>
                    <a:p>
                      <a:r>
                        <a:rPr lang="en-IN" sz="2000"/>
                        <a:t>🎯 Affected Tests</a:t>
                      </a:r>
                    </a:p>
                  </a:txBody>
                  <a:tcPr anchor="ctr"/>
                </a:tc>
                <a:tc>
                  <a:txBody>
                    <a:bodyPr/>
                    <a:lstStyle/>
                    <a:p>
                      <a:r>
                        <a:rPr lang="en-US" sz="2000" dirty="0"/>
                        <a:t>Directly test the changed or impacted code (must be rerun)</a:t>
                      </a:r>
                    </a:p>
                  </a:txBody>
                  <a:tcPr anchor="ctr"/>
                </a:tc>
                <a:extLst>
                  <a:ext uri="{0D108BD9-81ED-4DB2-BD59-A6C34878D82A}">
                    <a16:rowId xmlns:a16="http://schemas.microsoft.com/office/drawing/2014/main" val="3680252629"/>
                  </a:ext>
                </a:extLst>
              </a:tr>
            </a:tbl>
          </a:graphicData>
        </a:graphic>
      </p:graphicFrame>
      <p:sp>
        <p:nvSpPr>
          <p:cNvPr id="5" name="Rectangle 4"/>
          <p:cNvSpPr/>
          <p:nvPr/>
        </p:nvSpPr>
        <p:spPr>
          <a:xfrm>
            <a:off x="275562" y="3495378"/>
            <a:ext cx="11642118" cy="2251065"/>
          </a:xfrm>
          <a:prstGeom prst="rect">
            <a:avLst/>
          </a:prstGeom>
        </p:spPr>
        <p:txBody>
          <a:bodyPr wrap="square">
            <a:spAutoFit/>
          </a:bodyPr>
          <a:lstStyle/>
          <a:p>
            <a:pPr algn="just">
              <a:lnSpc>
                <a:spcPct val="150000"/>
              </a:lnSpc>
            </a:pPr>
            <a:r>
              <a:rPr lang="en-US" sz="2400" b="1" dirty="0"/>
              <a:t>Regression Testing Strategy:</a:t>
            </a:r>
          </a:p>
          <a:p>
            <a:pPr lvl="1" algn="just">
              <a:lnSpc>
                <a:spcPct val="150000"/>
              </a:lnSpc>
              <a:buFont typeface="+mj-lt"/>
              <a:buAutoNum type="arabicPeriod"/>
            </a:pPr>
            <a:r>
              <a:rPr lang="en-US" sz="2400" b="1" dirty="0"/>
              <a:t>Discard</a:t>
            </a:r>
            <a:r>
              <a:rPr lang="en-US" sz="2400" dirty="0"/>
              <a:t> invalid ones.</a:t>
            </a:r>
          </a:p>
          <a:p>
            <a:pPr lvl="1" algn="just">
              <a:lnSpc>
                <a:spcPct val="150000"/>
              </a:lnSpc>
              <a:buFont typeface="+mj-lt"/>
              <a:buAutoNum type="arabicPeriod"/>
            </a:pPr>
            <a:r>
              <a:rPr lang="en-US" sz="2400" b="1" dirty="0"/>
              <a:t>Retain</a:t>
            </a:r>
            <a:r>
              <a:rPr lang="en-US" sz="2400" dirty="0"/>
              <a:t> unaffected ones as needed (for full assurance or periodic testing).</a:t>
            </a:r>
          </a:p>
          <a:p>
            <a:pPr lvl="1" algn="just">
              <a:lnSpc>
                <a:spcPct val="150000"/>
              </a:lnSpc>
              <a:buFont typeface="+mj-lt"/>
              <a:buAutoNum type="arabicPeriod"/>
            </a:pPr>
            <a:r>
              <a:rPr lang="en-US" sz="2400" b="1" dirty="0"/>
              <a:t>Automate</a:t>
            </a:r>
            <a:r>
              <a:rPr lang="en-US" sz="2400" dirty="0"/>
              <a:t>: Automating test cases makes regression testing </a:t>
            </a:r>
            <a:r>
              <a:rPr lang="en-US" sz="2400" b="1" dirty="0"/>
              <a:t>quick and cost-effective</a:t>
            </a:r>
            <a:r>
              <a:rPr lang="en-US" sz="2400" dirty="0"/>
              <a:t>.</a:t>
            </a:r>
          </a:p>
        </p:txBody>
      </p:sp>
      <p:sp>
        <p:nvSpPr>
          <p:cNvPr id="2" name="Date Placeholder 1">
            <a:extLst>
              <a:ext uri="{FF2B5EF4-FFF2-40B4-BE49-F238E27FC236}">
                <a16:creationId xmlns:a16="http://schemas.microsoft.com/office/drawing/2014/main" id="{C40079F3-A707-BF9C-52B1-D3902E751179}"/>
              </a:ext>
            </a:extLst>
          </p:cNvPr>
          <p:cNvSpPr>
            <a:spLocks noGrp="1"/>
          </p:cNvSpPr>
          <p:nvPr>
            <p:ph type="dt" sz="half" idx="10"/>
          </p:nvPr>
        </p:nvSpPr>
        <p:spPr/>
        <p:txBody>
          <a:bodyPr/>
          <a:lstStyle/>
          <a:p>
            <a:fld id="{E1C0908C-F190-42B5-A264-F8478D4B270C}" type="datetime1">
              <a:rPr lang="en-IN" smtClean="0"/>
              <a:t>03-11-2025</a:t>
            </a:fld>
            <a:endParaRPr lang="en-IN"/>
          </a:p>
        </p:txBody>
      </p:sp>
      <p:sp>
        <p:nvSpPr>
          <p:cNvPr id="6" name="Footer Placeholder 5">
            <a:extLst>
              <a:ext uri="{FF2B5EF4-FFF2-40B4-BE49-F238E27FC236}">
                <a16:creationId xmlns:a16="http://schemas.microsoft.com/office/drawing/2014/main" id="{888E9A5A-4C1C-6368-F4B9-4360AE5CE9F8}"/>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F3A33989-F989-8BD4-DF5D-38B7BBF14AE9}"/>
              </a:ext>
            </a:extLst>
          </p:cNvPr>
          <p:cNvSpPr>
            <a:spLocks noGrp="1"/>
          </p:cNvSpPr>
          <p:nvPr>
            <p:ph type="sldNum" sz="quarter" idx="12"/>
          </p:nvPr>
        </p:nvSpPr>
        <p:spPr/>
        <p:txBody>
          <a:bodyPr/>
          <a:lstStyle/>
          <a:p>
            <a:fld id="{157E8F69-36B6-4843-A9CE-6B9353F4DBAF}" type="slidenum">
              <a:rPr lang="en-IN" smtClean="0"/>
              <a:t>83</a:t>
            </a:fld>
            <a:endParaRPr lang="en-IN"/>
          </a:p>
        </p:txBody>
      </p:sp>
    </p:spTree>
    <p:extLst>
      <p:ext uri="{BB962C8B-B14F-4D97-AF65-F5344CB8AC3E}">
        <p14:creationId xmlns:p14="http://schemas.microsoft.com/office/powerpoint/2010/main" val="2741915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9560" y="297656"/>
            <a:ext cx="11612880" cy="2677656"/>
          </a:xfrm>
          <a:prstGeom prst="rect">
            <a:avLst/>
          </a:prstGeom>
        </p:spPr>
        <p:txBody>
          <a:bodyPr wrap="square">
            <a:spAutoFit/>
          </a:bodyPr>
          <a:lstStyle/>
          <a:p>
            <a:r>
              <a:rPr lang="en-US" sz="2400" b="1" u="sng" dirty="0"/>
              <a:t>🚀 Benefits of Regression Testing:</a:t>
            </a:r>
          </a:p>
          <a:p>
            <a:pPr marL="800100" lvl="1" indent="-342900">
              <a:lnSpc>
                <a:spcPct val="150000"/>
              </a:lnSpc>
              <a:buFont typeface="Wingdings" panose="05000000000000000000" pitchFamily="2" charset="2"/>
              <a:buChar char="Ø"/>
            </a:pPr>
            <a:r>
              <a:rPr lang="en-US" sz="2400" dirty="0"/>
              <a:t>Maintains </a:t>
            </a:r>
            <a:r>
              <a:rPr lang="en-US" sz="2400" b="1" dirty="0"/>
              <a:t>software reliability</a:t>
            </a:r>
            <a:endParaRPr lang="en-US" sz="2400" dirty="0"/>
          </a:p>
          <a:p>
            <a:pPr marL="800100" lvl="1" indent="-342900">
              <a:lnSpc>
                <a:spcPct val="150000"/>
              </a:lnSpc>
              <a:buFont typeface="Wingdings" panose="05000000000000000000" pitchFamily="2" charset="2"/>
              <a:buChar char="Ø"/>
            </a:pPr>
            <a:r>
              <a:rPr lang="en-US" sz="2400" dirty="0"/>
              <a:t>Prevents </a:t>
            </a:r>
            <a:r>
              <a:rPr lang="en-US" sz="2400" b="1" dirty="0"/>
              <a:t>reintroduction</a:t>
            </a:r>
            <a:r>
              <a:rPr lang="en-US" sz="2400" dirty="0"/>
              <a:t> of old bugs</a:t>
            </a:r>
          </a:p>
          <a:p>
            <a:pPr marL="800100" lvl="1" indent="-342900">
              <a:lnSpc>
                <a:spcPct val="150000"/>
              </a:lnSpc>
              <a:buFont typeface="Wingdings" panose="05000000000000000000" pitchFamily="2" charset="2"/>
              <a:buChar char="Ø"/>
            </a:pPr>
            <a:r>
              <a:rPr lang="en-US" sz="2400" dirty="0"/>
              <a:t>Reduces risk of </a:t>
            </a:r>
            <a:r>
              <a:rPr lang="en-US" sz="2400" b="1" dirty="0"/>
              <a:t>side effects</a:t>
            </a:r>
            <a:r>
              <a:rPr lang="en-US" sz="2400" dirty="0"/>
              <a:t> from changes</a:t>
            </a:r>
          </a:p>
          <a:p>
            <a:pPr marL="800100" lvl="1" indent="-342900">
              <a:lnSpc>
                <a:spcPct val="150000"/>
              </a:lnSpc>
              <a:buFont typeface="Wingdings" panose="05000000000000000000" pitchFamily="2" charset="2"/>
              <a:buChar char="Ø"/>
            </a:pPr>
            <a:r>
              <a:rPr lang="en-US" sz="2400" dirty="0"/>
              <a:t>Ensures </a:t>
            </a:r>
            <a:r>
              <a:rPr lang="en-US" sz="2400" b="1" dirty="0"/>
              <a:t>long-term code stability</a:t>
            </a:r>
            <a:endParaRPr lang="en-US" sz="2400" dirty="0"/>
          </a:p>
        </p:txBody>
      </p:sp>
      <p:sp>
        <p:nvSpPr>
          <p:cNvPr id="2" name="Date Placeholder 1">
            <a:extLst>
              <a:ext uri="{FF2B5EF4-FFF2-40B4-BE49-F238E27FC236}">
                <a16:creationId xmlns:a16="http://schemas.microsoft.com/office/drawing/2014/main" id="{41F73489-1A4B-48ED-33F7-5DE4436AE788}"/>
              </a:ext>
            </a:extLst>
          </p:cNvPr>
          <p:cNvSpPr>
            <a:spLocks noGrp="1"/>
          </p:cNvSpPr>
          <p:nvPr>
            <p:ph type="dt" sz="half" idx="10"/>
          </p:nvPr>
        </p:nvSpPr>
        <p:spPr/>
        <p:txBody>
          <a:bodyPr/>
          <a:lstStyle/>
          <a:p>
            <a:fld id="{25A6D937-300D-4FBF-87C1-A1829B6C26A2}" type="datetime1">
              <a:rPr lang="en-IN" smtClean="0"/>
              <a:t>03-11-2025</a:t>
            </a:fld>
            <a:endParaRPr lang="en-IN"/>
          </a:p>
        </p:txBody>
      </p:sp>
      <p:sp>
        <p:nvSpPr>
          <p:cNvPr id="4" name="Footer Placeholder 3">
            <a:extLst>
              <a:ext uri="{FF2B5EF4-FFF2-40B4-BE49-F238E27FC236}">
                <a16:creationId xmlns:a16="http://schemas.microsoft.com/office/drawing/2014/main" id="{6A146741-BB61-22BB-39FD-5AE5D150EB5D}"/>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1E8240FD-3E94-E68E-50AD-F32B6313E214}"/>
              </a:ext>
            </a:extLst>
          </p:cNvPr>
          <p:cNvSpPr>
            <a:spLocks noGrp="1"/>
          </p:cNvSpPr>
          <p:nvPr>
            <p:ph type="sldNum" sz="quarter" idx="12"/>
          </p:nvPr>
        </p:nvSpPr>
        <p:spPr/>
        <p:txBody>
          <a:bodyPr/>
          <a:lstStyle/>
          <a:p>
            <a:fld id="{157E8F69-36B6-4843-A9CE-6B9353F4DBAF}" type="slidenum">
              <a:rPr lang="en-IN" smtClean="0"/>
              <a:t>84</a:t>
            </a:fld>
            <a:endParaRPr lang="en-IN"/>
          </a:p>
        </p:txBody>
      </p:sp>
    </p:spTree>
    <p:extLst>
      <p:ext uri="{BB962C8B-B14F-4D97-AF65-F5344CB8AC3E}">
        <p14:creationId xmlns:p14="http://schemas.microsoft.com/office/powerpoint/2010/main" val="27531298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3360" y="235357"/>
            <a:ext cx="11658600" cy="2805063"/>
          </a:xfrm>
          <a:prstGeom prst="rect">
            <a:avLst/>
          </a:prstGeom>
        </p:spPr>
        <p:txBody>
          <a:bodyPr wrap="square">
            <a:spAutoFit/>
          </a:bodyPr>
          <a:lstStyle/>
          <a:p>
            <a:pPr algn="ctr">
              <a:lnSpc>
                <a:spcPct val="150000"/>
              </a:lnSpc>
            </a:pPr>
            <a:r>
              <a:rPr lang="en-US" sz="2400" b="1" u="sng" dirty="0"/>
              <a:t>Security Testing</a:t>
            </a:r>
          </a:p>
          <a:p>
            <a:pPr algn="just">
              <a:lnSpc>
                <a:spcPct val="150000"/>
              </a:lnSpc>
            </a:pPr>
            <a:r>
              <a:rPr lang="en-US" sz="2400" b="1" dirty="0"/>
              <a:t>	Security Testing</a:t>
            </a:r>
            <a:r>
              <a:rPr lang="en-US" sz="2400" dirty="0"/>
              <a:t> is a type of software testing that ensures that the system protects data and maintains functionality as intended. It is done to identify vulnerabilities and weaknesses in the software system that may be exploited by attackers or unauthorized users.</a:t>
            </a:r>
          </a:p>
        </p:txBody>
      </p:sp>
      <p:sp>
        <p:nvSpPr>
          <p:cNvPr id="4" name="Rectangle 3"/>
          <p:cNvSpPr/>
          <p:nvPr/>
        </p:nvSpPr>
        <p:spPr>
          <a:xfrm>
            <a:off x="213360" y="3545949"/>
            <a:ext cx="11658600" cy="2251065"/>
          </a:xfrm>
          <a:prstGeom prst="rect">
            <a:avLst/>
          </a:prstGeom>
        </p:spPr>
        <p:txBody>
          <a:bodyPr wrap="square">
            <a:spAutoFit/>
          </a:bodyPr>
          <a:lstStyle/>
          <a:p>
            <a:pPr>
              <a:lnSpc>
                <a:spcPct val="150000"/>
              </a:lnSpc>
            </a:pPr>
            <a:r>
              <a:rPr lang="en-US" sz="2400" b="1" u="sng" dirty="0"/>
              <a:t>🔐 Objective of Security Testing:</a:t>
            </a:r>
          </a:p>
          <a:p>
            <a:pPr marL="800100" lvl="1" indent="-342900" algn="just">
              <a:lnSpc>
                <a:spcPct val="150000"/>
              </a:lnSpc>
              <a:buFont typeface="Wingdings" panose="05000000000000000000" pitchFamily="2" charset="2"/>
              <a:buChar char="Ø"/>
            </a:pPr>
            <a:r>
              <a:rPr lang="en-US" sz="2400" dirty="0"/>
              <a:t>To </a:t>
            </a:r>
            <a:r>
              <a:rPr lang="en-US" sz="2400" b="1" dirty="0"/>
              <a:t>protect software systems</a:t>
            </a:r>
            <a:r>
              <a:rPr lang="en-US" sz="2400" dirty="0"/>
              <a:t> and data from unauthorized access, misuse, or damage.</a:t>
            </a:r>
          </a:p>
          <a:p>
            <a:pPr marL="800100" lvl="1" indent="-342900" algn="just">
              <a:lnSpc>
                <a:spcPct val="150000"/>
              </a:lnSpc>
              <a:buFont typeface="Wingdings" panose="05000000000000000000" pitchFamily="2" charset="2"/>
              <a:buChar char="Ø"/>
            </a:pPr>
            <a:r>
              <a:rPr lang="en-US" sz="2400" dirty="0"/>
              <a:t>To ensure </a:t>
            </a:r>
            <a:r>
              <a:rPr lang="en-US" sz="2400" b="1" dirty="0"/>
              <a:t>confidentiality, integrity, authentication, authorization, availability</a:t>
            </a:r>
            <a:r>
              <a:rPr lang="en-US" sz="2400" dirty="0"/>
              <a:t>, and </a:t>
            </a:r>
            <a:r>
              <a:rPr lang="en-US" sz="2400" b="1" dirty="0"/>
              <a:t>non-repudiation</a:t>
            </a:r>
            <a:r>
              <a:rPr lang="en-US" sz="2400" dirty="0"/>
              <a:t>.</a:t>
            </a:r>
          </a:p>
        </p:txBody>
      </p:sp>
      <p:sp>
        <p:nvSpPr>
          <p:cNvPr id="2" name="Date Placeholder 1">
            <a:extLst>
              <a:ext uri="{FF2B5EF4-FFF2-40B4-BE49-F238E27FC236}">
                <a16:creationId xmlns:a16="http://schemas.microsoft.com/office/drawing/2014/main" id="{CFA7D73E-8025-AAEA-183E-7358B2AE7706}"/>
              </a:ext>
            </a:extLst>
          </p:cNvPr>
          <p:cNvSpPr>
            <a:spLocks noGrp="1"/>
          </p:cNvSpPr>
          <p:nvPr>
            <p:ph type="dt" sz="half" idx="10"/>
          </p:nvPr>
        </p:nvSpPr>
        <p:spPr/>
        <p:txBody>
          <a:bodyPr/>
          <a:lstStyle/>
          <a:p>
            <a:fld id="{A957622A-882E-4DDE-93AA-06AC7FB3A447}" type="datetime1">
              <a:rPr lang="en-IN" smtClean="0"/>
              <a:t>03-11-2025</a:t>
            </a:fld>
            <a:endParaRPr lang="en-IN"/>
          </a:p>
        </p:txBody>
      </p:sp>
      <p:sp>
        <p:nvSpPr>
          <p:cNvPr id="5" name="Footer Placeholder 4">
            <a:extLst>
              <a:ext uri="{FF2B5EF4-FFF2-40B4-BE49-F238E27FC236}">
                <a16:creationId xmlns:a16="http://schemas.microsoft.com/office/drawing/2014/main" id="{73248EE2-1CD0-5EA8-29ED-F293506570E6}"/>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F05C2A84-052E-BAD6-C3AE-4D49F9DB3B9D}"/>
              </a:ext>
            </a:extLst>
          </p:cNvPr>
          <p:cNvSpPr>
            <a:spLocks noGrp="1"/>
          </p:cNvSpPr>
          <p:nvPr>
            <p:ph type="sldNum" sz="quarter" idx="12"/>
          </p:nvPr>
        </p:nvSpPr>
        <p:spPr/>
        <p:txBody>
          <a:bodyPr/>
          <a:lstStyle/>
          <a:p>
            <a:fld id="{157E8F69-36B6-4843-A9CE-6B9353F4DBAF}" type="slidenum">
              <a:rPr lang="en-IN" smtClean="0"/>
              <a:t>85</a:t>
            </a:fld>
            <a:endParaRPr lang="en-IN"/>
          </a:p>
        </p:txBody>
      </p:sp>
    </p:spTree>
    <p:extLst>
      <p:ext uri="{BB962C8B-B14F-4D97-AF65-F5344CB8AC3E}">
        <p14:creationId xmlns:p14="http://schemas.microsoft.com/office/powerpoint/2010/main" val="15776494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7640" y="193089"/>
            <a:ext cx="4410118" cy="461665"/>
          </a:xfrm>
          <a:prstGeom prst="rect">
            <a:avLst/>
          </a:prstGeom>
        </p:spPr>
        <p:txBody>
          <a:bodyPr wrap="none">
            <a:spAutoFit/>
          </a:bodyPr>
          <a:lstStyle/>
          <a:p>
            <a:r>
              <a:rPr lang="en-US" sz="2400" b="1" u="sng" dirty="0"/>
              <a:t>🧩 Key Aspects of Security Testing:</a:t>
            </a:r>
            <a:endParaRPr lang="en-IN" sz="2400" b="1" u="sng" dirty="0"/>
          </a:p>
        </p:txBody>
      </p:sp>
      <p:graphicFrame>
        <p:nvGraphicFramePr>
          <p:cNvPr id="6" name="Table 5"/>
          <p:cNvGraphicFramePr>
            <a:graphicFrameLocks noGrp="1"/>
          </p:cNvGraphicFramePr>
          <p:nvPr>
            <p:extLst>
              <p:ext uri="{D42A27DB-BD31-4B8C-83A1-F6EECF244321}">
                <p14:modId xmlns:p14="http://schemas.microsoft.com/office/powerpoint/2010/main" val="864013135"/>
              </p:ext>
            </p:extLst>
          </p:nvPr>
        </p:nvGraphicFramePr>
        <p:xfrm>
          <a:off x="167640" y="654754"/>
          <a:ext cx="11765280" cy="2834640"/>
        </p:xfrm>
        <a:graphic>
          <a:graphicData uri="http://schemas.openxmlformats.org/drawingml/2006/table">
            <a:tbl>
              <a:tblPr>
                <a:tableStyleId>{5DA37D80-6434-44D0-A028-1B22A696006F}</a:tableStyleId>
              </a:tblPr>
              <a:tblGrid>
                <a:gridCol w="2423160">
                  <a:extLst>
                    <a:ext uri="{9D8B030D-6E8A-4147-A177-3AD203B41FA5}">
                      <a16:colId xmlns:a16="http://schemas.microsoft.com/office/drawing/2014/main" val="2892090687"/>
                    </a:ext>
                  </a:extLst>
                </a:gridCol>
                <a:gridCol w="9342120">
                  <a:extLst>
                    <a:ext uri="{9D8B030D-6E8A-4147-A177-3AD203B41FA5}">
                      <a16:colId xmlns:a16="http://schemas.microsoft.com/office/drawing/2014/main" val="3530516390"/>
                    </a:ext>
                  </a:extLst>
                </a:gridCol>
              </a:tblGrid>
              <a:tr h="0">
                <a:tc>
                  <a:txBody>
                    <a:bodyPr/>
                    <a:lstStyle/>
                    <a:p>
                      <a:pPr algn="ctr"/>
                      <a:r>
                        <a:rPr lang="en-IN" sz="2400" b="1" u="sng" dirty="0"/>
                        <a:t>Aspect</a:t>
                      </a:r>
                    </a:p>
                  </a:txBody>
                  <a:tcPr anchor="ctr"/>
                </a:tc>
                <a:tc>
                  <a:txBody>
                    <a:bodyPr/>
                    <a:lstStyle/>
                    <a:p>
                      <a:pPr algn="ctr"/>
                      <a:r>
                        <a:rPr lang="en-IN" sz="2400" b="1" u="sng" dirty="0"/>
                        <a:t>Description</a:t>
                      </a:r>
                    </a:p>
                  </a:txBody>
                  <a:tcPr anchor="ctr"/>
                </a:tc>
                <a:extLst>
                  <a:ext uri="{0D108BD9-81ED-4DB2-BD59-A6C34878D82A}">
                    <a16:rowId xmlns:a16="http://schemas.microsoft.com/office/drawing/2014/main" val="491878088"/>
                  </a:ext>
                </a:extLst>
              </a:tr>
              <a:tr h="0">
                <a:tc>
                  <a:txBody>
                    <a:bodyPr/>
                    <a:lstStyle/>
                    <a:p>
                      <a:r>
                        <a:rPr lang="en-IN" sz="2000" dirty="0"/>
                        <a:t>🔑 Authentication</a:t>
                      </a:r>
                    </a:p>
                  </a:txBody>
                  <a:tcPr anchor="ctr"/>
                </a:tc>
                <a:tc>
                  <a:txBody>
                    <a:bodyPr/>
                    <a:lstStyle/>
                    <a:p>
                      <a:r>
                        <a:rPr lang="en-US" sz="2000" dirty="0"/>
                        <a:t>Ensures that the system correctly verifies user identity (e.g., login security).</a:t>
                      </a:r>
                    </a:p>
                  </a:txBody>
                  <a:tcPr anchor="ctr"/>
                </a:tc>
                <a:extLst>
                  <a:ext uri="{0D108BD9-81ED-4DB2-BD59-A6C34878D82A}">
                    <a16:rowId xmlns:a16="http://schemas.microsoft.com/office/drawing/2014/main" val="2615048986"/>
                  </a:ext>
                </a:extLst>
              </a:tr>
              <a:tr h="0">
                <a:tc>
                  <a:txBody>
                    <a:bodyPr/>
                    <a:lstStyle/>
                    <a:p>
                      <a:r>
                        <a:rPr lang="en-IN" sz="2000" dirty="0"/>
                        <a:t>🔒 Authorization</a:t>
                      </a:r>
                    </a:p>
                  </a:txBody>
                  <a:tcPr anchor="ctr"/>
                </a:tc>
                <a:tc>
                  <a:txBody>
                    <a:bodyPr/>
                    <a:lstStyle/>
                    <a:p>
                      <a:r>
                        <a:rPr lang="en-US" sz="2000" dirty="0"/>
                        <a:t>Ensures users can only access resources or perform actions they are permitted to.</a:t>
                      </a:r>
                    </a:p>
                  </a:txBody>
                  <a:tcPr anchor="ctr"/>
                </a:tc>
                <a:extLst>
                  <a:ext uri="{0D108BD9-81ED-4DB2-BD59-A6C34878D82A}">
                    <a16:rowId xmlns:a16="http://schemas.microsoft.com/office/drawing/2014/main" val="4222513896"/>
                  </a:ext>
                </a:extLst>
              </a:tr>
              <a:tr h="0">
                <a:tc>
                  <a:txBody>
                    <a:bodyPr/>
                    <a:lstStyle/>
                    <a:p>
                      <a:r>
                        <a:rPr lang="en-IN" sz="2000"/>
                        <a:t>📦 Confidentiality</a:t>
                      </a:r>
                    </a:p>
                  </a:txBody>
                  <a:tcPr anchor="ctr"/>
                </a:tc>
                <a:tc>
                  <a:txBody>
                    <a:bodyPr/>
                    <a:lstStyle/>
                    <a:p>
                      <a:r>
                        <a:rPr lang="en-US" sz="2000" dirty="0"/>
                        <a:t>Ensures that sensitive data is accessible only to authorized users.</a:t>
                      </a:r>
                    </a:p>
                  </a:txBody>
                  <a:tcPr anchor="ctr"/>
                </a:tc>
                <a:extLst>
                  <a:ext uri="{0D108BD9-81ED-4DB2-BD59-A6C34878D82A}">
                    <a16:rowId xmlns:a16="http://schemas.microsoft.com/office/drawing/2014/main" val="3865333565"/>
                  </a:ext>
                </a:extLst>
              </a:tr>
              <a:tr h="0">
                <a:tc>
                  <a:txBody>
                    <a:bodyPr/>
                    <a:lstStyle/>
                    <a:p>
                      <a:r>
                        <a:rPr lang="en-IN" sz="2000"/>
                        <a:t>🛠 Integrity</a:t>
                      </a:r>
                    </a:p>
                  </a:txBody>
                  <a:tcPr anchor="ctr"/>
                </a:tc>
                <a:tc>
                  <a:txBody>
                    <a:bodyPr/>
                    <a:lstStyle/>
                    <a:p>
                      <a:r>
                        <a:rPr lang="en-US" sz="2000" dirty="0"/>
                        <a:t>Ensures data is not modified or tampered with without authorization.</a:t>
                      </a:r>
                    </a:p>
                  </a:txBody>
                  <a:tcPr anchor="ctr"/>
                </a:tc>
                <a:extLst>
                  <a:ext uri="{0D108BD9-81ED-4DB2-BD59-A6C34878D82A}">
                    <a16:rowId xmlns:a16="http://schemas.microsoft.com/office/drawing/2014/main" val="1019539885"/>
                  </a:ext>
                </a:extLst>
              </a:tr>
              <a:tr h="0">
                <a:tc>
                  <a:txBody>
                    <a:bodyPr/>
                    <a:lstStyle/>
                    <a:p>
                      <a:r>
                        <a:rPr lang="en-IN" sz="2000"/>
                        <a:t>📡 Availability</a:t>
                      </a:r>
                    </a:p>
                  </a:txBody>
                  <a:tcPr anchor="ctr"/>
                </a:tc>
                <a:tc>
                  <a:txBody>
                    <a:bodyPr/>
                    <a:lstStyle/>
                    <a:p>
                      <a:r>
                        <a:rPr lang="en-US" sz="2000" dirty="0"/>
                        <a:t>Ensures that services remain available and accessible even under attack (e.g., </a:t>
                      </a:r>
                      <a:r>
                        <a:rPr lang="en-US" sz="2000" dirty="0" err="1"/>
                        <a:t>DDoS</a:t>
                      </a:r>
                      <a:r>
                        <a:rPr lang="en-US" sz="2000" dirty="0"/>
                        <a:t>).</a:t>
                      </a:r>
                    </a:p>
                  </a:txBody>
                  <a:tcPr anchor="ctr"/>
                </a:tc>
                <a:extLst>
                  <a:ext uri="{0D108BD9-81ED-4DB2-BD59-A6C34878D82A}">
                    <a16:rowId xmlns:a16="http://schemas.microsoft.com/office/drawing/2014/main" val="3133052322"/>
                  </a:ext>
                </a:extLst>
              </a:tr>
              <a:tr h="0">
                <a:tc>
                  <a:txBody>
                    <a:bodyPr/>
                    <a:lstStyle/>
                    <a:p>
                      <a:r>
                        <a:rPr lang="en-IN" sz="2000"/>
                        <a:t>🧾 Non-repudiation</a:t>
                      </a:r>
                    </a:p>
                  </a:txBody>
                  <a:tcPr anchor="ctr"/>
                </a:tc>
                <a:tc>
                  <a:txBody>
                    <a:bodyPr/>
                    <a:lstStyle/>
                    <a:p>
                      <a:r>
                        <a:rPr lang="en-US" sz="2000" dirty="0"/>
                        <a:t>Ensures that a user cannot deny the authenticity of their actions.</a:t>
                      </a:r>
                    </a:p>
                  </a:txBody>
                  <a:tcPr anchor="ctr"/>
                </a:tc>
                <a:extLst>
                  <a:ext uri="{0D108BD9-81ED-4DB2-BD59-A6C34878D82A}">
                    <a16:rowId xmlns:a16="http://schemas.microsoft.com/office/drawing/2014/main" val="844000675"/>
                  </a:ext>
                </a:extLst>
              </a:tr>
            </a:tbl>
          </a:graphicData>
        </a:graphic>
      </p:graphicFrame>
      <p:sp>
        <p:nvSpPr>
          <p:cNvPr id="2" name="Rectangle 1"/>
          <p:cNvSpPr/>
          <p:nvPr/>
        </p:nvSpPr>
        <p:spPr>
          <a:xfrm>
            <a:off x="158158" y="3581727"/>
            <a:ext cx="4936351" cy="461665"/>
          </a:xfrm>
          <a:prstGeom prst="rect">
            <a:avLst/>
          </a:prstGeom>
        </p:spPr>
        <p:txBody>
          <a:bodyPr wrap="none">
            <a:spAutoFit/>
          </a:bodyPr>
          <a:lstStyle/>
          <a:p>
            <a:r>
              <a:rPr lang="en-US" sz="2400" b="1" u="sng" dirty="0"/>
              <a:t>🛡️ Common Types of Security Testing:</a:t>
            </a:r>
            <a:endParaRPr lang="en-IN" sz="2400" b="1" u="sng" dirty="0"/>
          </a:p>
        </p:txBody>
      </p:sp>
      <p:graphicFrame>
        <p:nvGraphicFramePr>
          <p:cNvPr id="7" name="Table 6"/>
          <p:cNvGraphicFramePr>
            <a:graphicFrameLocks noGrp="1"/>
          </p:cNvGraphicFramePr>
          <p:nvPr>
            <p:extLst>
              <p:ext uri="{D42A27DB-BD31-4B8C-83A1-F6EECF244321}">
                <p14:modId xmlns:p14="http://schemas.microsoft.com/office/powerpoint/2010/main" val="1108341323"/>
              </p:ext>
            </p:extLst>
          </p:nvPr>
        </p:nvGraphicFramePr>
        <p:xfrm>
          <a:off x="167640" y="3997672"/>
          <a:ext cx="11765280" cy="2834640"/>
        </p:xfrm>
        <a:graphic>
          <a:graphicData uri="http://schemas.openxmlformats.org/drawingml/2006/table">
            <a:tbl>
              <a:tblPr>
                <a:tableStyleId>{BC89EF96-8CEA-46FF-86C4-4CE0E7609802}</a:tableStyleId>
              </a:tblPr>
              <a:tblGrid>
                <a:gridCol w="4145280">
                  <a:extLst>
                    <a:ext uri="{9D8B030D-6E8A-4147-A177-3AD203B41FA5}">
                      <a16:colId xmlns:a16="http://schemas.microsoft.com/office/drawing/2014/main" val="3117476616"/>
                    </a:ext>
                  </a:extLst>
                </a:gridCol>
                <a:gridCol w="7620000">
                  <a:extLst>
                    <a:ext uri="{9D8B030D-6E8A-4147-A177-3AD203B41FA5}">
                      <a16:colId xmlns:a16="http://schemas.microsoft.com/office/drawing/2014/main" val="61185145"/>
                    </a:ext>
                  </a:extLst>
                </a:gridCol>
              </a:tblGrid>
              <a:tr h="0">
                <a:tc>
                  <a:txBody>
                    <a:bodyPr/>
                    <a:lstStyle/>
                    <a:p>
                      <a:pPr algn="ctr"/>
                      <a:r>
                        <a:rPr lang="en-IN" sz="2400" u="sng" dirty="0"/>
                        <a:t>Type</a:t>
                      </a:r>
                      <a:endParaRPr lang="en-IN" sz="2400" b="1" u="sng" dirty="0"/>
                    </a:p>
                  </a:txBody>
                  <a:tcPr anchor="ctr"/>
                </a:tc>
                <a:tc>
                  <a:txBody>
                    <a:bodyPr/>
                    <a:lstStyle/>
                    <a:p>
                      <a:pPr algn="ctr"/>
                      <a:r>
                        <a:rPr lang="en-IN" sz="2400" u="sng" dirty="0"/>
                        <a:t>Purpose</a:t>
                      </a:r>
                      <a:endParaRPr lang="en-IN" sz="2400" b="1" u="sng" dirty="0"/>
                    </a:p>
                  </a:txBody>
                  <a:tcPr anchor="ctr"/>
                </a:tc>
                <a:extLst>
                  <a:ext uri="{0D108BD9-81ED-4DB2-BD59-A6C34878D82A}">
                    <a16:rowId xmlns:a16="http://schemas.microsoft.com/office/drawing/2014/main" val="845843215"/>
                  </a:ext>
                </a:extLst>
              </a:tr>
              <a:tr h="0">
                <a:tc>
                  <a:txBody>
                    <a:bodyPr/>
                    <a:lstStyle/>
                    <a:p>
                      <a:r>
                        <a:rPr lang="en-IN" sz="2000"/>
                        <a:t>Vulnerability Scanning</a:t>
                      </a:r>
                    </a:p>
                  </a:txBody>
                  <a:tcPr anchor="ctr"/>
                </a:tc>
                <a:tc>
                  <a:txBody>
                    <a:bodyPr/>
                    <a:lstStyle/>
                    <a:p>
                      <a:r>
                        <a:rPr lang="en-US" sz="2000" dirty="0"/>
                        <a:t>Automated scanning to find known vulnerabilities.</a:t>
                      </a:r>
                    </a:p>
                  </a:txBody>
                  <a:tcPr anchor="ctr"/>
                </a:tc>
                <a:extLst>
                  <a:ext uri="{0D108BD9-81ED-4DB2-BD59-A6C34878D82A}">
                    <a16:rowId xmlns:a16="http://schemas.microsoft.com/office/drawing/2014/main" val="4291531457"/>
                  </a:ext>
                </a:extLst>
              </a:tr>
              <a:tr h="0">
                <a:tc>
                  <a:txBody>
                    <a:bodyPr/>
                    <a:lstStyle/>
                    <a:p>
                      <a:r>
                        <a:rPr lang="en-IN" sz="2000"/>
                        <a:t>Penetration Testing (Pen Testing)</a:t>
                      </a:r>
                    </a:p>
                  </a:txBody>
                  <a:tcPr anchor="ctr"/>
                </a:tc>
                <a:tc>
                  <a:txBody>
                    <a:bodyPr/>
                    <a:lstStyle/>
                    <a:p>
                      <a:r>
                        <a:rPr lang="en-US" sz="2000" dirty="0"/>
                        <a:t>Simulated attack to find security weaknesses.</a:t>
                      </a:r>
                    </a:p>
                  </a:txBody>
                  <a:tcPr anchor="ctr"/>
                </a:tc>
                <a:extLst>
                  <a:ext uri="{0D108BD9-81ED-4DB2-BD59-A6C34878D82A}">
                    <a16:rowId xmlns:a16="http://schemas.microsoft.com/office/drawing/2014/main" val="1020850621"/>
                  </a:ext>
                </a:extLst>
              </a:tr>
              <a:tr h="0">
                <a:tc>
                  <a:txBody>
                    <a:bodyPr/>
                    <a:lstStyle/>
                    <a:p>
                      <a:r>
                        <a:rPr lang="en-IN" sz="2000"/>
                        <a:t>Security Auditing</a:t>
                      </a:r>
                    </a:p>
                  </a:txBody>
                  <a:tcPr anchor="ctr"/>
                </a:tc>
                <a:tc>
                  <a:txBody>
                    <a:bodyPr/>
                    <a:lstStyle/>
                    <a:p>
                      <a:r>
                        <a:rPr lang="en-US" sz="2000" dirty="0"/>
                        <a:t>Reviewing code and configurations for security compliance.</a:t>
                      </a:r>
                    </a:p>
                  </a:txBody>
                  <a:tcPr anchor="ctr"/>
                </a:tc>
                <a:extLst>
                  <a:ext uri="{0D108BD9-81ED-4DB2-BD59-A6C34878D82A}">
                    <a16:rowId xmlns:a16="http://schemas.microsoft.com/office/drawing/2014/main" val="200449769"/>
                  </a:ext>
                </a:extLst>
              </a:tr>
              <a:tr h="0">
                <a:tc>
                  <a:txBody>
                    <a:bodyPr/>
                    <a:lstStyle/>
                    <a:p>
                      <a:r>
                        <a:rPr lang="en-IN" sz="2000"/>
                        <a:t>Ethical Hacking</a:t>
                      </a:r>
                    </a:p>
                  </a:txBody>
                  <a:tcPr anchor="ctr"/>
                </a:tc>
                <a:tc>
                  <a:txBody>
                    <a:bodyPr/>
                    <a:lstStyle/>
                    <a:p>
                      <a:r>
                        <a:rPr lang="en-US" sz="2000" dirty="0"/>
                        <a:t>Legally hacking the system to find vulnerabilities before attackers do.</a:t>
                      </a:r>
                    </a:p>
                  </a:txBody>
                  <a:tcPr anchor="ctr"/>
                </a:tc>
                <a:extLst>
                  <a:ext uri="{0D108BD9-81ED-4DB2-BD59-A6C34878D82A}">
                    <a16:rowId xmlns:a16="http://schemas.microsoft.com/office/drawing/2014/main" val="766601824"/>
                  </a:ext>
                </a:extLst>
              </a:tr>
              <a:tr h="0">
                <a:tc>
                  <a:txBody>
                    <a:bodyPr/>
                    <a:lstStyle/>
                    <a:p>
                      <a:r>
                        <a:rPr lang="en-IN" sz="2000"/>
                        <a:t>Risk Assessment</a:t>
                      </a:r>
                    </a:p>
                  </a:txBody>
                  <a:tcPr anchor="ctr"/>
                </a:tc>
                <a:tc>
                  <a:txBody>
                    <a:bodyPr/>
                    <a:lstStyle/>
                    <a:p>
                      <a:r>
                        <a:rPr lang="en-US" sz="2000" dirty="0"/>
                        <a:t>Identifying potential security risks and impact.</a:t>
                      </a:r>
                    </a:p>
                  </a:txBody>
                  <a:tcPr anchor="ctr"/>
                </a:tc>
                <a:extLst>
                  <a:ext uri="{0D108BD9-81ED-4DB2-BD59-A6C34878D82A}">
                    <a16:rowId xmlns:a16="http://schemas.microsoft.com/office/drawing/2014/main" val="841071081"/>
                  </a:ext>
                </a:extLst>
              </a:tr>
              <a:tr h="0">
                <a:tc>
                  <a:txBody>
                    <a:bodyPr/>
                    <a:lstStyle/>
                    <a:p>
                      <a:r>
                        <a:rPr lang="en-IN" sz="2000"/>
                        <a:t>Security Posture Assessment</a:t>
                      </a:r>
                    </a:p>
                  </a:txBody>
                  <a:tcPr anchor="ctr"/>
                </a:tc>
                <a:tc>
                  <a:txBody>
                    <a:bodyPr/>
                    <a:lstStyle/>
                    <a:p>
                      <a:r>
                        <a:rPr lang="en-US" sz="2000" dirty="0"/>
                        <a:t>Evaluating overall security and identifying gaps in protection.</a:t>
                      </a:r>
                    </a:p>
                  </a:txBody>
                  <a:tcPr anchor="ctr"/>
                </a:tc>
                <a:extLst>
                  <a:ext uri="{0D108BD9-81ED-4DB2-BD59-A6C34878D82A}">
                    <a16:rowId xmlns:a16="http://schemas.microsoft.com/office/drawing/2014/main" val="2935665996"/>
                  </a:ext>
                </a:extLst>
              </a:tr>
            </a:tbl>
          </a:graphicData>
        </a:graphic>
      </p:graphicFrame>
      <p:sp>
        <p:nvSpPr>
          <p:cNvPr id="3" name="Date Placeholder 2">
            <a:extLst>
              <a:ext uri="{FF2B5EF4-FFF2-40B4-BE49-F238E27FC236}">
                <a16:creationId xmlns:a16="http://schemas.microsoft.com/office/drawing/2014/main" id="{E2D5C538-871E-D118-CB23-32170CF87919}"/>
              </a:ext>
            </a:extLst>
          </p:cNvPr>
          <p:cNvSpPr>
            <a:spLocks noGrp="1"/>
          </p:cNvSpPr>
          <p:nvPr>
            <p:ph type="dt" sz="half" idx="10"/>
          </p:nvPr>
        </p:nvSpPr>
        <p:spPr/>
        <p:txBody>
          <a:bodyPr/>
          <a:lstStyle/>
          <a:p>
            <a:fld id="{1D699EF8-955C-4CB2-8BA1-2DB121C52C28}" type="datetime1">
              <a:rPr lang="en-IN" smtClean="0"/>
              <a:t>03-11-2025</a:t>
            </a:fld>
            <a:endParaRPr lang="en-IN"/>
          </a:p>
        </p:txBody>
      </p:sp>
      <p:sp>
        <p:nvSpPr>
          <p:cNvPr id="4" name="Footer Placeholder 3">
            <a:extLst>
              <a:ext uri="{FF2B5EF4-FFF2-40B4-BE49-F238E27FC236}">
                <a16:creationId xmlns:a16="http://schemas.microsoft.com/office/drawing/2014/main" id="{FDB110CA-88D6-739C-A7CE-6660CFFBF6C3}"/>
              </a:ext>
            </a:extLst>
          </p:cNvPr>
          <p:cNvSpPr>
            <a:spLocks noGrp="1"/>
          </p:cNvSpPr>
          <p:nvPr>
            <p:ph type="ftr" sz="quarter" idx="11"/>
          </p:nvPr>
        </p:nvSpPr>
        <p:spPr/>
        <p:txBody>
          <a:bodyPr/>
          <a:lstStyle/>
          <a:p>
            <a:r>
              <a:rPr lang="en-IN"/>
              <a:t>MIT</a:t>
            </a:r>
          </a:p>
        </p:txBody>
      </p:sp>
      <p:sp>
        <p:nvSpPr>
          <p:cNvPr id="8" name="Slide Number Placeholder 7">
            <a:extLst>
              <a:ext uri="{FF2B5EF4-FFF2-40B4-BE49-F238E27FC236}">
                <a16:creationId xmlns:a16="http://schemas.microsoft.com/office/drawing/2014/main" id="{B6396C20-8304-F432-359E-35E03CCC6922}"/>
              </a:ext>
            </a:extLst>
          </p:cNvPr>
          <p:cNvSpPr>
            <a:spLocks noGrp="1"/>
          </p:cNvSpPr>
          <p:nvPr>
            <p:ph type="sldNum" sz="quarter" idx="12"/>
          </p:nvPr>
        </p:nvSpPr>
        <p:spPr/>
        <p:txBody>
          <a:bodyPr/>
          <a:lstStyle/>
          <a:p>
            <a:fld id="{157E8F69-36B6-4843-A9CE-6B9353F4DBAF}" type="slidenum">
              <a:rPr lang="en-IN" smtClean="0"/>
              <a:t>86</a:t>
            </a:fld>
            <a:endParaRPr lang="en-IN"/>
          </a:p>
        </p:txBody>
      </p:sp>
    </p:spTree>
    <p:extLst>
      <p:ext uri="{BB962C8B-B14F-4D97-AF65-F5344CB8AC3E}">
        <p14:creationId xmlns:p14="http://schemas.microsoft.com/office/powerpoint/2010/main" val="21973708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5280" y="260479"/>
            <a:ext cx="11643360" cy="3585597"/>
          </a:xfrm>
          <a:prstGeom prst="rect">
            <a:avLst/>
          </a:prstGeom>
        </p:spPr>
        <p:txBody>
          <a:bodyPr wrap="square">
            <a:spAutoFit/>
          </a:bodyPr>
          <a:lstStyle/>
          <a:p>
            <a:pPr algn="just"/>
            <a:r>
              <a:rPr lang="en-US" sz="2400" b="1" u="sng" dirty="0"/>
              <a:t>🧪 Steps in Security Testing:</a:t>
            </a:r>
          </a:p>
          <a:p>
            <a:pPr lvl="1" algn="just">
              <a:spcBef>
                <a:spcPts val="600"/>
              </a:spcBef>
              <a:buFont typeface="+mj-lt"/>
              <a:buAutoNum type="arabicPeriod"/>
            </a:pPr>
            <a:r>
              <a:rPr lang="en-US" sz="2400" b="1" dirty="0"/>
              <a:t>Understand security requirements</a:t>
            </a:r>
            <a:r>
              <a:rPr lang="en-US" sz="2400" dirty="0"/>
              <a:t> of the application.</a:t>
            </a:r>
          </a:p>
          <a:p>
            <a:pPr lvl="1" algn="just">
              <a:spcBef>
                <a:spcPts val="600"/>
              </a:spcBef>
              <a:buFont typeface="+mj-lt"/>
              <a:buAutoNum type="arabicPeriod"/>
            </a:pPr>
            <a:r>
              <a:rPr lang="en-US" sz="2400" b="1" dirty="0"/>
              <a:t>Identify potential threats</a:t>
            </a:r>
            <a:r>
              <a:rPr lang="en-US" sz="2400" dirty="0"/>
              <a:t> and vulnerabilities (e.g., SQL injection, XSS).</a:t>
            </a:r>
          </a:p>
          <a:p>
            <a:pPr lvl="1" algn="just">
              <a:spcBef>
                <a:spcPts val="600"/>
              </a:spcBef>
              <a:buFont typeface="+mj-lt"/>
              <a:buAutoNum type="arabicPeriod"/>
            </a:pPr>
            <a:r>
              <a:rPr lang="en-US" sz="2400" b="1" dirty="0"/>
              <a:t>Create threat models</a:t>
            </a:r>
            <a:r>
              <a:rPr lang="en-US" sz="2400" dirty="0"/>
              <a:t> or risk-based test cases.</a:t>
            </a:r>
          </a:p>
          <a:p>
            <a:pPr lvl="1" algn="just">
              <a:spcBef>
                <a:spcPts val="600"/>
              </a:spcBef>
              <a:buFont typeface="+mj-lt"/>
              <a:buAutoNum type="arabicPeriod"/>
            </a:pPr>
            <a:r>
              <a:rPr lang="en-US" sz="2400" b="1" dirty="0"/>
              <a:t>Execute security tests</a:t>
            </a:r>
            <a:r>
              <a:rPr lang="en-US" sz="2400" dirty="0"/>
              <a:t> (manual and automated).</a:t>
            </a:r>
          </a:p>
          <a:p>
            <a:pPr lvl="1" algn="just">
              <a:spcBef>
                <a:spcPts val="600"/>
              </a:spcBef>
              <a:buFont typeface="+mj-lt"/>
              <a:buAutoNum type="arabicPeriod"/>
            </a:pPr>
            <a:r>
              <a:rPr lang="en-US" sz="2400" b="1" dirty="0"/>
              <a:t>Analyze results</a:t>
            </a:r>
            <a:r>
              <a:rPr lang="en-US" sz="2400" dirty="0"/>
              <a:t>, log security defects.</a:t>
            </a:r>
          </a:p>
          <a:p>
            <a:pPr lvl="1" algn="just">
              <a:spcBef>
                <a:spcPts val="600"/>
              </a:spcBef>
              <a:buFont typeface="+mj-lt"/>
              <a:buAutoNum type="arabicPeriod"/>
            </a:pPr>
            <a:r>
              <a:rPr lang="en-US" sz="2400" b="1" dirty="0"/>
              <a:t>Fix vulnerabilities</a:t>
            </a:r>
            <a:r>
              <a:rPr lang="en-US" sz="2400" dirty="0"/>
              <a:t> and </a:t>
            </a:r>
            <a:r>
              <a:rPr lang="en-US" sz="2400" b="1" dirty="0"/>
              <a:t>retest</a:t>
            </a:r>
            <a:r>
              <a:rPr lang="en-US" sz="2400" dirty="0"/>
              <a:t> for resolution.</a:t>
            </a:r>
          </a:p>
          <a:p>
            <a:pPr lvl="1" algn="just">
              <a:spcBef>
                <a:spcPts val="600"/>
              </a:spcBef>
              <a:buFont typeface="+mj-lt"/>
              <a:buAutoNum type="arabicPeriod"/>
            </a:pPr>
            <a:r>
              <a:rPr lang="en-US" sz="2400" b="1" dirty="0"/>
              <a:t>Verify</a:t>
            </a:r>
            <a:r>
              <a:rPr lang="en-US" sz="2400" dirty="0"/>
              <a:t> against security standards (e.g., OWASP Top 10, ISO 27001).</a:t>
            </a:r>
          </a:p>
        </p:txBody>
      </p:sp>
      <p:sp>
        <p:nvSpPr>
          <p:cNvPr id="4" name="Rectangle 3"/>
          <p:cNvSpPr/>
          <p:nvPr/>
        </p:nvSpPr>
        <p:spPr>
          <a:xfrm>
            <a:off x="335280" y="3846076"/>
            <a:ext cx="4768678" cy="461665"/>
          </a:xfrm>
          <a:prstGeom prst="rect">
            <a:avLst/>
          </a:prstGeom>
        </p:spPr>
        <p:txBody>
          <a:bodyPr wrap="none">
            <a:spAutoFit/>
          </a:bodyPr>
          <a:lstStyle/>
          <a:p>
            <a:r>
              <a:rPr lang="en-US" sz="2400" b="1" u="sng" dirty="0"/>
              <a:t>🛠️ Security Testing Tools (Examples):</a:t>
            </a:r>
            <a:endParaRPr lang="en-IN" sz="2400" b="1" u="sng" dirty="0"/>
          </a:p>
        </p:txBody>
      </p:sp>
      <p:graphicFrame>
        <p:nvGraphicFramePr>
          <p:cNvPr id="5" name="Table 4"/>
          <p:cNvGraphicFramePr>
            <a:graphicFrameLocks noGrp="1"/>
          </p:cNvGraphicFramePr>
          <p:nvPr>
            <p:extLst>
              <p:ext uri="{D42A27DB-BD31-4B8C-83A1-F6EECF244321}">
                <p14:modId xmlns:p14="http://schemas.microsoft.com/office/powerpoint/2010/main" val="3435843914"/>
              </p:ext>
            </p:extLst>
          </p:nvPr>
        </p:nvGraphicFramePr>
        <p:xfrm>
          <a:off x="899160" y="4307741"/>
          <a:ext cx="10515600" cy="2438400"/>
        </p:xfrm>
        <a:graphic>
          <a:graphicData uri="http://schemas.openxmlformats.org/drawingml/2006/table">
            <a:tbl>
              <a:tblPr>
                <a:tableStyleId>{BDBED569-4797-4DF1-A0F4-6AAB3CD982D8}</a:tableStyleId>
              </a:tblPr>
              <a:tblGrid>
                <a:gridCol w="4084320">
                  <a:extLst>
                    <a:ext uri="{9D8B030D-6E8A-4147-A177-3AD203B41FA5}">
                      <a16:colId xmlns:a16="http://schemas.microsoft.com/office/drawing/2014/main" val="53801071"/>
                    </a:ext>
                  </a:extLst>
                </a:gridCol>
                <a:gridCol w="6431280">
                  <a:extLst>
                    <a:ext uri="{9D8B030D-6E8A-4147-A177-3AD203B41FA5}">
                      <a16:colId xmlns:a16="http://schemas.microsoft.com/office/drawing/2014/main" val="2540188512"/>
                    </a:ext>
                  </a:extLst>
                </a:gridCol>
              </a:tblGrid>
              <a:tr h="0">
                <a:tc>
                  <a:txBody>
                    <a:bodyPr/>
                    <a:lstStyle/>
                    <a:p>
                      <a:pPr algn="ctr"/>
                      <a:r>
                        <a:rPr lang="en-IN" sz="2400" b="1" u="sng" dirty="0"/>
                        <a:t>Tool Name</a:t>
                      </a:r>
                    </a:p>
                  </a:txBody>
                  <a:tcPr anchor="ctr"/>
                </a:tc>
                <a:tc>
                  <a:txBody>
                    <a:bodyPr/>
                    <a:lstStyle/>
                    <a:p>
                      <a:pPr algn="ctr"/>
                      <a:r>
                        <a:rPr lang="en-IN" sz="2400" b="1" u="sng" dirty="0"/>
                        <a:t>Purpose</a:t>
                      </a:r>
                    </a:p>
                  </a:txBody>
                  <a:tcPr anchor="ctr"/>
                </a:tc>
                <a:extLst>
                  <a:ext uri="{0D108BD9-81ED-4DB2-BD59-A6C34878D82A}">
                    <a16:rowId xmlns:a16="http://schemas.microsoft.com/office/drawing/2014/main" val="3300230527"/>
                  </a:ext>
                </a:extLst>
              </a:tr>
              <a:tr h="0">
                <a:tc>
                  <a:txBody>
                    <a:bodyPr/>
                    <a:lstStyle/>
                    <a:p>
                      <a:r>
                        <a:rPr lang="en-IN" sz="2000" dirty="0"/>
                        <a:t>OWASP ZAP</a:t>
                      </a:r>
                    </a:p>
                  </a:txBody>
                  <a:tcPr anchor="ctr"/>
                </a:tc>
                <a:tc>
                  <a:txBody>
                    <a:bodyPr/>
                    <a:lstStyle/>
                    <a:p>
                      <a:r>
                        <a:rPr lang="en-IN" sz="2000" dirty="0"/>
                        <a:t>Web application vulnerability scanning</a:t>
                      </a:r>
                    </a:p>
                  </a:txBody>
                  <a:tcPr anchor="ctr"/>
                </a:tc>
                <a:extLst>
                  <a:ext uri="{0D108BD9-81ED-4DB2-BD59-A6C34878D82A}">
                    <a16:rowId xmlns:a16="http://schemas.microsoft.com/office/drawing/2014/main" val="231035341"/>
                  </a:ext>
                </a:extLst>
              </a:tr>
              <a:tr h="0">
                <a:tc>
                  <a:txBody>
                    <a:bodyPr/>
                    <a:lstStyle/>
                    <a:p>
                      <a:r>
                        <a:rPr lang="en-IN" sz="2000" dirty="0"/>
                        <a:t>Burp Suite</a:t>
                      </a:r>
                    </a:p>
                  </a:txBody>
                  <a:tcPr anchor="ctr"/>
                </a:tc>
                <a:tc>
                  <a:txBody>
                    <a:bodyPr/>
                    <a:lstStyle/>
                    <a:p>
                      <a:r>
                        <a:rPr lang="en-IN" sz="2000" dirty="0"/>
                        <a:t>Penetration testing</a:t>
                      </a:r>
                    </a:p>
                  </a:txBody>
                  <a:tcPr anchor="ctr"/>
                </a:tc>
                <a:extLst>
                  <a:ext uri="{0D108BD9-81ED-4DB2-BD59-A6C34878D82A}">
                    <a16:rowId xmlns:a16="http://schemas.microsoft.com/office/drawing/2014/main" val="1027690858"/>
                  </a:ext>
                </a:extLst>
              </a:tr>
              <a:tr h="0">
                <a:tc>
                  <a:txBody>
                    <a:bodyPr/>
                    <a:lstStyle/>
                    <a:p>
                      <a:r>
                        <a:rPr lang="en-IN" sz="2000"/>
                        <a:t>Nessus</a:t>
                      </a:r>
                    </a:p>
                  </a:txBody>
                  <a:tcPr anchor="ctr"/>
                </a:tc>
                <a:tc>
                  <a:txBody>
                    <a:bodyPr/>
                    <a:lstStyle/>
                    <a:p>
                      <a:r>
                        <a:rPr lang="en-IN" sz="2000" dirty="0"/>
                        <a:t>Vulnerability assessment</a:t>
                      </a:r>
                    </a:p>
                  </a:txBody>
                  <a:tcPr anchor="ctr"/>
                </a:tc>
                <a:extLst>
                  <a:ext uri="{0D108BD9-81ED-4DB2-BD59-A6C34878D82A}">
                    <a16:rowId xmlns:a16="http://schemas.microsoft.com/office/drawing/2014/main" val="2315320795"/>
                  </a:ext>
                </a:extLst>
              </a:tr>
              <a:tr h="0">
                <a:tc>
                  <a:txBody>
                    <a:bodyPr/>
                    <a:lstStyle/>
                    <a:p>
                      <a:r>
                        <a:rPr lang="en-IN" sz="2000"/>
                        <a:t>Metasploit</a:t>
                      </a:r>
                    </a:p>
                  </a:txBody>
                  <a:tcPr anchor="ctr"/>
                </a:tc>
                <a:tc>
                  <a:txBody>
                    <a:bodyPr/>
                    <a:lstStyle/>
                    <a:p>
                      <a:r>
                        <a:rPr lang="en-IN" sz="2000" dirty="0"/>
                        <a:t>Exploitation framework</a:t>
                      </a:r>
                    </a:p>
                  </a:txBody>
                  <a:tcPr anchor="ctr"/>
                </a:tc>
                <a:extLst>
                  <a:ext uri="{0D108BD9-81ED-4DB2-BD59-A6C34878D82A}">
                    <a16:rowId xmlns:a16="http://schemas.microsoft.com/office/drawing/2014/main" val="608649098"/>
                  </a:ext>
                </a:extLst>
              </a:tr>
              <a:tr h="0">
                <a:tc>
                  <a:txBody>
                    <a:bodyPr/>
                    <a:lstStyle/>
                    <a:p>
                      <a:r>
                        <a:rPr lang="en-IN" sz="2000"/>
                        <a:t>Fortify</a:t>
                      </a:r>
                    </a:p>
                  </a:txBody>
                  <a:tcPr anchor="ctr"/>
                </a:tc>
                <a:tc>
                  <a:txBody>
                    <a:bodyPr/>
                    <a:lstStyle/>
                    <a:p>
                      <a:r>
                        <a:rPr lang="en-IN" sz="2000" dirty="0"/>
                        <a:t>Static code analysis</a:t>
                      </a:r>
                    </a:p>
                  </a:txBody>
                  <a:tcPr anchor="ctr"/>
                </a:tc>
                <a:extLst>
                  <a:ext uri="{0D108BD9-81ED-4DB2-BD59-A6C34878D82A}">
                    <a16:rowId xmlns:a16="http://schemas.microsoft.com/office/drawing/2014/main" val="755798353"/>
                  </a:ext>
                </a:extLst>
              </a:tr>
            </a:tbl>
          </a:graphicData>
        </a:graphic>
      </p:graphicFrame>
      <p:sp>
        <p:nvSpPr>
          <p:cNvPr id="2" name="Date Placeholder 1">
            <a:extLst>
              <a:ext uri="{FF2B5EF4-FFF2-40B4-BE49-F238E27FC236}">
                <a16:creationId xmlns:a16="http://schemas.microsoft.com/office/drawing/2014/main" id="{382F08E0-D5C3-5A98-E249-FA87530A94D5}"/>
              </a:ext>
            </a:extLst>
          </p:cNvPr>
          <p:cNvSpPr>
            <a:spLocks noGrp="1"/>
          </p:cNvSpPr>
          <p:nvPr>
            <p:ph type="dt" sz="half" idx="10"/>
          </p:nvPr>
        </p:nvSpPr>
        <p:spPr/>
        <p:txBody>
          <a:bodyPr/>
          <a:lstStyle/>
          <a:p>
            <a:fld id="{32B761AB-1F03-42B7-A8B4-AA36B13EB0DC}" type="datetime1">
              <a:rPr lang="en-IN" smtClean="0"/>
              <a:t>03-11-2025</a:t>
            </a:fld>
            <a:endParaRPr lang="en-IN"/>
          </a:p>
        </p:txBody>
      </p:sp>
      <p:sp>
        <p:nvSpPr>
          <p:cNvPr id="6" name="Footer Placeholder 5">
            <a:extLst>
              <a:ext uri="{FF2B5EF4-FFF2-40B4-BE49-F238E27FC236}">
                <a16:creationId xmlns:a16="http://schemas.microsoft.com/office/drawing/2014/main" id="{A82AC5D3-457B-C4A6-C04D-6BD66DBD9CB3}"/>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6116FBE2-76EE-6BF1-EC11-4EF01F2E0235}"/>
              </a:ext>
            </a:extLst>
          </p:cNvPr>
          <p:cNvSpPr>
            <a:spLocks noGrp="1"/>
          </p:cNvSpPr>
          <p:nvPr>
            <p:ph type="sldNum" sz="quarter" idx="12"/>
          </p:nvPr>
        </p:nvSpPr>
        <p:spPr/>
        <p:txBody>
          <a:bodyPr/>
          <a:lstStyle/>
          <a:p>
            <a:fld id="{157E8F69-36B6-4843-A9CE-6B9353F4DBAF}" type="slidenum">
              <a:rPr lang="en-IN" smtClean="0"/>
              <a:t>87</a:t>
            </a:fld>
            <a:endParaRPr lang="en-IN"/>
          </a:p>
        </p:txBody>
      </p:sp>
    </p:spTree>
    <p:extLst>
      <p:ext uri="{BB962C8B-B14F-4D97-AF65-F5344CB8AC3E}">
        <p14:creationId xmlns:p14="http://schemas.microsoft.com/office/powerpoint/2010/main" val="400733741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4320" y="263158"/>
            <a:ext cx="11734800" cy="3585597"/>
          </a:xfrm>
          <a:prstGeom prst="rect">
            <a:avLst/>
          </a:prstGeom>
        </p:spPr>
        <p:txBody>
          <a:bodyPr wrap="square">
            <a:spAutoFit/>
          </a:bodyPr>
          <a:lstStyle/>
          <a:p>
            <a:pPr>
              <a:spcBef>
                <a:spcPts val="600"/>
              </a:spcBef>
            </a:pPr>
            <a:r>
              <a:rPr lang="en-IN" sz="2400" b="1" u="sng" dirty="0"/>
              <a:t>🚨 Common Security Vulnerabilities:</a:t>
            </a:r>
          </a:p>
          <a:p>
            <a:pPr marL="800100" lvl="1" indent="-342900">
              <a:spcBef>
                <a:spcPts val="600"/>
              </a:spcBef>
              <a:buFont typeface="Wingdings" panose="05000000000000000000" pitchFamily="2" charset="2"/>
              <a:buChar char="Ø"/>
            </a:pPr>
            <a:r>
              <a:rPr lang="en-IN" sz="2400" dirty="0"/>
              <a:t>SQL Injection</a:t>
            </a:r>
          </a:p>
          <a:p>
            <a:pPr marL="800100" lvl="1" indent="-342900">
              <a:spcBef>
                <a:spcPts val="600"/>
              </a:spcBef>
              <a:buFont typeface="Wingdings" panose="05000000000000000000" pitchFamily="2" charset="2"/>
              <a:buChar char="Ø"/>
            </a:pPr>
            <a:r>
              <a:rPr lang="en-IN" sz="2400" dirty="0"/>
              <a:t>Cross-Site Scripting (XSS)</a:t>
            </a:r>
          </a:p>
          <a:p>
            <a:pPr marL="800100" lvl="1" indent="-342900">
              <a:spcBef>
                <a:spcPts val="600"/>
              </a:spcBef>
              <a:buFont typeface="Wingdings" panose="05000000000000000000" pitchFamily="2" charset="2"/>
              <a:buChar char="Ø"/>
            </a:pPr>
            <a:r>
              <a:rPr lang="en-IN" sz="2400" dirty="0"/>
              <a:t>Cross-Site Request Forgery (CSRF)</a:t>
            </a:r>
          </a:p>
          <a:p>
            <a:pPr marL="800100" lvl="1" indent="-342900">
              <a:spcBef>
                <a:spcPts val="600"/>
              </a:spcBef>
              <a:buFont typeface="Wingdings" panose="05000000000000000000" pitchFamily="2" charset="2"/>
              <a:buChar char="Ø"/>
            </a:pPr>
            <a:r>
              <a:rPr lang="en-IN" sz="2400" dirty="0"/>
              <a:t>Buffer Overflow</a:t>
            </a:r>
          </a:p>
          <a:p>
            <a:pPr marL="800100" lvl="1" indent="-342900">
              <a:spcBef>
                <a:spcPts val="600"/>
              </a:spcBef>
              <a:buFont typeface="Wingdings" panose="05000000000000000000" pitchFamily="2" charset="2"/>
              <a:buChar char="Ø"/>
            </a:pPr>
            <a:r>
              <a:rPr lang="en-IN" sz="2400" dirty="0"/>
              <a:t>Insecure Authentication</a:t>
            </a:r>
          </a:p>
          <a:p>
            <a:pPr marL="800100" lvl="1" indent="-342900">
              <a:spcBef>
                <a:spcPts val="600"/>
              </a:spcBef>
              <a:buFont typeface="Wingdings" panose="05000000000000000000" pitchFamily="2" charset="2"/>
              <a:buChar char="Ø"/>
            </a:pPr>
            <a:r>
              <a:rPr lang="en-IN" sz="2400" dirty="0"/>
              <a:t>Data Exposure</a:t>
            </a:r>
          </a:p>
          <a:p>
            <a:pPr marL="800100" lvl="1" indent="-342900">
              <a:spcBef>
                <a:spcPts val="600"/>
              </a:spcBef>
              <a:buFont typeface="Wingdings" panose="05000000000000000000" pitchFamily="2" charset="2"/>
              <a:buChar char="Ø"/>
            </a:pPr>
            <a:r>
              <a:rPr lang="en-IN" sz="2400" dirty="0"/>
              <a:t>Insecure APIs</a:t>
            </a:r>
          </a:p>
        </p:txBody>
      </p:sp>
      <p:sp>
        <p:nvSpPr>
          <p:cNvPr id="4" name="Rectangle 3"/>
          <p:cNvSpPr/>
          <p:nvPr/>
        </p:nvSpPr>
        <p:spPr>
          <a:xfrm>
            <a:off x="274320" y="4016395"/>
            <a:ext cx="11597640" cy="2246769"/>
          </a:xfrm>
          <a:prstGeom prst="rect">
            <a:avLst/>
          </a:prstGeom>
        </p:spPr>
        <p:txBody>
          <a:bodyPr wrap="square">
            <a:spAutoFit/>
          </a:bodyPr>
          <a:lstStyle/>
          <a:p>
            <a:pPr algn="just">
              <a:spcBef>
                <a:spcPts val="600"/>
              </a:spcBef>
            </a:pPr>
            <a:r>
              <a:rPr lang="en-US" sz="2400" b="1" u="sng" dirty="0"/>
              <a:t>🎯 Why Security Testing is Critical?</a:t>
            </a:r>
          </a:p>
          <a:p>
            <a:pPr marL="800100" lvl="1" indent="-342900" algn="just">
              <a:spcBef>
                <a:spcPts val="600"/>
              </a:spcBef>
              <a:buFont typeface="Wingdings" panose="05000000000000000000" pitchFamily="2" charset="2"/>
              <a:buChar char="Ø"/>
            </a:pPr>
            <a:r>
              <a:rPr lang="en-US" sz="2400" dirty="0"/>
              <a:t>Prevents </a:t>
            </a:r>
            <a:r>
              <a:rPr lang="en-US" sz="2400" b="1" dirty="0"/>
              <a:t>data breaches</a:t>
            </a:r>
            <a:r>
              <a:rPr lang="en-US" sz="2400" dirty="0"/>
              <a:t> and </a:t>
            </a:r>
            <a:r>
              <a:rPr lang="en-US" sz="2400" b="1" dirty="0"/>
              <a:t>financial losses</a:t>
            </a:r>
            <a:endParaRPr lang="en-US" sz="2400" dirty="0"/>
          </a:p>
          <a:p>
            <a:pPr marL="800100" lvl="1" indent="-342900" algn="just">
              <a:spcBef>
                <a:spcPts val="600"/>
              </a:spcBef>
              <a:buFont typeface="Wingdings" panose="05000000000000000000" pitchFamily="2" charset="2"/>
              <a:buChar char="Ø"/>
            </a:pPr>
            <a:r>
              <a:rPr lang="en-US" sz="2400" dirty="0"/>
              <a:t>Protects </a:t>
            </a:r>
            <a:r>
              <a:rPr lang="en-US" sz="2400" b="1" dirty="0"/>
              <a:t>reputation</a:t>
            </a:r>
            <a:r>
              <a:rPr lang="en-US" sz="2400" dirty="0"/>
              <a:t> of the organization</a:t>
            </a:r>
          </a:p>
          <a:p>
            <a:pPr marL="800100" lvl="1" indent="-342900" algn="just">
              <a:spcBef>
                <a:spcPts val="600"/>
              </a:spcBef>
              <a:buFont typeface="Wingdings" panose="05000000000000000000" pitchFamily="2" charset="2"/>
              <a:buChar char="Ø"/>
            </a:pPr>
            <a:r>
              <a:rPr lang="en-US" sz="2400" dirty="0"/>
              <a:t>Ensures </a:t>
            </a:r>
            <a:r>
              <a:rPr lang="en-US" sz="2400" b="1" dirty="0"/>
              <a:t>legal and regulatory compliance</a:t>
            </a:r>
            <a:endParaRPr lang="en-US" sz="2400" dirty="0"/>
          </a:p>
          <a:p>
            <a:pPr marL="800100" lvl="1" indent="-342900" algn="just">
              <a:spcBef>
                <a:spcPts val="600"/>
              </a:spcBef>
              <a:buFont typeface="Wingdings" panose="05000000000000000000" pitchFamily="2" charset="2"/>
              <a:buChar char="Ø"/>
            </a:pPr>
            <a:r>
              <a:rPr lang="en-US" sz="2400" dirty="0"/>
              <a:t>Builds </a:t>
            </a:r>
            <a:r>
              <a:rPr lang="en-US" sz="2400" b="1" dirty="0"/>
              <a:t>user trust</a:t>
            </a:r>
            <a:r>
              <a:rPr lang="en-US" sz="2400" dirty="0"/>
              <a:t> in the system</a:t>
            </a:r>
          </a:p>
        </p:txBody>
      </p:sp>
      <p:sp>
        <p:nvSpPr>
          <p:cNvPr id="2" name="Date Placeholder 1">
            <a:extLst>
              <a:ext uri="{FF2B5EF4-FFF2-40B4-BE49-F238E27FC236}">
                <a16:creationId xmlns:a16="http://schemas.microsoft.com/office/drawing/2014/main" id="{A578B10B-5F96-4E5C-A5FE-1938ECEB8A56}"/>
              </a:ext>
            </a:extLst>
          </p:cNvPr>
          <p:cNvSpPr>
            <a:spLocks noGrp="1"/>
          </p:cNvSpPr>
          <p:nvPr>
            <p:ph type="dt" sz="half" idx="10"/>
          </p:nvPr>
        </p:nvSpPr>
        <p:spPr/>
        <p:txBody>
          <a:bodyPr/>
          <a:lstStyle/>
          <a:p>
            <a:fld id="{D0BFC3F0-4A1C-4B34-95D5-1D15BB70BD91}" type="datetime1">
              <a:rPr lang="en-IN" smtClean="0"/>
              <a:t>03-11-2025</a:t>
            </a:fld>
            <a:endParaRPr lang="en-IN"/>
          </a:p>
        </p:txBody>
      </p:sp>
      <p:sp>
        <p:nvSpPr>
          <p:cNvPr id="5" name="Footer Placeholder 4">
            <a:extLst>
              <a:ext uri="{FF2B5EF4-FFF2-40B4-BE49-F238E27FC236}">
                <a16:creationId xmlns:a16="http://schemas.microsoft.com/office/drawing/2014/main" id="{2697C9FF-4D27-2A5A-F7E3-7E0E9392AA13}"/>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23C51345-37AC-A61D-33BC-99B4FAFF2DF4}"/>
              </a:ext>
            </a:extLst>
          </p:cNvPr>
          <p:cNvSpPr>
            <a:spLocks noGrp="1"/>
          </p:cNvSpPr>
          <p:nvPr>
            <p:ph type="sldNum" sz="quarter" idx="12"/>
          </p:nvPr>
        </p:nvSpPr>
        <p:spPr/>
        <p:txBody>
          <a:bodyPr/>
          <a:lstStyle/>
          <a:p>
            <a:fld id="{157E8F69-36B6-4843-A9CE-6B9353F4DBAF}" type="slidenum">
              <a:rPr lang="en-IN" smtClean="0"/>
              <a:t>88</a:t>
            </a:fld>
            <a:endParaRPr lang="en-IN"/>
          </a:p>
        </p:txBody>
      </p:sp>
    </p:spTree>
    <p:extLst>
      <p:ext uri="{BB962C8B-B14F-4D97-AF65-F5344CB8AC3E}">
        <p14:creationId xmlns:p14="http://schemas.microsoft.com/office/powerpoint/2010/main" val="19324277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3840" y="389096"/>
            <a:ext cx="11704320" cy="1723549"/>
          </a:xfrm>
          <a:prstGeom prst="rect">
            <a:avLst/>
          </a:prstGeom>
        </p:spPr>
        <p:txBody>
          <a:bodyPr wrap="square">
            <a:spAutoFit/>
          </a:bodyPr>
          <a:lstStyle/>
          <a:p>
            <a:pPr algn="ctr">
              <a:spcBef>
                <a:spcPts val="1200"/>
              </a:spcBef>
            </a:pPr>
            <a:r>
              <a:rPr lang="en-US" sz="2400" b="1" u="sng" dirty="0"/>
              <a:t>💪 Robustness Testing</a:t>
            </a:r>
            <a:endParaRPr lang="en-US" sz="2400" b="1" dirty="0"/>
          </a:p>
          <a:p>
            <a:pPr algn="just">
              <a:spcBef>
                <a:spcPts val="1200"/>
              </a:spcBef>
            </a:pPr>
            <a:r>
              <a:rPr lang="en-US" sz="2400" b="1" dirty="0"/>
              <a:t>	Robustness Testing</a:t>
            </a:r>
            <a:r>
              <a:rPr lang="en-US" sz="2400" dirty="0"/>
              <a:t> is a </a:t>
            </a:r>
            <a:r>
              <a:rPr lang="en-US" sz="2400" b="1" dirty="0"/>
              <a:t>type of software testing</a:t>
            </a:r>
            <a:r>
              <a:rPr lang="en-US" sz="2400" dirty="0"/>
              <a:t> that checks whether a software system behaves correctly and </a:t>
            </a:r>
            <a:r>
              <a:rPr lang="en-US" sz="2400" b="1" dirty="0"/>
              <a:t>gracefully handles unexpected or invalid inputs, stressful conditions, and system failures</a:t>
            </a:r>
            <a:r>
              <a:rPr lang="en-US" sz="2400" dirty="0"/>
              <a:t>.</a:t>
            </a:r>
          </a:p>
        </p:txBody>
      </p:sp>
      <p:sp>
        <p:nvSpPr>
          <p:cNvPr id="4" name="Rectangle 3"/>
          <p:cNvSpPr/>
          <p:nvPr/>
        </p:nvSpPr>
        <p:spPr>
          <a:xfrm>
            <a:off x="243840" y="2385476"/>
            <a:ext cx="11704320" cy="3662541"/>
          </a:xfrm>
          <a:prstGeom prst="rect">
            <a:avLst/>
          </a:prstGeom>
        </p:spPr>
        <p:txBody>
          <a:bodyPr wrap="square">
            <a:spAutoFit/>
          </a:bodyPr>
          <a:lstStyle/>
          <a:p>
            <a:pPr algn="just">
              <a:spcBef>
                <a:spcPts val="1200"/>
              </a:spcBef>
            </a:pPr>
            <a:r>
              <a:rPr lang="en-US" sz="2400" b="1" u="sng" dirty="0"/>
              <a:t>🎯 Objective of Robustness Testing:</a:t>
            </a:r>
          </a:p>
          <a:p>
            <a:pPr algn="just">
              <a:spcBef>
                <a:spcPts val="1200"/>
              </a:spcBef>
            </a:pPr>
            <a:r>
              <a:rPr lang="en-US" sz="2400" dirty="0"/>
              <a:t>To ensure that the software:</a:t>
            </a:r>
          </a:p>
          <a:p>
            <a:pPr marL="800100" lvl="1" indent="-342900" algn="just">
              <a:spcBef>
                <a:spcPts val="1200"/>
              </a:spcBef>
              <a:buFont typeface="Wingdings" panose="05000000000000000000" pitchFamily="2" charset="2"/>
              <a:buChar char="Ø"/>
            </a:pPr>
            <a:r>
              <a:rPr lang="en-US" sz="2400" b="1" dirty="0"/>
              <a:t>Does not crash</a:t>
            </a:r>
            <a:r>
              <a:rPr lang="en-US" sz="2400" dirty="0"/>
              <a:t> or behave unpredictably when faced with </a:t>
            </a:r>
            <a:r>
              <a:rPr lang="en-US" sz="2400" b="1" dirty="0"/>
              <a:t>invalid</a:t>
            </a:r>
            <a:r>
              <a:rPr lang="en-US" sz="2400" dirty="0"/>
              <a:t>, </a:t>
            </a:r>
            <a:r>
              <a:rPr lang="en-US" sz="2400" b="1" dirty="0"/>
              <a:t>unexpected</a:t>
            </a:r>
            <a:r>
              <a:rPr lang="en-US" sz="2400" dirty="0"/>
              <a:t>, or </a:t>
            </a:r>
            <a:r>
              <a:rPr lang="en-US" sz="2400" b="1" dirty="0"/>
              <a:t>extreme input conditions</a:t>
            </a:r>
            <a:r>
              <a:rPr lang="en-US" sz="2400" dirty="0"/>
              <a:t>.</a:t>
            </a:r>
          </a:p>
          <a:p>
            <a:pPr marL="800100" lvl="1" indent="-342900" algn="just">
              <a:spcBef>
                <a:spcPts val="1200"/>
              </a:spcBef>
              <a:buFont typeface="Wingdings" panose="05000000000000000000" pitchFamily="2" charset="2"/>
              <a:buChar char="Ø"/>
            </a:pPr>
            <a:r>
              <a:rPr lang="en-US" sz="2400" dirty="0"/>
              <a:t>Handles </a:t>
            </a:r>
            <a:r>
              <a:rPr lang="en-US" sz="2400" b="1" dirty="0"/>
              <a:t>stressful system states</a:t>
            </a:r>
            <a:r>
              <a:rPr lang="en-US" sz="2400" dirty="0"/>
              <a:t> (like memory shortages or hardware failures) </a:t>
            </a:r>
            <a:r>
              <a:rPr lang="en-US" sz="2400" b="1" dirty="0"/>
              <a:t>gracefully</a:t>
            </a:r>
            <a:r>
              <a:rPr lang="en-US" sz="2400" dirty="0"/>
              <a:t>.</a:t>
            </a:r>
          </a:p>
          <a:p>
            <a:pPr marL="800100" lvl="1" indent="-342900" algn="just">
              <a:spcBef>
                <a:spcPts val="1200"/>
              </a:spcBef>
              <a:buFont typeface="Wingdings" panose="05000000000000000000" pitchFamily="2" charset="2"/>
              <a:buChar char="Ø"/>
            </a:pPr>
            <a:r>
              <a:rPr lang="en-US" sz="2400" dirty="0"/>
              <a:t>Provides </a:t>
            </a:r>
            <a:r>
              <a:rPr lang="en-US" sz="2400" b="1" dirty="0"/>
              <a:t>meaningful error messages</a:t>
            </a:r>
            <a:r>
              <a:rPr lang="en-US" sz="2400" dirty="0"/>
              <a:t> and </a:t>
            </a:r>
            <a:r>
              <a:rPr lang="en-US" sz="2400" b="1" dirty="0"/>
              <a:t>recovers properly</a:t>
            </a:r>
            <a:r>
              <a:rPr lang="en-US" sz="2400" dirty="0"/>
              <a:t> without loss of functionality.</a:t>
            </a:r>
          </a:p>
        </p:txBody>
      </p:sp>
      <p:sp>
        <p:nvSpPr>
          <p:cNvPr id="2" name="Date Placeholder 1">
            <a:extLst>
              <a:ext uri="{FF2B5EF4-FFF2-40B4-BE49-F238E27FC236}">
                <a16:creationId xmlns:a16="http://schemas.microsoft.com/office/drawing/2014/main" id="{8B45446F-C811-9DA2-2AAB-201341BD04AC}"/>
              </a:ext>
            </a:extLst>
          </p:cNvPr>
          <p:cNvSpPr>
            <a:spLocks noGrp="1"/>
          </p:cNvSpPr>
          <p:nvPr>
            <p:ph type="dt" sz="half" idx="10"/>
          </p:nvPr>
        </p:nvSpPr>
        <p:spPr/>
        <p:txBody>
          <a:bodyPr/>
          <a:lstStyle/>
          <a:p>
            <a:fld id="{22B9E660-89D2-481C-9B8F-A84E39761770}" type="datetime1">
              <a:rPr lang="en-IN" smtClean="0"/>
              <a:t>03-11-2025</a:t>
            </a:fld>
            <a:endParaRPr lang="en-IN"/>
          </a:p>
        </p:txBody>
      </p:sp>
      <p:sp>
        <p:nvSpPr>
          <p:cNvPr id="5" name="Footer Placeholder 4">
            <a:extLst>
              <a:ext uri="{FF2B5EF4-FFF2-40B4-BE49-F238E27FC236}">
                <a16:creationId xmlns:a16="http://schemas.microsoft.com/office/drawing/2014/main" id="{791AE0A3-A6BA-1AC6-459D-43406943181B}"/>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3399E710-D077-D2CB-04AB-06A4A8A9FF66}"/>
              </a:ext>
            </a:extLst>
          </p:cNvPr>
          <p:cNvSpPr>
            <a:spLocks noGrp="1"/>
          </p:cNvSpPr>
          <p:nvPr>
            <p:ph type="sldNum" sz="quarter" idx="12"/>
          </p:nvPr>
        </p:nvSpPr>
        <p:spPr/>
        <p:txBody>
          <a:bodyPr/>
          <a:lstStyle/>
          <a:p>
            <a:fld id="{157E8F69-36B6-4843-A9CE-6B9353F4DBAF}" type="slidenum">
              <a:rPr lang="en-IN" smtClean="0"/>
              <a:t>89</a:t>
            </a:fld>
            <a:endParaRPr lang="en-IN"/>
          </a:p>
        </p:txBody>
      </p:sp>
    </p:spTree>
    <p:extLst>
      <p:ext uri="{BB962C8B-B14F-4D97-AF65-F5344CB8AC3E}">
        <p14:creationId xmlns:p14="http://schemas.microsoft.com/office/powerpoint/2010/main" val="77093870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34568" y="196334"/>
            <a:ext cx="4609275" cy="461665"/>
          </a:xfrm>
          <a:prstGeom prst="rect">
            <a:avLst/>
          </a:prstGeom>
        </p:spPr>
        <p:txBody>
          <a:bodyPr wrap="none">
            <a:spAutoFit/>
          </a:bodyPr>
          <a:lstStyle/>
          <a:p>
            <a:r>
              <a:rPr lang="en-US" sz="2400" b="1" u="sng" dirty="0"/>
              <a:t>🧪 What Robustness Testing Covers:</a:t>
            </a:r>
            <a:endParaRPr lang="en-IN" sz="2400" b="1" u="sng" dirty="0"/>
          </a:p>
        </p:txBody>
      </p:sp>
      <p:graphicFrame>
        <p:nvGraphicFramePr>
          <p:cNvPr id="4" name="Table 3"/>
          <p:cNvGraphicFramePr>
            <a:graphicFrameLocks noGrp="1"/>
          </p:cNvGraphicFramePr>
          <p:nvPr>
            <p:extLst>
              <p:ext uri="{D42A27DB-BD31-4B8C-83A1-F6EECF244321}">
                <p14:modId xmlns:p14="http://schemas.microsoft.com/office/powerpoint/2010/main" val="3889862206"/>
              </p:ext>
            </p:extLst>
          </p:nvPr>
        </p:nvGraphicFramePr>
        <p:xfrm>
          <a:off x="234568" y="657999"/>
          <a:ext cx="11637392" cy="2438400"/>
        </p:xfrm>
        <a:graphic>
          <a:graphicData uri="http://schemas.openxmlformats.org/drawingml/2006/table">
            <a:tbl>
              <a:tblPr>
                <a:tableStyleId>{8799B23B-EC83-4686-B30A-512413B5E67A}</a:tableStyleId>
              </a:tblPr>
              <a:tblGrid>
                <a:gridCol w="3535210">
                  <a:extLst>
                    <a:ext uri="{9D8B030D-6E8A-4147-A177-3AD203B41FA5}">
                      <a16:colId xmlns:a16="http://schemas.microsoft.com/office/drawing/2014/main" val="3833901787"/>
                    </a:ext>
                  </a:extLst>
                </a:gridCol>
                <a:gridCol w="8102182">
                  <a:extLst>
                    <a:ext uri="{9D8B030D-6E8A-4147-A177-3AD203B41FA5}">
                      <a16:colId xmlns:a16="http://schemas.microsoft.com/office/drawing/2014/main" val="2757155872"/>
                    </a:ext>
                  </a:extLst>
                </a:gridCol>
              </a:tblGrid>
              <a:tr h="0">
                <a:tc>
                  <a:txBody>
                    <a:bodyPr/>
                    <a:lstStyle/>
                    <a:p>
                      <a:pPr algn="ctr"/>
                      <a:r>
                        <a:rPr lang="en-IN" sz="2400" b="1" u="sng" dirty="0"/>
                        <a:t>Aspect</a:t>
                      </a:r>
                    </a:p>
                  </a:txBody>
                  <a:tcPr anchor="ctr"/>
                </a:tc>
                <a:tc>
                  <a:txBody>
                    <a:bodyPr/>
                    <a:lstStyle/>
                    <a:p>
                      <a:pPr algn="ctr"/>
                      <a:r>
                        <a:rPr lang="en-IN" sz="2400" b="1" u="sng" dirty="0"/>
                        <a:t>Example/Test Case</a:t>
                      </a:r>
                    </a:p>
                  </a:txBody>
                  <a:tcPr anchor="ctr"/>
                </a:tc>
                <a:extLst>
                  <a:ext uri="{0D108BD9-81ED-4DB2-BD59-A6C34878D82A}">
                    <a16:rowId xmlns:a16="http://schemas.microsoft.com/office/drawing/2014/main" val="908649661"/>
                  </a:ext>
                </a:extLst>
              </a:tr>
              <a:tr h="0">
                <a:tc>
                  <a:txBody>
                    <a:bodyPr/>
                    <a:lstStyle/>
                    <a:p>
                      <a:r>
                        <a:rPr lang="en-IN" sz="2000" dirty="0"/>
                        <a:t>Invalid inputs</a:t>
                      </a:r>
                    </a:p>
                  </a:txBody>
                  <a:tcPr anchor="ctr"/>
                </a:tc>
                <a:tc>
                  <a:txBody>
                    <a:bodyPr/>
                    <a:lstStyle/>
                    <a:p>
                      <a:r>
                        <a:rPr lang="en-US" sz="2000" dirty="0"/>
                        <a:t>Entering special characters, extremely large numbers, etc.</a:t>
                      </a:r>
                    </a:p>
                  </a:txBody>
                  <a:tcPr anchor="ctr"/>
                </a:tc>
                <a:extLst>
                  <a:ext uri="{0D108BD9-81ED-4DB2-BD59-A6C34878D82A}">
                    <a16:rowId xmlns:a16="http://schemas.microsoft.com/office/drawing/2014/main" val="630131426"/>
                  </a:ext>
                </a:extLst>
              </a:tr>
              <a:tr h="0">
                <a:tc>
                  <a:txBody>
                    <a:bodyPr/>
                    <a:lstStyle/>
                    <a:p>
                      <a:r>
                        <a:rPr lang="en-IN" sz="2000" dirty="0"/>
                        <a:t>Boundary conditions</a:t>
                      </a:r>
                    </a:p>
                  </a:txBody>
                  <a:tcPr anchor="ctr"/>
                </a:tc>
                <a:tc>
                  <a:txBody>
                    <a:bodyPr/>
                    <a:lstStyle/>
                    <a:p>
                      <a:r>
                        <a:rPr lang="en-US" sz="2000" dirty="0"/>
                        <a:t>Inputs near min/max limits of data types</a:t>
                      </a:r>
                    </a:p>
                  </a:txBody>
                  <a:tcPr anchor="ctr"/>
                </a:tc>
                <a:extLst>
                  <a:ext uri="{0D108BD9-81ED-4DB2-BD59-A6C34878D82A}">
                    <a16:rowId xmlns:a16="http://schemas.microsoft.com/office/drawing/2014/main" val="3702433706"/>
                  </a:ext>
                </a:extLst>
              </a:tr>
              <a:tr h="0">
                <a:tc>
                  <a:txBody>
                    <a:bodyPr/>
                    <a:lstStyle/>
                    <a:p>
                      <a:r>
                        <a:rPr lang="en-IN" sz="2000"/>
                        <a:t>Error handling</a:t>
                      </a:r>
                    </a:p>
                  </a:txBody>
                  <a:tcPr anchor="ctr"/>
                </a:tc>
                <a:tc>
                  <a:txBody>
                    <a:bodyPr/>
                    <a:lstStyle/>
                    <a:p>
                      <a:r>
                        <a:rPr lang="en-US" sz="2000" dirty="0"/>
                        <a:t>System behavior when a file is missing or connection fails</a:t>
                      </a:r>
                    </a:p>
                  </a:txBody>
                  <a:tcPr anchor="ctr"/>
                </a:tc>
                <a:extLst>
                  <a:ext uri="{0D108BD9-81ED-4DB2-BD59-A6C34878D82A}">
                    <a16:rowId xmlns:a16="http://schemas.microsoft.com/office/drawing/2014/main" val="35892907"/>
                  </a:ext>
                </a:extLst>
              </a:tr>
              <a:tr h="0">
                <a:tc>
                  <a:txBody>
                    <a:bodyPr/>
                    <a:lstStyle/>
                    <a:p>
                      <a:r>
                        <a:rPr lang="en-IN" sz="2000"/>
                        <a:t>Hardware/software failures</a:t>
                      </a:r>
                    </a:p>
                  </a:txBody>
                  <a:tcPr anchor="ctr"/>
                </a:tc>
                <a:tc>
                  <a:txBody>
                    <a:bodyPr/>
                    <a:lstStyle/>
                    <a:p>
                      <a:r>
                        <a:rPr lang="en-US" sz="2000" dirty="0"/>
                        <a:t>Test behavior when disk is full, network is down, etc.</a:t>
                      </a:r>
                    </a:p>
                  </a:txBody>
                  <a:tcPr anchor="ctr"/>
                </a:tc>
                <a:extLst>
                  <a:ext uri="{0D108BD9-81ED-4DB2-BD59-A6C34878D82A}">
                    <a16:rowId xmlns:a16="http://schemas.microsoft.com/office/drawing/2014/main" val="1393906899"/>
                  </a:ext>
                </a:extLst>
              </a:tr>
              <a:tr h="0">
                <a:tc>
                  <a:txBody>
                    <a:bodyPr/>
                    <a:lstStyle/>
                    <a:p>
                      <a:r>
                        <a:rPr lang="en-IN" sz="2000" dirty="0"/>
                        <a:t>Incorrect API usage</a:t>
                      </a:r>
                    </a:p>
                  </a:txBody>
                  <a:tcPr anchor="ctr"/>
                </a:tc>
                <a:tc>
                  <a:txBody>
                    <a:bodyPr/>
                    <a:lstStyle/>
                    <a:p>
                      <a:r>
                        <a:rPr lang="en-US" sz="2000" dirty="0"/>
                        <a:t>Calling functions with wrong parameter types</a:t>
                      </a:r>
                    </a:p>
                  </a:txBody>
                  <a:tcPr anchor="ctr"/>
                </a:tc>
                <a:extLst>
                  <a:ext uri="{0D108BD9-81ED-4DB2-BD59-A6C34878D82A}">
                    <a16:rowId xmlns:a16="http://schemas.microsoft.com/office/drawing/2014/main" val="3778746940"/>
                  </a:ext>
                </a:extLst>
              </a:tr>
            </a:tbl>
          </a:graphicData>
        </a:graphic>
      </p:graphicFrame>
      <p:sp>
        <p:nvSpPr>
          <p:cNvPr id="5" name="Rectangle 4"/>
          <p:cNvSpPr/>
          <p:nvPr/>
        </p:nvSpPr>
        <p:spPr>
          <a:xfrm>
            <a:off x="234568" y="3234452"/>
            <a:ext cx="7559377" cy="461665"/>
          </a:xfrm>
          <a:prstGeom prst="rect">
            <a:avLst/>
          </a:prstGeom>
        </p:spPr>
        <p:txBody>
          <a:bodyPr wrap="none">
            <a:spAutoFit/>
          </a:bodyPr>
          <a:lstStyle/>
          <a:p>
            <a:r>
              <a:rPr lang="en-US" sz="2400" b="1" u="sng" dirty="0"/>
              <a:t>🔍 Difference Between Robustness and Reliability Testing:</a:t>
            </a:r>
            <a:endParaRPr lang="en-IN" sz="2400" b="1" u="sng" dirty="0"/>
          </a:p>
        </p:txBody>
      </p:sp>
      <p:graphicFrame>
        <p:nvGraphicFramePr>
          <p:cNvPr id="6" name="Table 5"/>
          <p:cNvGraphicFramePr>
            <a:graphicFrameLocks noGrp="1"/>
          </p:cNvGraphicFramePr>
          <p:nvPr>
            <p:extLst>
              <p:ext uri="{D42A27DB-BD31-4B8C-83A1-F6EECF244321}">
                <p14:modId xmlns:p14="http://schemas.microsoft.com/office/powerpoint/2010/main" val="3494712396"/>
              </p:ext>
            </p:extLst>
          </p:nvPr>
        </p:nvGraphicFramePr>
        <p:xfrm>
          <a:off x="234568" y="3848894"/>
          <a:ext cx="11637393" cy="2255520"/>
        </p:xfrm>
        <a:graphic>
          <a:graphicData uri="http://schemas.openxmlformats.org/drawingml/2006/table">
            <a:tbl>
              <a:tblPr>
                <a:tableStyleId>{5DA37D80-6434-44D0-A028-1B22A696006F}</a:tableStyleId>
              </a:tblPr>
              <a:tblGrid>
                <a:gridCol w="2401952">
                  <a:extLst>
                    <a:ext uri="{9D8B030D-6E8A-4147-A177-3AD203B41FA5}">
                      <a16:colId xmlns:a16="http://schemas.microsoft.com/office/drawing/2014/main" val="3140568218"/>
                    </a:ext>
                  </a:extLst>
                </a:gridCol>
                <a:gridCol w="5356310">
                  <a:extLst>
                    <a:ext uri="{9D8B030D-6E8A-4147-A177-3AD203B41FA5}">
                      <a16:colId xmlns:a16="http://schemas.microsoft.com/office/drawing/2014/main" val="2286773641"/>
                    </a:ext>
                  </a:extLst>
                </a:gridCol>
                <a:gridCol w="3879131">
                  <a:extLst>
                    <a:ext uri="{9D8B030D-6E8A-4147-A177-3AD203B41FA5}">
                      <a16:colId xmlns:a16="http://schemas.microsoft.com/office/drawing/2014/main" val="887250055"/>
                    </a:ext>
                  </a:extLst>
                </a:gridCol>
              </a:tblGrid>
              <a:tr h="0">
                <a:tc>
                  <a:txBody>
                    <a:bodyPr/>
                    <a:lstStyle/>
                    <a:p>
                      <a:pPr algn="ctr"/>
                      <a:r>
                        <a:rPr lang="en-IN" sz="2400" b="1" u="sng" dirty="0"/>
                        <a:t>Aspect</a:t>
                      </a:r>
                    </a:p>
                  </a:txBody>
                  <a:tcPr anchor="ctr"/>
                </a:tc>
                <a:tc>
                  <a:txBody>
                    <a:bodyPr/>
                    <a:lstStyle/>
                    <a:p>
                      <a:pPr algn="ctr"/>
                      <a:r>
                        <a:rPr lang="en-IN" sz="2400" b="1" u="sng" dirty="0"/>
                        <a:t>Robustness Testing</a:t>
                      </a:r>
                    </a:p>
                  </a:txBody>
                  <a:tcPr anchor="ctr"/>
                </a:tc>
                <a:tc>
                  <a:txBody>
                    <a:bodyPr/>
                    <a:lstStyle/>
                    <a:p>
                      <a:pPr algn="ctr"/>
                      <a:r>
                        <a:rPr lang="en-IN" sz="2400" b="1" u="sng" dirty="0"/>
                        <a:t>Reliability Testing</a:t>
                      </a:r>
                    </a:p>
                  </a:txBody>
                  <a:tcPr anchor="ctr"/>
                </a:tc>
                <a:extLst>
                  <a:ext uri="{0D108BD9-81ED-4DB2-BD59-A6C34878D82A}">
                    <a16:rowId xmlns:a16="http://schemas.microsoft.com/office/drawing/2014/main" val="1972447681"/>
                  </a:ext>
                </a:extLst>
              </a:tr>
              <a:tr h="0">
                <a:tc>
                  <a:txBody>
                    <a:bodyPr/>
                    <a:lstStyle/>
                    <a:p>
                      <a:r>
                        <a:rPr lang="en-IN" sz="2000" dirty="0"/>
                        <a:t>Focus</a:t>
                      </a:r>
                    </a:p>
                  </a:txBody>
                  <a:tcPr anchor="ctr"/>
                </a:tc>
                <a:tc>
                  <a:txBody>
                    <a:bodyPr/>
                    <a:lstStyle/>
                    <a:p>
                      <a:r>
                        <a:rPr lang="en-IN" sz="2000" dirty="0" err="1"/>
                        <a:t>Behavior</a:t>
                      </a:r>
                      <a:r>
                        <a:rPr lang="en-IN" sz="2000" dirty="0"/>
                        <a:t> under invalid/unexpected conditions</a:t>
                      </a:r>
                    </a:p>
                  </a:txBody>
                  <a:tcPr anchor="ctr"/>
                </a:tc>
                <a:tc>
                  <a:txBody>
                    <a:bodyPr/>
                    <a:lstStyle/>
                    <a:p>
                      <a:r>
                        <a:rPr lang="en-US" sz="2000" dirty="0"/>
                        <a:t>Behavior under normal, expected conditions</a:t>
                      </a:r>
                    </a:p>
                  </a:txBody>
                  <a:tcPr anchor="ctr"/>
                </a:tc>
                <a:extLst>
                  <a:ext uri="{0D108BD9-81ED-4DB2-BD59-A6C34878D82A}">
                    <a16:rowId xmlns:a16="http://schemas.microsoft.com/office/drawing/2014/main" val="651275562"/>
                  </a:ext>
                </a:extLst>
              </a:tr>
              <a:tr h="0">
                <a:tc>
                  <a:txBody>
                    <a:bodyPr/>
                    <a:lstStyle/>
                    <a:p>
                      <a:r>
                        <a:rPr lang="en-IN" sz="2000"/>
                        <a:t>Objective</a:t>
                      </a:r>
                    </a:p>
                  </a:txBody>
                  <a:tcPr anchor="ctr"/>
                </a:tc>
                <a:tc>
                  <a:txBody>
                    <a:bodyPr/>
                    <a:lstStyle/>
                    <a:p>
                      <a:r>
                        <a:rPr lang="en-US" sz="2000" dirty="0"/>
                        <a:t>Ensure system doesn't break with bad input or failures</a:t>
                      </a:r>
                    </a:p>
                  </a:txBody>
                  <a:tcPr anchor="ctr"/>
                </a:tc>
                <a:tc>
                  <a:txBody>
                    <a:bodyPr/>
                    <a:lstStyle/>
                    <a:p>
                      <a:r>
                        <a:rPr lang="en-US" sz="2000" dirty="0"/>
                        <a:t>Ensure consistent and correct output over time</a:t>
                      </a:r>
                    </a:p>
                  </a:txBody>
                  <a:tcPr anchor="ctr"/>
                </a:tc>
                <a:extLst>
                  <a:ext uri="{0D108BD9-81ED-4DB2-BD59-A6C34878D82A}">
                    <a16:rowId xmlns:a16="http://schemas.microsoft.com/office/drawing/2014/main" val="1946541514"/>
                  </a:ext>
                </a:extLst>
              </a:tr>
              <a:tr h="0">
                <a:tc>
                  <a:txBody>
                    <a:bodyPr/>
                    <a:lstStyle/>
                    <a:p>
                      <a:r>
                        <a:rPr lang="en-IN" sz="2000"/>
                        <a:t>Input Type</a:t>
                      </a:r>
                    </a:p>
                  </a:txBody>
                  <a:tcPr anchor="ctr"/>
                </a:tc>
                <a:tc>
                  <a:txBody>
                    <a:bodyPr/>
                    <a:lstStyle/>
                    <a:p>
                      <a:r>
                        <a:rPr lang="en-US" sz="2000" dirty="0"/>
                        <a:t>Invalid, unexpected, or extreme inputs</a:t>
                      </a:r>
                    </a:p>
                  </a:txBody>
                  <a:tcPr anchor="ctr"/>
                </a:tc>
                <a:tc>
                  <a:txBody>
                    <a:bodyPr/>
                    <a:lstStyle/>
                    <a:p>
                      <a:r>
                        <a:rPr lang="en-IN" sz="2000" dirty="0"/>
                        <a:t>Valid inputs only</a:t>
                      </a:r>
                    </a:p>
                  </a:txBody>
                  <a:tcPr anchor="ctr"/>
                </a:tc>
                <a:extLst>
                  <a:ext uri="{0D108BD9-81ED-4DB2-BD59-A6C34878D82A}">
                    <a16:rowId xmlns:a16="http://schemas.microsoft.com/office/drawing/2014/main" val="36011103"/>
                  </a:ext>
                </a:extLst>
              </a:tr>
            </a:tbl>
          </a:graphicData>
        </a:graphic>
      </p:graphicFrame>
      <p:sp>
        <p:nvSpPr>
          <p:cNvPr id="2" name="Date Placeholder 1">
            <a:extLst>
              <a:ext uri="{FF2B5EF4-FFF2-40B4-BE49-F238E27FC236}">
                <a16:creationId xmlns:a16="http://schemas.microsoft.com/office/drawing/2014/main" id="{928CA89D-6D11-B5E9-4005-B133FA829CA9}"/>
              </a:ext>
            </a:extLst>
          </p:cNvPr>
          <p:cNvSpPr>
            <a:spLocks noGrp="1"/>
          </p:cNvSpPr>
          <p:nvPr>
            <p:ph type="dt" sz="half" idx="10"/>
          </p:nvPr>
        </p:nvSpPr>
        <p:spPr/>
        <p:txBody>
          <a:bodyPr/>
          <a:lstStyle/>
          <a:p>
            <a:fld id="{D50C8728-47C4-409B-91E2-A3D68B2872F5}" type="datetime1">
              <a:rPr lang="en-IN" smtClean="0"/>
              <a:t>03-11-2025</a:t>
            </a:fld>
            <a:endParaRPr lang="en-IN"/>
          </a:p>
        </p:txBody>
      </p:sp>
      <p:sp>
        <p:nvSpPr>
          <p:cNvPr id="7" name="Footer Placeholder 6">
            <a:extLst>
              <a:ext uri="{FF2B5EF4-FFF2-40B4-BE49-F238E27FC236}">
                <a16:creationId xmlns:a16="http://schemas.microsoft.com/office/drawing/2014/main" id="{93688976-25F7-1754-386D-688061C38871}"/>
              </a:ext>
            </a:extLst>
          </p:cNvPr>
          <p:cNvSpPr>
            <a:spLocks noGrp="1"/>
          </p:cNvSpPr>
          <p:nvPr>
            <p:ph type="ftr" sz="quarter" idx="11"/>
          </p:nvPr>
        </p:nvSpPr>
        <p:spPr/>
        <p:txBody>
          <a:bodyPr/>
          <a:lstStyle/>
          <a:p>
            <a:r>
              <a:rPr lang="en-IN"/>
              <a:t>MIT</a:t>
            </a:r>
          </a:p>
        </p:txBody>
      </p:sp>
      <p:sp>
        <p:nvSpPr>
          <p:cNvPr id="8" name="Slide Number Placeholder 7">
            <a:extLst>
              <a:ext uri="{FF2B5EF4-FFF2-40B4-BE49-F238E27FC236}">
                <a16:creationId xmlns:a16="http://schemas.microsoft.com/office/drawing/2014/main" id="{3ECC3FFA-C92B-5D28-4D78-5AD51A178C82}"/>
              </a:ext>
            </a:extLst>
          </p:cNvPr>
          <p:cNvSpPr>
            <a:spLocks noGrp="1"/>
          </p:cNvSpPr>
          <p:nvPr>
            <p:ph type="sldNum" sz="quarter" idx="12"/>
          </p:nvPr>
        </p:nvSpPr>
        <p:spPr/>
        <p:txBody>
          <a:bodyPr/>
          <a:lstStyle/>
          <a:p>
            <a:fld id="{157E8F69-36B6-4843-A9CE-6B9353F4DBAF}" type="slidenum">
              <a:rPr lang="en-IN" smtClean="0"/>
              <a:t>90</a:t>
            </a:fld>
            <a:endParaRPr lang="en-IN"/>
          </a:p>
        </p:txBody>
      </p:sp>
    </p:spTree>
    <p:extLst>
      <p:ext uri="{BB962C8B-B14F-4D97-AF65-F5344CB8AC3E}">
        <p14:creationId xmlns:p14="http://schemas.microsoft.com/office/powerpoint/2010/main" val="16338356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1748" y="303014"/>
            <a:ext cx="4890057" cy="461665"/>
          </a:xfrm>
          <a:prstGeom prst="rect">
            <a:avLst/>
          </a:prstGeom>
        </p:spPr>
        <p:txBody>
          <a:bodyPr wrap="none">
            <a:spAutoFit/>
          </a:bodyPr>
          <a:lstStyle/>
          <a:p>
            <a:r>
              <a:rPr lang="en-US" sz="2400" b="1" u="sng" dirty="0"/>
              <a:t>🛠️ Approaches in Robustness Testing:</a:t>
            </a:r>
            <a:endParaRPr lang="en-IN" sz="2400" b="1" u="sng" dirty="0"/>
          </a:p>
        </p:txBody>
      </p:sp>
      <p:sp>
        <p:nvSpPr>
          <p:cNvPr id="4" name="Rectangle 3"/>
          <p:cNvSpPr/>
          <p:nvPr/>
        </p:nvSpPr>
        <p:spPr>
          <a:xfrm>
            <a:off x="221748" y="764679"/>
            <a:ext cx="11650212" cy="3046988"/>
          </a:xfrm>
          <a:prstGeom prst="rect">
            <a:avLst/>
          </a:prstGeom>
        </p:spPr>
        <p:txBody>
          <a:bodyPr wrap="square">
            <a:spAutoFit/>
          </a:bodyPr>
          <a:lstStyle/>
          <a:p>
            <a:pPr>
              <a:buFont typeface="+mj-lt"/>
              <a:buAutoNum type="arabicPeriod"/>
            </a:pPr>
            <a:r>
              <a:rPr lang="en-US" sz="2400" b="1" dirty="0"/>
              <a:t>Fault Injection</a:t>
            </a:r>
            <a:br>
              <a:rPr lang="en-US" sz="2400" dirty="0"/>
            </a:br>
            <a:r>
              <a:rPr lang="en-US" sz="2400" dirty="0"/>
              <a:t>	Simulate hardware faults, memory corruption, or network failure.</a:t>
            </a:r>
          </a:p>
          <a:p>
            <a:pPr>
              <a:buFont typeface="+mj-lt"/>
              <a:buAutoNum type="arabicPeriod"/>
            </a:pPr>
            <a:r>
              <a:rPr lang="en-US" sz="2400" b="1" dirty="0"/>
              <a:t>Fuzz Testing (Fuzzing)</a:t>
            </a:r>
            <a:br>
              <a:rPr lang="en-US" sz="2400" dirty="0"/>
            </a:br>
            <a:r>
              <a:rPr lang="en-US" sz="2400" dirty="0"/>
              <a:t>	Random data is input to the system to check for crashes or errors.</a:t>
            </a:r>
          </a:p>
          <a:p>
            <a:pPr>
              <a:buFont typeface="+mj-lt"/>
              <a:buAutoNum type="arabicPeriod"/>
            </a:pPr>
            <a:r>
              <a:rPr lang="en-US" sz="2400" b="1" dirty="0"/>
              <a:t>Boundary Value Testing</a:t>
            </a:r>
            <a:br>
              <a:rPr lang="en-US" sz="2400" dirty="0"/>
            </a:br>
            <a:r>
              <a:rPr lang="en-US" sz="2400" dirty="0"/>
              <a:t>	Inputs at the edge of allowable ranges are tested.</a:t>
            </a:r>
          </a:p>
          <a:p>
            <a:pPr>
              <a:buFont typeface="+mj-lt"/>
              <a:buAutoNum type="arabicPeriod"/>
            </a:pPr>
            <a:r>
              <a:rPr lang="en-US" sz="2400" b="1" dirty="0"/>
              <a:t>Negative Testing</a:t>
            </a:r>
            <a:br>
              <a:rPr lang="en-US" sz="2400" dirty="0"/>
            </a:br>
            <a:r>
              <a:rPr lang="en-US" sz="2400" dirty="0"/>
              <a:t>	Supplying invalid or wrong inputs to ensure the system can handle them.</a:t>
            </a:r>
          </a:p>
        </p:txBody>
      </p:sp>
      <p:sp>
        <p:nvSpPr>
          <p:cNvPr id="5" name="Rectangle 4"/>
          <p:cNvSpPr/>
          <p:nvPr/>
        </p:nvSpPr>
        <p:spPr>
          <a:xfrm>
            <a:off x="191044" y="3859054"/>
            <a:ext cx="4075475" cy="461665"/>
          </a:xfrm>
          <a:prstGeom prst="rect">
            <a:avLst/>
          </a:prstGeom>
        </p:spPr>
        <p:txBody>
          <a:bodyPr wrap="none">
            <a:spAutoFit/>
          </a:bodyPr>
          <a:lstStyle/>
          <a:p>
            <a:r>
              <a:rPr lang="en-US" sz="2400" b="1" u="sng" dirty="0"/>
              <a:t>🧰 Tools for Robustness Testing:</a:t>
            </a:r>
            <a:endParaRPr lang="en-IN" sz="2400" b="1" u="sng" dirty="0"/>
          </a:p>
        </p:txBody>
      </p:sp>
      <p:graphicFrame>
        <p:nvGraphicFramePr>
          <p:cNvPr id="6" name="Table 5"/>
          <p:cNvGraphicFramePr>
            <a:graphicFrameLocks noGrp="1"/>
          </p:cNvGraphicFramePr>
          <p:nvPr>
            <p:extLst>
              <p:ext uri="{D42A27DB-BD31-4B8C-83A1-F6EECF244321}">
                <p14:modId xmlns:p14="http://schemas.microsoft.com/office/powerpoint/2010/main" val="197048860"/>
              </p:ext>
            </p:extLst>
          </p:nvPr>
        </p:nvGraphicFramePr>
        <p:xfrm>
          <a:off x="221748" y="4368106"/>
          <a:ext cx="11650212" cy="2042160"/>
        </p:xfrm>
        <a:graphic>
          <a:graphicData uri="http://schemas.openxmlformats.org/drawingml/2006/table">
            <a:tbl>
              <a:tblPr>
                <a:tableStyleId>{616DA210-FB5B-4158-B5E0-FEB733F419BA}</a:tableStyleId>
              </a:tblPr>
              <a:tblGrid>
                <a:gridCol w="4667676">
                  <a:extLst>
                    <a:ext uri="{9D8B030D-6E8A-4147-A177-3AD203B41FA5}">
                      <a16:colId xmlns:a16="http://schemas.microsoft.com/office/drawing/2014/main" val="3117088215"/>
                    </a:ext>
                  </a:extLst>
                </a:gridCol>
                <a:gridCol w="6982536">
                  <a:extLst>
                    <a:ext uri="{9D8B030D-6E8A-4147-A177-3AD203B41FA5}">
                      <a16:colId xmlns:a16="http://schemas.microsoft.com/office/drawing/2014/main" val="907199469"/>
                    </a:ext>
                  </a:extLst>
                </a:gridCol>
              </a:tblGrid>
              <a:tr h="0">
                <a:tc>
                  <a:txBody>
                    <a:bodyPr/>
                    <a:lstStyle/>
                    <a:p>
                      <a:pPr algn="ctr"/>
                      <a:r>
                        <a:rPr lang="en-IN" sz="2400" b="1" u="sng" dirty="0"/>
                        <a:t>Tool</a:t>
                      </a:r>
                    </a:p>
                  </a:txBody>
                  <a:tcPr anchor="ctr"/>
                </a:tc>
                <a:tc>
                  <a:txBody>
                    <a:bodyPr/>
                    <a:lstStyle/>
                    <a:p>
                      <a:pPr algn="ctr"/>
                      <a:r>
                        <a:rPr lang="en-IN" sz="2400" b="1" u="sng" dirty="0"/>
                        <a:t>Description</a:t>
                      </a:r>
                    </a:p>
                  </a:txBody>
                  <a:tcPr anchor="ctr"/>
                </a:tc>
                <a:extLst>
                  <a:ext uri="{0D108BD9-81ED-4DB2-BD59-A6C34878D82A}">
                    <a16:rowId xmlns:a16="http://schemas.microsoft.com/office/drawing/2014/main" val="3213220534"/>
                  </a:ext>
                </a:extLst>
              </a:tr>
              <a:tr h="0">
                <a:tc>
                  <a:txBody>
                    <a:bodyPr/>
                    <a:lstStyle/>
                    <a:p>
                      <a:r>
                        <a:rPr lang="en-IN" sz="2000" dirty="0" err="1"/>
                        <a:t>FuzzTester</a:t>
                      </a:r>
                      <a:endParaRPr lang="en-IN" sz="2000" dirty="0"/>
                    </a:p>
                  </a:txBody>
                  <a:tcPr anchor="ctr"/>
                </a:tc>
                <a:tc>
                  <a:txBody>
                    <a:bodyPr/>
                    <a:lstStyle/>
                    <a:p>
                      <a:r>
                        <a:rPr lang="en-IN" sz="2000" dirty="0"/>
                        <a:t>Random input generation for fuzz testing</a:t>
                      </a:r>
                    </a:p>
                  </a:txBody>
                  <a:tcPr anchor="ctr"/>
                </a:tc>
                <a:extLst>
                  <a:ext uri="{0D108BD9-81ED-4DB2-BD59-A6C34878D82A}">
                    <a16:rowId xmlns:a16="http://schemas.microsoft.com/office/drawing/2014/main" val="3255385858"/>
                  </a:ext>
                </a:extLst>
              </a:tr>
              <a:tr h="0">
                <a:tc>
                  <a:txBody>
                    <a:bodyPr/>
                    <a:lstStyle/>
                    <a:p>
                      <a:r>
                        <a:rPr lang="en-IN" sz="2000" dirty="0" err="1"/>
                        <a:t>Jtest</a:t>
                      </a:r>
                      <a:endParaRPr lang="en-IN" sz="2000" dirty="0"/>
                    </a:p>
                  </a:txBody>
                  <a:tcPr anchor="ctr"/>
                </a:tc>
                <a:tc>
                  <a:txBody>
                    <a:bodyPr/>
                    <a:lstStyle/>
                    <a:p>
                      <a:r>
                        <a:rPr lang="en-US" sz="2000" dirty="0"/>
                        <a:t>Java-based robustness and exception testing</a:t>
                      </a:r>
                    </a:p>
                  </a:txBody>
                  <a:tcPr anchor="ctr"/>
                </a:tc>
                <a:extLst>
                  <a:ext uri="{0D108BD9-81ED-4DB2-BD59-A6C34878D82A}">
                    <a16:rowId xmlns:a16="http://schemas.microsoft.com/office/drawing/2014/main" val="359352649"/>
                  </a:ext>
                </a:extLst>
              </a:tr>
              <a:tr h="0">
                <a:tc>
                  <a:txBody>
                    <a:bodyPr/>
                    <a:lstStyle/>
                    <a:p>
                      <a:r>
                        <a:rPr lang="en-IN" sz="2000"/>
                        <a:t>Ballista</a:t>
                      </a:r>
                    </a:p>
                  </a:txBody>
                  <a:tcPr anchor="ctr"/>
                </a:tc>
                <a:tc>
                  <a:txBody>
                    <a:bodyPr/>
                    <a:lstStyle/>
                    <a:p>
                      <a:r>
                        <a:rPr lang="en-US" sz="2000" dirty="0"/>
                        <a:t>Robustness testing of OS and libraries</a:t>
                      </a:r>
                    </a:p>
                  </a:txBody>
                  <a:tcPr anchor="ctr"/>
                </a:tc>
                <a:extLst>
                  <a:ext uri="{0D108BD9-81ED-4DB2-BD59-A6C34878D82A}">
                    <a16:rowId xmlns:a16="http://schemas.microsoft.com/office/drawing/2014/main" val="4159535429"/>
                  </a:ext>
                </a:extLst>
              </a:tr>
              <a:tr h="0">
                <a:tc>
                  <a:txBody>
                    <a:bodyPr/>
                    <a:lstStyle/>
                    <a:p>
                      <a:r>
                        <a:rPr lang="en-IN" sz="2000"/>
                        <a:t>Defensics</a:t>
                      </a:r>
                    </a:p>
                  </a:txBody>
                  <a:tcPr anchor="ctr"/>
                </a:tc>
                <a:tc>
                  <a:txBody>
                    <a:bodyPr/>
                    <a:lstStyle/>
                    <a:p>
                      <a:r>
                        <a:rPr lang="en-US" sz="2000" dirty="0"/>
                        <a:t>Protocol fuzzing and robustness testing</a:t>
                      </a:r>
                    </a:p>
                  </a:txBody>
                  <a:tcPr anchor="ctr"/>
                </a:tc>
                <a:extLst>
                  <a:ext uri="{0D108BD9-81ED-4DB2-BD59-A6C34878D82A}">
                    <a16:rowId xmlns:a16="http://schemas.microsoft.com/office/drawing/2014/main" val="2856771865"/>
                  </a:ext>
                </a:extLst>
              </a:tr>
            </a:tbl>
          </a:graphicData>
        </a:graphic>
      </p:graphicFrame>
      <p:sp>
        <p:nvSpPr>
          <p:cNvPr id="2" name="Date Placeholder 1">
            <a:extLst>
              <a:ext uri="{FF2B5EF4-FFF2-40B4-BE49-F238E27FC236}">
                <a16:creationId xmlns:a16="http://schemas.microsoft.com/office/drawing/2014/main" id="{676FBAF6-3AD9-5C08-2059-E29C48B60680}"/>
              </a:ext>
            </a:extLst>
          </p:cNvPr>
          <p:cNvSpPr>
            <a:spLocks noGrp="1"/>
          </p:cNvSpPr>
          <p:nvPr>
            <p:ph type="dt" sz="half" idx="10"/>
          </p:nvPr>
        </p:nvSpPr>
        <p:spPr/>
        <p:txBody>
          <a:bodyPr/>
          <a:lstStyle/>
          <a:p>
            <a:fld id="{D05A5FE3-4238-4493-87EF-E0DFAEBFD54A}" type="datetime1">
              <a:rPr lang="en-IN" smtClean="0"/>
              <a:t>03-11-2025</a:t>
            </a:fld>
            <a:endParaRPr lang="en-IN"/>
          </a:p>
        </p:txBody>
      </p:sp>
      <p:sp>
        <p:nvSpPr>
          <p:cNvPr id="7" name="Footer Placeholder 6">
            <a:extLst>
              <a:ext uri="{FF2B5EF4-FFF2-40B4-BE49-F238E27FC236}">
                <a16:creationId xmlns:a16="http://schemas.microsoft.com/office/drawing/2014/main" id="{774B87FF-76E8-1FDD-93E8-F71DB3868A49}"/>
              </a:ext>
            </a:extLst>
          </p:cNvPr>
          <p:cNvSpPr>
            <a:spLocks noGrp="1"/>
          </p:cNvSpPr>
          <p:nvPr>
            <p:ph type="ftr" sz="quarter" idx="11"/>
          </p:nvPr>
        </p:nvSpPr>
        <p:spPr/>
        <p:txBody>
          <a:bodyPr/>
          <a:lstStyle/>
          <a:p>
            <a:r>
              <a:rPr lang="en-IN"/>
              <a:t>MIT</a:t>
            </a:r>
          </a:p>
        </p:txBody>
      </p:sp>
      <p:sp>
        <p:nvSpPr>
          <p:cNvPr id="8" name="Slide Number Placeholder 7">
            <a:extLst>
              <a:ext uri="{FF2B5EF4-FFF2-40B4-BE49-F238E27FC236}">
                <a16:creationId xmlns:a16="http://schemas.microsoft.com/office/drawing/2014/main" id="{A71F2286-8C2F-01D2-6A15-F792A038CF5D}"/>
              </a:ext>
            </a:extLst>
          </p:cNvPr>
          <p:cNvSpPr>
            <a:spLocks noGrp="1"/>
          </p:cNvSpPr>
          <p:nvPr>
            <p:ph type="sldNum" sz="quarter" idx="12"/>
          </p:nvPr>
        </p:nvSpPr>
        <p:spPr/>
        <p:txBody>
          <a:bodyPr/>
          <a:lstStyle/>
          <a:p>
            <a:fld id="{157E8F69-36B6-4843-A9CE-6B9353F4DBAF}" type="slidenum">
              <a:rPr lang="en-IN" smtClean="0"/>
              <a:t>91</a:t>
            </a:fld>
            <a:endParaRPr lang="en-IN"/>
          </a:p>
        </p:txBody>
      </p:sp>
    </p:spTree>
    <p:extLst>
      <p:ext uri="{BB962C8B-B14F-4D97-AF65-F5344CB8AC3E}">
        <p14:creationId xmlns:p14="http://schemas.microsoft.com/office/powerpoint/2010/main" val="47145742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2880" y="221456"/>
            <a:ext cx="11704320" cy="2246769"/>
          </a:xfrm>
          <a:prstGeom prst="rect">
            <a:avLst/>
          </a:prstGeom>
        </p:spPr>
        <p:txBody>
          <a:bodyPr wrap="square">
            <a:spAutoFit/>
          </a:bodyPr>
          <a:lstStyle/>
          <a:p>
            <a:pPr algn="just">
              <a:spcBef>
                <a:spcPts val="600"/>
              </a:spcBef>
            </a:pPr>
            <a:r>
              <a:rPr lang="en-US" sz="2400" b="1" u="sng" dirty="0"/>
              <a:t>🔄 Benefits of Robustness Testing:</a:t>
            </a:r>
          </a:p>
          <a:p>
            <a:pPr marL="800100" lvl="1" indent="-342900" algn="just">
              <a:spcBef>
                <a:spcPts val="600"/>
              </a:spcBef>
              <a:buFont typeface="Wingdings" panose="05000000000000000000" pitchFamily="2" charset="2"/>
              <a:buChar char="Ø"/>
            </a:pPr>
            <a:r>
              <a:rPr lang="en-US" sz="2400" dirty="0"/>
              <a:t>Prevents </a:t>
            </a:r>
            <a:r>
              <a:rPr lang="en-US" sz="2400" b="1" dirty="0"/>
              <a:t>system crashes and data corruption</a:t>
            </a:r>
            <a:endParaRPr lang="en-US" sz="2400" dirty="0"/>
          </a:p>
          <a:p>
            <a:pPr marL="800100" lvl="1" indent="-342900" algn="just">
              <a:spcBef>
                <a:spcPts val="600"/>
              </a:spcBef>
              <a:buFont typeface="Wingdings" panose="05000000000000000000" pitchFamily="2" charset="2"/>
              <a:buChar char="Ø"/>
            </a:pPr>
            <a:r>
              <a:rPr lang="en-US" sz="2400" dirty="0"/>
              <a:t>Ensures </a:t>
            </a:r>
            <a:r>
              <a:rPr lang="en-US" sz="2400" b="1" dirty="0"/>
              <a:t>high availability</a:t>
            </a:r>
            <a:r>
              <a:rPr lang="en-US" sz="2400" dirty="0"/>
              <a:t> even in adverse conditions</a:t>
            </a:r>
          </a:p>
          <a:p>
            <a:pPr marL="800100" lvl="1" indent="-342900" algn="just">
              <a:spcBef>
                <a:spcPts val="600"/>
              </a:spcBef>
              <a:buFont typeface="Wingdings" panose="05000000000000000000" pitchFamily="2" charset="2"/>
              <a:buChar char="Ø"/>
            </a:pPr>
            <a:r>
              <a:rPr lang="en-US" sz="2400" dirty="0"/>
              <a:t>Enhances </a:t>
            </a:r>
            <a:r>
              <a:rPr lang="en-US" sz="2400" b="1" dirty="0"/>
              <a:t>user trust</a:t>
            </a:r>
            <a:r>
              <a:rPr lang="en-US" sz="2400" dirty="0"/>
              <a:t> by making the system resilient</a:t>
            </a:r>
          </a:p>
          <a:p>
            <a:pPr marL="800100" lvl="1" indent="-342900" algn="just">
              <a:spcBef>
                <a:spcPts val="600"/>
              </a:spcBef>
              <a:buFont typeface="Wingdings" panose="05000000000000000000" pitchFamily="2" charset="2"/>
              <a:buChar char="Ø"/>
            </a:pPr>
            <a:r>
              <a:rPr lang="en-US" sz="2400" dirty="0"/>
              <a:t>Prepares software for </a:t>
            </a:r>
            <a:r>
              <a:rPr lang="en-US" sz="2400" b="1" dirty="0"/>
              <a:t>real-world unpredictable scenarios</a:t>
            </a:r>
            <a:endParaRPr lang="en-US" sz="2400" dirty="0"/>
          </a:p>
        </p:txBody>
      </p:sp>
      <p:sp>
        <p:nvSpPr>
          <p:cNvPr id="4" name="Rectangle 3"/>
          <p:cNvSpPr/>
          <p:nvPr/>
        </p:nvSpPr>
        <p:spPr>
          <a:xfrm>
            <a:off x="2987040" y="3130734"/>
            <a:ext cx="6096000" cy="1200329"/>
          </a:xfrm>
          <a:prstGeom prst="rect">
            <a:avLst/>
          </a:prstGeom>
        </p:spPr>
        <p:txBody>
          <a:bodyPr>
            <a:spAutoFit/>
          </a:bodyPr>
          <a:lstStyle/>
          <a:p>
            <a:r>
              <a:rPr lang="en-IN" sz="2400" b="1" dirty="0" err="1"/>
              <a:t>int</a:t>
            </a:r>
            <a:r>
              <a:rPr lang="en-IN" sz="2400" b="1" dirty="0"/>
              <a:t> divide(</a:t>
            </a:r>
            <a:r>
              <a:rPr lang="en-IN" sz="2400" b="1" dirty="0" err="1"/>
              <a:t>int</a:t>
            </a:r>
            <a:r>
              <a:rPr lang="en-IN" sz="2400" b="1" dirty="0"/>
              <a:t> a, </a:t>
            </a:r>
            <a:r>
              <a:rPr lang="en-IN" sz="2400" b="1" dirty="0" err="1"/>
              <a:t>int</a:t>
            </a:r>
            <a:r>
              <a:rPr lang="en-IN" sz="2400" b="1" dirty="0"/>
              <a:t> b) {</a:t>
            </a:r>
          </a:p>
          <a:p>
            <a:r>
              <a:rPr lang="en-IN" sz="2400" b="1" dirty="0"/>
              <a:t>   return a / b;</a:t>
            </a:r>
          </a:p>
          <a:p>
            <a:r>
              <a:rPr lang="en-IN" sz="2400" b="1" dirty="0"/>
              <a:t>}</a:t>
            </a:r>
          </a:p>
        </p:txBody>
      </p:sp>
      <p:sp>
        <p:nvSpPr>
          <p:cNvPr id="5" name="Rectangle 4"/>
          <p:cNvSpPr/>
          <p:nvPr/>
        </p:nvSpPr>
        <p:spPr>
          <a:xfrm>
            <a:off x="425653" y="2669069"/>
            <a:ext cx="1731564" cy="461665"/>
          </a:xfrm>
          <a:prstGeom prst="rect">
            <a:avLst/>
          </a:prstGeom>
        </p:spPr>
        <p:txBody>
          <a:bodyPr wrap="none">
            <a:spAutoFit/>
          </a:bodyPr>
          <a:lstStyle/>
          <a:p>
            <a:r>
              <a:rPr lang="en-IN" sz="2400" b="1" u="sng" dirty="0"/>
              <a:t>✅ Example:</a:t>
            </a:r>
          </a:p>
        </p:txBody>
      </p:sp>
      <p:sp>
        <p:nvSpPr>
          <p:cNvPr id="6" name="Rectangle 1"/>
          <p:cNvSpPr>
            <a:spLocks noChangeArrowheads="1"/>
          </p:cNvSpPr>
          <p:nvPr/>
        </p:nvSpPr>
        <p:spPr bwMode="auto">
          <a:xfrm>
            <a:off x="425653" y="4627156"/>
            <a:ext cx="114615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Robustness Testing Case:</a:t>
            </a:r>
            <a:br>
              <a:rPr kumimoji="0" lang="en-US" altLang="en-US" sz="2400" b="1" i="0" u="sng" strike="noStrike" cap="none" normalizeH="0" baseline="0" dirty="0">
                <a:ln>
                  <a:noFill/>
                </a:ln>
                <a:solidFill>
                  <a:schemeClr val="tx1"/>
                </a:solidFill>
                <a:effectLst/>
              </a:rPr>
            </a:br>
            <a:r>
              <a:rPr kumimoji="0" lang="en-US" altLang="en-US" sz="2400" b="0" i="0" u="none" strike="noStrike" cap="none" normalizeH="0" baseline="0" dirty="0">
                <a:ln>
                  <a:noFill/>
                </a:ln>
                <a:solidFill>
                  <a:schemeClr val="tx1"/>
                </a:solidFill>
                <a:effectLst/>
              </a:rPr>
              <a:t>	Test with b = 0 (division by zero) → Should gracefully handle this with an error message, not crash.</a:t>
            </a:r>
          </a:p>
        </p:txBody>
      </p:sp>
      <p:sp>
        <p:nvSpPr>
          <p:cNvPr id="2" name="Date Placeholder 1">
            <a:extLst>
              <a:ext uri="{FF2B5EF4-FFF2-40B4-BE49-F238E27FC236}">
                <a16:creationId xmlns:a16="http://schemas.microsoft.com/office/drawing/2014/main" id="{DA666C8F-72C6-B9C5-577C-78A4133CAC99}"/>
              </a:ext>
            </a:extLst>
          </p:cNvPr>
          <p:cNvSpPr>
            <a:spLocks noGrp="1"/>
          </p:cNvSpPr>
          <p:nvPr>
            <p:ph type="dt" sz="half" idx="10"/>
          </p:nvPr>
        </p:nvSpPr>
        <p:spPr/>
        <p:txBody>
          <a:bodyPr/>
          <a:lstStyle/>
          <a:p>
            <a:fld id="{2813E26C-3E85-417E-BCA4-ECF53BCB37DE}" type="datetime1">
              <a:rPr lang="en-IN" smtClean="0"/>
              <a:t>03-11-2025</a:t>
            </a:fld>
            <a:endParaRPr lang="en-IN"/>
          </a:p>
        </p:txBody>
      </p:sp>
      <p:sp>
        <p:nvSpPr>
          <p:cNvPr id="7" name="Footer Placeholder 6">
            <a:extLst>
              <a:ext uri="{FF2B5EF4-FFF2-40B4-BE49-F238E27FC236}">
                <a16:creationId xmlns:a16="http://schemas.microsoft.com/office/drawing/2014/main" id="{90E47C40-FE8F-B259-8E14-E2E2A246C4D9}"/>
              </a:ext>
            </a:extLst>
          </p:cNvPr>
          <p:cNvSpPr>
            <a:spLocks noGrp="1"/>
          </p:cNvSpPr>
          <p:nvPr>
            <p:ph type="ftr" sz="quarter" idx="11"/>
          </p:nvPr>
        </p:nvSpPr>
        <p:spPr/>
        <p:txBody>
          <a:bodyPr/>
          <a:lstStyle/>
          <a:p>
            <a:r>
              <a:rPr lang="en-IN"/>
              <a:t>MIT</a:t>
            </a:r>
          </a:p>
        </p:txBody>
      </p:sp>
      <p:sp>
        <p:nvSpPr>
          <p:cNvPr id="8" name="Slide Number Placeholder 7">
            <a:extLst>
              <a:ext uri="{FF2B5EF4-FFF2-40B4-BE49-F238E27FC236}">
                <a16:creationId xmlns:a16="http://schemas.microsoft.com/office/drawing/2014/main" id="{7CE2A6F2-815A-0FD5-A7EE-3DABBD2A9FE3}"/>
              </a:ext>
            </a:extLst>
          </p:cNvPr>
          <p:cNvSpPr>
            <a:spLocks noGrp="1"/>
          </p:cNvSpPr>
          <p:nvPr>
            <p:ph type="sldNum" sz="quarter" idx="12"/>
          </p:nvPr>
        </p:nvSpPr>
        <p:spPr/>
        <p:txBody>
          <a:bodyPr/>
          <a:lstStyle/>
          <a:p>
            <a:fld id="{157E8F69-36B6-4843-A9CE-6B9353F4DBAF}" type="slidenum">
              <a:rPr lang="en-IN" smtClean="0"/>
              <a:t>92</a:t>
            </a:fld>
            <a:endParaRPr lang="en-IN"/>
          </a:p>
        </p:txBody>
      </p:sp>
    </p:spTree>
    <p:extLst>
      <p:ext uri="{BB962C8B-B14F-4D97-AF65-F5344CB8AC3E}">
        <p14:creationId xmlns:p14="http://schemas.microsoft.com/office/powerpoint/2010/main" val="14962214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4320" y="267176"/>
            <a:ext cx="11612880" cy="1569660"/>
          </a:xfrm>
          <a:prstGeom prst="rect">
            <a:avLst/>
          </a:prstGeom>
        </p:spPr>
        <p:txBody>
          <a:bodyPr wrap="square">
            <a:spAutoFit/>
          </a:bodyPr>
          <a:lstStyle/>
          <a:p>
            <a:pPr algn="ctr"/>
            <a:r>
              <a:rPr lang="en-IN" sz="2400" b="1" u="sng" dirty="0"/>
              <a:t>🧪 Fuzz Testing (Fuzzing)</a:t>
            </a:r>
            <a:endParaRPr lang="en-IN" sz="2400" b="1" dirty="0"/>
          </a:p>
          <a:p>
            <a:pPr algn="just"/>
            <a:r>
              <a:rPr lang="en-IN" sz="2400" b="1" dirty="0"/>
              <a:t>Fuzz Testing</a:t>
            </a:r>
            <a:r>
              <a:rPr lang="en-IN" sz="2400" dirty="0"/>
              <a:t>, also known as </a:t>
            </a:r>
            <a:r>
              <a:rPr lang="en-IN" sz="2400" b="1" dirty="0"/>
              <a:t>fuzzing</a:t>
            </a:r>
            <a:r>
              <a:rPr lang="en-IN" sz="2400" dirty="0"/>
              <a:t>, is an automated software testing technique that involves </a:t>
            </a:r>
            <a:r>
              <a:rPr lang="en-IN" sz="2400" b="1" dirty="0"/>
              <a:t>feeding random, unexpected, or malformed data</a:t>
            </a:r>
            <a:r>
              <a:rPr lang="en-IN" sz="2400" dirty="0"/>
              <a:t> into a program to uncover </a:t>
            </a:r>
            <a:r>
              <a:rPr lang="en-IN" sz="2400" b="1" dirty="0"/>
              <a:t>vulnerabilities</a:t>
            </a:r>
            <a:r>
              <a:rPr lang="en-IN" sz="2400" dirty="0"/>
              <a:t>, </a:t>
            </a:r>
            <a:r>
              <a:rPr lang="en-IN" sz="2400" b="1" dirty="0"/>
              <a:t>crashes</a:t>
            </a:r>
            <a:r>
              <a:rPr lang="en-IN" sz="2400" dirty="0"/>
              <a:t>, and </a:t>
            </a:r>
            <a:r>
              <a:rPr lang="en-IN" sz="2400" b="1" dirty="0"/>
              <a:t>unexpected </a:t>
            </a:r>
            <a:r>
              <a:rPr lang="en-IN" sz="2400" b="1" dirty="0" err="1"/>
              <a:t>behavior</a:t>
            </a:r>
            <a:r>
              <a:rPr lang="en-IN" sz="2400" dirty="0"/>
              <a:t>.</a:t>
            </a:r>
          </a:p>
        </p:txBody>
      </p:sp>
      <p:sp>
        <p:nvSpPr>
          <p:cNvPr id="4" name="Rectangle 3"/>
          <p:cNvSpPr/>
          <p:nvPr/>
        </p:nvSpPr>
        <p:spPr>
          <a:xfrm>
            <a:off x="274320" y="1882556"/>
            <a:ext cx="11612880" cy="1569660"/>
          </a:xfrm>
          <a:prstGeom prst="rect">
            <a:avLst/>
          </a:prstGeom>
        </p:spPr>
        <p:txBody>
          <a:bodyPr wrap="square">
            <a:spAutoFit/>
          </a:bodyPr>
          <a:lstStyle/>
          <a:p>
            <a:pPr algn="just"/>
            <a:r>
              <a:rPr lang="en-US" sz="2400" b="1" u="sng" dirty="0"/>
              <a:t>🎯 Objective of Fuzz Testing:</a:t>
            </a:r>
          </a:p>
          <a:p>
            <a:pPr marL="800100" lvl="1" indent="-342900" algn="just">
              <a:buFont typeface="Wingdings" panose="05000000000000000000" pitchFamily="2" charset="2"/>
              <a:buChar char="Ø"/>
            </a:pPr>
            <a:r>
              <a:rPr lang="en-US" sz="2400" dirty="0"/>
              <a:t>To detect </a:t>
            </a:r>
            <a:r>
              <a:rPr lang="en-US" sz="2400" b="1" dirty="0"/>
              <a:t>security loopholes</a:t>
            </a:r>
            <a:r>
              <a:rPr lang="en-US" sz="2400" dirty="0"/>
              <a:t>, </a:t>
            </a:r>
            <a:r>
              <a:rPr lang="en-US" sz="2400" b="1" dirty="0"/>
              <a:t>buffer overflows</a:t>
            </a:r>
            <a:r>
              <a:rPr lang="en-US" sz="2400" dirty="0"/>
              <a:t>, </a:t>
            </a:r>
            <a:r>
              <a:rPr lang="en-US" sz="2400" b="1" dirty="0"/>
              <a:t>input validation issues</a:t>
            </a:r>
            <a:r>
              <a:rPr lang="en-US" sz="2400" dirty="0"/>
              <a:t>, and </a:t>
            </a:r>
            <a:r>
              <a:rPr lang="en-US" sz="2400" b="1" dirty="0"/>
              <a:t>system crashes</a:t>
            </a:r>
            <a:r>
              <a:rPr lang="en-US" sz="2400" dirty="0"/>
              <a:t>.</a:t>
            </a:r>
          </a:p>
          <a:p>
            <a:pPr marL="800100" lvl="1" indent="-342900" algn="just">
              <a:buFont typeface="Wingdings" panose="05000000000000000000" pitchFamily="2" charset="2"/>
              <a:buChar char="Ø"/>
            </a:pPr>
            <a:r>
              <a:rPr lang="en-US" sz="2400" dirty="0"/>
              <a:t>To test how well the software </a:t>
            </a:r>
            <a:r>
              <a:rPr lang="en-US" sz="2400" b="1" dirty="0"/>
              <a:t>handles invalid or unpredictable inputs</a:t>
            </a:r>
            <a:r>
              <a:rPr lang="en-US" sz="2400" dirty="0"/>
              <a:t>.</a:t>
            </a:r>
          </a:p>
        </p:txBody>
      </p:sp>
      <p:sp>
        <p:nvSpPr>
          <p:cNvPr id="5" name="Rectangle 4"/>
          <p:cNvSpPr/>
          <p:nvPr/>
        </p:nvSpPr>
        <p:spPr>
          <a:xfrm>
            <a:off x="274320" y="3536452"/>
            <a:ext cx="11612880" cy="3170099"/>
          </a:xfrm>
          <a:prstGeom prst="rect">
            <a:avLst/>
          </a:prstGeom>
        </p:spPr>
        <p:txBody>
          <a:bodyPr wrap="square">
            <a:spAutoFit/>
          </a:bodyPr>
          <a:lstStyle/>
          <a:p>
            <a:pPr algn="just"/>
            <a:r>
              <a:rPr lang="en-US" sz="2400" b="1" u="sng" dirty="0"/>
              <a:t>⚙️ How Fuzzing Works:</a:t>
            </a:r>
          </a:p>
          <a:p>
            <a:pPr lvl="1" algn="just">
              <a:buFont typeface="+mj-lt"/>
              <a:buAutoNum type="arabicPeriod"/>
            </a:pPr>
            <a:r>
              <a:rPr lang="en-US" sz="2200" b="1" dirty="0"/>
              <a:t>Fuzz Input Generator</a:t>
            </a:r>
            <a:r>
              <a:rPr lang="en-US" sz="2200" dirty="0"/>
              <a:t> creates </a:t>
            </a:r>
            <a:r>
              <a:rPr lang="en-US" sz="2200" b="1" dirty="0"/>
              <a:t>random, invalid, or semi-valid inputs</a:t>
            </a:r>
            <a:r>
              <a:rPr lang="en-US" sz="2200" dirty="0"/>
              <a:t>.</a:t>
            </a:r>
          </a:p>
          <a:p>
            <a:pPr lvl="1" algn="just">
              <a:buFont typeface="+mj-lt"/>
              <a:buAutoNum type="arabicPeriod"/>
            </a:pPr>
            <a:r>
              <a:rPr lang="en-US" sz="2200" dirty="0"/>
              <a:t>These inputs are fed into the </a:t>
            </a:r>
            <a:r>
              <a:rPr lang="en-US" sz="2200" b="1" dirty="0"/>
              <a:t>System Under Test (SUT)</a:t>
            </a:r>
            <a:r>
              <a:rPr lang="en-US" sz="2200" dirty="0"/>
              <a:t>.</a:t>
            </a:r>
          </a:p>
          <a:p>
            <a:pPr lvl="1" algn="just">
              <a:buFont typeface="+mj-lt"/>
              <a:buAutoNum type="arabicPeriod"/>
            </a:pPr>
            <a:r>
              <a:rPr lang="en-US" sz="2200" dirty="0"/>
              <a:t>A </a:t>
            </a:r>
            <a:r>
              <a:rPr lang="en-US" sz="2200" b="1" dirty="0"/>
              <a:t>monitoring system</a:t>
            </a:r>
            <a:r>
              <a:rPr lang="en-US" sz="2200" dirty="0"/>
              <a:t> observes the program’s behavior:</a:t>
            </a:r>
          </a:p>
          <a:p>
            <a:pPr marL="1200150" lvl="2" indent="-285750" algn="just">
              <a:buFont typeface="+mj-lt"/>
              <a:buAutoNum type="arabicPeriod"/>
            </a:pPr>
            <a:r>
              <a:rPr lang="en-US" sz="2200" dirty="0"/>
              <a:t>Crashes</a:t>
            </a:r>
          </a:p>
          <a:p>
            <a:pPr marL="1200150" lvl="2" indent="-285750" algn="just">
              <a:buFont typeface="+mj-lt"/>
              <a:buAutoNum type="arabicPeriod"/>
            </a:pPr>
            <a:r>
              <a:rPr lang="en-US" sz="2200" dirty="0"/>
              <a:t>Hangs</a:t>
            </a:r>
          </a:p>
          <a:p>
            <a:pPr marL="1200150" lvl="2" indent="-285750" algn="just">
              <a:buFont typeface="+mj-lt"/>
              <a:buAutoNum type="arabicPeriod"/>
            </a:pPr>
            <a:r>
              <a:rPr lang="en-US" sz="2200" dirty="0"/>
              <a:t>Memory leaks</a:t>
            </a:r>
          </a:p>
          <a:p>
            <a:pPr marL="1200150" lvl="2" indent="-285750" algn="just">
              <a:buFont typeface="+mj-lt"/>
              <a:buAutoNum type="arabicPeriod"/>
            </a:pPr>
            <a:r>
              <a:rPr lang="en-US" sz="2200" dirty="0"/>
              <a:t>Unexpected outputs</a:t>
            </a:r>
          </a:p>
          <a:p>
            <a:pPr lvl="1" algn="just">
              <a:buFont typeface="+mj-lt"/>
              <a:buAutoNum type="arabicPeriod"/>
            </a:pPr>
            <a:r>
              <a:rPr lang="en-US" sz="2200" dirty="0"/>
              <a:t>If abnormal behavior is detected, the test </a:t>
            </a:r>
            <a:r>
              <a:rPr lang="en-US" sz="2200" b="1" dirty="0"/>
              <a:t>logs the input</a:t>
            </a:r>
            <a:r>
              <a:rPr lang="en-US" sz="2200" dirty="0"/>
              <a:t> that caused it.</a:t>
            </a:r>
          </a:p>
        </p:txBody>
      </p:sp>
      <p:sp>
        <p:nvSpPr>
          <p:cNvPr id="2" name="Date Placeholder 1">
            <a:extLst>
              <a:ext uri="{FF2B5EF4-FFF2-40B4-BE49-F238E27FC236}">
                <a16:creationId xmlns:a16="http://schemas.microsoft.com/office/drawing/2014/main" id="{8E60148C-EFFB-9AEF-67F3-550A310FF7CE}"/>
              </a:ext>
            </a:extLst>
          </p:cNvPr>
          <p:cNvSpPr>
            <a:spLocks noGrp="1"/>
          </p:cNvSpPr>
          <p:nvPr>
            <p:ph type="dt" sz="half" idx="10"/>
          </p:nvPr>
        </p:nvSpPr>
        <p:spPr/>
        <p:txBody>
          <a:bodyPr/>
          <a:lstStyle/>
          <a:p>
            <a:fld id="{F79B4465-8A98-49AB-A136-7AB1DA1DF077}" type="datetime1">
              <a:rPr lang="en-IN" smtClean="0"/>
              <a:t>03-11-2025</a:t>
            </a:fld>
            <a:endParaRPr lang="en-IN"/>
          </a:p>
        </p:txBody>
      </p:sp>
      <p:sp>
        <p:nvSpPr>
          <p:cNvPr id="6" name="Footer Placeholder 5">
            <a:extLst>
              <a:ext uri="{FF2B5EF4-FFF2-40B4-BE49-F238E27FC236}">
                <a16:creationId xmlns:a16="http://schemas.microsoft.com/office/drawing/2014/main" id="{7529C782-BD0C-0197-9187-1B3708A3DCAE}"/>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DA81D68B-EF5D-1911-0D11-B2CE6ED4A2B8}"/>
              </a:ext>
            </a:extLst>
          </p:cNvPr>
          <p:cNvSpPr>
            <a:spLocks noGrp="1"/>
          </p:cNvSpPr>
          <p:nvPr>
            <p:ph type="sldNum" sz="quarter" idx="12"/>
          </p:nvPr>
        </p:nvSpPr>
        <p:spPr/>
        <p:txBody>
          <a:bodyPr/>
          <a:lstStyle/>
          <a:p>
            <a:fld id="{157E8F69-36B6-4843-A9CE-6B9353F4DBAF}" type="slidenum">
              <a:rPr lang="en-IN" smtClean="0"/>
              <a:t>93</a:t>
            </a:fld>
            <a:endParaRPr lang="en-IN"/>
          </a:p>
        </p:txBody>
      </p:sp>
    </p:spTree>
    <p:extLst>
      <p:ext uri="{BB962C8B-B14F-4D97-AF65-F5344CB8AC3E}">
        <p14:creationId xmlns:p14="http://schemas.microsoft.com/office/powerpoint/2010/main" val="312163641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6574" y="242054"/>
            <a:ext cx="3293274" cy="461665"/>
          </a:xfrm>
          <a:prstGeom prst="rect">
            <a:avLst/>
          </a:prstGeom>
        </p:spPr>
        <p:txBody>
          <a:bodyPr wrap="none">
            <a:spAutoFit/>
          </a:bodyPr>
          <a:lstStyle/>
          <a:p>
            <a:pPr algn="just"/>
            <a:r>
              <a:rPr lang="en-US" sz="2400" b="1" u="sng" dirty="0"/>
              <a:t>🔍 Types of Fuzz Testing:</a:t>
            </a:r>
            <a:endParaRPr lang="en-IN" sz="2400" b="1" u="sng" dirty="0"/>
          </a:p>
        </p:txBody>
      </p:sp>
      <p:graphicFrame>
        <p:nvGraphicFramePr>
          <p:cNvPr id="4" name="Table 3"/>
          <p:cNvGraphicFramePr>
            <a:graphicFrameLocks noGrp="1"/>
          </p:cNvGraphicFramePr>
          <p:nvPr>
            <p:extLst>
              <p:ext uri="{D42A27DB-BD31-4B8C-83A1-F6EECF244321}">
                <p14:modId xmlns:p14="http://schemas.microsoft.com/office/powerpoint/2010/main" val="213607710"/>
              </p:ext>
            </p:extLst>
          </p:nvPr>
        </p:nvGraphicFramePr>
        <p:xfrm>
          <a:off x="206574" y="764680"/>
          <a:ext cx="11711106" cy="2237599"/>
        </p:xfrm>
        <a:graphic>
          <a:graphicData uri="http://schemas.openxmlformats.org/drawingml/2006/table">
            <a:tbl>
              <a:tblPr>
                <a:tableStyleId>{5DA37D80-6434-44D0-A028-1B22A696006F}</a:tableStyleId>
              </a:tblPr>
              <a:tblGrid>
                <a:gridCol w="4289226">
                  <a:extLst>
                    <a:ext uri="{9D8B030D-6E8A-4147-A177-3AD203B41FA5}">
                      <a16:colId xmlns:a16="http://schemas.microsoft.com/office/drawing/2014/main" val="3321654844"/>
                    </a:ext>
                  </a:extLst>
                </a:gridCol>
                <a:gridCol w="7421880">
                  <a:extLst>
                    <a:ext uri="{9D8B030D-6E8A-4147-A177-3AD203B41FA5}">
                      <a16:colId xmlns:a16="http://schemas.microsoft.com/office/drawing/2014/main" val="334324008"/>
                    </a:ext>
                  </a:extLst>
                </a:gridCol>
              </a:tblGrid>
              <a:tr h="500955">
                <a:tc>
                  <a:txBody>
                    <a:bodyPr/>
                    <a:lstStyle/>
                    <a:p>
                      <a:pPr algn="ctr"/>
                      <a:r>
                        <a:rPr lang="en-IN" sz="2400" b="1" u="sng" dirty="0"/>
                        <a:t>Type</a:t>
                      </a:r>
                    </a:p>
                  </a:txBody>
                  <a:tcPr anchor="ctr"/>
                </a:tc>
                <a:tc>
                  <a:txBody>
                    <a:bodyPr/>
                    <a:lstStyle/>
                    <a:p>
                      <a:pPr algn="ctr"/>
                      <a:r>
                        <a:rPr lang="en-IN" sz="2400" b="1" u="sng" dirty="0"/>
                        <a:t>Description</a:t>
                      </a:r>
                    </a:p>
                  </a:txBody>
                  <a:tcPr anchor="ctr"/>
                </a:tc>
                <a:extLst>
                  <a:ext uri="{0D108BD9-81ED-4DB2-BD59-A6C34878D82A}">
                    <a16:rowId xmlns:a16="http://schemas.microsoft.com/office/drawing/2014/main" val="1291110606"/>
                  </a:ext>
                </a:extLst>
              </a:tr>
              <a:tr h="434161">
                <a:tc>
                  <a:txBody>
                    <a:bodyPr/>
                    <a:lstStyle/>
                    <a:p>
                      <a:r>
                        <a:rPr lang="en-IN" sz="2000" dirty="0"/>
                        <a:t>Mutation-based Fuzzing</a:t>
                      </a:r>
                    </a:p>
                  </a:txBody>
                  <a:tcPr anchor="ctr"/>
                </a:tc>
                <a:tc>
                  <a:txBody>
                    <a:bodyPr/>
                    <a:lstStyle/>
                    <a:p>
                      <a:r>
                        <a:rPr lang="en-US" sz="2000"/>
                        <a:t>Modifies existing valid inputs slightly to create new test cases.</a:t>
                      </a:r>
                    </a:p>
                  </a:txBody>
                  <a:tcPr anchor="ctr"/>
                </a:tc>
                <a:extLst>
                  <a:ext uri="{0D108BD9-81ED-4DB2-BD59-A6C34878D82A}">
                    <a16:rowId xmlns:a16="http://schemas.microsoft.com/office/drawing/2014/main" val="3136373344"/>
                  </a:ext>
                </a:extLst>
              </a:tr>
              <a:tr h="434161">
                <a:tc>
                  <a:txBody>
                    <a:bodyPr/>
                    <a:lstStyle/>
                    <a:p>
                      <a:r>
                        <a:rPr lang="en-IN" sz="2000" dirty="0"/>
                        <a:t>Generation-based Fuzzing</a:t>
                      </a:r>
                    </a:p>
                  </a:txBody>
                  <a:tcPr anchor="ctr"/>
                </a:tc>
                <a:tc>
                  <a:txBody>
                    <a:bodyPr/>
                    <a:lstStyle/>
                    <a:p>
                      <a:r>
                        <a:rPr lang="en-US" sz="2000" dirty="0"/>
                        <a:t>Generates inputs from scratch based on input format rules.</a:t>
                      </a:r>
                    </a:p>
                  </a:txBody>
                  <a:tcPr anchor="ctr"/>
                </a:tc>
                <a:extLst>
                  <a:ext uri="{0D108BD9-81ED-4DB2-BD59-A6C34878D82A}">
                    <a16:rowId xmlns:a16="http://schemas.microsoft.com/office/drawing/2014/main" val="106397457"/>
                  </a:ext>
                </a:extLst>
              </a:tr>
              <a:tr h="434161">
                <a:tc>
                  <a:txBody>
                    <a:bodyPr/>
                    <a:lstStyle/>
                    <a:p>
                      <a:r>
                        <a:rPr lang="en-IN" sz="2000" dirty="0"/>
                        <a:t>Protocol-aware Fuzzing</a:t>
                      </a:r>
                    </a:p>
                  </a:txBody>
                  <a:tcPr anchor="ctr"/>
                </a:tc>
                <a:tc>
                  <a:txBody>
                    <a:bodyPr/>
                    <a:lstStyle/>
                    <a:p>
                      <a:r>
                        <a:rPr lang="en-US" sz="2000" dirty="0"/>
                        <a:t>Tests structured inputs for protocols (e.g., HTTP, FTP).</a:t>
                      </a:r>
                    </a:p>
                  </a:txBody>
                  <a:tcPr anchor="ctr"/>
                </a:tc>
                <a:extLst>
                  <a:ext uri="{0D108BD9-81ED-4DB2-BD59-A6C34878D82A}">
                    <a16:rowId xmlns:a16="http://schemas.microsoft.com/office/drawing/2014/main" val="4220752837"/>
                  </a:ext>
                </a:extLst>
              </a:tr>
              <a:tr h="434161">
                <a:tc>
                  <a:txBody>
                    <a:bodyPr/>
                    <a:lstStyle/>
                    <a:p>
                      <a:r>
                        <a:rPr lang="en-IN" sz="2000"/>
                        <a:t>File format fuzzing</a:t>
                      </a:r>
                    </a:p>
                  </a:txBody>
                  <a:tcPr anchor="ctr"/>
                </a:tc>
                <a:tc>
                  <a:txBody>
                    <a:bodyPr/>
                    <a:lstStyle/>
                    <a:p>
                      <a:r>
                        <a:rPr lang="en-US" sz="2000" dirty="0"/>
                        <a:t>Sends corrupted images, audio, or files to test apps or systems.</a:t>
                      </a:r>
                    </a:p>
                  </a:txBody>
                  <a:tcPr anchor="ctr"/>
                </a:tc>
                <a:extLst>
                  <a:ext uri="{0D108BD9-81ED-4DB2-BD59-A6C34878D82A}">
                    <a16:rowId xmlns:a16="http://schemas.microsoft.com/office/drawing/2014/main" val="932550058"/>
                  </a:ext>
                </a:extLst>
              </a:tr>
            </a:tbl>
          </a:graphicData>
        </a:graphic>
      </p:graphicFrame>
      <p:sp>
        <p:nvSpPr>
          <p:cNvPr id="5" name="Rectangle 4"/>
          <p:cNvSpPr/>
          <p:nvPr/>
        </p:nvSpPr>
        <p:spPr>
          <a:xfrm>
            <a:off x="206574" y="3207544"/>
            <a:ext cx="11711106" cy="3139321"/>
          </a:xfrm>
          <a:prstGeom prst="rect">
            <a:avLst/>
          </a:prstGeom>
        </p:spPr>
        <p:txBody>
          <a:bodyPr wrap="square">
            <a:spAutoFit/>
          </a:bodyPr>
          <a:lstStyle/>
          <a:p>
            <a:pPr algn="just"/>
            <a:r>
              <a:rPr lang="en-IN" sz="2400" b="1" u="sng" dirty="0"/>
              <a:t>📌 Common Vulnerabilities Found via Fuzzing:</a:t>
            </a:r>
          </a:p>
          <a:p>
            <a:pPr marL="800100" lvl="1" indent="-342900" algn="just">
              <a:spcBef>
                <a:spcPts val="600"/>
              </a:spcBef>
              <a:buFont typeface="Wingdings" panose="05000000000000000000" pitchFamily="2" charset="2"/>
              <a:buChar char="Ø"/>
            </a:pPr>
            <a:r>
              <a:rPr lang="en-IN" sz="2400" dirty="0"/>
              <a:t>Buffer overflows</a:t>
            </a:r>
          </a:p>
          <a:p>
            <a:pPr marL="800100" lvl="1" indent="-342900" algn="just">
              <a:spcBef>
                <a:spcPts val="600"/>
              </a:spcBef>
              <a:buFont typeface="Wingdings" panose="05000000000000000000" pitchFamily="2" charset="2"/>
              <a:buChar char="Ø"/>
            </a:pPr>
            <a:r>
              <a:rPr lang="en-IN" sz="2400" dirty="0"/>
              <a:t>Memory leaks</a:t>
            </a:r>
          </a:p>
          <a:p>
            <a:pPr marL="800100" lvl="1" indent="-342900" algn="just">
              <a:spcBef>
                <a:spcPts val="600"/>
              </a:spcBef>
              <a:buFont typeface="Wingdings" panose="05000000000000000000" pitchFamily="2" charset="2"/>
              <a:buChar char="Ø"/>
            </a:pPr>
            <a:r>
              <a:rPr lang="en-IN" sz="2400" dirty="0"/>
              <a:t>Stack overflows</a:t>
            </a:r>
          </a:p>
          <a:p>
            <a:pPr marL="800100" lvl="1" indent="-342900" algn="just">
              <a:spcBef>
                <a:spcPts val="600"/>
              </a:spcBef>
              <a:buFont typeface="Wingdings" panose="05000000000000000000" pitchFamily="2" charset="2"/>
              <a:buChar char="Ø"/>
            </a:pPr>
            <a:r>
              <a:rPr lang="en-IN" sz="2400" dirty="0"/>
              <a:t>Input validation flaws</a:t>
            </a:r>
          </a:p>
          <a:p>
            <a:pPr marL="800100" lvl="1" indent="-342900" algn="just">
              <a:spcBef>
                <a:spcPts val="600"/>
              </a:spcBef>
              <a:buFont typeface="Wingdings" panose="05000000000000000000" pitchFamily="2" charset="2"/>
              <a:buChar char="Ø"/>
            </a:pPr>
            <a:r>
              <a:rPr lang="en-IN" sz="2400" dirty="0"/>
              <a:t>SQL/Command injection</a:t>
            </a:r>
          </a:p>
          <a:p>
            <a:pPr marL="800100" lvl="1" indent="-342900" algn="just">
              <a:spcBef>
                <a:spcPts val="600"/>
              </a:spcBef>
              <a:buFont typeface="Wingdings" panose="05000000000000000000" pitchFamily="2" charset="2"/>
              <a:buChar char="Ø"/>
            </a:pPr>
            <a:r>
              <a:rPr lang="en-IN" sz="2400" dirty="0"/>
              <a:t>Denial of Service (</a:t>
            </a:r>
            <a:r>
              <a:rPr lang="en-IN" sz="2400" dirty="0" err="1"/>
              <a:t>DoS</a:t>
            </a:r>
            <a:r>
              <a:rPr lang="en-IN" sz="2400" dirty="0"/>
              <a:t>)</a:t>
            </a:r>
          </a:p>
        </p:txBody>
      </p:sp>
      <p:sp>
        <p:nvSpPr>
          <p:cNvPr id="2" name="Date Placeholder 1">
            <a:extLst>
              <a:ext uri="{FF2B5EF4-FFF2-40B4-BE49-F238E27FC236}">
                <a16:creationId xmlns:a16="http://schemas.microsoft.com/office/drawing/2014/main" id="{9A8AD05D-7C37-7DC5-16EF-04DC42659999}"/>
              </a:ext>
            </a:extLst>
          </p:cNvPr>
          <p:cNvSpPr>
            <a:spLocks noGrp="1"/>
          </p:cNvSpPr>
          <p:nvPr>
            <p:ph type="dt" sz="half" idx="10"/>
          </p:nvPr>
        </p:nvSpPr>
        <p:spPr/>
        <p:txBody>
          <a:bodyPr/>
          <a:lstStyle/>
          <a:p>
            <a:fld id="{CE325758-D7B2-4BE8-ABBA-A61D43641472}" type="datetime1">
              <a:rPr lang="en-IN" smtClean="0"/>
              <a:t>03-11-2025</a:t>
            </a:fld>
            <a:endParaRPr lang="en-IN"/>
          </a:p>
        </p:txBody>
      </p:sp>
      <p:sp>
        <p:nvSpPr>
          <p:cNvPr id="6" name="Footer Placeholder 5">
            <a:extLst>
              <a:ext uri="{FF2B5EF4-FFF2-40B4-BE49-F238E27FC236}">
                <a16:creationId xmlns:a16="http://schemas.microsoft.com/office/drawing/2014/main" id="{F069342B-CB4F-A983-BC37-829EB4D2AA64}"/>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6D7E1822-805E-DD43-3CF3-F143D590B714}"/>
              </a:ext>
            </a:extLst>
          </p:cNvPr>
          <p:cNvSpPr>
            <a:spLocks noGrp="1"/>
          </p:cNvSpPr>
          <p:nvPr>
            <p:ph type="sldNum" sz="quarter" idx="12"/>
          </p:nvPr>
        </p:nvSpPr>
        <p:spPr/>
        <p:txBody>
          <a:bodyPr/>
          <a:lstStyle/>
          <a:p>
            <a:fld id="{157E8F69-36B6-4843-A9CE-6B9353F4DBAF}" type="slidenum">
              <a:rPr lang="en-IN" smtClean="0"/>
              <a:t>94</a:t>
            </a:fld>
            <a:endParaRPr lang="en-IN"/>
          </a:p>
        </p:txBody>
      </p:sp>
    </p:spTree>
    <p:extLst>
      <p:ext uri="{BB962C8B-B14F-4D97-AF65-F5344CB8AC3E}">
        <p14:creationId xmlns:p14="http://schemas.microsoft.com/office/powerpoint/2010/main" val="1958856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0530" y="242054"/>
            <a:ext cx="3298211" cy="461665"/>
          </a:xfrm>
          <a:prstGeom prst="rect">
            <a:avLst/>
          </a:prstGeom>
        </p:spPr>
        <p:txBody>
          <a:bodyPr wrap="none">
            <a:spAutoFit/>
          </a:bodyPr>
          <a:lstStyle/>
          <a:p>
            <a:r>
              <a:rPr lang="en-IN" sz="2400" b="1" u="sng" dirty="0"/>
              <a:t>🛠️ Popular Fuzzing Tools:</a:t>
            </a:r>
          </a:p>
        </p:txBody>
      </p:sp>
      <p:graphicFrame>
        <p:nvGraphicFramePr>
          <p:cNvPr id="4" name="Table 3"/>
          <p:cNvGraphicFramePr>
            <a:graphicFrameLocks noGrp="1"/>
          </p:cNvGraphicFramePr>
          <p:nvPr>
            <p:extLst>
              <p:ext uri="{D42A27DB-BD31-4B8C-83A1-F6EECF244321}">
                <p14:modId xmlns:p14="http://schemas.microsoft.com/office/powerpoint/2010/main" val="3633921917"/>
              </p:ext>
            </p:extLst>
          </p:nvPr>
        </p:nvGraphicFramePr>
        <p:xfrm>
          <a:off x="280530" y="816134"/>
          <a:ext cx="11591430" cy="2438400"/>
        </p:xfrm>
        <a:graphic>
          <a:graphicData uri="http://schemas.openxmlformats.org/drawingml/2006/table">
            <a:tbl>
              <a:tblPr>
                <a:tableStyleId>{BDBED569-4797-4DF1-A0F4-6AAB3CD982D8}</a:tableStyleId>
              </a:tblPr>
              <a:tblGrid>
                <a:gridCol w="3895230">
                  <a:extLst>
                    <a:ext uri="{9D8B030D-6E8A-4147-A177-3AD203B41FA5}">
                      <a16:colId xmlns:a16="http://schemas.microsoft.com/office/drawing/2014/main" val="1726608294"/>
                    </a:ext>
                  </a:extLst>
                </a:gridCol>
                <a:gridCol w="7696200">
                  <a:extLst>
                    <a:ext uri="{9D8B030D-6E8A-4147-A177-3AD203B41FA5}">
                      <a16:colId xmlns:a16="http://schemas.microsoft.com/office/drawing/2014/main" val="3875495816"/>
                    </a:ext>
                  </a:extLst>
                </a:gridCol>
              </a:tblGrid>
              <a:tr h="0">
                <a:tc>
                  <a:txBody>
                    <a:bodyPr/>
                    <a:lstStyle/>
                    <a:p>
                      <a:pPr algn="ctr"/>
                      <a:r>
                        <a:rPr lang="en-IN" sz="2400" b="1" u="sng" dirty="0"/>
                        <a:t>Tool</a:t>
                      </a:r>
                    </a:p>
                  </a:txBody>
                  <a:tcPr anchor="ctr"/>
                </a:tc>
                <a:tc>
                  <a:txBody>
                    <a:bodyPr/>
                    <a:lstStyle/>
                    <a:p>
                      <a:pPr algn="ctr"/>
                      <a:r>
                        <a:rPr lang="en-IN" sz="2400" b="1" u="sng" dirty="0"/>
                        <a:t>Description</a:t>
                      </a:r>
                    </a:p>
                  </a:txBody>
                  <a:tcPr anchor="ctr"/>
                </a:tc>
                <a:extLst>
                  <a:ext uri="{0D108BD9-81ED-4DB2-BD59-A6C34878D82A}">
                    <a16:rowId xmlns:a16="http://schemas.microsoft.com/office/drawing/2014/main" val="962199564"/>
                  </a:ext>
                </a:extLst>
              </a:tr>
              <a:tr h="0">
                <a:tc>
                  <a:txBody>
                    <a:bodyPr/>
                    <a:lstStyle/>
                    <a:p>
                      <a:r>
                        <a:rPr lang="en-IN" sz="2000" dirty="0"/>
                        <a:t>AFL (American Fuzzy Lop)</a:t>
                      </a:r>
                    </a:p>
                  </a:txBody>
                  <a:tcPr anchor="ctr"/>
                </a:tc>
                <a:tc>
                  <a:txBody>
                    <a:bodyPr/>
                    <a:lstStyle/>
                    <a:p>
                      <a:r>
                        <a:rPr lang="en-IN" sz="2000" dirty="0"/>
                        <a:t>Powerful, open-source, coverage-guided </a:t>
                      </a:r>
                      <a:r>
                        <a:rPr lang="en-IN" sz="2000" dirty="0" err="1"/>
                        <a:t>fuzzer</a:t>
                      </a:r>
                      <a:endParaRPr lang="en-IN" sz="2000" dirty="0"/>
                    </a:p>
                  </a:txBody>
                  <a:tcPr anchor="ctr"/>
                </a:tc>
                <a:extLst>
                  <a:ext uri="{0D108BD9-81ED-4DB2-BD59-A6C34878D82A}">
                    <a16:rowId xmlns:a16="http://schemas.microsoft.com/office/drawing/2014/main" val="772170959"/>
                  </a:ext>
                </a:extLst>
              </a:tr>
              <a:tr h="0">
                <a:tc>
                  <a:txBody>
                    <a:bodyPr/>
                    <a:lstStyle/>
                    <a:p>
                      <a:r>
                        <a:rPr lang="en-IN" sz="2000" dirty="0" err="1"/>
                        <a:t>LibFuzzer</a:t>
                      </a:r>
                      <a:endParaRPr lang="en-IN" sz="2000" dirty="0"/>
                    </a:p>
                  </a:txBody>
                  <a:tcPr anchor="ctr"/>
                </a:tc>
                <a:tc>
                  <a:txBody>
                    <a:bodyPr/>
                    <a:lstStyle/>
                    <a:p>
                      <a:r>
                        <a:rPr lang="en-US" sz="2000" dirty="0"/>
                        <a:t>In-process, coverage-based </a:t>
                      </a:r>
                      <a:r>
                        <a:rPr lang="en-US" sz="2000" dirty="0" err="1"/>
                        <a:t>fuzzer</a:t>
                      </a:r>
                      <a:r>
                        <a:rPr lang="en-US" sz="2000" dirty="0"/>
                        <a:t> for LLVM</a:t>
                      </a:r>
                    </a:p>
                  </a:txBody>
                  <a:tcPr anchor="ctr"/>
                </a:tc>
                <a:extLst>
                  <a:ext uri="{0D108BD9-81ED-4DB2-BD59-A6C34878D82A}">
                    <a16:rowId xmlns:a16="http://schemas.microsoft.com/office/drawing/2014/main" val="1359985354"/>
                  </a:ext>
                </a:extLst>
              </a:tr>
              <a:tr h="0">
                <a:tc>
                  <a:txBody>
                    <a:bodyPr/>
                    <a:lstStyle/>
                    <a:p>
                      <a:r>
                        <a:rPr lang="en-IN" sz="2000"/>
                        <a:t>Peach Fuzzer</a:t>
                      </a:r>
                    </a:p>
                  </a:txBody>
                  <a:tcPr anchor="ctr"/>
                </a:tc>
                <a:tc>
                  <a:txBody>
                    <a:bodyPr/>
                    <a:lstStyle/>
                    <a:p>
                      <a:r>
                        <a:rPr lang="en-US" sz="2000" dirty="0"/>
                        <a:t>Commercial tool supporting file and network fuzzing</a:t>
                      </a:r>
                    </a:p>
                  </a:txBody>
                  <a:tcPr anchor="ctr"/>
                </a:tc>
                <a:extLst>
                  <a:ext uri="{0D108BD9-81ED-4DB2-BD59-A6C34878D82A}">
                    <a16:rowId xmlns:a16="http://schemas.microsoft.com/office/drawing/2014/main" val="37083233"/>
                  </a:ext>
                </a:extLst>
              </a:tr>
              <a:tr h="0">
                <a:tc>
                  <a:txBody>
                    <a:bodyPr/>
                    <a:lstStyle/>
                    <a:p>
                      <a:r>
                        <a:rPr lang="en-IN" sz="2000"/>
                        <a:t>OSS-Fuzz</a:t>
                      </a:r>
                    </a:p>
                  </a:txBody>
                  <a:tcPr anchor="ctr"/>
                </a:tc>
                <a:tc>
                  <a:txBody>
                    <a:bodyPr/>
                    <a:lstStyle/>
                    <a:p>
                      <a:r>
                        <a:rPr lang="en-IN" sz="2000" dirty="0"/>
                        <a:t>Google’s platform for fuzzing open-source software</a:t>
                      </a:r>
                    </a:p>
                  </a:txBody>
                  <a:tcPr anchor="ctr"/>
                </a:tc>
                <a:extLst>
                  <a:ext uri="{0D108BD9-81ED-4DB2-BD59-A6C34878D82A}">
                    <a16:rowId xmlns:a16="http://schemas.microsoft.com/office/drawing/2014/main" val="1417531969"/>
                  </a:ext>
                </a:extLst>
              </a:tr>
              <a:tr h="0">
                <a:tc>
                  <a:txBody>
                    <a:bodyPr/>
                    <a:lstStyle/>
                    <a:p>
                      <a:r>
                        <a:rPr lang="en-IN" sz="2000"/>
                        <a:t>Burp Suite</a:t>
                      </a:r>
                    </a:p>
                  </a:txBody>
                  <a:tcPr anchor="ctr"/>
                </a:tc>
                <a:tc>
                  <a:txBody>
                    <a:bodyPr/>
                    <a:lstStyle/>
                    <a:p>
                      <a:r>
                        <a:rPr lang="en-US" sz="2000" dirty="0"/>
                        <a:t>Web app fuzzing, especially for input validation</a:t>
                      </a:r>
                    </a:p>
                  </a:txBody>
                  <a:tcPr anchor="ctr"/>
                </a:tc>
                <a:extLst>
                  <a:ext uri="{0D108BD9-81ED-4DB2-BD59-A6C34878D82A}">
                    <a16:rowId xmlns:a16="http://schemas.microsoft.com/office/drawing/2014/main" val="1989644441"/>
                  </a:ext>
                </a:extLst>
              </a:tr>
            </a:tbl>
          </a:graphicData>
        </a:graphic>
      </p:graphicFrame>
      <p:sp>
        <p:nvSpPr>
          <p:cNvPr id="5" name="Rectangle 4"/>
          <p:cNvSpPr/>
          <p:nvPr/>
        </p:nvSpPr>
        <p:spPr>
          <a:xfrm>
            <a:off x="280530" y="3532555"/>
            <a:ext cx="6096000" cy="830997"/>
          </a:xfrm>
          <a:prstGeom prst="rect">
            <a:avLst/>
          </a:prstGeom>
        </p:spPr>
        <p:txBody>
          <a:bodyPr>
            <a:spAutoFit/>
          </a:bodyPr>
          <a:lstStyle/>
          <a:p>
            <a:r>
              <a:rPr lang="en-US" sz="2400" b="1" u="sng" dirty="0"/>
              <a:t>✅ Example Scenario:</a:t>
            </a:r>
          </a:p>
          <a:p>
            <a:r>
              <a:rPr lang="en-US" sz="2400" dirty="0"/>
              <a:t>A login form expects:</a:t>
            </a:r>
          </a:p>
        </p:txBody>
      </p:sp>
      <p:sp>
        <p:nvSpPr>
          <p:cNvPr id="6" name="Rectangle 5"/>
          <p:cNvSpPr/>
          <p:nvPr/>
        </p:nvSpPr>
        <p:spPr>
          <a:xfrm>
            <a:off x="3328530" y="3948053"/>
            <a:ext cx="6096000" cy="830997"/>
          </a:xfrm>
          <a:prstGeom prst="rect">
            <a:avLst/>
          </a:prstGeom>
        </p:spPr>
        <p:txBody>
          <a:bodyPr>
            <a:spAutoFit/>
          </a:bodyPr>
          <a:lstStyle/>
          <a:p>
            <a:r>
              <a:rPr lang="en-IN" sz="2400" dirty="0"/>
              <a:t>Username: alphanumeric, max 10 chars  </a:t>
            </a:r>
          </a:p>
          <a:p>
            <a:r>
              <a:rPr lang="en-IN" sz="2400" dirty="0"/>
              <a:t>Password: alphanumeric, max 12 chars</a:t>
            </a:r>
          </a:p>
        </p:txBody>
      </p:sp>
      <p:sp>
        <p:nvSpPr>
          <p:cNvPr id="7" name="Rectangle 1"/>
          <p:cNvSpPr>
            <a:spLocks noChangeArrowheads="1"/>
          </p:cNvSpPr>
          <p:nvPr/>
        </p:nvSpPr>
        <p:spPr bwMode="auto">
          <a:xfrm>
            <a:off x="280530" y="4707762"/>
            <a:ext cx="1159143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Fuzz Input Example:</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Username: @@@@@@@#####$$$$$%%%%%...</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Password: '; DROP TABLE users;--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If the software doesn’t validate inputs properly, it might crash or even execute harmful code (like SQL injection).</a:t>
            </a:r>
          </a:p>
        </p:txBody>
      </p:sp>
      <p:sp>
        <p:nvSpPr>
          <p:cNvPr id="2" name="Date Placeholder 1">
            <a:extLst>
              <a:ext uri="{FF2B5EF4-FFF2-40B4-BE49-F238E27FC236}">
                <a16:creationId xmlns:a16="http://schemas.microsoft.com/office/drawing/2014/main" id="{A7BFE231-DDBC-2412-0C9F-B48CFDA0E868}"/>
              </a:ext>
            </a:extLst>
          </p:cNvPr>
          <p:cNvSpPr>
            <a:spLocks noGrp="1"/>
          </p:cNvSpPr>
          <p:nvPr>
            <p:ph type="dt" sz="half" idx="10"/>
          </p:nvPr>
        </p:nvSpPr>
        <p:spPr/>
        <p:txBody>
          <a:bodyPr/>
          <a:lstStyle/>
          <a:p>
            <a:fld id="{F33F123B-1E01-42C5-9572-97EFDD198033}" type="datetime1">
              <a:rPr lang="en-IN" smtClean="0"/>
              <a:t>03-11-2025</a:t>
            </a:fld>
            <a:endParaRPr lang="en-IN"/>
          </a:p>
        </p:txBody>
      </p:sp>
      <p:sp>
        <p:nvSpPr>
          <p:cNvPr id="8" name="Footer Placeholder 7">
            <a:extLst>
              <a:ext uri="{FF2B5EF4-FFF2-40B4-BE49-F238E27FC236}">
                <a16:creationId xmlns:a16="http://schemas.microsoft.com/office/drawing/2014/main" id="{5E53FB47-E109-643B-DB07-99EE41F3EC22}"/>
              </a:ext>
            </a:extLst>
          </p:cNvPr>
          <p:cNvSpPr>
            <a:spLocks noGrp="1"/>
          </p:cNvSpPr>
          <p:nvPr>
            <p:ph type="ftr" sz="quarter" idx="11"/>
          </p:nvPr>
        </p:nvSpPr>
        <p:spPr/>
        <p:txBody>
          <a:bodyPr/>
          <a:lstStyle/>
          <a:p>
            <a:r>
              <a:rPr lang="en-IN"/>
              <a:t>MIT</a:t>
            </a:r>
          </a:p>
        </p:txBody>
      </p:sp>
      <p:sp>
        <p:nvSpPr>
          <p:cNvPr id="9" name="Slide Number Placeholder 8">
            <a:extLst>
              <a:ext uri="{FF2B5EF4-FFF2-40B4-BE49-F238E27FC236}">
                <a16:creationId xmlns:a16="http://schemas.microsoft.com/office/drawing/2014/main" id="{C81CFB0E-345A-4132-3D61-05F8B47345F1}"/>
              </a:ext>
            </a:extLst>
          </p:cNvPr>
          <p:cNvSpPr>
            <a:spLocks noGrp="1"/>
          </p:cNvSpPr>
          <p:nvPr>
            <p:ph type="sldNum" sz="quarter" idx="12"/>
          </p:nvPr>
        </p:nvSpPr>
        <p:spPr/>
        <p:txBody>
          <a:bodyPr/>
          <a:lstStyle/>
          <a:p>
            <a:fld id="{157E8F69-36B6-4843-A9CE-6B9353F4DBAF}" type="slidenum">
              <a:rPr lang="en-IN" smtClean="0"/>
              <a:t>95</a:t>
            </a:fld>
            <a:endParaRPr lang="en-IN"/>
          </a:p>
        </p:txBody>
      </p:sp>
    </p:spTree>
    <p:extLst>
      <p:ext uri="{BB962C8B-B14F-4D97-AF65-F5344CB8AC3E}">
        <p14:creationId xmlns:p14="http://schemas.microsoft.com/office/powerpoint/2010/main" val="237580714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9560" y="251936"/>
            <a:ext cx="11536680" cy="1938992"/>
          </a:xfrm>
          <a:prstGeom prst="rect">
            <a:avLst/>
          </a:prstGeom>
        </p:spPr>
        <p:txBody>
          <a:bodyPr wrap="square">
            <a:spAutoFit/>
          </a:bodyPr>
          <a:lstStyle/>
          <a:p>
            <a:r>
              <a:rPr lang="en-US" sz="2400" b="1" u="sng" dirty="0"/>
              <a:t>⚖️ Advantages of Fuzz Testing:</a:t>
            </a:r>
          </a:p>
          <a:p>
            <a:pPr marL="800100" lvl="1" indent="-342900">
              <a:buFont typeface="Wingdings" panose="05000000000000000000" pitchFamily="2" charset="2"/>
              <a:buChar char="Ø"/>
            </a:pPr>
            <a:r>
              <a:rPr lang="en-US" sz="2400" dirty="0"/>
              <a:t>Detects </a:t>
            </a:r>
            <a:r>
              <a:rPr lang="en-US" sz="2400" b="1" dirty="0"/>
              <a:t>hidden bugs</a:t>
            </a:r>
            <a:r>
              <a:rPr lang="en-US" sz="2400" dirty="0"/>
              <a:t> not found in functional testing.</a:t>
            </a:r>
          </a:p>
          <a:p>
            <a:pPr marL="800100" lvl="1" indent="-342900">
              <a:buFont typeface="Wingdings" panose="05000000000000000000" pitchFamily="2" charset="2"/>
              <a:buChar char="Ø"/>
            </a:pPr>
            <a:r>
              <a:rPr lang="en-US" sz="2400" dirty="0"/>
              <a:t>Effective in uncovering </a:t>
            </a:r>
            <a:r>
              <a:rPr lang="en-US" sz="2400" b="1" dirty="0"/>
              <a:t>security vulnerabilities</a:t>
            </a:r>
            <a:r>
              <a:rPr lang="en-US" sz="2400" dirty="0"/>
              <a:t>.</a:t>
            </a:r>
          </a:p>
          <a:p>
            <a:pPr marL="800100" lvl="1" indent="-342900">
              <a:buFont typeface="Wingdings" panose="05000000000000000000" pitchFamily="2" charset="2"/>
              <a:buChar char="Ø"/>
            </a:pPr>
            <a:r>
              <a:rPr lang="en-US" sz="2400" b="1" dirty="0"/>
              <a:t>Low cost</a:t>
            </a:r>
            <a:r>
              <a:rPr lang="en-US" sz="2400" dirty="0"/>
              <a:t>, can be largely </a:t>
            </a:r>
            <a:r>
              <a:rPr lang="en-US" sz="2400" b="1" dirty="0"/>
              <a:t>automated</a:t>
            </a:r>
            <a:r>
              <a:rPr lang="en-US" sz="2400" dirty="0"/>
              <a:t>.</a:t>
            </a:r>
          </a:p>
          <a:p>
            <a:pPr marL="800100" lvl="1" indent="-342900">
              <a:buFont typeface="Wingdings" panose="05000000000000000000" pitchFamily="2" charset="2"/>
              <a:buChar char="Ø"/>
            </a:pPr>
            <a:r>
              <a:rPr lang="en-US" sz="2400" dirty="0"/>
              <a:t>Good for </a:t>
            </a:r>
            <a:r>
              <a:rPr lang="en-US" sz="2400" b="1" dirty="0"/>
              <a:t>stress and robustness</a:t>
            </a:r>
            <a:r>
              <a:rPr lang="en-US" sz="2400" dirty="0"/>
              <a:t> testing.</a:t>
            </a:r>
          </a:p>
        </p:txBody>
      </p:sp>
      <p:sp>
        <p:nvSpPr>
          <p:cNvPr id="4" name="Rectangle 3"/>
          <p:cNvSpPr/>
          <p:nvPr/>
        </p:nvSpPr>
        <p:spPr>
          <a:xfrm>
            <a:off x="289560" y="2385536"/>
            <a:ext cx="11536680" cy="1938992"/>
          </a:xfrm>
          <a:prstGeom prst="rect">
            <a:avLst/>
          </a:prstGeom>
        </p:spPr>
        <p:txBody>
          <a:bodyPr wrap="square">
            <a:spAutoFit/>
          </a:bodyPr>
          <a:lstStyle/>
          <a:p>
            <a:pPr algn="just"/>
            <a:r>
              <a:rPr lang="en-US" sz="2400" b="1" u="sng" dirty="0"/>
              <a:t>⚠️ Limitations of Fuzz Testing:</a:t>
            </a:r>
          </a:p>
          <a:p>
            <a:pPr marL="800100" lvl="1" indent="-342900" algn="just">
              <a:buFont typeface="Wingdings" panose="05000000000000000000" pitchFamily="2" charset="2"/>
              <a:buChar char="Ø"/>
            </a:pPr>
            <a:r>
              <a:rPr lang="en-US" sz="2400" dirty="0"/>
              <a:t>Doesn’t guarantee full test coverage.</a:t>
            </a:r>
          </a:p>
          <a:p>
            <a:pPr marL="800100" lvl="1" indent="-342900" algn="just">
              <a:buFont typeface="Wingdings" panose="05000000000000000000" pitchFamily="2" charset="2"/>
              <a:buChar char="Ø"/>
            </a:pPr>
            <a:r>
              <a:rPr lang="en-US" sz="2400" dirty="0"/>
              <a:t>May miss </a:t>
            </a:r>
            <a:r>
              <a:rPr lang="en-US" sz="2400" b="1" dirty="0"/>
              <a:t>logical errors</a:t>
            </a:r>
            <a:r>
              <a:rPr lang="en-US" sz="2400" dirty="0"/>
              <a:t>.</a:t>
            </a:r>
          </a:p>
          <a:p>
            <a:pPr marL="800100" lvl="1" indent="-342900" algn="just">
              <a:buFont typeface="Wingdings" panose="05000000000000000000" pitchFamily="2" charset="2"/>
              <a:buChar char="Ø"/>
            </a:pPr>
            <a:r>
              <a:rPr lang="en-US" sz="2400" dirty="0"/>
              <a:t>Hard to interpret if many false positives occur.</a:t>
            </a:r>
          </a:p>
          <a:p>
            <a:pPr marL="800100" lvl="1" indent="-342900" algn="just">
              <a:buFont typeface="Wingdings" panose="05000000000000000000" pitchFamily="2" charset="2"/>
              <a:buChar char="Ø"/>
            </a:pPr>
            <a:r>
              <a:rPr lang="en-US" sz="2400" dirty="0"/>
              <a:t>May require significant </a:t>
            </a:r>
            <a:r>
              <a:rPr lang="en-US" sz="2400" b="1" dirty="0"/>
              <a:t>manual analysis</a:t>
            </a:r>
            <a:r>
              <a:rPr lang="en-US" sz="2400" dirty="0"/>
              <a:t> of crash logs.</a:t>
            </a:r>
          </a:p>
        </p:txBody>
      </p:sp>
      <p:sp>
        <p:nvSpPr>
          <p:cNvPr id="5" name="Rectangle 4"/>
          <p:cNvSpPr/>
          <p:nvPr/>
        </p:nvSpPr>
        <p:spPr>
          <a:xfrm>
            <a:off x="289560" y="4657636"/>
            <a:ext cx="11536680" cy="1569660"/>
          </a:xfrm>
          <a:prstGeom prst="rect">
            <a:avLst/>
          </a:prstGeom>
        </p:spPr>
        <p:txBody>
          <a:bodyPr wrap="square">
            <a:spAutoFit/>
          </a:bodyPr>
          <a:lstStyle/>
          <a:p>
            <a:pPr algn="just"/>
            <a:r>
              <a:rPr lang="en-US" sz="2400" b="1" u="sng" dirty="0"/>
              <a:t>🧠 Best Practices:</a:t>
            </a:r>
          </a:p>
          <a:p>
            <a:pPr marL="800100" lvl="1" indent="-342900" algn="just">
              <a:buFont typeface="Wingdings" panose="05000000000000000000" pitchFamily="2" charset="2"/>
              <a:buChar char="Ø"/>
            </a:pPr>
            <a:r>
              <a:rPr lang="en-US" sz="2400" dirty="0"/>
              <a:t>Combine fuzzing with </a:t>
            </a:r>
            <a:r>
              <a:rPr lang="en-US" sz="2400" b="1" dirty="0"/>
              <a:t>static and dynamic analysis</a:t>
            </a:r>
            <a:r>
              <a:rPr lang="en-US" sz="2400" dirty="0"/>
              <a:t>.</a:t>
            </a:r>
          </a:p>
          <a:p>
            <a:pPr marL="800100" lvl="1" indent="-342900" algn="just">
              <a:buFont typeface="Wingdings" panose="05000000000000000000" pitchFamily="2" charset="2"/>
              <a:buChar char="Ø"/>
            </a:pPr>
            <a:r>
              <a:rPr lang="en-US" sz="2400" dirty="0"/>
              <a:t>Use </a:t>
            </a:r>
            <a:r>
              <a:rPr lang="en-US" sz="2400" b="1" dirty="0"/>
              <a:t>instrumentation</a:t>
            </a:r>
            <a:r>
              <a:rPr lang="en-US" sz="2400" dirty="0"/>
              <a:t> to track code coverage.</a:t>
            </a:r>
          </a:p>
          <a:p>
            <a:pPr marL="800100" lvl="1" indent="-342900" algn="just">
              <a:buFont typeface="Wingdings" panose="05000000000000000000" pitchFamily="2" charset="2"/>
              <a:buChar char="Ø"/>
            </a:pPr>
            <a:r>
              <a:rPr lang="en-US" sz="2400" dirty="0"/>
              <a:t>Always </a:t>
            </a:r>
            <a:r>
              <a:rPr lang="en-US" sz="2400" b="1" dirty="0"/>
              <a:t>log and replay</a:t>
            </a:r>
            <a:r>
              <a:rPr lang="en-US" sz="2400" dirty="0"/>
              <a:t> crashes to reproduce and fix bugs.</a:t>
            </a:r>
          </a:p>
        </p:txBody>
      </p:sp>
      <p:sp>
        <p:nvSpPr>
          <p:cNvPr id="2" name="Date Placeholder 1">
            <a:extLst>
              <a:ext uri="{FF2B5EF4-FFF2-40B4-BE49-F238E27FC236}">
                <a16:creationId xmlns:a16="http://schemas.microsoft.com/office/drawing/2014/main" id="{C61E95F1-ED8F-2641-7CB4-CDC7B4E8D167}"/>
              </a:ext>
            </a:extLst>
          </p:cNvPr>
          <p:cNvSpPr>
            <a:spLocks noGrp="1"/>
          </p:cNvSpPr>
          <p:nvPr>
            <p:ph type="dt" sz="half" idx="10"/>
          </p:nvPr>
        </p:nvSpPr>
        <p:spPr/>
        <p:txBody>
          <a:bodyPr/>
          <a:lstStyle/>
          <a:p>
            <a:fld id="{66A94F6D-6850-4172-83F8-CB837F39221A}" type="datetime1">
              <a:rPr lang="en-IN" smtClean="0"/>
              <a:t>03-11-2025</a:t>
            </a:fld>
            <a:endParaRPr lang="en-IN"/>
          </a:p>
        </p:txBody>
      </p:sp>
      <p:sp>
        <p:nvSpPr>
          <p:cNvPr id="6" name="Footer Placeholder 5">
            <a:extLst>
              <a:ext uri="{FF2B5EF4-FFF2-40B4-BE49-F238E27FC236}">
                <a16:creationId xmlns:a16="http://schemas.microsoft.com/office/drawing/2014/main" id="{A125708F-15AE-FD72-D9DD-BB2AC5B64514}"/>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8952BA9C-E775-F750-C36D-FEB6F32D670B}"/>
              </a:ext>
            </a:extLst>
          </p:cNvPr>
          <p:cNvSpPr>
            <a:spLocks noGrp="1"/>
          </p:cNvSpPr>
          <p:nvPr>
            <p:ph type="sldNum" sz="quarter" idx="12"/>
          </p:nvPr>
        </p:nvSpPr>
        <p:spPr/>
        <p:txBody>
          <a:bodyPr/>
          <a:lstStyle/>
          <a:p>
            <a:fld id="{157E8F69-36B6-4843-A9CE-6B9353F4DBAF}" type="slidenum">
              <a:rPr lang="en-IN" smtClean="0"/>
              <a:t>96</a:t>
            </a:fld>
            <a:endParaRPr lang="en-IN"/>
          </a:p>
        </p:txBody>
      </p:sp>
    </p:spTree>
    <p:extLst>
      <p:ext uri="{BB962C8B-B14F-4D97-AF65-F5344CB8AC3E}">
        <p14:creationId xmlns:p14="http://schemas.microsoft.com/office/powerpoint/2010/main" val="410101252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4442" y="501134"/>
            <a:ext cx="4835619" cy="461665"/>
          </a:xfrm>
          <a:prstGeom prst="rect">
            <a:avLst/>
          </a:prstGeom>
        </p:spPr>
        <p:txBody>
          <a:bodyPr wrap="none">
            <a:spAutoFit/>
          </a:bodyPr>
          <a:lstStyle/>
          <a:p>
            <a:r>
              <a:rPr lang="en-US" sz="2400" b="1" u="sng" dirty="0"/>
              <a:t>🧵 Fuzz Testing vs Robustness Testing:</a:t>
            </a:r>
            <a:endParaRPr lang="en-IN" sz="2400" b="1" u="sng" dirty="0"/>
          </a:p>
        </p:txBody>
      </p:sp>
      <p:graphicFrame>
        <p:nvGraphicFramePr>
          <p:cNvPr id="4" name="Table 3"/>
          <p:cNvGraphicFramePr>
            <a:graphicFrameLocks noGrp="1"/>
          </p:cNvGraphicFramePr>
          <p:nvPr>
            <p:extLst>
              <p:ext uri="{D42A27DB-BD31-4B8C-83A1-F6EECF244321}">
                <p14:modId xmlns:p14="http://schemas.microsoft.com/office/powerpoint/2010/main" val="736463135"/>
              </p:ext>
            </p:extLst>
          </p:nvPr>
        </p:nvGraphicFramePr>
        <p:xfrm>
          <a:off x="424442" y="1547654"/>
          <a:ext cx="11188437" cy="3024346"/>
        </p:xfrm>
        <a:graphic>
          <a:graphicData uri="http://schemas.openxmlformats.org/drawingml/2006/table">
            <a:tbl>
              <a:tblPr>
                <a:tableStyleId>{ED083AE6-46FA-4A59-8FB0-9F97EB10719F}</a:tableStyleId>
              </a:tblPr>
              <a:tblGrid>
                <a:gridCol w="3729479">
                  <a:extLst>
                    <a:ext uri="{9D8B030D-6E8A-4147-A177-3AD203B41FA5}">
                      <a16:colId xmlns:a16="http://schemas.microsoft.com/office/drawing/2014/main" val="1356627839"/>
                    </a:ext>
                  </a:extLst>
                </a:gridCol>
                <a:gridCol w="3729479">
                  <a:extLst>
                    <a:ext uri="{9D8B030D-6E8A-4147-A177-3AD203B41FA5}">
                      <a16:colId xmlns:a16="http://schemas.microsoft.com/office/drawing/2014/main" val="2958967738"/>
                    </a:ext>
                  </a:extLst>
                </a:gridCol>
                <a:gridCol w="3729479">
                  <a:extLst>
                    <a:ext uri="{9D8B030D-6E8A-4147-A177-3AD203B41FA5}">
                      <a16:colId xmlns:a16="http://schemas.microsoft.com/office/drawing/2014/main" val="3927599814"/>
                    </a:ext>
                  </a:extLst>
                </a:gridCol>
              </a:tblGrid>
              <a:tr h="589158">
                <a:tc>
                  <a:txBody>
                    <a:bodyPr/>
                    <a:lstStyle/>
                    <a:p>
                      <a:pPr algn="ctr"/>
                      <a:r>
                        <a:rPr lang="en-IN" sz="2400" b="1" u="sng" dirty="0"/>
                        <a:t>Aspect</a:t>
                      </a:r>
                    </a:p>
                  </a:txBody>
                  <a:tcPr anchor="ctr"/>
                </a:tc>
                <a:tc>
                  <a:txBody>
                    <a:bodyPr/>
                    <a:lstStyle/>
                    <a:p>
                      <a:pPr algn="ctr"/>
                      <a:r>
                        <a:rPr lang="en-IN" sz="2400" b="1" u="sng" dirty="0"/>
                        <a:t>Fuzz Testing</a:t>
                      </a:r>
                    </a:p>
                  </a:txBody>
                  <a:tcPr anchor="ctr"/>
                </a:tc>
                <a:tc>
                  <a:txBody>
                    <a:bodyPr/>
                    <a:lstStyle/>
                    <a:p>
                      <a:pPr algn="ctr"/>
                      <a:r>
                        <a:rPr lang="en-IN" sz="2400" b="1" u="sng" dirty="0"/>
                        <a:t>Robustness Testing</a:t>
                      </a:r>
                    </a:p>
                  </a:txBody>
                  <a:tcPr anchor="ctr"/>
                </a:tc>
                <a:extLst>
                  <a:ext uri="{0D108BD9-81ED-4DB2-BD59-A6C34878D82A}">
                    <a16:rowId xmlns:a16="http://schemas.microsoft.com/office/drawing/2014/main" val="2472402227"/>
                  </a:ext>
                </a:extLst>
              </a:tr>
              <a:tr h="510604">
                <a:tc>
                  <a:txBody>
                    <a:bodyPr/>
                    <a:lstStyle/>
                    <a:p>
                      <a:r>
                        <a:rPr lang="en-IN" sz="2000" dirty="0"/>
                        <a:t>Input Strategy</a:t>
                      </a:r>
                    </a:p>
                  </a:txBody>
                  <a:tcPr anchor="ctr"/>
                </a:tc>
                <a:tc>
                  <a:txBody>
                    <a:bodyPr/>
                    <a:lstStyle/>
                    <a:p>
                      <a:r>
                        <a:rPr lang="en-IN" sz="2000" dirty="0"/>
                        <a:t>Random or malformed inputs</a:t>
                      </a:r>
                    </a:p>
                  </a:txBody>
                  <a:tcPr anchor="ctr"/>
                </a:tc>
                <a:tc>
                  <a:txBody>
                    <a:bodyPr/>
                    <a:lstStyle/>
                    <a:p>
                      <a:r>
                        <a:rPr lang="en-IN" sz="2000" dirty="0"/>
                        <a:t>Invalid or stressful inputs</a:t>
                      </a:r>
                    </a:p>
                  </a:txBody>
                  <a:tcPr anchor="ctr"/>
                </a:tc>
                <a:extLst>
                  <a:ext uri="{0D108BD9-81ED-4DB2-BD59-A6C34878D82A}">
                    <a16:rowId xmlns:a16="http://schemas.microsoft.com/office/drawing/2014/main" val="3710022769"/>
                  </a:ext>
                </a:extLst>
              </a:tr>
              <a:tr h="510604">
                <a:tc>
                  <a:txBody>
                    <a:bodyPr/>
                    <a:lstStyle/>
                    <a:p>
                      <a:r>
                        <a:rPr lang="en-IN" sz="2000" dirty="0"/>
                        <a:t>Focus</a:t>
                      </a:r>
                    </a:p>
                  </a:txBody>
                  <a:tcPr anchor="ctr"/>
                </a:tc>
                <a:tc>
                  <a:txBody>
                    <a:bodyPr/>
                    <a:lstStyle/>
                    <a:p>
                      <a:r>
                        <a:rPr lang="en-IN" sz="2000" dirty="0"/>
                        <a:t>Find vulnerabilities and crashes</a:t>
                      </a:r>
                    </a:p>
                  </a:txBody>
                  <a:tcPr anchor="ctr"/>
                </a:tc>
                <a:tc>
                  <a:txBody>
                    <a:bodyPr/>
                    <a:lstStyle/>
                    <a:p>
                      <a:r>
                        <a:rPr lang="en-IN" sz="2000" dirty="0"/>
                        <a:t>Graceful handling of errors</a:t>
                      </a:r>
                    </a:p>
                  </a:txBody>
                  <a:tcPr anchor="ctr"/>
                </a:tc>
                <a:extLst>
                  <a:ext uri="{0D108BD9-81ED-4DB2-BD59-A6C34878D82A}">
                    <a16:rowId xmlns:a16="http://schemas.microsoft.com/office/drawing/2014/main" val="2396173730"/>
                  </a:ext>
                </a:extLst>
              </a:tr>
              <a:tr h="903376">
                <a:tc>
                  <a:txBody>
                    <a:bodyPr/>
                    <a:lstStyle/>
                    <a:p>
                      <a:r>
                        <a:rPr lang="en-IN" sz="2000"/>
                        <a:t>Automation</a:t>
                      </a:r>
                    </a:p>
                  </a:txBody>
                  <a:tcPr anchor="ctr"/>
                </a:tc>
                <a:tc>
                  <a:txBody>
                    <a:bodyPr/>
                    <a:lstStyle/>
                    <a:p>
                      <a:r>
                        <a:rPr lang="en-IN" sz="2000" dirty="0"/>
                        <a:t>Highly automated</a:t>
                      </a:r>
                    </a:p>
                  </a:txBody>
                  <a:tcPr anchor="ctr"/>
                </a:tc>
                <a:tc>
                  <a:txBody>
                    <a:bodyPr/>
                    <a:lstStyle/>
                    <a:p>
                      <a:r>
                        <a:rPr lang="en-US" sz="2000" dirty="0"/>
                        <a:t>Can be semi-automated or manual</a:t>
                      </a:r>
                    </a:p>
                  </a:txBody>
                  <a:tcPr anchor="ctr"/>
                </a:tc>
                <a:extLst>
                  <a:ext uri="{0D108BD9-81ED-4DB2-BD59-A6C34878D82A}">
                    <a16:rowId xmlns:a16="http://schemas.microsoft.com/office/drawing/2014/main" val="2914277266"/>
                  </a:ext>
                </a:extLst>
              </a:tr>
              <a:tr h="510604">
                <a:tc>
                  <a:txBody>
                    <a:bodyPr/>
                    <a:lstStyle/>
                    <a:p>
                      <a:r>
                        <a:rPr lang="en-IN" sz="2000"/>
                        <a:t>Common Use</a:t>
                      </a:r>
                    </a:p>
                  </a:txBody>
                  <a:tcPr anchor="ctr"/>
                </a:tc>
                <a:tc>
                  <a:txBody>
                    <a:bodyPr/>
                    <a:lstStyle/>
                    <a:p>
                      <a:r>
                        <a:rPr lang="en-IN" sz="2000" dirty="0"/>
                        <a:t>Security testing, bug hunting</a:t>
                      </a:r>
                    </a:p>
                  </a:txBody>
                  <a:tcPr anchor="ctr"/>
                </a:tc>
                <a:tc>
                  <a:txBody>
                    <a:bodyPr/>
                    <a:lstStyle/>
                    <a:p>
                      <a:r>
                        <a:rPr lang="en-IN" sz="2000" dirty="0"/>
                        <a:t>Reliability and system stability</a:t>
                      </a:r>
                    </a:p>
                  </a:txBody>
                  <a:tcPr anchor="ctr"/>
                </a:tc>
                <a:extLst>
                  <a:ext uri="{0D108BD9-81ED-4DB2-BD59-A6C34878D82A}">
                    <a16:rowId xmlns:a16="http://schemas.microsoft.com/office/drawing/2014/main" val="3377241360"/>
                  </a:ext>
                </a:extLst>
              </a:tr>
            </a:tbl>
          </a:graphicData>
        </a:graphic>
      </p:graphicFrame>
      <p:sp>
        <p:nvSpPr>
          <p:cNvPr id="2" name="Date Placeholder 1">
            <a:extLst>
              <a:ext uri="{FF2B5EF4-FFF2-40B4-BE49-F238E27FC236}">
                <a16:creationId xmlns:a16="http://schemas.microsoft.com/office/drawing/2014/main" id="{8E3F36F1-1247-F5CD-01BF-73FDF91A65AC}"/>
              </a:ext>
            </a:extLst>
          </p:cNvPr>
          <p:cNvSpPr>
            <a:spLocks noGrp="1"/>
          </p:cNvSpPr>
          <p:nvPr>
            <p:ph type="dt" sz="half" idx="10"/>
          </p:nvPr>
        </p:nvSpPr>
        <p:spPr/>
        <p:txBody>
          <a:bodyPr/>
          <a:lstStyle/>
          <a:p>
            <a:fld id="{6B121085-654C-44F4-9B8D-C1D328D3D84F}" type="datetime1">
              <a:rPr lang="en-IN" smtClean="0"/>
              <a:t>03-11-2025</a:t>
            </a:fld>
            <a:endParaRPr lang="en-IN"/>
          </a:p>
        </p:txBody>
      </p:sp>
      <p:sp>
        <p:nvSpPr>
          <p:cNvPr id="5" name="Footer Placeholder 4">
            <a:extLst>
              <a:ext uri="{FF2B5EF4-FFF2-40B4-BE49-F238E27FC236}">
                <a16:creationId xmlns:a16="http://schemas.microsoft.com/office/drawing/2014/main" id="{E2E1632A-09AD-6A44-D938-DF2DEF67064D}"/>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92817B84-4492-1CA7-D359-BA098145DB67}"/>
              </a:ext>
            </a:extLst>
          </p:cNvPr>
          <p:cNvSpPr>
            <a:spLocks noGrp="1"/>
          </p:cNvSpPr>
          <p:nvPr>
            <p:ph type="sldNum" sz="quarter" idx="12"/>
          </p:nvPr>
        </p:nvSpPr>
        <p:spPr/>
        <p:txBody>
          <a:bodyPr/>
          <a:lstStyle/>
          <a:p>
            <a:fld id="{157E8F69-36B6-4843-A9CE-6B9353F4DBAF}" type="slidenum">
              <a:rPr lang="en-IN" smtClean="0"/>
              <a:t>97</a:t>
            </a:fld>
            <a:endParaRPr lang="en-IN"/>
          </a:p>
        </p:txBody>
      </p:sp>
    </p:spTree>
    <p:extLst>
      <p:ext uri="{BB962C8B-B14F-4D97-AF65-F5344CB8AC3E}">
        <p14:creationId xmlns:p14="http://schemas.microsoft.com/office/powerpoint/2010/main" val="218138794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7640" y="251936"/>
            <a:ext cx="11780520" cy="1569660"/>
          </a:xfrm>
          <a:prstGeom prst="rect">
            <a:avLst/>
          </a:prstGeom>
        </p:spPr>
        <p:txBody>
          <a:bodyPr wrap="square">
            <a:spAutoFit/>
          </a:bodyPr>
          <a:lstStyle/>
          <a:p>
            <a:pPr algn="ctr"/>
            <a:r>
              <a:rPr lang="en-US" sz="2400" b="1" u="sng" dirty="0"/>
              <a:t>🔗 Integration Testing</a:t>
            </a:r>
          </a:p>
          <a:p>
            <a:pPr algn="just"/>
            <a:r>
              <a:rPr lang="en-US" sz="2400" b="1" dirty="0"/>
              <a:t>	Integration Testing</a:t>
            </a:r>
            <a:r>
              <a:rPr lang="en-US" sz="2400" dirty="0"/>
              <a:t> is a level of software testing where individual modules are </a:t>
            </a:r>
            <a:r>
              <a:rPr lang="en-US" sz="2400" b="1" dirty="0"/>
              <a:t>combined and tested as a group</a:t>
            </a:r>
            <a:r>
              <a:rPr lang="en-US" sz="2400" dirty="0"/>
              <a:t> to expose </a:t>
            </a:r>
            <a:r>
              <a:rPr lang="en-US" sz="2400" b="1" dirty="0"/>
              <a:t>interface defects</a:t>
            </a:r>
            <a:r>
              <a:rPr lang="en-US" sz="2400" dirty="0"/>
              <a:t> between them. It focuses on </a:t>
            </a:r>
            <a:r>
              <a:rPr lang="en-US" sz="2400" b="1" dirty="0"/>
              <a:t>data flow</a:t>
            </a:r>
            <a:r>
              <a:rPr lang="en-US" sz="2400" dirty="0"/>
              <a:t> between units and how well they </a:t>
            </a:r>
            <a:r>
              <a:rPr lang="en-US" sz="2400" b="1" dirty="0"/>
              <a:t>collaborate</a:t>
            </a:r>
            <a:r>
              <a:rPr lang="en-US" sz="2400" dirty="0"/>
              <a:t>.</a:t>
            </a:r>
          </a:p>
        </p:txBody>
      </p:sp>
      <p:sp>
        <p:nvSpPr>
          <p:cNvPr id="4" name="Rectangle 3"/>
          <p:cNvSpPr/>
          <p:nvPr/>
        </p:nvSpPr>
        <p:spPr>
          <a:xfrm>
            <a:off x="167640" y="1987957"/>
            <a:ext cx="11780520" cy="1569660"/>
          </a:xfrm>
          <a:prstGeom prst="rect">
            <a:avLst/>
          </a:prstGeom>
        </p:spPr>
        <p:txBody>
          <a:bodyPr wrap="square">
            <a:spAutoFit/>
          </a:bodyPr>
          <a:lstStyle/>
          <a:p>
            <a:pPr algn="just"/>
            <a:r>
              <a:rPr lang="en-US" sz="2400" b="1" u="sng" dirty="0"/>
              <a:t>🎯 Goal of Integration Testing:</a:t>
            </a:r>
          </a:p>
          <a:p>
            <a:pPr marL="800100" lvl="1" indent="-342900" algn="just">
              <a:buFont typeface="Wingdings" panose="05000000000000000000" pitchFamily="2" charset="2"/>
              <a:buChar char="Ø"/>
            </a:pPr>
            <a:r>
              <a:rPr lang="en-US" sz="2400" dirty="0"/>
              <a:t>To verify that </a:t>
            </a:r>
            <a:r>
              <a:rPr lang="en-US" sz="2400" b="1" dirty="0"/>
              <a:t>modules or components interact correctly</a:t>
            </a:r>
            <a:r>
              <a:rPr lang="en-US" sz="2400" dirty="0"/>
              <a:t>.</a:t>
            </a:r>
          </a:p>
          <a:p>
            <a:pPr marL="800100" lvl="1" indent="-342900" algn="just">
              <a:buFont typeface="Wingdings" panose="05000000000000000000" pitchFamily="2" charset="2"/>
              <a:buChar char="Ø"/>
            </a:pPr>
            <a:r>
              <a:rPr lang="en-US" sz="2400" dirty="0"/>
              <a:t>To identify </a:t>
            </a:r>
            <a:r>
              <a:rPr lang="en-US" sz="2400" b="1" dirty="0"/>
              <a:t>errors in interfaces</a:t>
            </a:r>
            <a:r>
              <a:rPr lang="en-US" sz="2400" dirty="0"/>
              <a:t>, </a:t>
            </a:r>
            <a:r>
              <a:rPr lang="en-US" sz="2400" b="1" dirty="0"/>
              <a:t>data sharing</a:t>
            </a:r>
            <a:r>
              <a:rPr lang="en-US" sz="2400" dirty="0"/>
              <a:t>, or </a:t>
            </a:r>
            <a:r>
              <a:rPr lang="en-US" sz="2400" b="1" dirty="0"/>
              <a:t>inter-module logic</a:t>
            </a:r>
            <a:r>
              <a:rPr lang="en-US" sz="2400" dirty="0"/>
              <a:t>.</a:t>
            </a:r>
          </a:p>
          <a:p>
            <a:pPr marL="800100" lvl="1" indent="-342900" algn="just">
              <a:buFont typeface="Wingdings" panose="05000000000000000000" pitchFamily="2" charset="2"/>
              <a:buChar char="Ø"/>
            </a:pPr>
            <a:r>
              <a:rPr lang="en-US" sz="2400" dirty="0"/>
              <a:t>To ensure the </a:t>
            </a:r>
            <a:r>
              <a:rPr lang="en-US" sz="2400" b="1" dirty="0"/>
              <a:t>integrated system behaves as expected</a:t>
            </a:r>
            <a:r>
              <a:rPr lang="en-US" sz="2400" dirty="0"/>
              <a:t> before system testing.</a:t>
            </a:r>
          </a:p>
        </p:txBody>
      </p:sp>
      <p:sp>
        <p:nvSpPr>
          <p:cNvPr id="5" name="Rectangle 4"/>
          <p:cNvSpPr/>
          <p:nvPr/>
        </p:nvSpPr>
        <p:spPr>
          <a:xfrm>
            <a:off x="167640" y="3723978"/>
            <a:ext cx="11780520" cy="2677656"/>
          </a:xfrm>
          <a:prstGeom prst="rect">
            <a:avLst/>
          </a:prstGeom>
        </p:spPr>
        <p:txBody>
          <a:bodyPr wrap="square">
            <a:spAutoFit/>
          </a:bodyPr>
          <a:lstStyle/>
          <a:p>
            <a:pPr algn="just"/>
            <a:r>
              <a:rPr lang="en-US" sz="2400" b="1" u="sng" dirty="0"/>
              <a:t>Why Integration Testing is Needed:</a:t>
            </a:r>
          </a:p>
          <a:p>
            <a:pPr algn="just"/>
            <a:r>
              <a:rPr lang="en-US" sz="2400" dirty="0"/>
              <a:t>Even if each module works perfectly in isolation (after </a:t>
            </a:r>
            <a:r>
              <a:rPr lang="en-US" sz="2400" b="1" dirty="0"/>
              <a:t>unit testing</a:t>
            </a:r>
            <a:r>
              <a:rPr lang="en-US" sz="2400" dirty="0"/>
              <a:t>), </a:t>
            </a:r>
            <a:r>
              <a:rPr lang="en-US" sz="2400" b="1" dirty="0"/>
              <a:t>errors may arise</a:t>
            </a:r>
            <a:r>
              <a:rPr lang="en-US" sz="2400" dirty="0"/>
              <a:t> when modules:</a:t>
            </a:r>
          </a:p>
          <a:p>
            <a:pPr marL="800100" lvl="1" indent="-342900" algn="just">
              <a:buFont typeface="Wingdings" panose="05000000000000000000" pitchFamily="2" charset="2"/>
              <a:buChar char="Ø"/>
            </a:pPr>
            <a:r>
              <a:rPr lang="en-US" sz="2400" dirty="0"/>
              <a:t>Exchange data.</a:t>
            </a:r>
          </a:p>
          <a:p>
            <a:pPr marL="800100" lvl="1" indent="-342900" algn="just">
              <a:buFont typeface="Wingdings" panose="05000000000000000000" pitchFamily="2" charset="2"/>
              <a:buChar char="Ø"/>
            </a:pPr>
            <a:r>
              <a:rPr lang="en-US" sz="2400" dirty="0"/>
              <a:t>Use shared memory or global variables.</a:t>
            </a:r>
          </a:p>
          <a:p>
            <a:pPr marL="800100" lvl="1" indent="-342900" algn="just">
              <a:buFont typeface="Wingdings" panose="05000000000000000000" pitchFamily="2" charset="2"/>
              <a:buChar char="Ø"/>
            </a:pPr>
            <a:r>
              <a:rPr lang="en-US" sz="2400" dirty="0"/>
              <a:t>Call one another with wrong parameters.</a:t>
            </a:r>
          </a:p>
          <a:p>
            <a:pPr marL="800100" lvl="1" indent="-342900" algn="just">
              <a:buFont typeface="Wingdings" panose="05000000000000000000" pitchFamily="2" charset="2"/>
              <a:buChar char="Ø"/>
            </a:pPr>
            <a:r>
              <a:rPr lang="en-US" sz="2400" dirty="0"/>
              <a:t>Rely on timing or sequence.</a:t>
            </a:r>
          </a:p>
        </p:txBody>
      </p:sp>
      <p:sp>
        <p:nvSpPr>
          <p:cNvPr id="2" name="Date Placeholder 1">
            <a:extLst>
              <a:ext uri="{FF2B5EF4-FFF2-40B4-BE49-F238E27FC236}">
                <a16:creationId xmlns:a16="http://schemas.microsoft.com/office/drawing/2014/main" id="{C40CB149-B714-81CE-3CF0-46E403D46FD8}"/>
              </a:ext>
            </a:extLst>
          </p:cNvPr>
          <p:cNvSpPr>
            <a:spLocks noGrp="1"/>
          </p:cNvSpPr>
          <p:nvPr>
            <p:ph type="dt" sz="half" idx="10"/>
          </p:nvPr>
        </p:nvSpPr>
        <p:spPr/>
        <p:txBody>
          <a:bodyPr/>
          <a:lstStyle/>
          <a:p>
            <a:fld id="{E94DD345-B22B-4F76-BCC3-90874D41C712}" type="datetime1">
              <a:rPr lang="en-IN" smtClean="0"/>
              <a:t>03-11-2025</a:t>
            </a:fld>
            <a:endParaRPr lang="en-IN"/>
          </a:p>
        </p:txBody>
      </p:sp>
      <p:sp>
        <p:nvSpPr>
          <p:cNvPr id="6" name="Footer Placeholder 5">
            <a:extLst>
              <a:ext uri="{FF2B5EF4-FFF2-40B4-BE49-F238E27FC236}">
                <a16:creationId xmlns:a16="http://schemas.microsoft.com/office/drawing/2014/main" id="{19DFB144-3B58-38C6-3E0E-C67BE05D9030}"/>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7D5B9EF8-CC6F-D639-D0C7-D6AACF29B6FE}"/>
              </a:ext>
            </a:extLst>
          </p:cNvPr>
          <p:cNvSpPr>
            <a:spLocks noGrp="1"/>
          </p:cNvSpPr>
          <p:nvPr>
            <p:ph type="sldNum" sz="quarter" idx="12"/>
          </p:nvPr>
        </p:nvSpPr>
        <p:spPr/>
        <p:txBody>
          <a:bodyPr/>
          <a:lstStyle/>
          <a:p>
            <a:fld id="{157E8F69-36B6-4843-A9CE-6B9353F4DBAF}" type="slidenum">
              <a:rPr lang="en-IN" smtClean="0"/>
              <a:t>98</a:t>
            </a:fld>
            <a:endParaRPr lang="en-IN"/>
          </a:p>
        </p:txBody>
      </p:sp>
    </p:spTree>
    <p:extLst>
      <p:ext uri="{BB962C8B-B14F-4D97-AF65-F5344CB8AC3E}">
        <p14:creationId xmlns:p14="http://schemas.microsoft.com/office/powerpoint/2010/main" val="153996005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38800" y="348734"/>
            <a:ext cx="5737020" cy="461665"/>
          </a:xfrm>
          <a:prstGeom prst="rect">
            <a:avLst/>
          </a:prstGeom>
        </p:spPr>
        <p:txBody>
          <a:bodyPr wrap="none">
            <a:spAutoFit/>
          </a:bodyPr>
          <a:lstStyle/>
          <a:p>
            <a:r>
              <a:rPr lang="en-US" sz="2400" b="1" u="sng" dirty="0"/>
              <a:t>🔍 Types of Integration Testing Approaches:</a:t>
            </a:r>
            <a:endParaRPr lang="en-IN" sz="2400" b="1" u="sng" dirty="0"/>
          </a:p>
        </p:txBody>
      </p:sp>
      <p:graphicFrame>
        <p:nvGraphicFramePr>
          <p:cNvPr id="4" name="Table 3"/>
          <p:cNvGraphicFramePr>
            <a:graphicFrameLocks noGrp="1"/>
          </p:cNvGraphicFramePr>
          <p:nvPr>
            <p:extLst>
              <p:ext uri="{D42A27DB-BD31-4B8C-83A1-F6EECF244321}">
                <p14:modId xmlns:p14="http://schemas.microsoft.com/office/powerpoint/2010/main" val="1430626122"/>
              </p:ext>
            </p:extLst>
          </p:nvPr>
        </p:nvGraphicFramePr>
        <p:xfrm>
          <a:off x="350520" y="892334"/>
          <a:ext cx="11536680" cy="2727643"/>
        </p:xfrm>
        <a:graphic>
          <a:graphicData uri="http://schemas.openxmlformats.org/drawingml/2006/table">
            <a:tbl>
              <a:tblPr>
                <a:tableStyleId>{BC89EF96-8CEA-46FF-86C4-4CE0E7609802}</a:tableStyleId>
              </a:tblPr>
              <a:tblGrid>
                <a:gridCol w="3749040">
                  <a:extLst>
                    <a:ext uri="{9D8B030D-6E8A-4147-A177-3AD203B41FA5}">
                      <a16:colId xmlns:a16="http://schemas.microsoft.com/office/drawing/2014/main" val="4127200927"/>
                    </a:ext>
                  </a:extLst>
                </a:gridCol>
                <a:gridCol w="7787640">
                  <a:extLst>
                    <a:ext uri="{9D8B030D-6E8A-4147-A177-3AD203B41FA5}">
                      <a16:colId xmlns:a16="http://schemas.microsoft.com/office/drawing/2014/main" val="2166218550"/>
                    </a:ext>
                  </a:extLst>
                </a:gridCol>
              </a:tblGrid>
              <a:tr h="511433">
                <a:tc>
                  <a:txBody>
                    <a:bodyPr/>
                    <a:lstStyle/>
                    <a:p>
                      <a:pPr algn="ctr"/>
                      <a:r>
                        <a:rPr lang="en-IN" sz="2400" b="1" u="sng" dirty="0"/>
                        <a:t>Approach</a:t>
                      </a:r>
                    </a:p>
                  </a:txBody>
                  <a:tcPr anchor="ctr"/>
                </a:tc>
                <a:tc>
                  <a:txBody>
                    <a:bodyPr/>
                    <a:lstStyle/>
                    <a:p>
                      <a:pPr algn="ctr"/>
                      <a:r>
                        <a:rPr lang="en-IN" sz="2400" b="1" u="sng" dirty="0"/>
                        <a:t>Description</a:t>
                      </a:r>
                    </a:p>
                  </a:txBody>
                  <a:tcPr anchor="ctr"/>
                </a:tc>
                <a:extLst>
                  <a:ext uri="{0D108BD9-81ED-4DB2-BD59-A6C34878D82A}">
                    <a16:rowId xmlns:a16="http://schemas.microsoft.com/office/drawing/2014/main" val="996632203"/>
                  </a:ext>
                </a:extLst>
              </a:tr>
              <a:tr h="443242">
                <a:tc>
                  <a:txBody>
                    <a:bodyPr/>
                    <a:lstStyle/>
                    <a:p>
                      <a:r>
                        <a:rPr lang="en-IN" sz="2000" dirty="0"/>
                        <a:t>Big Bang</a:t>
                      </a:r>
                    </a:p>
                  </a:txBody>
                  <a:tcPr anchor="ctr"/>
                </a:tc>
                <a:tc>
                  <a:txBody>
                    <a:bodyPr/>
                    <a:lstStyle/>
                    <a:p>
                      <a:r>
                        <a:rPr lang="en-US" sz="2000" dirty="0"/>
                        <a:t>All modules are integrated and tested together.</a:t>
                      </a:r>
                    </a:p>
                  </a:txBody>
                  <a:tcPr anchor="ctr"/>
                </a:tc>
                <a:extLst>
                  <a:ext uri="{0D108BD9-81ED-4DB2-BD59-A6C34878D82A}">
                    <a16:rowId xmlns:a16="http://schemas.microsoft.com/office/drawing/2014/main" val="1774421630"/>
                  </a:ext>
                </a:extLst>
              </a:tr>
              <a:tr h="443242">
                <a:tc>
                  <a:txBody>
                    <a:bodyPr/>
                    <a:lstStyle/>
                    <a:p>
                      <a:r>
                        <a:rPr lang="en-IN" sz="2000" dirty="0"/>
                        <a:t>Top-down</a:t>
                      </a:r>
                    </a:p>
                  </a:txBody>
                  <a:tcPr anchor="ctr"/>
                </a:tc>
                <a:tc>
                  <a:txBody>
                    <a:bodyPr/>
                    <a:lstStyle/>
                    <a:p>
                      <a:r>
                        <a:rPr lang="en-US" sz="2000" dirty="0"/>
                        <a:t>Starts with top-level modules and integrates downward using stubs.</a:t>
                      </a:r>
                    </a:p>
                  </a:txBody>
                  <a:tcPr anchor="ctr"/>
                </a:tc>
                <a:extLst>
                  <a:ext uri="{0D108BD9-81ED-4DB2-BD59-A6C34878D82A}">
                    <a16:rowId xmlns:a16="http://schemas.microsoft.com/office/drawing/2014/main" val="1821437597"/>
                  </a:ext>
                </a:extLst>
              </a:tr>
              <a:tr h="443242">
                <a:tc>
                  <a:txBody>
                    <a:bodyPr/>
                    <a:lstStyle/>
                    <a:p>
                      <a:r>
                        <a:rPr lang="en-IN" sz="2000" dirty="0"/>
                        <a:t>Bottom-up</a:t>
                      </a:r>
                    </a:p>
                  </a:txBody>
                  <a:tcPr anchor="ctr"/>
                </a:tc>
                <a:tc>
                  <a:txBody>
                    <a:bodyPr/>
                    <a:lstStyle/>
                    <a:p>
                      <a:r>
                        <a:rPr lang="en-US" sz="2000" dirty="0"/>
                        <a:t>Begins with low-level modules and integrates upward using drivers.</a:t>
                      </a:r>
                    </a:p>
                  </a:txBody>
                  <a:tcPr anchor="ctr"/>
                </a:tc>
                <a:extLst>
                  <a:ext uri="{0D108BD9-81ED-4DB2-BD59-A6C34878D82A}">
                    <a16:rowId xmlns:a16="http://schemas.microsoft.com/office/drawing/2014/main" val="2785064875"/>
                  </a:ext>
                </a:extLst>
              </a:tr>
              <a:tr h="443242">
                <a:tc>
                  <a:txBody>
                    <a:bodyPr/>
                    <a:lstStyle/>
                    <a:p>
                      <a:r>
                        <a:rPr lang="en-IN" sz="2000"/>
                        <a:t>Sandwich / Hybrid</a:t>
                      </a:r>
                    </a:p>
                  </a:txBody>
                  <a:tcPr anchor="ctr"/>
                </a:tc>
                <a:tc>
                  <a:txBody>
                    <a:bodyPr/>
                    <a:lstStyle/>
                    <a:p>
                      <a:r>
                        <a:rPr lang="en-US" sz="2000" dirty="0"/>
                        <a:t>Mix of top-down and bottom-up strategies.</a:t>
                      </a:r>
                    </a:p>
                  </a:txBody>
                  <a:tcPr anchor="ctr"/>
                </a:tc>
                <a:extLst>
                  <a:ext uri="{0D108BD9-81ED-4DB2-BD59-A6C34878D82A}">
                    <a16:rowId xmlns:a16="http://schemas.microsoft.com/office/drawing/2014/main" val="2998936830"/>
                  </a:ext>
                </a:extLst>
              </a:tr>
              <a:tr h="443242">
                <a:tc>
                  <a:txBody>
                    <a:bodyPr/>
                    <a:lstStyle/>
                    <a:p>
                      <a:r>
                        <a:rPr lang="en-IN" sz="2000"/>
                        <a:t>Incremental</a:t>
                      </a:r>
                    </a:p>
                  </a:txBody>
                  <a:tcPr anchor="ctr"/>
                </a:tc>
                <a:tc>
                  <a:txBody>
                    <a:bodyPr/>
                    <a:lstStyle/>
                    <a:p>
                      <a:r>
                        <a:rPr lang="en-US" sz="2000" dirty="0"/>
                        <a:t>Modules are integrated and tested one by one in sequence.</a:t>
                      </a:r>
                    </a:p>
                  </a:txBody>
                  <a:tcPr anchor="ctr"/>
                </a:tc>
                <a:extLst>
                  <a:ext uri="{0D108BD9-81ED-4DB2-BD59-A6C34878D82A}">
                    <a16:rowId xmlns:a16="http://schemas.microsoft.com/office/drawing/2014/main" val="4210054104"/>
                  </a:ext>
                </a:extLst>
              </a:tr>
            </a:tbl>
          </a:graphicData>
        </a:graphic>
      </p:graphicFrame>
      <p:sp>
        <p:nvSpPr>
          <p:cNvPr id="5" name="Rectangle 4"/>
          <p:cNvSpPr/>
          <p:nvPr/>
        </p:nvSpPr>
        <p:spPr>
          <a:xfrm>
            <a:off x="238800" y="3619976"/>
            <a:ext cx="11648400" cy="2805063"/>
          </a:xfrm>
          <a:prstGeom prst="rect">
            <a:avLst/>
          </a:prstGeom>
        </p:spPr>
        <p:txBody>
          <a:bodyPr wrap="square">
            <a:spAutoFit/>
          </a:bodyPr>
          <a:lstStyle/>
          <a:p>
            <a:pPr algn="just">
              <a:lnSpc>
                <a:spcPct val="150000"/>
              </a:lnSpc>
            </a:pPr>
            <a:r>
              <a:rPr lang="en-US" sz="2400" b="1" u="sng" dirty="0"/>
              <a:t>🔄 Terminology:</a:t>
            </a:r>
          </a:p>
          <a:p>
            <a:pPr marL="800100" lvl="1" indent="-342900" algn="just">
              <a:lnSpc>
                <a:spcPct val="150000"/>
              </a:lnSpc>
              <a:buFont typeface="Wingdings" panose="05000000000000000000" pitchFamily="2" charset="2"/>
              <a:buChar char="Ø"/>
            </a:pPr>
            <a:r>
              <a:rPr lang="en-US" sz="2400" b="1" dirty="0"/>
              <a:t>Stub</a:t>
            </a:r>
            <a:r>
              <a:rPr lang="en-US" sz="2400" dirty="0"/>
              <a:t>: Dummy module used to simulate lower-level modules (used in top-down testing).</a:t>
            </a:r>
          </a:p>
          <a:p>
            <a:pPr marL="800100" lvl="1" indent="-342900" algn="just">
              <a:lnSpc>
                <a:spcPct val="150000"/>
              </a:lnSpc>
              <a:buFont typeface="Wingdings" panose="05000000000000000000" pitchFamily="2" charset="2"/>
              <a:buChar char="Ø"/>
            </a:pPr>
            <a:r>
              <a:rPr lang="en-US" sz="2400" b="1" dirty="0"/>
              <a:t>Driver</a:t>
            </a:r>
            <a:r>
              <a:rPr lang="en-US" sz="2400" dirty="0"/>
              <a:t>: Dummy module used to simulate higher-level modules (used in bottom-up testing).</a:t>
            </a:r>
          </a:p>
        </p:txBody>
      </p:sp>
      <p:sp>
        <p:nvSpPr>
          <p:cNvPr id="2" name="Date Placeholder 1">
            <a:extLst>
              <a:ext uri="{FF2B5EF4-FFF2-40B4-BE49-F238E27FC236}">
                <a16:creationId xmlns:a16="http://schemas.microsoft.com/office/drawing/2014/main" id="{DF7539EF-77E9-10EC-1AD4-F7272099B677}"/>
              </a:ext>
            </a:extLst>
          </p:cNvPr>
          <p:cNvSpPr>
            <a:spLocks noGrp="1"/>
          </p:cNvSpPr>
          <p:nvPr>
            <p:ph type="dt" sz="half" idx="10"/>
          </p:nvPr>
        </p:nvSpPr>
        <p:spPr/>
        <p:txBody>
          <a:bodyPr/>
          <a:lstStyle/>
          <a:p>
            <a:fld id="{08D84412-58F6-41B1-AF34-7FDDCEFD8428}" type="datetime1">
              <a:rPr lang="en-IN" smtClean="0"/>
              <a:t>03-11-2025</a:t>
            </a:fld>
            <a:endParaRPr lang="en-IN"/>
          </a:p>
        </p:txBody>
      </p:sp>
      <p:sp>
        <p:nvSpPr>
          <p:cNvPr id="6" name="Footer Placeholder 5">
            <a:extLst>
              <a:ext uri="{FF2B5EF4-FFF2-40B4-BE49-F238E27FC236}">
                <a16:creationId xmlns:a16="http://schemas.microsoft.com/office/drawing/2014/main" id="{4DAE1634-F31C-6644-2334-B47D65FA498F}"/>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7EF51E8F-0B4F-C043-27AB-40E6E363D529}"/>
              </a:ext>
            </a:extLst>
          </p:cNvPr>
          <p:cNvSpPr>
            <a:spLocks noGrp="1"/>
          </p:cNvSpPr>
          <p:nvPr>
            <p:ph type="sldNum" sz="quarter" idx="12"/>
          </p:nvPr>
        </p:nvSpPr>
        <p:spPr/>
        <p:txBody>
          <a:bodyPr/>
          <a:lstStyle/>
          <a:p>
            <a:fld id="{157E8F69-36B6-4843-A9CE-6B9353F4DBAF}" type="slidenum">
              <a:rPr lang="en-IN" smtClean="0"/>
              <a:t>99</a:t>
            </a:fld>
            <a:endParaRPr lang="en-IN"/>
          </a:p>
        </p:txBody>
      </p:sp>
    </p:spTree>
    <p:extLst>
      <p:ext uri="{BB962C8B-B14F-4D97-AF65-F5344CB8AC3E}">
        <p14:creationId xmlns:p14="http://schemas.microsoft.com/office/powerpoint/2010/main" val="370934659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336679"/>
            <a:ext cx="11612880" cy="3585597"/>
          </a:xfrm>
          <a:prstGeom prst="rect">
            <a:avLst/>
          </a:prstGeom>
        </p:spPr>
        <p:txBody>
          <a:bodyPr wrap="square">
            <a:spAutoFit/>
          </a:bodyPr>
          <a:lstStyle/>
          <a:p>
            <a:pPr algn="just">
              <a:spcBef>
                <a:spcPts val="600"/>
              </a:spcBef>
            </a:pPr>
            <a:r>
              <a:rPr lang="en-US" sz="2400" b="1" u="sng" dirty="0"/>
              <a:t>🧪 Integration Testing Example:</a:t>
            </a:r>
          </a:p>
          <a:p>
            <a:pPr algn="just">
              <a:spcBef>
                <a:spcPts val="600"/>
              </a:spcBef>
            </a:pPr>
            <a:r>
              <a:rPr lang="en-US" sz="2400" dirty="0"/>
              <a:t>Consider 3 modules in an e-commerce system:</a:t>
            </a:r>
          </a:p>
          <a:p>
            <a:pPr lvl="1" algn="just">
              <a:spcBef>
                <a:spcPts val="600"/>
              </a:spcBef>
              <a:buFont typeface="+mj-lt"/>
              <a:buAutoNum type="arabicPeriod"/>
            </a:pPr>
            <a:r>
              <a:rPr lang="en-US" sz="2400" b="1" dirty="0"/>
              <a:t>Login Module</a:t>
            </a:r>
            <a:endParaRPr lang="en-US" sz="2400" dirty="0"/>
          </a:p>
          <a:p>
            <a:pPr lvl="1" algn="just">
              <a:spcBef>
                <a:spcPts val="600"/>
              </a:spcBef>
              <a:buFont typeface="+mj-lt"/>
              <a:buAutoNum type="arabicPeriod"/>
            </a:pPr>
            <a:r>
              <a:rPr lang="en-US" sz="2400" b="1" dirty="0"/>
              <a:t>Product Catalog</a:t>
            </a:r>
            <a:endParaRPr lang="en-US" sz="2400" dirty="0"/>
          </a:p>
          <a:p>
            <a:pPr lvl="1" algn="just">
              <a:spcBef>
                <a:spcPts val="600"/>
              </a:spcBef>
              <a:buFont typeface="+mj-lt"/>
              <a:buAutoNum type="arabicPeriod"/>
            </a:pPr>
            <a:r>
              <a:rPr lang="en-US" sz="2400" b="1" dirty="0"/>
              <a:t>Payment Gateway</a:t>
            </a:r>
            <a:endParaRPr lang="en-US" sz="2400" dirty="0"/>
          </a:p>
          <a:p>
            <a:pPr algn="just">
              <a:spcBef>
                <a:spcPts val="600"/>
              </a:spcBef>
            </a:pPr>
            <a:r>
              <a:rPr lang="en-US" sz="2400" dirty="0"/>
              <a:t>Unit testing ensures each works individually. In integration testing:</a:t>
            </a:r>
          </a:p>
          <a:p>
            <a:pPr marL="800100" lvl="1" indent="-342900" algn="just">
              <a:spcBef>
                <a:spcPts val="600"/>
              </a:spcBef>
              <a:buFont typeface="Wingdings" panose="05000000000000000000" pitchFamily="2" charset="2"/>
              <a:buChar char="Ø"/>
            </a:pPr>
            <a:r>
              <a:rPr lang="en-US" sz="2400" dirty="0"/>
              <a:t>Ensure after login, product catalog loads properly.</a:t>
            </a:r>
          </a:p>
          <a:p>
            <a:pPr marL="800100" lvl="1" indent="-342900" algn="just">
              <a:spcBef>
                <a:spcPts val="600"/>
              </a:spcBef>
              <a:buFont typeface="Wingdings" panose="05000000000000000000" pitchFamily="2" charset="2"/>
              <a:buChar char="Ø"/>
            </a:pPr>
            <a:r>
              <a:rPr lang="en-US" sz="2400" dirty="0"/>
              <a:t>Ensure selecting a product passes correct info. to the payment gateway.</a:t>
            </a:r>
          </a:p>
        </p:txBody>
      </p:sp>
      <p:sp>
        <p:nvSpPr>
          <p:cNvPr id="4" name="Rectangle 3"/>
          <p:cNvSpPr/>
          <p:nvPr/>
        </p:nvSpPr>
        <p:spPr>
          <a:xfrm>
            <a:off x="320040" y="4275296"/>
            <a:ext cx="11612880" cy="1938992"/>
          </a:xfrm>
          <a:prstGeom prst="rect">
            <a:avLst/>
          </a:prstGeom>
        </p:spPr>
        <p:txBody>
          <a:bodyPr wrap="square">
            <a:spAutoFit/>
          </a:bodyPr>
          <a:lstStyle/>
          <a:p>
            <a:pPr algn="just"/>
            <a:r>
              <a:rPr lang="en-US" sz="2400" b="1" u="sng" dirty="0"/>
              <a:t>✅ Advantages of Integration Testing:</a:t>
            </a:r>
          </a:p>
          <a:p>
            <a:pPr marL="800100" lvl="1" indent="-342900" algn="just">
              <a:buFont typeface="Wingdings" panose="05000000000000000000" pitchFamily="2" charset="2"/>
              <a:buChar char="Ø"/>
            </a:pPr>
            <a:r>
              <a:rPr lang="en-US" sz="2400" dirty="0"/>
              <a:t>Catches interface issues early.</a:t>
            </a:r>
          </a:p>
          <a:p>
            <a:pPr marL="800100" lvl="1" indent="-342900" algn="just">
              <a:buFont typeface="Wingdings" panose="05000000000000000000" pitchFamily="2" charset="2"/>
              <a:buChar char="Ø"/>
            </a:pPr>
            <a:r>
              <a:rPr lang="en-US" sz="2400" dirty="0"/>
              <a:t>Helps uncover design flaws.</a:t>
            </a:r>
          </a:p>
          <a:p>
            <a:pPr marL="800100" lvl="1" indent="-342900" algn="just">
              <a:buFont typeface="Wingdings" panose="05000000000000000000" pitchFamily="2" charset="2"/>
              <a:buChar char="Ø"/>
            </a:pPr>
            <a:r>
              <a:rPr lang="en-US" sz="2400" dirty="0"/>
              <a:t>Ensures data communication is correct.</a:t>
            </a:r>
          </a:p>
          <a:p>
            <a:pPr marL="800100" lvl="1" indent="-342900" algn="just">
              <a:buFont typeface="Wingdings" panose="05000000000000000000" pitchFamily="2" charset="2"/>
              <a:buChar char="Ø"/>
            </a:pPr>
            <a:r>
              <a:rPr lang="en-US" sz="2400" dirty="0"/>
              <a:t>Prevents bugs during system assembly.</a:t>
            </a:r>
          </a:p>
        </p:txBody>
      </p:sp>
      <p:sp>
        <p:nvSpPr>
          <p:cNvPr id="2" name="Date Placeholder 1">
            <a:extLst>
              <a:ext uri="{FF2B5EF4-FFF2-40B4-BE49-F238E27FC236}">
                <a16:creationId xmlns:a16="http://schemas.microsoft.com/office/drawing/2014/main" id="{9FF11A37-90CD-C225-FCB2-263FF8666CA2}"/>
              </a:ext>
            </a:extLst>
          </p:cNvPr>
          <p:cNvSpPr>
            <a:spLocks noGrp="1"/>
          </p:cNvSpPr>
          <p:nvPr>
            <p:ph type="dt" sz="half" idx="10"/>
          </p:nvPr>
        </p:nvSpPr>
        <p:spPr/>
        <p:txBody>
          <a:bodyPr/>
          <a:lstStyle/>
          <a:p>
            <a:fld id="{BBB9D113-49C5-47C2-AB83-B94605E1E752}" type="datetime1">
              <a:rPr lang="en-IN" smtClean="0"/>
              <a:t>03-11-2025</a:t>
            </a:fld>
            <a:endParaRPr lang="en-IN"/>
          </a:p>
        </p:txBody>
      </p:sp>
      <p:sp>
        <p:nvSpPr>
          <p:cNvPr id="5" name="Footer Placeholder 4">
            <a:extLst>
              <a:ext uri="{FF2B5EF4-FFF2-40B4-BE49-F238E27FC236}">
                <a16:creationId xmlns:a16="http://schemas.microsoft.com/office/drawing/2014/main" id="{E532A914-0537-E6F7-29C3-09E2F3628A63}"/>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7D3943C3-ED7D-67B8-63D3-300DB94027EA}"/>
              </a:ext>
            </a:extLst>
          </p:cNvPr>
          <p:cNvSpPr>
            <a:spLocks noGrp="1"/>
          </p:cNvSpPr>
          <p:nvPr>
            <p:ph type="sldNum" sz="quarter" idx="12"/>
          </p:nvPr>
        </p:nvSpPr>
        <p:spPr/>
        <p:txBody>
          <a:bodyPr/>
          <a:lstStyle/>
          <a:p>
            <a:fld id="{157E8F69-36B6-4843-A9CE-6B9353F4DBAF}" type="slidenum">
              <a:rPr lang="en-IN" smtClean="0"/>
              <a:t>100</a:t>
            </a:fld>
            <a:endParaRPr lang="en-IN"/>
          </a:p>
        </p:txBody>
      </p:sp>
    </p:spTree>
    <p:extLst>
      <p:ext uri="{BB962C8B-B14F-4D97-AF65-F5344CB8AC3E}">
        <p14:creationId xmlns:p14="http://schemas.microsoft.com/office/powerpoint/2010/main" val="193777637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3840" y="175736"/>
            <a:ext cx="11628120" cy="1938992"/>
          </a:xfrm>
          <a:prstGeom prst="rect">
            <a:avLst/>
          </a:prstGeom>
        </p:spPr>
        <p:txBody>
          <a:bodyPr wrap="square">
            <a:spAutoFit/>
          </a:bodyPr>
          <a:lstStyle/>
          <a:p>
            <a:pPr algn="just"/>
            <a:r>
              <a:rPr lang="en-US" sz="2400" b="1" u="sng" dirty="0"/>
              <a:t>⚠️ Challenges:</a:t>
            </a:r>
          </a:p>
          <a:p>
            <a:pPr marL="800100" lvl="1" indent="-342900" algn="just">
              <a:buFont typeface="Wingdings" panose="05000000000000000000" pitchFamily="2" charset="2"/>
              <a:buChar char="Ø"/>
            </a:pPr>
            <a:r>
              <a:rPr lang="en-US" sz="2400" dirty="0"/>
              <a:t>Requires careful planning of module dependencies.</a:t>
            </a:r>
          </a:p>
          <a:p>
            <a:pPr marL="800100" lvl="1" indent="-342900" algn="just">
              <a:buFont typeface="Wingdings" panose="05000000000000000000" pitchFamily="2" charset="2"/>
              <a:buChar char="Ø"/>
            </a:pPr>
            <a:r>
              <a:rPr lang="en-US" sz="2400" dirty="0"/>
              <a:t>Stub/driver creation may take effort.</a:t>
            </a:r>
          </a:p>
          <a:p>
            <a:pPr marL="800100" lvl="1" indent="-342900" algn="just">
              <a:buFont typeface="Wingdings" panose="05000000000000000000" pitchFamily="2" charset="2"/>
              <a:buChar char="Ø"/>
            </a:pPr>
            <a:r>
              <a:rPr lang="en-US" sz="2400" dirty="0"/>
              <a:t>Interface errors can be harder to debug than isolated ones.</a:t>
            </a:r>
          </a:p>
          <a:p>
            <a:pPr marL="800100" lvl="1" indent="-342900" algn="just">
              <a:buFont typeface="Wingdings" panose="05000000000000000000" pitchFamily="2" charset="2"/>
              <a:buChar char="Ø"/>
            </a:pPr>
            <a:r>
              <a:rPr lang="en-US" sz="2400" dirty="0"/>
              <a:t>Complex in large systems with many modules.</a:t>
            </a:r>
          </a:p>
        </p:txBody>
      </p:sp>
      <p:sp>
        <p:nvSpPr>
          <p:cNvPr id="4" name="Rectangle 3"/>
          <p:cNvSpPr/>
          <p:nvPr/>
        </p:nvSpPr>
        <p:spPr>
          <a:xfrm>
            <a:off x="243840" y="2114728"/>
            <a:ext cx="11628120" cy="2308324"/>
          </a:xfrm>
          <a:prstGeom prst="rect">
            <a:avLst/>
          </a:prstGeom>
        </p:spPr>
        <p:txBody>
          <a:bodyPr wrap="square">
            <a:spAutoFit/>
          </a:bodyPr>
          <a:lstStyle/>
          <a:p>
            <a:pPr algn="just"/>
            <a:r>
              <a:rPr lang="en-US" sz="2400" b="1" u="sng" dirty="0"/>
              <a:t>🧠 Best Practices:</a:t>
            </a:r>
          </a:p>
          <a:p>
            <a:pPr marL="800100" lvl="1" indent="-342900" algn="just">
              <a:buFont typeface="Wingdings" panose="05000000000000000000" pitchFamily="2" charset="2"/>
              <a:buChar char="Ø"/>
            </a:pPr>
            <a:r>
              <a:rPr lang="en-US" sz="2400" dirty="0"/>
              <a:t>Plan integration order logically (least dependent modules first).</a:t>
            </a:r>
          </a:p>
          <a:p>
            <a:pPr marL="800100" lvl="1" indent="-342900" algn="just">
              <a:buFont typeface="Wingdings" panose="05000000000000000000" pitchFamily="2" charset="2"/>
              <a:buChar char="Ø"/>
            </a:pPr>
            <a:r>
              <a:rPr lang="en-US" sz="2400" dirty="0"/>
              <a:t>Automate test scripts if possible.</a:t>
            </a:r>
          </a:p>
          <a:p>
            <a:pPr marL="800100" lvl="1" indent="-342900" algn="just">
              <a:buFont typeface="Wingdings" panose="05000000000000000000" pitchFamily="2" charset="2"/>
              <a:buChar char="Ø"/>
            </a:pPr>
            <a:r>
              <a:rPr lang="en-US" sz="2400" dirty="0"/>
              <a:t>Test both </a:t>
            </a:r>
            <a:r>
              <a:rPr lang="en-US" sz="2400" b="1" dirty="0"/>
              <a:t>valid</a:t>
            </a:r>
            <a:r>
              <a:rPr lang="en-US" sz="2400" dirty="0"/>
              <a:t> and </a:t>
            </a:r>
            <a:r>
              <a:rPr lang="en-US" sz="2400" b="1" dirty="0"/>
              <a:t>invalid</a:t>
            </a:r>
            <a:r>
              <a:rPr lang="en-US" sz="2400" dirty="0"/>
              <a:t> data flows.</a:t>
            </a:r>
          </a:p>
          <a:p>
            <a:pPr marL="800100" lvl="1" indent="-342900" algn="just">
              <a:buFont typeface="Wingdings" panose="05000000000000000000" pitchFamily="2" charset="2"/>
              <a:buChar char="Ø"/>
            </a:pPr>
            <a:r>
              <a:rPr lang="en-US" sz="2400" dirty="0"/>
              <a:t>Use continuous integration (CI) tools to catch issues early.</a:t>
            </a:r>
          </a:p>
          <a:p>
            <a:pPr marL="800100" lvl="1" indent="-342900" algn="just">
              <a:buFont typeface="Wingdings" panose="05000000000000000000" pitchFamily="2" charset="2"/>
              <a:buChar char="Ø"/>
            </a:pPr>
            <a:r>
              <a:rPr lang="en-US" sz="2400" dirty="0"/>
              <a:t>Maintain proper logs to track issues between components.</a:t>
            </a:r>
          </a:p>
        </p:txBody>
      </p:sp>
      <p:sp>
        <p:nvSpPr>
          <p:cNvPr id="5" name="Rectangle 4"/>
          <p:cNvSpPr/>
          <p:nvPr/>
        </p:nvSpPr>
        <p:spPr>
          <a:xfrm>
            <a:off x="243840" y="4453532"/>
            <a:ext cx="6210867" cy="461665"/>
          </a:xfrm>
          <a:prstGeom prst="rect">
            <a:avLst/>
          </a:prstGeom>
        </p:spPr>
        <p:txBody>
          <a:bodyPr wrap="none">
            <a:spAutoFit/>
          </a:bodyPr>
          <a:lstStyle/>
          <a:p>
            <a:r>
              <a:rPr lang="en-IN" sz="2400" b="1" u="sng" dirty="0"/>
              <a:t>🔁 Integration Testing vs Unit &amp; System Testing:</a:t>
            </a:r>
          </a:p>
        </p:txBody>
      </p:sp>
      <p:graphicFrame>
        <p:nvGraphicFramePr>
          <p:cNvPr id="6" name="Table 5"/>
          <p:cNvGraphicFramePr>
            <a:graphicFrameLocks noGrp="1"/>
          </p:cNvGraphicFramePr>
          <p:nvPr>
            <p:extLst>
              <p:ext uri="{D42A27DB-BD31-4B8C-83A1-F6EECF244321}">
                <p14:modId xmlns:p14="http://schemas.microsoft.com/office/powerpoint/2010/main" val="676980426"/>
              </p:ext>
            </p:extLst>
          </p:nvPr>
        </p:nvGraphicFramePr>
        <p:xfrm>
          <a:off x="243840" y="5037117"/>
          <a:ext cx="11628120" cy="1645920"/>
        </p:xfrm>
        <a:graphic>
          <a:graphicData uri="http://schemas.openxmlformats.org/drawingml/2006/table">
            <a:tbl>
              <a:tblPr>
                <a:tableStyleId>{5940675A-B579-460E-94D1-54222C63F5DA}</a:tableStyleId>
              </a:tblPr>
              <a:tblGrid>
                <a:gridCol w="2819400">
                  <a:extLst>
                    <a:ext uri="{9D8B030D-6E8A-4147-A177-3AD203B41FA5}">
                      <a16:colId xmlns:a16="http://schemas.microsoft.com/office/drawing/2014/main" val="1003139823"/>
                    </a:ext>
                  </a:extLst>
                </a:gridCol>
                <a:gridCol w="4932680">
                  <a:extLst>
                    <a:ext uri="{9D8B030D-6E8A-4147-A177-3AD203B41FA5}">
                      <a16:colId xmlns:a16="http://schemas.microsoft.com/office/drawing/2014/main" val="1660596150"/>
                    </a:ext>
                  </a:extLst>
                </a:gridCol>
                <a:gridCol w="3876040">
                  <a:extLst>
                    <a:ext uri="{9D8B030D-6E8A-4147-A177-3AD203B41FA5}">
                      <a16:colId xmlns:a16="http://schemas.microsoft.com/office/drawing/2014/main" val="3462132453"/>
                    </a:ext>
                  </a:extLst>
                </a:gridCol>
              </a:tblGrid>
              <a:tr h="0">
                <a:tc>
                  <a:txBody>
                    <a:bodyPr/>
                    <a:lstStyle/>
                    <a:p>
                      <a:pPr algn="ctr"/>
                      <a:r>
                        <a:rPr lang="en-IN" sz="2400" b="1" u="sng" dirty="0"/>
                        <a:t>Type</a:t>
                      </a:r>
                    </a:p>
                  </a:txBody>
                  <a:tcPr anchor="ctr"/>
                </a:tc>
                <a:tc>
                  <a:txBody>
                    <a:bodyPr/>
                    <a:lstStyle/>
                    <a:p>
                      <a:pPr algn="ctr"/>
                      <a:r>
                        <a:rPr lang="en-IN" sz="2400" b="1" u="sng" dirty="0"/>
                        <a:t>Scope</a:t>
                      </a:r>
                    </a:p>
                  </a:txBody>
                  <a:tcPr anchor="ctr"/>
                </a:tc>
                <a:tc>
                  <a:txBody>
                    <a:bodyPr/>
                    <a:lstStyle/>
                    <a:p>
                      <a:pPr algn="ctr"/>
                      <a:r>
                        <a:rPr lang="en-IN" sz="2400" b="1" u="sng" dirty="0"/>
                        <a:t>Responsibility</a:t>
                      </a:r>
                    </a:p>
                  </a:txBody>
                  <a:tcPr anchor="ctr"/>
                </a:tc>
                <a:extLst>
                  <a:ext uri="{0D108BD9-81ED-4DB2-BD59-A6C34878D82A}">
                    <a16:rowId xmlns:a16="http://schemas.microsoft.com/office/drawing/2014/main" val="2093025598"/>
                  </a:ext>
                </a:extLst>
              </a:tr>
              <a:tr h="0">
                <a:tc>
                  <a:txBody>
                    <a:bodyPr/>
                    <a:lstStyle/>
                    <a:p>
                      <a:r>
                        <a:rPr lang="en-IN" sz="2000" dirty="0"/>
                        <a:t>Unit Testing</a:t>
                      </a:r>
                    </a:p>
                  </a:txBody>
                  <a:tcPr anchor="ctr"/>
                </a:tc>
                <a:tc>
                  <a:txBody>
                    <a:bodyPr/>
                    <a:lstStyle/>
                    <a:p>
                      <a:r>
                        <a:rPr lang="en-IN" sz="2000" dirty="0"/>
                        <a:t>Individual functions/modules</a:t>
                      </a:r>
                    </a:p>
                  </a:txBody>
                  <a:tcPr anchor="ctr"/>
                </a:tc>
                <a:tc>
                  <a:txBody>
                    <a:bodyPr/>
                    <a:lstStyle/>
                    <a:p>
                      <a:r>
                        <a:rPr lang="en-IN" sz="2000" dirty="0"/>
                        <a:t>Developers</a:t>
                      </a:r>
                    </a:p>
                  </a:txBody>
                  <a:tcPr anchor="ctr"/>
                </a:tc>
                <a:extLst>
                  <a:ext uri="{0D108BD9-81ED-4DB2-BD59-A6C34878D82A}">
                    <a16:rowId xmlns:a16="http://schemas.microsoft.com/office/drawing/2014/main" val="4292725765"/>
                  </a:ext>
                </a:extLst>
              </a:tr>
              <a:tr h="0">
                <a:tc>
                  <a:txBody>
                    <a:bodyPr/>
                    <a:lstStyle/>
                    <a:p>
                      <a:r>
                        <a:rPr lang="en-IN" sz="2000"/>
                        <a:t>Integration Testing</a:t>
                      </a:r>
                    </a:p>
                  </a:txBody>
                  <a:tcPr anchor="ctr"/>
                </a:tc>
                <a:tc>
                  <a:txBody>
                    <a:bodyPr/>
                    <a:lstStyle/>
                    <a:p>
                      <a:r>
                        <a:rPr lang="en-IN" sz="2000" dirty="0"/>
                        <a:t>Combined modules &amp; their interfaces</a:t>
                      </a:r>
                    </a:p>
                  </a:txBody>
                  <a:tcPr anchor="ctr"/>
                </a:tc>
                <a:tc>
                  <a:txBody>
                    <a:bodyPr/>
                    <a:lstStyle/>
                    <a:p>
                      <a:r>
                        <a:rPr lang="en-IN" sz="2000" dirty="0"/>
                        <a:t>Developers/Testers</a:t>
                      </a:r>
                    </a:p>
                  </a:txBody>
                  <a:tcPr anchor="ctr"/>
                </a:tc>
                <a:extLst>
                  <a:ext uri="{0D108BD9-81ED-4DB2-BD59-A6C34878D82A}">
                    <a16:rowId xmlns:a16="http://schemas.microsoft.com/office/drawing/2014/main" val="3407418812"/>
                  </a:ext>
                </a:extLst>
              </a:tr>
              <a:tr h="0">
                <a:tc>
                  <a:txBody>
                    <a:bodyPr/>
                    <a:lstStyle/>
                    <a:p>
                      <a:r>
                        <a:rPr lang="en-IN" sz="2000"/>
                        <a:t>System Testing</a:t>
                      </a:r>
                    </a:p>
                  </a:txBody>
                  <a:tcPr anchor="ctr"/>
                </a:tc>
                <a:tc>
                  <a:txBody>
                    <a:bodyPr/>
                    <a:lstStyle/>
                    <a:p>
                      <a:r>
                        <a:rPr lang="en-IN" sz="2000"/>
                        <a:t>Entire system against requirements</a:t>
                      </a:r>
                    </a:p>
                  </a:txBody>
                  <a:tcPr anchor="ctr"/>
                </a:tc>
                <a:tc>
                  <a:txBody>
                    <a:bodyPr/>
                    <a:lstStyle/>
                    <a:p>
                      <a:r>
                        <a:rPr lang="en-IN" sz="2000" dirty="0"/>
                        <a:t>QA/Testers</a:t>
                      </a:r>
                    </a:p>
                  </a:txBody>
                  <a:tcPr anchor="ctr"/>
                </a:tc>
                <a:extLst>
                  <a:ext uri="{0D108BD9-81ED-4DB2-BD59-A6C34878D82A}">
                    <a16:rowId xmlns:a16="http://schemas.microsoft.com/office/drawing/2014/main" val="868917020"/>
                  </a:ext>
                </a:extLst>
              </a:tr>
            </a:tbl>
          </a:graphicData>
        </a:graphic>
      </p:graphicFrame>
      <p:sp>
        <p:nvSpPr>
          <p:cNvPr id="2" name="Date Placeholder 1">
            <a:extLst>
              <a:ext uri="{FF2B5EF4-FFF2-40B4-BE49-F238E27FC236}">
                <a16:creationId xmlns:a16="http://schemas.microsoft.com/office/drawing/2014/main" id="{F4884F7E-B76F-5CC0-9FAA-4837CF17819C}"/>
              </a:ext>
            </a:extLst>
          </p:cNvPr>
          <p:cNvSpPr>
            <a:spLocks noGrp="1"/>
          </p:cNvSpPr>
          <p:nvPr>
            <p:ph type="dt" sz="half" idx="10"/>
          </p:nvPr>
        </p:nvSpPr>
        <p:spPr/>
        <p:txBody>
          <a:bodyPr/>
          <a:lstStyle/>
          <a:p>
            <a:fld id="{1CBE64FC-6546-42D4-A007-BD8BE3AD3569}" type="datetime1">
              <a:rPr lang="en-IN" smtClean="0"/>
              <a:t>03-11-2025</a:t>
            </a:fld>
            <a:endParaRPr lang="en-IN"/>
          </a:p>
        </p:txBody>
      </p:sp>
      <p:sp>
        <p:nvSpPr>
          <p:cNvPr id="7" name="Footer Placeholder 6">
            <a:extLst>
              <a:ext uri="{FF2B5EF4-FFF2-40B4-BE49-F238E27FC236}">
                <a16:creationId xmlns:a16="http://schemas.microsoft.com/office/drawing/2014/main" id="{D46ECC59-1121-1933-2897-F6DA34045BA8}"/>
              </a:ext>
            </a:extLst>
          </p:cNvPr>
          <p:cNvSpPr>
            <a:spLocks noGrp="1"/>
          </p:cNvSpPr>
          <p:nvPr>
            <p:ph type="ftr" sz="quarter" idx="11"/>
          </p:nvPr>
        </p:nvSpPr>
        <p:spPr/>
        <p:txBody>
          <a:bodyPr/>
          <a:lstStyle/>
          <a:p>
            <a:r>
              <a:rPr lang="en-IN"/>
              <a:t>MIT</a:t>
            </a:r>
          </a:p>
        </p:txBody>
      </p:sp>
      <p:sp>
        <p:nvSpPr>
          <p:cNvPr id="8" name="Slide Number Placeholder 7">
            <a:extLst>
              <a:ext uri="{FF2B5EF4-FFF2-40B4-BE49-F238E27FC236}">
                <a16:creationId xmlns:a16="http://schemas.microsoft.com/office/drawing/2014/main" id="{38B4CAC9-C79E-5017-16E2-592ADE5766E6}"/>
              </a:ext>
            </a:extLst>
          </p:cNvPr>
          <p:cNvSpPr>
            <a:spLocks noGrp="1"/>
          </p:cNvSpPr>
          <p:nvPr>
            <p:ph type="sldNum" sz="quarter" idx="12"/>
          </p:nvPr>
        </p:nvSpPr>
        <p:spPr/>
        <p:txBody>
          <a:bodyPr/>
          <a:lstStyle/>
          <a:p>
            <a:fld id="{157E8F69-36B6-4843-A9CE-6B9353F4DBAF}" type="slidenum">
              <a:rPr lang="en-IN" smtClean="0"/>
              <a:t>101</a:t>
            </a:fld>
            <a:endParaRPr lang="en-IN"/>
          </a:p>
        </p:txBody>
      </p:sp>
    </p:spTree>
    <p:extLst>
      <p:ext uri="{BB962C8B-B14F-4D97-AF65-F5344CB8AC3E}">
        <p14:creationId xmlns:p14="http://schemas.microsoft.com/office/powerpoint/2010/main" val="74558627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220117"/>
            <a:ext cx="11643360" cy="1723549"/>
          </a:xfrm>
          <a:prstGeom prst="rect">
            <a:avLst/>
          </a:prstGeom>
        </p:spPr>
        <p:txBody>
          <a:bodyPr wrap="square">
            <a:spAutoFit/>
          </a:bodyPr>
          <a:lstStyle/>
          <a:p>
            <a:pPr algn="ctr">
              <a:spcBef>
                <a:spcPts val="1200"/>
              </a:spcBef>
            </a:pPr>
            <a:r>
              <a:rPr lang="en-US" sz="2400" b="1" u="sng" dirty="0"/>
              <a:t>Testing Object-Oriented Programs (OOP)</a:t>
            </a:r>
          </a:p>
          <a:p>
            <a:pPr algn="just">
              <a:spcBef>
                <a:spcPts val="1200"/>
              </a:spcBef>
            </a:pPr>
            <a:r>
              <a:rPr lang="en-US" sz="2400" dirty="0"/>
              <a:t>	Testing object-oriented software differs from traditional procedural software due to </a:t>
            </a:r>
            <a:r>
              <a:rPr lang="en-US" sz="2400" b="1" dirty="0"/>
              <a:t>encapsulation</a:t>
            </a:r>
            <a:r>
              <a:rPr lang="en-US" sz="2400" dirty="0"/>
              <a:t>, </a:t>
            </a:r>
            <a:r>
              <a:rPr lang="en-US" sz="2400" b="1" dirty="0"/>
              <a:t>inheritance</a:t>
            </a:r>
            <a:r>
              <a:rPr lang="en-US" sz="2400" dirty="0"/>
              <a:t>, </a:t>
            </a:r>
            <a:r>
              <a:rPr lang="en-US" sz="2400" b="1" dirty="0"/>
              <a:t>polymorphism</a:t>
            </a:r>
            <a:r>
              <a:rPr lang="en-US" sz="2400" dirty="0"/>
              <a:t>, and </a:t>
            </a:r>
            <a:r>
              <a:rPr lang="en-US" sz="2400" b="1" dirty="0"/>
              <a:t>interaction between objects</a:t>
            </a:r>
            <a:r>
              <a:rPr lang="en-US" sz="2400" dirty="0"/>
              <a:t>. Let’s explore how testing is approached in the context of object-oriented programming (OOP).</a:t>
            </a:r>
          </a:p>
        </p:txBody>
      </p:sp>
      <p:sp>
        <p:nvSpPr>
          <p:cNvPr id="4" name="Rectangle 3"/>
          <p:cNvSpPr/>
          <p:nvPr/>
        </p:nvSpPr>
        <p:spPr>
          <a:xfrm>
            <a:off x="228600" y="2588954"/>
            <a:ext cx="4472506" cy="461665"/>
          </a:xfrm>
          <a:prstGeom prst="rect">
            <a:avLst/>
          </a:prstGeom>
        </p:spPr>
        <p:txBody>
          <a:bodyPr wrap="none">
            <a:spAutoFit/>
          </a:bodyPr>
          <a:lstStyle/>
          <a:p>
            <a:r>
              <a:rPr lang="en-US" sz="2400" b="1" u="sng" dirty="0"/>
              <a:t>🔍 Key Challenges in OOP Testing:</a:t>
            </a:r>
            <a:endParaRPr lang="en-IN" sz="2400" b="1" u="sng" dirty="0"/>
          </a:p>
        </p:txBody>
      </p:sp>
      <p:graphicFrame>
        <p:nvGraphicFramePr>
          <p:cNvPr id="5" name="Table 4"/>
          <p:cNvGraphicFramePr>
            <a:graphicFrameLocks noGrp="1"/>
          </p:cNvGraphicFramePr>
          <p:nvPr>
            <p:extLst>
              <p:ext uri="{D42A27DB-BD31-4B8C-83A1-F6EECF244321}">
                <p14:modId xmlns:p14="http://schemas.microsoft.com/office/powerpoint/2010/main" val="1309049875"/>
              </p:ext>
            </p:extLst>
          </p:nvPr>
        </p:nvGraphicFramePr>
        <p:xfrm>
          <a:off x="228600" y="3074402"/>
          <a:ext cx="11643360" cy="3048000"/>
        </p:xfrm>
        <a:graphic>
          <a:graphicData uri="http://schemas.openxmlformats.org/drawingml/2006/table">
            <a:tbl>
              <a:tblPr>
                <a:tableStyleId>{BC89EF96-8CEA-46FF-86C4-4CE0E7609802}</a:tableStyleId>
              </a:tblPr>
              <a:tblGrid>
                <a:gridCol w="3215640">
                  <a:extLst>
                    <a:ext uri="{9D8B030D-6E8A-4147-A177-3AD203B41FA5}">
                      <a16:colId xmlns:a16="http://schemas.microsoft.com/office/drawing/2014/main" val="2560572877"/>
                    </a:ext>
                  </a:extLst>
                </a:gridCol>
                <a:gridCol w="8427720">
                  <a:extLst>
                    <a:ext uri="{9D8B030D-6E8A-4147-A177-3AD203B41FA5}">
                      <a16:colId xmlns:a16="http://schemas.microsoft.com/office/drawing/2014/main" val="1693716903"/>
                    </a:ext>
                  </a:extLst>
                </a:gridCol>
              </a:tblGrid>
              <a:tr h="0">
                <a:tc>
                  <a:txBody>
                    <a:bodyPr/>
                    <a:lstStyle/>
                    <a:p>
                      <a:pPr algn="ctr"/>
                      <a:r>
                        <a:rPr lang="en-IN" sz="2400" b="1" u="sng" dirty="0"/>
                        <a:t>OOP Concept</a:t>
                      </a:r>
                    </a:p>
                  </a:txBody>
                  <a:tcPr anchor="ctr"/>
                </a:tc>
                <a:tc>
                  <a:txBody>
                    <a:bodyPr/>
                    <a:lstStyle/>
                    <a:p>
                      <a:pPr algn="ctr"/>
                      <a:r>
                        <a:rPr lang="en-IN" sz="2400" b="1" u="sng" dirty="0"/>
                        <a:t>Testing Challenge</a:t>
                      </a:r>
                    </a:p>
                  </a:txBody>
                  <a:tcPr anchor="ctr"/>
                </a:tc>
                <a:extLst>
                  <a:ext uri="{0D108BD9-81ED-4DB2-BD59-A6C34878D82A}">
                    <a16:rowId xmlns:a16="http://schemas.microsoft.com/office/drawing/2014/main" val="3754187176"/>
                  </a:ext>
                </a:extLst>
              </a:tr>
              <a:tr h="0">
                <a:tc>
                  <a:txBody>
                    <a:bodyPr/>
                    <a:lstStyle/>
                    <a:p>
                      <a:r>
                        <a:rPr lang="en-IN" sz="2000" dirty="0"/>
                        <a:t>Encapsulation</a:t>
                      </a:r>
                    </a:p>
                  </a:txBody>
                  <a:tcPr anchor="ctr"/>
                </a:tc>
                <a:tc>
                  <a:txBody>
                    <a:bodyPr/>
                    <a:lstStyle/>
                    <a:p>
                      <a:r>
                        <a:rPr lang="en-US" sz="2000" dirty="0"/>
                        <a:t>Data is hidden; internal state is hard to access directly for testing.</a:t>
                      </a:r>
                    </a:p>
                  </a:txBody>
                  <a:tcPr anchor="ctr"/>
                </a:tc>
                <a:extLst>
                  <a:ext uri="{0D108BD9-81ED-4DB2-BD59-A6C34878D82A}">
                    <a16:rowId xmlns:a16="http://schemas.microsoft.com/office/drawing/2014/main" val="293249179"/>
                  </a:ext>
                </a:extLst>
              </a:tr>
              <a:tr h="0">
                <a:tc>
                  <a:txBody>
                    <a:bodyPr/>
                    <a:lstStyle/>
                    <a:p>
                      <a:r>
                        <a:rPr lang="en-IN" sz="2000" dirty="0"/>
                        <a:t>Inheritance</a:t>
                      </a:r>
                    </a:p>
                  </a:txBody>
                  <a:tcPr anchor="ctr"/>
                </a:tc>
                <a:tc>
                  <a:txBody>
                    <a:bodyPr/>
                    <a:lstStyle/>
                    <a:p>
                      <a:r>
                        <a:rPr lang="en-US" sz="2000" dirty="0"/>
                        <a:t>Behavior is inherited; base class changes can affect derived class behavior.</a:t>
                      </a:r>
                    </a:p>
                  </a:txBody>
                  <a:tcPr anchor="ctr"/>
                </a:tc>
                <a:extLst>
                  <a:ext uri="{0D108BD9-81ED-4DB2-BD59-A6C34878D82A}">
                    <a16:rowId xmlns:a16="http://schemas.microsoft.com/office/drawing/2014/main" val="1711859617"/>
                  </a:ext>
                </a:extLst>
              </a:tr>
              <a:tr h="0">
                <a:tc>
                  <a:txBody>
                    <a:bodyPr/>
                    <a:lstStyle/>
                    <a:p>
                      <a:r>
                        <a:rPr lang="en-IN" sz="2000" dirty="0"/>
                        <a:t>Polymorphism</a:t>
                      </a:r>
                    </a:p>
                  </a:txBody>
                  <a:tcPr anchor="ctr"/>
                </a:tc>
                <a:tc>
                  <a:txBody>
                    <a:bodyPr/>
                    <a:lstStyle/>
                    <a:p>
                      <a:r>
                        <a:rPr lang="en-US" sz="2000" dirty="0"/>
                        <a:t>A method call may refer to many actual implementations, making test prediction hard.</a:t>
                      </a:r>
                    </a:p>
                  </a:txBody>
                  <a:tcPr anchor="ctr"/>
                </a:tc>
                <a:extLst>
                  <a:ext uri="{0D108BD9-81ED-4DB2-BD59-A6C34878D82A}">
                    <a16:rowId xmlns:a16="http://schemas.microsoft.com/office/drawing/2014/main" val="1290371370"/>
                  </a:ext>
                </a:extLst>
              </a:tr>
              <a:tr h="0">
                <a:tc>
                  <a:txBody>
                    <a:bodyPr/>
                    <a:lstStyle/>
                    <a:p>
                      <a:r>
                        <a:rPr lang="en-IN" sz="2000"/>
                        <a:t>Dynamic Binding</a:t>
                      </a:r>
                    </a:p>
                  </a:txBody>
                  <a:tcPr anchor="ctr"/>
                </a:tc>
                <a:tc>
                  <a:txBody>
                    <a:bodyPr/>
                    <a:lstStyle/>
                    <a:p>
                      <a:r>
                        <a:rPr lang="en-US" sz="2000" dirty="0"/>
                        <a:t>Methods are resolved at runtime; exact behavior is known only during execution.</a:t>
                      </a:r>
                    </a:p>
                  </a:txBody>
                  <a:tcPr anchor="ctr"/>
                </a:tc>
                <a:extLst>
                  <a:ext uri="{0D108BD9-81ED-4DB2-BD59-A6C34878D82A}">
                    <a16:rowId xmlns:a16="http://schemas.microsoft.com/office/drawing/2014/main" val="1293941647"/>
                  </a:ext>
                </a:extLst>
              </a:tr>
              <a:tr h="0">
                <a:tc>
                  <a:txBody>
                    <a:bodyPr/>
                    <a:lstStyle/>
                    <a:p>
                      <a:r>
                        <a:rPr lang="en-IN" sz="2000"/>
                        <a:t>Object Interaction</a:t>
                      </a:r>
                    </a:p>
                  </a:txBody>
                  <a:tcPr anchor="ctr"/>
                </a:tc>
                <a:tc>
                  <a:txBody>
                    <a:bodyPr/>
                    <a:lstStyle/>
                    <a:p>
                      <a:r>
                        <a:rPr lang="en-US" sz="2000" dirty="0"/>
                        <a:t>Objects collaborate via messages; fault may lie in interactions rather than logic.</a:t>
                      </a:r>
                    </a:p>
                  </a:txBody>
                  <a:tcPr anchor="ctr"/>
                </a:tc>
                <a:extLst>
                  <a:ext uri="{0D108BD9-81ED-4DB2-BD59-A6C34878D82A}">
                    <a16:rowId xmlns:a16="http://schemas.microsoft.com/office/drawing/2014/main" val="33517076"/>
                  </a:ext>
                </a:extLst>
              </a:tr>
            </a:tbl>
          </a:graphicData>
        </a:graphic>
      </p:graphicFrame>
      <p:sp>
        <p:nvSpPr>
          <p:cNvPr id="2" name="Date Placeholder 1">
            <a:extLst>
              <a:ext uri="{FF2B5EF4-FFF2-40B4-BE49-F238E27FC236}">
                <a16:creationId xmlns:a16="http://schemas.microsoft.com/office/drawing/2014/main" id="{EC55D2B6-0B56-0DAF-E76C-46837567FA9E}"/>
              </a:ext>
            </a:extLst>
          </p:cNvPr>
          <p:cNvSpPr>
            <a:spLocks noGrp="1"/>
          </p:cNvSpPr>
          <p:nvPr>
            <p:ph type="dt" sz="half" idx="10"/>
          </p:nvPr>
        </p:nvSpPr>
        <p:spPr/>
        <p:txBody>
          <a:bodyPr/>
          <a:lstStyle/>
          <a:p>
            <a:fld id="{09516078-92AA-4176-A532-9A213779AFE5}" type="datetime1">
              <a:rPr lang="en-IN" smtClean="0"/>
              <a:t>03-11-2025</a:t>
            </a:fld>
            <a:endParaRPr lang="en-IN"/>
          </a:p>
        </p:txBody>
      </p:sp>
      <p:sp>
        <p:nvSpPr>
          <p:cNvPr id="6" name="Footer Placeholder 5">
            <a:extLst>
              <a:ext uri="{FF2B5EF4-FFF2-40B4-BE49-F238E27FC236}">
                <a16:creationId xmlns:a16="http://schemas.microsoft.com/office/drawing/2014/main" id="{68A29D85-759D-3727-F727-D9485F55694A}"/>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EDC8FF0E-ECCA-6BCC-8BE4-3A5C36746AD1}"/>
              </a:ext>
            </a:extLst>
          </p:cNvPr>
          <p:cNvSpPr>
            <a:spLocks noGrp="1"/>
          </p:cNvSpPr>
          <p:nvPr>
            <p:ph type="sldNum" sz="quarter" idx="12"/>
          </p:nvPr>
        </p:nvSpPr>
        <p:spPr/>
        <p:txBody>
          <a:bodyPr/>
          <a:lstStyle/>
          <a:p>
            <a:fld id="{157E8F69-36B6-4843-A9CE-6B9353F4DBAF}" type="slidenum">
              <a:rPr lang="en-IN" smtClean="0"/>
              <a:t>102</a:t>
            </a:fld>
            <a:endParaRPr lang="en-IN"/>
          </a:p>
        </p:txBody>
      </p:sp>
    </p:spTree>
    <p:extLst>
      <p:ext uri="{BB962C8B-B14F-4D97-AF65-F5344CB8AC3E}">
        <p14:creationId xmlns:p14="http://schemas.microsoft.com/office/powerpoint/2010/main" val="15039892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381000" y="397699"/>
            <a:ext cx="1150620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 Types of Tests in OOP:</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1. Unit Testing</a:t>
            </a:r>
          </a:p>
          <a:p>
            <a:pPr marL="800100" lvl="1" indent="-342900" algn="just"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Focuses on </a:t>
            </a:r>
            <a:r>
              <a:rPr kumimoji="0" lang="en-US" altLang="en-US" sz="2400" b="1" i="0" u="none" strike="noStrike" cap="none" normalizeH="0" baseline="0" dirty="0">
                <a:ln>
                  <a:noFill/>
                </a:ln>
                <a:solidFill>
                  <a:schemeClr val="tx1"/>
                </a:solidFill>
                <a:effectLst/>
              </a:rPr>
              <a:t>individual classes and methods</a:t>
            </a:r>
            <a:r>
              <a:rPr kumimoji="0" lang="en-US" altLang="en-US" sz="2400" b="0" i="0" u="none" strike="noStrike" cap="none" normalizeH="0" baseline="0" dirty="0">
                <a:ln>
                  <a:noFill/>
                </a:ln>
                <a:solidFill>
                  <a:schemeClr val="tx1"/>
                </a:solidFill>
                <a:effectLst/>
              </a:rPr>
              <a:t>.</a:t>
            </a:r>
          </a:p>
          <a:p>
            <a:pPr marL="800100" lvl="1" indent="-342900" algn="just"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Verifies </a:t>
            </a:r>
            <a:r>
              <a:rPr kumimoji="0" lang="en-US" altLang="en-US" sz="2400" b="1" i="0" u="none" strike="noStrike" cap="none" normalizeH="0" baseline="0" dirty="0">
                <a:ln>
                  <a:noFill/>
                </a:ln>
                <a:solidFill>
                  <a:schemeClr val="tx1"/>
                </a:solidFill>
                <a:effectLst/>
              </a:rPr>
              <a:t>method logic</a:t>
            </a:r>
            <a:r>
              <a:rPr kumimoji="0" lang="en-US" altLang="en-US" sz="2400" b="0" i="0" u="none" strike="noStrike" cap="none" normalizeH="0" baseline="0" dirty="0">
                <a:ln>
                  <a:noFill/>
                </a:ln>
                <a:solidFill>
                  <a:schemeClr val="tx1"/>
                </a:solidFill>
                <a:effectLst/>
              </a:rPr>
              <a:t>, </a:t>
            </a:r>
            <a:r>
              <a:rPr kumimoji="0" lang="en-US" altLang="en-US" sz="2400" b="1" i="0" u="none" strike="noStrike" cap="none" normalizeH="0" baseline="0" dirty="0">
                <a:ln>
                  <a:noFill/>
                </a:ln>
                <a:solidFill>
                  <a:schemeClr val="tx1"/>
                </a:solidFill>
                <a:effectLst/>
              </a:rPr>
              <a:t>constructors</a:t>
            </a:r>
            <a:r>
              <a:rPr kumimoji="0" lang="en-US" altLang="en-US" sz="2400" b="0" i="0" u="none" strike="noStrike" cap="none" normalizeH="0" baseline="0" dirty="0">
                <a:ln>
                  <a:noFill/>
                </a:ln>
                <a:solidFill>
                  <a:schemeClr val="tx1"/>
                </a:solidFill>
                <a:effectLst/>
              </a:rPr>
              <a:t>, and </a:t>
            </a:r>
            <a:r>
              <a:rPr kumimoji="0" lang="en-US" altLang="en-US" sz="2400" b="1" i="0" u="none" strike="noStrike" cap="none" normalizeH="0" baseline="0" dirty="0">
                <a:ln>
                  <a:noFill/>
                </a:ln>
                <a:solidFill>
                  <a:schemeClr val="tx1"/>
                </a:solidFill>
                <a:effectLst/>
              </a:rPr>
              <a:t>getter/setter behaviors</a:t>
            </a:r>
            <a:r>
              <a:rPr kumimoji="0" lang="en-US" altLang="en-US" sz="2400" b="0" i="0" u="none" strike="noStrike" cap="none" normalizeH="0" baseline="0" dirty="0">
                <a:ln>
                  <a:noFill/>
                </a:ln>
                <a:solidFill>
                  <a:schemeClr val="tx1"/>
                </a:solidFill>
                <a:effectLst/>
              </a:rPr>
              <a:t>.</a:t>
            </a:r>
          </a:p>
          <a:p>
            <a:pPr marL="800100" lvl="1" indent="-342900" algn="just"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Tools: JUnit (Java), </a:t>
            </a:r>
            <a:r>
              <a:rPr kumimoji="0" lang="en-US" altLang="en-US" sz="2400" b="0" i="0" u="none" strike="noStrike" cap="none" normalizeH="0" baseline="0" dirty="0" err="1">
                <a:ln>
                  <a:noFill/>
                </a:ln>
                <a:solidFill>
                  <a:schemeClr val="tx1"/>
                </a:solidFill>
                <a:effectLst/>
              </a:rPr>
              <a:t>pytest</a:t>
            </a:r>
            <a:r>
              <a:rPr kumimoji="0" lang="en-US" altLang="en-US" sz="2400" b="0" i="0" u="none" strike="noStrike" cap="none" normalizeH="0" baseline="0" dirty="0">
                <a:ln>
                  <a:noFill/>
                </a:ln>
                <a:solidFill>
                  <a:schemeClr val="tx1"/>
                </a:solidFill>
                <a:effectLst/>
              </a:rPr>
              <a:t> (Python), </a:t>
            </a:r>
            <a:r>
              <a:rPr kumimoji="0" lang="en-US" altLang="en-US" sz="2400" b="0" i="0" u="none" strike="noStrike" cap="none" normalizeH="0" baseline="0" dirty="0" err="1">
                <a:ln>
                  <a:noFill/>
                </a:ln>
                <a:solidFill>
                  <a:schemeClr val="tx1"/>
                </a:solidFill>
                <a:effectLst/>
              </a:rPr>
              <a:t>NUnit</a:t>
            </a:r>
            <a:r>
              <a:rPr kumimoji="0" lang="en-US" altLang="en-US" sz="2400" b="0" i="0" u="none" strike="noStrike" cap="none" normalizeH="0" baseline="0" dirty="0">
                <a:ln>
                  <a:noFill/>
                </a:ln>
                <a:solidFill>
                  <a:schemeClr val="tx1"/>
                </a:solidFill>
                <a:effectLst/>
              </a:rPr>
              <a:t> (.NET).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2. Integration Testing</a:t>
            </a:r>
          </a:p>
          <a:p>
            <a:pPr marL="800100" lvl="1" indent="-342900" algn="just"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Tests </a:t>
            </a:r>
            <a:r>
              <a:rPr kumimoji="0" lang="en-US" altLang="en-US" sz="2400" b="1" i="0" u="none" strike="noStrike" cap="none" normalizeH="0" baseline="0" dirty="0">
                <a:ln>
                  <a:noFill/>
                </a:ln>
                <a:solidFill>
                  <a:schemeClr val="tx1"/>
                </a:solidFill>
                <a:effectLst/>
              </a:rPr>
              <a:t>collaboration</a:t>
            </a:r>
            <a:r>
              <a:rPr kumimoji="0" lang="en-US" altLang="en-US" sz="2400" b="0" i="0" u="none" strike="noStrike" cap="none" normalizeH="0" baseline="0" dirty="0">
                <a:ln>
                  <a:noFill/>
                </a:ln>
                <a:solidFill>
                  <a:schemeClr val="tx1"/>
                </a:solidFill>
                <a:effectLst/>
              </a:rPr>
              <a:t> among objects.</a:t>
            </a:r>
          </a:p>
          <a:p>
            <a:pPr marL="800100" lvl="1" indent="-342900" algn="just"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Verifies </a:t>
            </a:r>
            <a:r>
              <a:rPr kumimoji="0" lang="en-US" altLang="en-US" sz="2400" b="1" i="0" u="none" strike="noStrike" cap="none" normalizeH="0" baseline="0" dirty="0">
                <a:ln>
                  <a:noFill/>
                </a:ln>
                <a:solidFill>
                  <a:schemeClr val="tx1"/>
                </a:solidFill>
                <a:effectLst/>
              </a:rPr>
              <a:t>message passing</a:t>
            </a:r>
            <a:r>
              <a:rPr kumimoji="0" lang="en-US" altLang="en-US" sz="2400" b="0" i="0" u="none" strike="noStrike" cap="none" normalizeH="0" baseline="0" dirty="0">
                <a:ln>
                  <a:noFill/>
                </a:ln>
                <a:solidFill>
                  <a:schemeClr val="tx1"/>
                </a:solidFill>
                <a:effectLst/>
              </a:rPr>
              <a:t>, </a:t>
            </a:r>
            <a:r>
              <a:rPr kumimoji="0" lang="en-US" altLang="en-US" sz="2400" b="1" i="0" u="none" strike="noStrike" cap="none" normalizeH="0" baseline="0" dirty="0">
                <a:ln>
                  <a:noFill/>
                </a:ln>
                <a:solidFill>
                  <a:schemeClr val="tx1"/>
                </a:solidFill>
                <a:effectLst/>
              </a:rPr>
              <a:t>shared data</a:t>
            </a:r>
            <a:r>
              <a:rPr kumimoji="0" lang="en-US" altLang="en-US" sz="2400" b="0" i="0" u="none" strike="noStrike" cap="none" normalizeH="0" baseline="0" dirty="0">
                <a:ln>
                  <a:noFill/>
                </a:ln>
                <a:solidFill>
                  <a:schemeClr val="tx1"/>
                </a:solidFill>
                <a:effectLst/>
              </a:rPr>
              <a:t>, and </a:t>
            </a:r>
            <a:r>
              <a:rPr kumimoji="0" lang="en-US" altLang="en-US" sz="2400" b="1" i="0" u="none" strike="noStrike" cap="none" normalizeH="0" baseline="0" dirty="0">
                <a:ln>
                  <a:noFill/>
                </a:ln>
                <a:solidFill>
                  <a:schemeClr val="tx1"/>
                </a:solidFill>
                <a:effectLst/>
              </a:rPr>
              <a:t>interface contracts</a:t>
            </a:r>
            <a:r>
              <a:rPr kumimoji="0" lang="en-US" altLang="en-US" sz="2400" b="0" i="0" u="none" strike="noStrike" cap="none" normalizeH="0" baseline="0" dirty="0">
                <a:ln>
                  <a:noFill/>
                </a:ln>
                <a:solidFill>
                  <a:schemeClr val="tx1"/>
                </a:solidFill>
                <a:effectLst/>
              </a:rPr>
              <a:t>.</a:t>
            </a:r>
          </a:p>
          <a:p>
            <a:pPr marL="800100" lvl="1" indent="-342900" algn="just"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Mocks/stubs often simulate object dependencies.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3. System Testing</a:t>
            </a:r>
          </a:p>
          <a:p>
            <a:pPr marL="800100" lvl="1" indent="-342900" algn="just"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Entire system is tested as a whole to ensure it meets requirements.</a:t>
            </a:r>
          </a:p>
          <a:p>
            <a:pPr marL="800100" lvl="1" indent="-342900" algn="just"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Object interactions, flows, and business logic are verified in a full environment.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p:txBody>
      </p:sp>
      <p:sp>
        <p:nvSpPr>
          <p:cNvPr id="2" name="Date Placeholder 1">
            <a:extLst>
              <a:ext uri="{FF2B5EF4-FFF2-40B4-BE49-F238E27FC236}">
                <a16:creationId xmlns:a16="http://schemas.microsoft.com/office/drawing/2014/main" id="{B36ACB73-7CA8-AC7E-DE4D-0C130F53D5C7}"/>
              </a:ext>
            </a:extLst>
          </p:cNvPr>
          <p:cNvSpPr>
            <a:spLocks noGrp="1"/>
          </p:cNvSpPr>
          <p:nvPr>
            <p:ph type="dt" sz="half" idx="10"/>
          </p:nvPr>
        </p:nvSpPr>
        <p:spPr/>
        <p:txBody>
          <a:bodyPr/>
          <a:lstStyle/>
          <a:p>
            <a:fld id="{3BC572AD-9225-496F-8D06-A30CFE72BB89}" type="datetime1">
              <a:rPr lang="en-IN" smtClean="0"/>
              <a:t>03-11-2025</a:t>
            </a:fld>
            <a:endParaRPr lang="en-IN"/>
          </a:p>
        </p:txBody>
      </p:sp>
      <p:sp>
        <p:nvSpPr>
          <p:cNvPr id="4" name="Footer Placeholder 3">
            <a:extLst>
              <a:ext uri="{FF2B5EF4-FFF2-40B4-BE49-F238E27FC236}">
                <a16:creationId xmlns:a16="http://schemas.microsoft.com/office/drawing/2014/main" id="{97D34931-AA1A-4BBE-A66A-F726BF38EE3E}"/>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61F2A7AF-3551-1769-2252-A059CC5CE645}"/>
              </a:ext>
            </a:extLst>
          </p:cNvPr>
          <p:cNvSpPr>
            <a:spLocks noGrp="1"/>
          </p:cNvSpPr>
          <p:nvPr>
            <p:ph type="sldNum" sz="quarter" idx="12"/>
          </p:nvPr>
        </p:nvSpPr>
        <p:spPr/>
        <p:txBody>
          <a:bodyPr/>
          <a:lstStyle/>
          <a:p>
            <a:fld id="{157E8F69-36B6-4843-A9CE-6B9353F4DBAF}" type="slidenum">
              <a:rPr lang="en-IN" smtClean="0"/>
              <a:t>103</a:t>
            </a:fld>
            <a:endParaRPr lang="en-IN"/>
          </a:p>
        </p:txBody>
      </p:sp>
    </p:spTree>
    <p:extLst>
      <p:ext uri="{BB962C8B-B14F-4D97-AF65-F5344CB8AC3E}">
        <p14:creationId xmlns:p14="http://schemas.microsoft.com/office/powerpoint/2010/main" val="23144417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3840" y="248424"/>
            <a:ext cx="11765280" cy="6370975"/>
          </a:xfrm>
          <a:prstGeom prst="rect">
            <a:avLst/>
          </a:prstGeom>
        </p:spPr>
        <p:txBody>
          <a:bodyPr wrap="square">
            <a:spAutoFit/>
          </a:bodyPr>
          <a:lstStyle/>
          <a:p>
            <a:pPr algn="just"/>
            <a:r>
              <a:rPr lang="en-US" sz="2400" b="1" u="sng" dirty="0"/>
              <a:t>🧪 OOP-Specific Testing Strategies:</a:t>
            </a:r>
          </a:p>
          <a:p>
            <a:pPr algn="just"/>
            <a:endParaRPr lang="en-US" sz="2000" b="1" u="sng" dirty="0"/>
          </a:p>
          <a:p>
            <a:pPr algn="just"/>
            <a:r>
              <a:rPr lang="en-US" sz="2400" b="1" u="sng" dirty="0"/>
              <a:t>✅ Method Testing</a:t>
            </a:r>
          </a:p>
          <a:p>
            <a:pPr marL="800100" lvl="1" indent="-342900" algn="just">
              <a:buFont typeface="Wingdings" panose="05000000000000000000" pitchFamily="2" charset="2"/>
              <a:buChar char="Ø"/>
            </a:pPr>
            <a:r>
              <a:rPr lang="en-US" sz="2400" dirty="0"/>
              <a:t>Test all public methods.</a:t>
            </a:r>
          </a:p>
          <a:p>
            <a:pPr marL="800100" lvl="1" indent="-342900" algn="just">
              <a:buFont typeface="Wingdings" panose="05000000000000000000" pitchFamily="2" charset="2"/>
              <a:buChar char="Ø"/>
            </a:pPr>
            <a:r>
              <a:rPr lang="en-US" sz="2400" dirty="0"/>
              <a:t>Include tests for overloaded methods and methods with default arguments.</a:t>
            </a:r>
          </a:p>
          <a:p>
            <a:pPr algn="just"/>
            <a:r>
              <a:rPr lang="en-US" sz="2400" b="1" u="sng" dirty="0"/>
              <a:t>🔁 State-Based Testing</a:t>
            </a:r>
          </a:p>
          <a:p>
            <a:pPr marL="800100" lvl="1" indent="-342900" algn="just">
              <a:buFont typeface="Wingdings" panose="05000000000000000000" pitchFamily="2" charset="2"/>
              <a:buChar char="Ø"/>
            </a:pPr>
            <a:r>
              <a:rPr lang="en-US" sz="2400" dirty="0"/>
              <a:t>Focuses on class behavior </a:t>
            </a:r>
            <a:r>
              <a:rPr lang="en-US" sz="2400" b="1" dirty="0"/>
              <a:t>based on its internal state</a:t>
            </a:r>
            <a:r>
              <a:rPr lang="en-US" sz="2400" dirty="0"/>
              <a:t>.</a:t>
            </a:r>
          </a:p>
          <a:p>
            <a:pPr marL="800100" lvl="1" indent="-342900" algn="just">
              <a:buFont typeface="Wingdings" panose="05000000000000000000" pitchFamily="2" charset="2"/>
              <a:buChar char="Ø"/>
            </a:pPr>
            <a:r>
              <a:rPr lang="en-US" sz="2400" dirty="0"/>
              <a:t>Ensures correct transitions between states.</a:t>
            </a:r>
          </a:p>
          <a:p>
            <a:pPr algn="just"/>
            <a:r>
              <a:rPr lang="en-US" sz="2400" b="1" u="sng" dirty="0"/>
              <a:t>📥 Interaction Testing</a:t>
            </a:r>
          </a:p>
          <a:p>
            <a:pPr marL="800100" lvl="1" indent="-342900" algn="just">
              <a:buFont typeface="Wingdings" panose="05000000000000000000" pitchFamily="2" charset="2"/>
              <a:buChar char="Ø"/>
            </a:pPr>
            <a:r>
              <a:rPr lang="en-US" sz="2400" dirty="0"/>
              <a:t>Ensures that </a:t>
            </a:r>
            <a:r>
              <a:rPr lang="en-US" sz="2400" b="1" dirty="0"/>
              <a:t>messages passed between objects</a:t>
            </a:r>
            <a:r>
              <a:rPr lang="en-US" sz="2400" dirty="0"/>
              <a:t> follow the expected sequence and correctness.</a:t>
            </a:r>
          </a:p>
          <a:p>
            <a:pPr marL="800100" lvl="1" indent="-342900" algn="just">
              <a:buFont typeface="Wingdings" panose="05000000000000000000" pitchFamily="2" charset="2"/>
              <a:buChar char="Ø"/>
            </a:pPr>
            <a:r>
              <a:rPr lang="en-US" sz="2400" dirty="0"/>
              <a:t>Often tested using </a:t>
            </a:r>
            <a:r>
              <a:rPr lang="en-US" sz="2400" b="1" dirty="0"/>
              <a:t>mocking frameworks</a:t>
            </a:r>
            <a:r>
              <a:rPr lang="en-US" sz="2400" dirty="0"/>
              <a:t>.</a:t>
            </a:r>
          </a:p>
          <a:p>
            <a:pPr algn="just"/>
            <a:r>
              <a:rPr lang="en-US" sz="2400" b="1" u="sng" dirty="0"/>
              <a:t>🧬 Inheritance &amp; Polymorphism Testing</a:t>
            </a:r>
          </a:p>
          <a:p>
            <a:pPr marL="800100" lvl="1" indent="-342900" algn="just">
              <a:buFont typeface="Wingdings" panose="05000000000000000000" pitchFamily="2" charset="2"/>
              <a:buChar char="Ø"/>
            </a:pPr>
            <a:r>
              <a:rPr lang="en-US" sz="2400" dirty="0"/>
              <a:t>Test both </a:t>
            </a:r>
            <a:r>
              <a:rPr lang="en-US" sz="2400" b="1" dirty="0"/>
              <a:t>base</a:t>
            </a:r>
            <a:r>
              <a:rPr lang="en-US" sz="2400" dirty="0"/>
              <a:t> and </a:t>
            </a:r>
            <a:r>
              <a:rPr lang="en-US" sz="2400" b="1" dirty="0"/>
              <a:t>derived</a:t>
            </a:r>
            <a:r>
              <a:rPr lang="en-US" sz="2400" dirty="0"/>
              <a:t> class behavior.</a:t>
            </a:r>
          </a:p>
          <a:p>
            <a:pPr marL="800100" lvl="1" indent="-342900" algn="just">
              <a:buFont typeface="Wingdings" panose="05000000000000000000" pitchFamily="2" charset="2"/>
              <a:buChar char="Ø"/>
            </a:pPr>
            <a:r>
              <a:rPr lang="en-US" sz="2400" dirty="0"/>
              <a:t>Ensure that overridden methods maintain behavioral contracts.</a:t>
            </a:r>
          </a:p>
          <a:p>
            <a:pPr marL="800100" lvl="1" indent="-342900" algn="just">
              <a:buFont typeface="Wingdings" panose="05000000000000000000" pitchFamily="2" charset="2"/>
              <a:buChar char="Ø"/>
            </a:pPr>
            <a:r>
              <a:rPr lang="en-US" sz="2400" dirty="0"/>
              <a:t>Use </a:t>
            </a:r>
            <a:r>
              <a:rPr lang="en-US" sz="2400" b="1" dirty="0" err="1"/>
              <a:t>Liskov</a:t>
            </a:r>
            <a:r>
              <a:rPr lang="en-US" sz="2400" b="1" dirty="0"/>
              <a:t> Substitution Principle (LSP)</a:t>
            </a:r>
            <a:r>
              <a:rPr lang="en-US" sz="2400" dirty="0"/>
              <a:t> to ensure objects of derived types can replace base types without altering functionality.</a:t>
            </a:r>
          </a:p>
        </p:txBody>
      </p:sp>
      <p:sp>
        <p:nvSpPr>
          <p:cNvPr id="2" name="Date Placeholder 1">
            <a:extLst>
              <a:ext uri="{FF2B5EF4-FFF2-40B4-BE49-F238E27FC236}">
                <a16:creationId xmlns:a16="http://schemas.microsoft.com/office/drawing/2014/main" id="{218C5D0F-383A-0E2D-88F2-BA0A11D175FD}"/>
              </a:ext>
            </a:extLst>
          </p:cNvPr>
          <p:cNvSpPr>
            <a:spLocks noGrp="1"/>
          </p:cNvSpPr>
          <p:nvPr>
            <p:ph type="dt" sz="half" idx="10"/>
          </p:nvPr>
        </p:nvSpPr>
        <p:spPr/>
        <p:txBody>
          <a:bodyPr/>
          <a:lstStyle/>
          <a:p>
            <a:fld id="{4AF7451B-2229-4563-AECA-CC515035BC0D}" type="datetime1">
              <a:rPr lang="en-IN" smtClean="0"/>
              <a:t>03-11-2025</a:t>
            </a:fld>
            <a:endParaRPr lang="en-IN"/>
          </a:p>
        </p:txBody>
      </p:sp>
      <p:sp>
        <p:nvSpPr>
          <p:cNvPr id="4" name="Footer Placeholder 3">
            <a:extLst>
              <a:ext uri="{FF2B5EF4-FFF2-40B4-BE49-F238E27FC236}">
                <a16:creationId xmlns:a16="http://schemas.microsoft.com/office/drawing/2014/main" id="{F2D032F5-DD0A-6585-4E55-51BB626EFE8B}"/>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A00D3CFB-611F-34DD-310B-7FF175A83941}"/>
              </a:ext>
            </a:extLst>
          </p:cNvPr>
          <p:cNvSpPr>
            <a:spLocks noGrp="1"/>
          </p:cNvSpPr>
          <p:nvPr>
            <p:ph type="sldNum" sz="quarter" idx="12"/>
          </p:nvPr>
        </p:nvSpPr>
        <p:spPr/>
        <p:txBody>
          <a:bodyPr/>
          <a:lstStyle/>
          <a:p>
            <a:fld id="{157E8F69-36B6-4843-A9CE-6B9353F4DBAF}" type="slidenum">
              <a:rPr lang="en-IN" smtClean="0"/>
              <a:t>104</a:t>
            </a:fld>
            <a:endParaRPr lang="en-IN"/>
          </a:p>
        </p:txBody>
      </p:sp>
    </p:spTree>
    <p:extLst>
      <p:ext uri="{BB962C8B-B14F-4D97-AF65-F5344CB8AC3E}">
        <p14:creationId xmlns:p14="http://schemas.microsoft.com/office/powerpoint/2010/main" val="144439409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 y="261819"/>
            <a:ext cx="11612880" cy="3077766"/>
          </a:xfrm>
          <a:prstGeom prst="rect">
            <a:avLst/>
          </a:prstGeom>
        </p:spPr>
        <p:txBody>
          <a:bodyPr wrap="square">
            <a:spAutoFit/>
          </a:bodyPr>
          <a:lstStyle/>
          <a:p>
            <a:pPr algn="just">
              <a:spcBef>
                <a:spcPts val="1200"/>
              </a:spcBef>
            </a:pPr>
            <a:r>
              <a:rPr lang="en-US" sz="2400" b="1" u="sng" dirty="0"/>
              <a:t>🧠 Best Practices for Testing OOP:</a:t>
            </a:r>
          </a:p>
          <a:p>
            <a:pPr lvl="1" algn="just">
              <a:spcBef>
                <a:spcPts val="1200"/>
              </a:spcBef>
              <a:buFont typeface="+mj-lt"/>
              <a:buAutoNum type="arabicPeriod"/>
            </a:pPr>
            <a:r>
              <a:rPr lang="en-US" sz="2400" b="1" dirty="0"/>
              <a:t>Design for testability</a:t>
            </a:r>
            <a:r>
              <a:rPr lang="en-US" sz="2400" dirty="0"/>
              <a:t> – make classes loosely coupled and use interfaces.</a:t>
            </a:r>
          </a:p>
          <a:p>
            <a:pPr lvl="1" algn="just">
              <a:spcBef>
                <a:spcPts val="1200"/>
              </a:spcBef>
              <a:buFont typeface="+mj-lt"/>
              <a:buAutoNum type="arabicPeriod"/>
            </a:pPr>
            <a:r>
              <a:rPr lang="en-US" sz="2400" b="1" dirty="0"/>
              <a:t>Keep classes small</a:t>
            </a:r>
            <a:r>
              <a:rPr lang="en-US" sz="2400" dirty="0"/>
              <a:t> – single responsibility principle helps in easier testing.</a:t>
            </a:r>
          </a:p>
          <a:p>
            <a:pPr lvl="1" algn="just">
              <a:spcBef>
                <a:spcPts val="1200"/>
              </a:spcBef>
              <a:buFont typeface="+mj-lt"/>
              <a:buAutoNum type="arabicPeriod"/>
            </a:pPr>
            <a:r>
              <a:rPr lang="en-US" sz="2400" b="1" dirty="0"/>
              <a:t>Avoid tight coupling</a:t>
            </a:r>
            <a:r>
              <a:rPr lang="en-US" sz="2400" dirty="0"/>
              <a:t> – prefer dependency injection.</a:t>
            </a:r>
          </a:p>
          <a:p>
            <a:pPr lvl="1" algn="just">
              <a:spcBef>
                <a:spcPts val="1200"/>
              </a:spcBef>
              <a:buFont typeface="+mj-lt"/>
              <a:buAutoNum type="arabicPeriod"/>
            </a:pPr>
            <a:r>
              <a:rPr lang="en-US" sz="2400" b="1" dirty="0"/>
              <a:t>Use mocks and stubs</a:t>
            </a:r>
            <a:r>
              <a:rPr lang="en-US" sz="2400" dirty="0"/>
              <a:t> – simulate collaborators in tests.</a:t>
            </a:r>
          </a:p>
          <a:p>
            <a:pPr lvl="1" algn="just">
              <a:spcBef>
                <a:spcPts val="1200"/>
              </a:spcBef>
              <a:buFont typeface="+mj-lt"/>
              <a:buAutoNum type="arabicPeriod"/>
            </a:pPr>
            <a:r>
              <a:rPr lang="en-US" sz="2400" b="1" dirty="0"/>
              <a:t>Ensure 100% code coverage</a:t>
            </a:r>
            <a:r>
              <a:rPr lang="en-US" sz="2400" dirty="0"/>
              <a:t> for polymorphic and inherited methods.</a:t>
            </a:r>
          </a:p>
        </p:txBody>
      </p:sp>
      <p:sp>
        <p:nvSpPr>
          <p:cNvPr id="4" name="Rectangle 3"/>
          <p:cNvSpPr/>
          <p:nvPr/>
        </p:nvSpPr>
        <p:spPr>
          <a:xfrm>
            <a:off x="304800" y="3320534"/>
            <a:ext cx="3197863" cy="461665"/>
          </a:xfrm>
          <a:prstGeom prst="rect">
            <a:avLst/>
          </a:prstGeom>
        </p:spPr>
        <p:txBody>
          <a:bodyPr wrap="none">
            <a:spAutoFit/>
          </a:bodyPr>
          <a:lstStyle/>
          <a:p>
            <a:r>
              <a:rPr lang="en-US" sz="2400" b="1" u="sng" dirty="0"/>
              <a:t>🧪 Tools for Testing OOP:</a:t>
            </a:r>
            <a:endParaRPr lang="en-IN" sz="2400" b="1" u="sng" dirty="0"/>
          </a:p>
        </p:txBody>
      </p:sp>
      <p:graphicFrame>
        <p:nvGraphicFramePr>
          <p:cNvPr id="5" name="Table 4"/>
          <p:cNvGraphicFramePr>
            <a:graphicFrameLocks noGrp="1"/>
          </p:cNvGraphicFramePr>
          <p:nvPr>
            <p:extLst>
              <p:ext uri="{D42A27DB-BD31-4B8C-83A1-F6EECF244321}">
                <p14:modId xmlns:p14="http://schemas.microsoft.com/office/powerpoint/2010/main" val="1604678812"/>
              </p:ext>
            </p:extLst>
          </p:nvPr>
        </p:nvGraphicFramePr>
        <p:xfrm>
          <a:off x="441960" y="3940334"/>
          <a:ext cx="11049000" cy="2438400"/>
        </p:xfrm>
        <a:graphic>
          <a:graphicData uri="http://schemas.openxmlformats.org/drawingml/2006/table">
            <a:tbl>
              <a:tblPr>
                <a:tableStyleId>{BC89EF96-8CEA-46FF-86C4-4CE0E7609802}</a:tableStyleId>
              </a:tblPr>
              <a:tblGrid>
                <a:gridCol w="5524500">
                  <a:extLst>
                    <a:ext uri="{9D8B030D-6E8A-4147-A177-3AD203B41FA5}">
                      <a16:colId xmlns:a16="http://schemas.microsoft.com/office/drawing/2014/main" val="2439516"/>
                    </a:ext>
                  </a:extLst>
                </a:gridCol>
                <a:gridCol w="5524500">
                  <a:extLst>
                    <a:ext uri="{9D8B030D-6E8A-4147-A177-3AD203B41FA5}">
                      <a16:colId xmlns:a16="http://schemas.microsoft.com/office/drawing/2014/main" val="1461473878"/>
                    </a:ext>
                  </a:extLst>
                </a:gridCol>
              </a:tblGrid>
              <a:tr h="0">
                <a:tc>
                  <a:txBody>
                    <a:bodyPr/>
                    <a:lstStyle/>
                    <a:p>
                      <a:pPr algn="ctr"/>
                      <a:r>
                        <a:rPr lang="en-IN" sz="2400" b="1" u="sng" dirty="0"/>
                        <a:t>Language</a:t>
                      </a:r>
                    </a:p>
                  </a:txBody>
                  <a:tcPr anchor="ctr"/>
                </a:tc>
                <a:tc>
                  <a:txBody>
                    <a:bodyPr/>
                    <a:lstStyle/>
                    <a:p>
                      <a:pPr algn="ctr"/>
                      <a:r>
                        <a:rPr lang="en-IN" sz="2400" b="1" u="sng" dirty="0"/>
                        <a:t>Framework</a:t>
                      </a:r>
                    </a:p>
                  </a:txBody>
                  <a:tcPr anchor="ctr"/>
                </a:tc>
                <a:extLst>
                  <a:ext uri="{0D108BD9-81ED-4DB2-BD59-A6C34878D82A}">
                    <a16:rowId xmlns:a16="http://schemas.microsoft.com/office/drawing/2014/main" val="1223916424"/>
                  </a:ext>
                </a:extLst>
              </a:tr>
              <a:tr h="0">
                <a:tc>
                  <a:txBody>
                    <a:bodyPr/>
                    <a:lstStyle/>
                    <a:p>
                      <a:pPr algn="just"/>
                      <a:r>
                        <a:rPr lang="en-IN" sz="2000" dirty="0"/>
                        <a:t>Java</a:t>
                      </a:r>
                    </a:p>
                  </a:txBody>
                  <a:tcPr anchor="ctr"/>
                </a:tc>
                <a:tc>
                  <a:txBody>
                    <a:bodyPr/>
                    <a:lstStyle/>
                    <a:p>
                      <a:pPr algn="just"/>
                      <a:r>
                        <a:rPr lang="en-IN" sz="2000" dirty="0"/>
                        <a:t>JUnit, </a:t>
                      </a:r>
                      <a:r>
                        <a:rPr lang="en-IN" sz="2000" dirty="0" err="1"/>
                        <a:t>TestNG</a:t>
                      </a:r>
                      <a:endParaRPr lang="en-IN" sz="2000" dirty="0"/>
                    </a:p>
                  </a:txBody>
                  <a:tcPr anchor="ctr"/>
                </a:tc>
                <a:extLst>
                  <a:ext uri="{0D108BD9-81ED-4DB2-BD59-A6C34878D82A}">
                    <a16:rowId xmlns:a16="http://schemas.microsoft.com/office/drawing/2014/main" val="49418196"/>
                  </a:ext>
                </a:extLst>
              </a:tr>
              <a:tr h="0">
                <a:tc>
                  <a:txBody>
                    <a:bodyPr/>
                    <a:lstStyle/>
                    <a:p>
                      <a:pPr algn="just"/>
                      <a:r>
                        <a:rPr lang="en-IN" sz="2000"/>
                        <a:t>Python</a:t>
                      </a:r>
                    </a:p>
                  </a:txBody>
                  <a:tcPr anchor="ctr"/>
                </a:tc>
                <a:tc>
                  <a:txBody>
                    <a:bodyPr/>
                    <a:lstStyle/>
                    <a:p>
                      <a:pPr algn="just"/>
                      <a:r>
                        <a:rPr lang="en-IN" sz="2000" dirty="0" err="1"/>
                        <a:t>unittest</a:t>
                      </a:r>
                      <a:r>
                        <a:rPr lang="en-IN" sz="2000" dirty="0"/>
                        <a:t>, </a:t>
                      </a:r>
                      <a:r>
                        <a:rPr lang="en-IN" sz="2000" dirty="0" err="1"/>
                        <a:t>pytest</a:t>
                      </a:r>
                      <a:r>
                        <a:rPr lang="en-IN" sz="2000" dirty="0"/>
                        <a:t>, mock</a:t>
                      </a:r>
                    </a:p>
                  </a:txBody>
                  <a:tcPr anchor="ctr"/>
                </a:tc>
                <a:extLst>
                  <a:ext uri="{0D108BD9-81ED-4DB2-BD59-A6C34878D82A}">
                    <a16:rowId xmlns:a16="http://schemas.microsoft.com/office/drawing/2014/main" val="2046511371"/>
                  </a:ext>
                </a:extLst>
              </a:tr>
              <a:tr h="0">
                <a:tc>
                  <a:txBody>
                    <a:bodyPr/>
                    <a:lstStyle/>
                    <a:p>
                      <a:pPr algn="just"/>
                      <a:r>
                        <a:rPr lang="en-IN" sz="2000"/>
                        <a:t>C++</a:t>
                      </a:r>
                    </a:p>
                  </a:txBody>
                  <a:tcPr anchor="ctr"/>
                </a:tc>
                <a:tc>
                  <a:txBody>
                    <a:bodyPr/>
                    <a:lstStyle/>
                    <a:p>
                      <a:pPr algn="just"/>
                      <a:r>
                        <a:rPr lang="en-IN" sz="2000" dirty="0"/>
                        <a:t>Google Test (</a:t>
                      </a:r>
                      <a:r>
                        <a:rPr lang="en-IN" sz="2000" dirty="0" err="1"/>
                        <a:t>gtest</a:t>
                      </a:r>
                      <a:r>
                        <a:rPr lang="en-IN" sz="2000" dirty="0"/>
                        <a:t>)</a:t>
                      </a:r>
                    </a:p>
                  </a:txBody>
                  <a:tcPr anchor="ctr"/>
                </a:tc>
                <a:extLst>
                  <a:ext uri="{0D108BD9-81ED-4DB2-BD59-A6C34878D82A}">
                    <a16:rowId xmlns:a16="http://schemas.microsoft.com/office/drawing/2014/main" val="2686410310"/>
                  </a:ext>
                </a:extLst>
              </a:tr>
              <a:tr h="0">
                <a:tc>
                  <a:txBody>
                    <a:bodyPr/>
                    <a:lstStyle/>
                    <a:p>
                      <a:pPr algn="just"/>
                      <a:r>
                        <a:rPr lang="en-IN" sz="2000"/>
                        <a:t>C#/.NET</a:t>
                      </a:r>
                    </a:p>
                  </a:txBody>
                  <a:tcPr anchor="ctr"/>
                </a:tc>
                <a:tc>
                  <a:txBody>
                    <a:bodyPr/>
                    <a:lstStyle/>
                    <a:p>
                      <a:pPr algn="just"/>
                      <a:r>
                        <a:rPr lang="en-IN" sz="2000" dirty="0" err="1"/>
                        <a:t>NUnit</a:t>
                      </a:r>
                      <a:r>
                        <a:rPr lang="en-IN" sz="2000" dirty="0"/>
                        <a:t>, </a:t>
                      </a:r>
                      <a:r>
                        <a:rPr lang="en-IN" sz="2000" dirty="0" err="1"/>
                        <a:t>xUnit</a:t>
                      </a:r>
                      <a:endParaRPr lang="en-IN" sz="2000" dirty="0"/>
                    </a:p>
                  </a:txBody>
                  <a:tcPr anchor="ctr"/>
                </a:tc>
                <a:extLst>
                  <a:ext uri="{0D108BD9-81ED-4DB2-BD59-A6C34878D82A}">
                    <a16:rowId xmlns:a16="http://schemas.microsoft.com/office/drawing/2014/main" val="1128981418"/>
                  </a:ext>
                </a:extLst>
              </a:tr>
              <a:tr h="0">
                <a:tc>
                  <a:txBody>
                    <a:bodyPr/>
                    <a:lstStyle/>
                    <a:p>
                      <a:pPr algn="just"/>
                      <a:r>
                        <a:rPr lang="en-IN" sz="2000"/>
                        <a:t>JavaScript</a:t>
                      </a:r>
                    </a:p>
                  </a:txBody>
                  <a:tcPr anchor="ctr"/>
                </a:tc>
                <a:tc>
                  <a:txBody>
                    <a:bodyPr/>
                    <a:lstStyle/>
                    <a:p>
                      <a:pPr algn="just"/>
                      <a:r>
                        <a:rPr lang="en-IN" sz="2000" dirty="0"/>
                        <a:t>Jest, Mocha</a:t>
                      </a:r>
                    </a:p>
                  </a:txBody>
                  <a:tcPr anchor="ctr"/>
                </a:tc>
                <a:extLst>
                  <a:ext uri="{0D108BD9-81ED-4DB2-BD59-A6C34878D82A}">
                    <a16:rowId xmlns:a16="http://schemas.microsoft.com/office/drawing/2014/main" val="1007496146"/>
                  </a:ext>
                </a:extLst>
              </a:tr>
            </a:tbl>
          </a:graphicData>
        </a:graphic>
      </p:graphicFrame>
      <p:sp>
        <p:nvSpPr>
          <p:cNvPr id="2" name="Date Placeholder 1">
            <a:extLst>
              <a:ext uri="{FF2B5EF4-FFF2-40B4-BE49-F238E27FC236}">
                <a16:creationId xmlns:a16="http://schemas.microsoft.com/office/drawing/2014/main" id="{F20B04C8-0EE1-79B2-0678-FA5B7E278313}"/>
              </a:ext>
            </a:extLst>
          </p:cNvPr>
          <p:cNvSpPr>
            <a:spLocks noGrp="1"/>
          </p:cNvSpPr>
          <p:nvPr>
            <p:ph type="dt" sz="half" idx="10"/>
          </p:nvPr>
        </p:nvSpPr>
        <p:spPr/>
        <p:txBody>
          <a:bodyPr/>
          <a:lstStyle/>
          <a:p>
            <a:fld id="{72F2462B-2E8D-49EB-B369-941F6EC167E3}" type="datetime1">
              <a:rPr lang="en-IN" smtClean="0"/>
              <a:t>03-11-2025</a:t>
            </a:fld>
            <a:endParaRPr lang="en-IN"/>
          </a:p>
        </p:txBody>
      </p:sp>
      <p:sp>
        <p:nvSpPr>
          <p:cNvPr id="6" name="Footer Placeholder 5">
            <a:extLst>
              <a:ext uri="{FF2B5EF4-FFF2-40B4-BE49-F238E27FC236}">
                <a16:creationId xmlns:a16="http://schemas.microsoft.com/office/drawing/2014/main" id="{1403CBF7-0584-C5C5-502D-862309C375BB}"/>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AA59CA87-8D28-38DE-C322-81D41F94C5A1}"/>
              </a:ext>
            </a:extLst>
          </p:cNvPr>
          <p:cNvSpPr>
            <a:spLocks noGrp="1"/>
          </p:cNvSpPr>
          <p:nvPr>
            <p:ph type="sldNum" sz="quarter" idx="12"/>
          </p:nvPr>
        </p:nvSpPr>
        <p:spPr/>
        <p:txBody>
          <a:bodyPr/>
          <a:lstStyle/>
          <a:p>
            <a:fld id="{157E8F69-36B6-4843-A9CE-6B9353F4DBAF}" type="slidenum">
              <a:rPr lang="en-IN" smtClean="0"/>
              <a:t>105</a:t>
            </a:fld>
            <a:endParaRPr lang="en-IN"/>
          </a:p>
        </p:txBody>
      </p:sp>
    </p:spTree>
    <p:extLst>
      <p:ext uri="{BB962C8B-B14F-4D97-AF65-F5344CB8AC3E}">
        <p14:creationId xmlns:p14="http://schemas.microsoft.com/office/powerpoint/2010/main" val="36839053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4320" y="236696"/>
            <a:ext cx="11628120" cy="1569660"/>
          </a:xfrm>
          <a:prstGeom prst="rect">
            <a:avLst/>
          </a:prstGeom>
        </p:spPr>
        <p:txBody>
          <a:bodyPr wrap="square">
            <a:spAutoFit/>
          </a:bodyPr>
          <a:lstStyle/>
          <a:p>
            <a:pPr algn="ctr"/>
            <a:r>
              <a:rPr lang="en-US" sz="2400" b="1" dirty="0"/>
              <a:t>SYSTEM TESTING</a:t>
            </a:r>
          </a:p>
          <a:p>
            <a:r>
              <a:rPr lang="en-US" sz="2400" b="1" u="sng" dirty="0"/>
              <a:t>✅ Definition:</a:t>
            </a:r>
          </a:p>
          <a:p>
            <a:pPr algn="just"/>
            <a:r>
              <a:rPr lang="en-US" sz="2400" dirty="0"/>
              <a:t>	System testing validates a </a:t>
            </a:r>
            <a:r>
              <a:rPr lang="en-US" sz="2400" b="1" dirty="0"/>
              <a:t>fully integrated software system</a:t>
            </a:r>
            <a:r>
              <a:rPr lang="en-US" sz="2400" dirty="0"/>
              <a:t> to ensure it meets all </a:t>
            </a:r>
            <a:r>
              <a:rPr lang="en-US" sz="2400" b="1" dirty="0"/>
              <a:t>functional and non-functional requirements</a:t>
            </a:r>
            <a:r>
              <a:rPr lang="en-US" sz="2400" dirty="0"/>
              <a:t> outlined in the SRS document.</a:t>
            </a:r>
          </a:p>
        </p:txBody>
      </p:sp>
      <p:sp>
        <p:nvSpPr>
          <p:cNvPr id="4" name="Rectangle 3"/>
          <p:cNvSpPr/>
          <p:nvPr/>
        </p:nvSpPr>
        <p:spPr>
          <a:xfrm>
            <a:off x="274320" y="1932355"/>
            <a:ext cx="6096000" cy="830997"/>
          </a:xfrm>
          <a:prstGeom prst="rect">
            <a:avLst/>
          </a:prstGeom>
        </p:spPr>
        <p:txBody>
          <a:bodyPr>
            <a:spAutoFit/>
          </a:bodyPr>
          <a:lstStyle/>
          <a:p>
            <a:pPr algn="just"/>
            <a:r>
              <a:rPr lang="en-US" sz="2400" b="1" u="sng" dirty="0"/>
              <a:t>🧪 Types of System Testing:</a:t>
            </a:r>
          </a:p>
          <a:p>
            <a:pPr algn="just"/>
            <a:r>
              <a:rPr lang="en-US" sz="2400" dirty="0"/>
              <a:t>These differ based on </a:t>
            </a:r>
            <a:r>
              <a:rPr lang="en-US" sz="2400" b="1" dirty="0"/>
              <a:t>who performs</a:t>
            </a:r>
            <a:r>
              <a:rPr lang="en-US" sz="2400" dirty="0"/>
              <a:t> the test:</a:t>
            </a:r>
          </a:p>
        </p:txBody>
      </p:sp>
      <p:graphicFrame>
        <p:nvGraphicFramePr>
          <p:cNvPr id="5" name="Table 4"/>
          <p:cNvGraphicFramePr>
            <a:graphicFrameLocks noGrp="1"/>
          </p:cNvGraphicFramePr>
          <p:nvPr>
            <p:extLst>
              <p:ext uri="{D42A27DB-BD31-4B8C-83A1-F6EECF244321}">
                <p14:modId xmlns:p14="http://schemas.microsoft.com/office/powerpoint/2010/main" val="4040469889"/>
              </p:ext>
            </p:extLst>
          </p:nvPr>
        </p:nvGraphicFramePr>
        <p:xfrm>
          <a:off x="274320" y="2763352"/>
          <a:ext cx="11628120" cy="1645920"/>
        </p:xfrm>
        <a:graphic>
          <a:graphicData uri="http://schemas.openxmlformats.org/drawingml/2006/table">
            <a:tbl>
              <a:tblPr>
                <a:tableStyleId>{BC89EF96-8CEA-46FF-86C4-4CE0E7609802}</a:tableStyleId>
              </a:tblPr>
              <a:tblGrid>
                <a:gridCol w="2636520">
                  <a:extLst>
                    <a:ext uri="{9D8B030D-6E8A-4147-A177-3AD203B41FA5}">
                      <a16:colId xmlns:a16="http://schemas.microsoft.com/office/drawing/2014/main" val="2417161351"/>
                    </a:ext>
                  </a:extLst>
                </a:gridCol>
                <a:gridCol w="8991600">
                  <a:extLst>
                    <a:ext uri="{9D8B030D-6E8A-4147-A177-3AD203B41FA5}">
                      <a16:colId xmlns:a16="http://schemas.microsoft.com/office/drawing/2014/main" val="4262558878"/>
                    </a:ext>
                  </a:extLst>
                </a:gridCol>
              </a:tblGrid>
              <a:tr h="0">
                <a:tc>
                  <a:txBody>
                    <a:bodyPr/>
                    <a:lstStyle/>
                    <a:p>
                      <a:pPr algn="ctr"/>
                      <a:r>
                        <a:rPr lang="en-IN" sz="2400" b="1" u="sng" dirty="0"/>
                        <a:t>Type</a:t>
                      </a:r>
                    </a:p>
                  </a:txBody>
                  <a:tcPr anchor="ctr"/>
                </a:tc>
                <a:tc>
                  <a:txBody>
                    <a:bodyPr/>
                    <a:lstStyle/>
                    <a:p>
                      <a:pPr algn="ctr"/>
                      <a:r>
                        <a:rPr lang="en-IN" sz="2400" b="1" u="sng" dirty="0"/>
                        <a:t>Description</a:t>
                      </a:r>
                    </a:p>
                  </a:txBody>
                  <a:tcPr anchor="ctr"/>
                </a:tc>
                <a:extLst>
                  <a:ext uri="{0D108BD9-81ED-4DB2-BD59-A6C34878D82A}">
                    <a16:rowId xmlns:a16="http://schemas.microsoft.com/office/drawing/2014/main" val="1395611751"/>
                  </a:ext>
                </a:extLst>
              </a:tr>
              <a:tr h="0">
                <a:tc>
                  <a:txBody>
                    <a:bodyPr/>
                    <a:lstStyle/>
                    <a:p>
                      <a:r>
                        <a:rPr lang="en-IN" sz="2000" dirty="0"/>
                        <a:t>Alpha Testing</a:t>
                      </a:r>
                    </a:p>
                  </a:txBody>
                  <a:tcPr anchor="ctr"/>
                </a:tc>
                <a:tc>
                  <a:txBody>
                    <a:bodyPr/>
                    <a:lstStyle/>
                    <a:p>
                      <a:r>
                        <a:rPr lang="en-US" sz="2000" dirty="0"/>
                        <a:t>Conducted by developers’ internal team before release.</a:t>
                      </a:r>
                    </a:p>
                  </a:txBody>
                  <a:tcPr anchor="ctr"/>
                </a:tc>
                <a:extLst>
                  <a:ext uri="{0D108BD9-81ED-4DB2-BD59-A6C34878D82A}">
                    <a16:rowId xmlns:a16="http://schemas.microsoft.com/office/drawing/2014/main" val="3894247166"/>
                  </a:ext>
                </a:extLst>
              </a:tr>
              <a:tr h="0">
                <a:tc>
                  <a:txBody>
                    <a:bodyPr/>
                    <a:lstStyle/>
                    <a:p>
                      <a:r>
                        <a:rPr lang="en-IN" sz="2000"/>
                        <a:t>Beta Testing</a:t>
                      </a:r>
                    </a:p>
                  </a:txBody>
                  <a:tcPr anchor="ctr"/>
                </a:tc>
                <a:tc>
                  <a:txBody>
                    <a:bodyPr/>
                    <a:lstStyle/>
                    <a:p>
                      <a:r>
                        <a:rPr lang="en-US" sz="2000" dirty="0"/>
                        <a:t>Performed by select external customers in a real-world setting.</a:t>
                      </a:r>
                    </a:p>
                  </a:txBody>
                  <a:tcPr anchor="ctr"/>
                </a:tc>
                <a:extLst>
                  <a:ext uri="{0D108BD9-81ED-4DB2-BD59-A6C34878D82A}">
                    <a16:rowId xmlns:a16="http://schemas.microsoft.com/office/drawing/2014/main" val="4054679112"/>
                  </a:ext>
                </a:extLst>
              </a:tr>
              <a:tr h="0">
                <a:tc>
                  <a:txBody>
                    <a:bodyPr/>
                    <a:lstStyle/>
                    <a:p>
                      <a:r>
                        <a:rPr lang="en-IN" sz="2000"/>
                        <a:t>Acceptance Testing</a:t>
                      </a:r>
                    </a:p>
                  </a:txBody>
                  <a:tcPr anchor="ctr"/>
                </a:tc>
                <a:tc>
                  <a:txBody>
                    <a:bodyPr/>
                    <a:lstStyle/>
                    <a:p>
                      <a:r>
                        <a:rPr lang="en-US" sz="2000" dirty="0"/>
                        <a:t>Done by the customer/client to decide whether to accept the software.</a:t>
                      </a:r>
                    </a:p>
                  </a:txBody>
                  <a:tcPr anchor="ctr"/>
                </a:tc>
                <a:extLst>
                  <a:ext uri="{0D108BD9-81ED-4DB2-BD59-A6C34878D82A}">
                    <a16:rowId xmlns:a16="http://schemas.microsoft.com/office/drawing/2014/main" val="3808451263"/>
                  </a:ext>
                </a:extLst>
              </a:tr>
            </a:tbl>
          </a:graphicData>
        </a:graphic>
      </p:graphicFrame>
      <p:sp>
        <p:nvSpPr>
          <p:cNvPr id="6" name="Rectangle 5"/>
          <p:cNvSpPr/>
          <p:nvPr/>
        </p:nvSpPr>
        <p:spPr>
          <a:xfrm>
            <a:off x="274320" y="4563517"/>
            <a:ext cx="11628120" cy="2308324"/>
          </a:xfrm>
          <a:prstGeom prst="rect">
            <a:avLst/>
          </a:prstGeom>
        </p:spPr>
        <p:txBody>
          <a:bodyPr wrap="square">
            <a:spAutoFit/>
          </a:bodyPr>
          <a:lstStyle/>
          <a:p>
            <a:r>
              <a:rPr lang="en-US" sz="2400" b="1" u="sng" dirty="0"/>
              <a:t>Smoke Testing:</a:t>
            </a:r>
          </a:p>
          <a:p>
            <a:pPr marL="800100" lvl="1" indent="-342900" algn="just">
              <a:buFont typeface="Wingdings" panose="05000000000000000000" pitchFamily="2" charset="2"/>
              <a:buChar char="Ø"/>
            </a:pPr>
            <a:r>
              <a:rPr lang="en-US" sz="2400" b="1" dirty="0"/>
              <a:t>Purpose</a:t>
            </a:r>
            <a:r>
              <a:rPr lang="en-US" sz="2400" dirty="0"/>
              <a:t>: To verify that the </a:t>
            </a:r>
            <a:r>
              <a:rPr lang="en-US" sz="2400" b="1" dirty="0"/>
              <a:t>main functionalities</a:t>
            </a:r>
            <a:r>
              <a:rPr lang="en-US" sz="2400" dirty="0"/>
              <a:t> of the system work before full system testing begins.</a:t>
            </a:r>
          </a:p>
          <a:p>
            <a:pPr marL="800100" lvl="1" indent="-342900" algn="just">
              <a:buFont typeface="Wingdings" panose="05000000000000000000" pitchFamily="2" charset="2"/>
              <a:buChar char="Ø"/>
            </a:pPr>
            <a:r>
              <a:rPr lang="en-US" sz="2400" b="1" dirty="0"/>
              <a:t>Example</a:t>
            </a:r>
            <a:r>
              <a:rPr lang="en-US" sz="2400" dirty="0"/>
              <a:t>: For a library system, smoke tests may check book loan/return and user registration.</a:t>
            </a:r>
          </a:p>
          <a:p>
            <a:pPr marL="800100" lvl="1" indent="-342900" algn="just">
              <a:buFont typeface="Wingdings" panose="05000000000000000000" pitchFamily="2" charset="2"/>
              <a:buChar char="Ø"/>
            </a:pPr>
            <a:r>
              <a:rPr lang="en-US" sz="2400" dirty="0"/>
              <a:t>Also known as </a:t>
            </a:r>
            <a:r>
              <a:rPr lang="en-US" sz="2400" b="1" dirty="0"/>
              <a:t>build verification testing</a:t>
            </a:r>
            <a:r>
              <a:rPr lang="en-US" sz="2400" dirty="0"/>
              <a:t>.</a:t>
            </a:r>
          </a:p>
        </p:txBody>
      </p:sp>
      <p:sp>
        <p:nvSpPr>
          <p:cNvPr id="2" name="Date Placeholder 1">
            <a:extLst>
              <a:ext uri="{FF2B5EF4-FFF2-40B4-BE49-F238E27FC236}">
                <a16:creationId xmlns:a16="http://schemas.microsoft.com/office/drawing/2014/main" id="{92679195-DFA1-0C2E-60BC-140862F4CA3C}"/>
              </a:ext>
            </a:extLst>
          </p:cNvPr>
          <p:cNvSpPr>
            <a:spLocks noGrp="1"/>
          </p:cNvSpPr>
          <p:nvPr>
            <p:ph type="dt" sz="half" idx="10"/>
          </p:nvPr>
        </p:nvSpPr>
        <p:spPr/>
        <p:txBody>
          <a:bodyPr/>
          <a:lstStyle/>
          <a:p>
            <a:fld id="{4DC171DE-51B6-4AEA-A89D-8EB69CABCA5A}" type="datetime1">
              <a:rPr lang="en-IN" smtClean="0"/>
              <a:t>03-11-2025</a:t>
            </a:fld>
            <a:endParaRPr lang="en-IN"/>
          </a:p>
        </p:txBody>
      </p:sp>
      <p:sp>
        <p:nvSpPr>
          <p:cNvPr id="7" name="Footer Placeholder 6">
            <a:extLst>
              <a:ext uri="{FF2B5EF4-FFF2-40B4-BE49-F238E27FC236}">
                <a16:creationId xmlns:a16="http://schemas.microsoft.com/office/drawing/2014/main" id="{B1526EAE-7DFD-946B-CADF-B2311A32FD77}"/>
              </a:ext>
            </a:extLst>
          </p:cNvPr>
          <p:cNvSpPr>
            <a:spLocks noGrp="1"/>
          </p:cNvSpPr>
          <p:nvPr>
            <p:ph type="ftr" sz="quarter" idx="11"/>
          </p:nvPr>
        </p:nvSpPr>
        <p:spPr/>
        <p:txBody>
          <a:bodyPr/>
          <a:lstStyle/>
          <a:p>
            <a:r>
              <a:rPr lang="en-IN"/>
              <a:t>MIT</a:t>
            </a:r>
          </a:p>
        </p:txBody>
      </p:sp>
      <p:sp>
        <p:nvSpPr>
          <p:cNvPr id="8" name="Slide Number Placeholder 7">
            <a:extLst>
              <a:ext uri="{FF2B5EF4-FFF2-40B4-BE49-F238E27FC236}">
                <a16:creationId xmlns:a16="http://schemas.microsoft.com/office/drawing/2014/main" id="{F6DE5F74-DAD3-2E7F-DFC3-EAE6A2C54016}"/>
              </a:ext>
            </a:extLst>
          </p:cNvPr>
          <p:cNvSpPr>
            <a:spLocks noGrp="1"/>
          </p:cNvSpPr>
          <p:nvPr>
            <p:ph type="sldNum" sz="quarter" idx="12"/>
          </p:nvPr>
        </p:nvSpPr>
        <p:spPr/>
        <p:txBody>
          <a:bodyPr/>
          <a:lstStyle/>
          <a:p>
            <a:fld id="{157E8F69-36B6-4843-A9CE-6B9353F4DBAF}" type="slidenum">
              <a:rPr lang="en-IN" smtClean="0"/>
              <a:t>106</a:t>
            </a:fld>
            <a:endParaRPr lang="en-IN"/>
          </a:p>
        </p:txBody>
      </p:sp>
    </p:spTree>
    <p:extLst>
      <p:ext uri="{BB962C8B-B14F-4D97-AF65-F5344CB8AC3E}">
        <p14:creationId xmlns:p14="http://schemas.microsoft.com/office/powerpoint/2010/main" val="73724555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3840" y="222796"/>
            <a:ext cx="11689080" cy="1200329"/>
          </a:xfrm>
          <a:prstGeom prst="rect">
            <a:avLst/>
          </a:prstGeom>
        </p:spPr>
        <p:txBody>
          <a:bodyPr wrap="square">
            <a:spAutoFit/>
          </a:bodyPr>
          <a:lstStyle/>
          <a:p>
            <a:pPr algn="just"/>
            <a:r>
              <a:rPr lang="en-US" sz="2400" b="1" u="sng" dirty="0"/>
              <a:t>⚙️  Performance Testing:</a:t>
            </a:r>
          </a:p>
          <a:p>
            <a:pPr algn="just"/>
            <a:r>
              <a:rPr lang="en-US" sz="2400" dirty="0"/>
              <a:t>Tests whether the system meets its </a:t>
            </a:r>
            <a:r>
              <a:rPr lang="en-US" sz="2400" b="1" dirty="0"/>
              <a:t>non-functional requirements</a:t>
            </a:r>
            <a:r>
              <a:rPr lang="en-US" sz="2400" dirty="0"/>
              <a:t>.</a:t>
            </a:r>
          </a:p>
          <a:p>
            <a:pPr algn="just"/>
            <a:r>
              <a:rPr lang="en-US" sz="2400" b="1" dirty="0"/>
              <a:t>🔹 Types of Performance Testing:</a:t>
            </a:r>
          </a:p>
        </p:txBody>
      </p:sp>
      <p:graphicFrame>
        <p:nvGraphicFramePr>
          <p:cNvPr id="4" name="Table 3"/>
          <p:cNvGraphicFramePr>
            <a:graphicFrameLocks noGrp="1"/>
          </p:cNvGraphicFramePr>
          <p:nvPr>
            <p:extLst>
              <p:ext uri="{D42A27DB-BD31-4B8C-83A1-F6EECF244321}">
                <p14:modId xmlns:p14="http://schemas.microsoft.com/office/powerpoint/2010/main" val="1091604855"/>
              </p:ext>
            </p:extLst>
          </p:nvPr>
        </p:nvGraphicFramePr>
        <p:xfrm>
          <a:off x="426161" y="1565824"/>
          <a:ext cx="11506758" cy="4742188"/>
        </p:xfrm>
        <a:graphic>
          <a:graphicData uri="http://schemas.openxmlformats.org/drawingml/2006/table">
            <a:tbl>
              <a:tblPr>
                <a:tableStyleId>{5DA37D80-6434-44D0-A028-1B22A696006F}</a:tableStyleId>
              </a:tblPr>
              <a:tblGrid>
                <a:gridCol w="3079039">
                  <a:extLst>
                    <a:ext uri="{9D8B030D-6E8A-4147-A177-3AD203B41FA5}">
                      <a16:colId xmlns:a16="http://schemas.microsoft.com/office/drawing/2014/main" val="3713516518"/>
                    </a:ext>
                  </a:extLst>
                </a:gridCol>
                <a:gridCol w="8427719">
                  <a:extLst>
                    <a:ext uri="{9D8B030D-6E8A-4147-A177-3AD203B41FA5}">
                      <a16:colId xmlns:a16="http://schemas.microsoft.com/office/drawing/2014/main" val="378799851"/>
                    </a:ext>
                  </a:extLst>
                </a:gridCol>
              </a:tblGrid>
              <a:tr h="259781">
                <a:tc>
                  <a:txBody>
                    <a:bodyPr/>
                    <a:lstStyle/>
                    <a:p>
                      <a:pPr algn="ctr"/>
                      <a:r>
                        <a:rPr lang="en-IN" sz="2400" b="1" u="sng" dirty="0"/>
                        <a:t>Test Type</a:t>
                      </a:r>
                    </a:p>
                  </a:txBody>
                  <a:tcPr marL="64945" marR="64945" marT="32473" marB="32473" anchor="ctr"/>
                </a:tc>
                <a:tc>
                  <a:txBody>
                    <a:bodyPr/>
                    <a:lstStyle/>
                    <a:p>
                      <a:pPr algn="ctr"/>
                      <a:r>
                        <a:rPr lang="en-IN" sz="2400" b="1" u="sng" dirty="0"/>
                        <a:t>Purpose &amp; Example</a:t>
                      </a:r>
                    </a:p>
                  </a:txBody>
                  <a:tcPr marL="64945" marR="64945" marT="32473" marB="32473" anchor="ctr"/>
                </a:tc>
                <a:extLst>
                  <a:ext uri="{0D108BD9-81ED-4DB2-BD59-A6C34878D82A}">
                    <a16:rowId xmlns:a16="http://schemas.microsoft.com/office/drawing/2014/main" val="2435199135"/>
                  </a:ext>
                </a:extLst>
              </a:tr>
              <a:tr h="454617">
                <a:tc>
                  <a:txBody>
                    <a:bodyPr/>
                    <a:lstStyle/>
                    <a:p>
                      <a:r>
                        <a:rPr lang="en-IN" sz="2000" dirty="0"/>
                        <a:t>Stress Testing</a:t>
                      </a:r>
                    </a:p>
                  </a:txBody>
                  <a:tcPr marL="64945" marR="64945" marT="32473" marB="32473" anchor="ctr"/>
                </a:tc>
                <a:tc>
                  <a:txBody>
                    <a:bodyPr/>
                    <a:lstStyle/>
                    <a:p>
                      <a:r>
                        <a:rPr lang="en-US" sz="2000" dirty="0"/>
                        <a:t>Push the system beyond its design limits (e.g., more users or transactions).</a:t>
                      </a:r>
                    </a:p>
                  </a:txBody>
                  <a:tcPr marL="64945" marR="64945" marT="32473" marB="32473" anchor="ctr"/>
                </a:tc>
                <a:extLst>
                  <a:ext uri="{0D108BD9-81ED-4DB2-BD59-A6C34878D82A}">
                    <a16:rowId xmlns:a16="http://schemas.microsoft.com/office/drawing/2014/main" val="1792869813"/>
                  </a:ext>
                </a:extLst>
              </a:tr>
              <a:tr h="454617">
                <a:tc>
                  <a:txBody>
                    <a:bodyPr/>
                    <a:lstStyle/>
                    <a:p>
                      <a:r>
                        <a:rPr lang="en-IN" sz="2000" dirty="0"/>
                        <a:t>Volume Testing</a:t>
                      </a:r>
                    </a:p>
                  </a:txBody>
                  <a:tcPr marL="64945" marR="64945" marT="32473" marB="32473" anchor="ctr"/>
                </a:tc>
                <a:tc>
                  <a:txBody>
                    <a:bodyPr/>
                    <a:lstStyle/>
                    <a:p>
                      <a:r>
                        <a:rPr lang="en-US" sz="2000" dirty="0"/>
                        <a:t>Examine performance with large data volumes (e.g., compiler with 100,000 lines).</a:t>
                      </a:r>
                    </a:p>
                  </a:txBody>
                  <a:tcPr marL="64945" marR="64945" marT="32473" marB="32473" anchor="ctr"/>
                </a:tc>
                <a:extLst>
                  <a:ext uri="{0D108BD9-81ED-4DB2-BD59-A6C34878D82A}">
                    <a16:rowId xmlns:a16="http://schemas.microsoft.com/office/drawing/2014/main" val="1115424840"/>
                  </a:ext>
                </a:extLst>
              </a:tr>
              <a:tr h="454617">
                <a:tc>
                  <a:txBody>
                    <a:bodyPr/>
                    <a:lstStyle/>
                    <a:p>
                      <a:r>
                        <a:rPr lang="en-IN" sz="2000"/>
                        <a:t>Configuration Testing</a:t>
                      </a:r>
                    </a:p>
                  </a:txBody>
                  <a:tcPr marL="64945" marR="64945" marT="32473" marB="32473" anchor="ctr"/>
                </a:tc>
                <a:tc>
                  <a:txBody>
                    <a:bodyPr/>
                    <a:lstStyle/>
                    <a:p>
                      <a:r>
                        <a:rPr lang="en-US" sz="2000" dirty="0"/>
                        <a:t>Check system across different hardware/software configurations.</a:t>
                      </a:r>
                    </a:p>
                  </a:txBody>
                  <a:tcPr marL="64945" marR="64945" marT="32473" marB="32473" anchor="ctr"/>
                </a:tc>
                <a:extLst>
                  <a:ext uri="{0D108BD9-81ED-4DB2-BD59-A6C34878D82A}">
                    <a16:rowId xmlns:a16="http://schemas.microsoft.com/office/drawing/2014/main" val="2443473024"/>
                  </a:ext>
                </a:extLst>
              </a:tr>
              <a:tr h="454617">
                <a:tc>
                  <a:txBody>
                    <a:bodyPr/>
                    <a:lstStyle/>
                    <a:p>
                      <a:r>
                        <a:rPr lang="en-IN" sz="2000"/>
                        <a:t>Compatibility Testing</a:t>
                      </a:r>
                    </a:p>
                  </a:txBody>
                  <a:tcPr marL="64945" marR="64945" marT="32473" marB="32473" anchor="ctr"/>
                </a:tc>
                <a:tc>
                  <a:txBody>
                    <a:bodyPr/>
                    <a:lstStyle/>
                    <a:p>
                      <a:r>
                        <a:rPr lang="en-US" sz="2000" dirty="0"/>
                        <a:t>Ensure correct interfacing with external systems like databases or networks.</a:t>
                      </a:r>
                    </a:p>
                  </a:txBody>
                  <a:tcPr marL="64945" marR="64945" marT="32473" marB="32473" anchor="ctr"/>
                </a:tc>
                <a:extLst>
                  <a:ext uri="{0D108BD9-81ED-4DB2-BD59-A6C34878D82A}">
                    <a16:rowId xmlns:a16="http://schemas.microsoft.com/office/drawing/2014/main" val="386832820"/>
                  </a:ext>
                </a:extLst>
              </a:tr>
              <a:tr h="454617">
                <a:tc>
                  <a:txBody>
                    <a:bodyPr/>
                    <a:lstStyle/>
                    <a:p>
                      <a:r>
                        <a:rPr lang="en-IN" sz="2000"/>
                        <a:t>Recovery Testing</a:t>
                      </a:r>
                    </a:p>
                  </a:txBody>
                  <a:tcPr marL="64945" marR="64945" marT="32473" marB="32473" anchor="ctr"/>
                </a:tc>
                <a:tc>
                  <a:txBody>
                    <a:bodyPr/>
                    <a:lstStyle/>
                    <a:p>
                      <a:r>
                        <a:rPr lang="en-US" sz="2000" dirty="0"/>
                        <a:t>Simulate failures (e.g., power off, device disconnect) and check recovery.</a:t>
                      </a:r>
                    </a:p>
                  </a:txBody>
                  <a:tcPr marL="64945" marR="64945" marT="32473" marB="32473" anchor="ctr"/>
                </a:tc>
                <a:extLst>
                  <a:ext uri="{0D108BD9-81ED-4DB2-BD59-A6C34878D82A}">
                    <a16:rowId xmlns:a16="http://schemas.microsoft.com/office/drawing/2014/main" val="2881450310"/>
                  </a:ext>
                </a:extLst>
              </a:tr>
              <a:tr h="454617">
                <a:tc>
                  <a:txBody>
                    <a:bodyPr/>
                    <a:lstStyle/>
                    <a:p>
                      <a:r>
                        <a:rPr lang="en-IN" sz="2000"/>
                        <a:t>Maintenance Testing</a:t>
                      </a:r>
                    </a:p>
                  </a:txBody>
                  <a:tcPr marL="64945" marR="64945" marT="32473" marB="32473" anchor="ctr"/>
                </a:tc>
                <a:tc>
                  <a:txBody>
                    <a:bodyPr/>
                    <a:lstStyle/>
                    <a:p>
                      <a:r>
                        <a:rPr lang="en-US" sz="2000" dirty="0"/>
                        <a:t>Test diagnostic tools or update mechanisms for system maintainability.</a:t>
                      </a:r>
                    </a:p>
                  </a:txBody>
                  <a:tcPr marL="64945" marR="64945" marT="32473" marB="32473" anchor="ctr"/>
                </a:tc>
                <a:extLst>
                  <a:ext uri="{0D108BD9-81ED-4DB2-BD59-A6C34878D82A}">
                    <a16:rowId xmlns:a16="http://schemas.microsoft.com/office/drawing/2014/main" val="3229540749"/>
                  </a:ext>
                </a:extLst>
              </a:tr>
              <a:tr h="454617">
                <a:tc>
                  <a:txBody>
                    <a:bodyPr/>
                    <a:lstStyle/>
                    <a:p>
                      <a:r>
                        <a:rPr lang="en-IN" sz="2000"/>
                        <a:t>Documentation Testing</a:t>
                      </a:r>
                    </a:p>
                  </a:txBody>
                  <a:tcPr marL="64945" marR="64945" marT="32473" marB="32473" anchor="ctr"/>
                </a:tc>
                <a:tc>
                  <a:txBody>
                    <a:bodyPr/>
                    <a:lstStyle/>
                    <a:p>
                      <a:r>
                        <a:rPr lang="en-US" sz="2000" dirty="0"/>
                        <a:t>Validate manuals and instructions for users and maintainers.</a:t>
                      </a:r>
                    </a:p>
                  </a:txBody>
                  <a:tcPr marL="64945" marR="64945" marT="32473" marB="32473" anchor="ctr"/>
                </a:tc>
                <a:extLst>
                  <a:ext uri="{0D108BD9-81ED-4DB2-BD59-A6C34878D82A}">
                    <a16:rowId xmlns:a16="http://schemas.microsoft.com/office/drawing/2014/main" val="19536688"/>
                  </a:ext>
                </a:extLst>
              </a:tr>
              <a:tr h="454617">
                <a:tc>
                  <a:txBody>
                    <a:bodyPr/>
                    <a:lstStyle/>
                    <a:p>
                      <a:r>
                        <a:rPr lang="en-IN" sz="2000"/>
                        <a:t>Usability Testing</a:t>
                      </a:r>
                    </a:p>
                  </a:txBody>
                  <a:tcPr marL="64945" marR="64945" marT="32473" marB="32473" anchor="ctr"/>
                </a:tc>
                <a:tc>
                  <a:txBody>
                    <a:bodyPr/>
                    <a:lstStyle/>
                    <a:p>
                      <a:r>
                        <a:rPr lang="en-US" sz="2000" dirty="0"/>
                        <a:t>Test the user interface (UI) for compliance with user-friendliness.</a:t>
                      </a:r>
                    </a:p>
                  </a:txBody>
                  <a:tcPr marL="64945" marR="64945" marT="32473" marB="32473" anchor="ctr"/>
                </a:tc>
                <a:extLst>
                  <a:ext uri="{0D108BD9-81ED-4DB2-BD59-A6C34878D82A}">
                    <a16:rowId xmlns:a16="http://schemas.microsoft.com/office/drawing/2014/main" val="2792754049"/>
                  </a:ext>
                </a:extLst>
              </a:tr>
              <a:tr h="454617">
                <a:tc>
                  <a:txBody>
                    <a:bodyPr/>
                    <a:lstStyle/>
                    <a:p>
                      <a:r>
                        <a:rPr lang="en-IN" sz="2000"/>
                        <a:t>Security Testing</a:t>
                      </a:r>
                    </a:p>
                  </a:txBody>
                  <a:tcPr marL="64945" marR="64945" marT="32473" marB="32473" anchor="ctr"/>
                </a:tc>
                <a:tc>
                  <a:txBody>
                    <a:bodyPr/>
                    <a:lstStyle/>
                    <a:p>
                      <a:r>
                        <a:rPr lang="en-US" sz="2000" dirty="0"/>
                        <a:t>Verify robustness against threats (e.g., penetration testing, password attacks).</a:t>
                      </a:r>
                    </a:p>
                  </a:txBody>
                  <a:tcPr marL="64945" marR="64945" marT="32473" marB="32473" anchor="ctr"/>
                </a:tc>
                <a:extLst>
                  <a:ext uri="{0D108BD9-81ED-4DB2-BD59-A6C34878D82A}">
                    <a16:rowId xmlns:a16="http://schemas.microsoft.com/office/drawing/2014/main" val="2441123561"/>
                  </a:ext>
                </a:extLst>
              </a:tr>
            </a:tbl>
          </a:graphicData>
        </a:graphic>
      </p:graphicFrame>
      <p:sp>
        <p:nvSpPr>
          <p:cNvPr id="2" name="Date Placeholder 1">
            <a:extLst>
              <a:ext uri="{FF2B5EF4-FFF2-40B4-BE49-F238E27FC236}">
                <a16:creationId xmlns:a16="http://schemas.microsoft.com/office/drawing/2014/main" id="{D59C1942-F27D-226F-7BB9-5D3A6E44FE58}"/>
              </a:ext>
            </a:extLst>
          </p:cNvPr>
          <p:cNvSpPr>
            <a:spLocks noGrp="1"/>
          </p:cNvSpPr>
          <p:nvPr>
            <p:ph type="dt" sz="half" idx="10"/>
          </p:nvPr>
        </p:nvSpPr>
        <p:spPr/>
        <p:txBody>
          <a:bodyPr/>
          <a:lstStyle/>
          <a:p>
            <a:fld id="{1AE89271-88F0-4D74-AFDE-1BC2C710AE0E}" type="datetime1">
              <a:rPr lang="en-IN" smtClean="0"/>
              <a:t>03-11-2025</a:t>
            </a:fld>
            <a:endParaRPr lang="en-IN"/>
          </a:p>
        </p:txBody>
      </p:sp>
      <p:sp>
        <p:nvSpPr>
          <p:cNvPr id="5" name="Footer Placeholder 4">
            <a:extLst>
              <a:ext uri="{FF2B5EF4-FFF2-40B4-BE49-F238E27FC236}">
                <a16:creationId xmlns:a16="http://schemas.microsoft.com/office/drawing/2014/main" id="{5675D78F-0771-2FFF-9990-03CB18CB2B90}"/>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A83F54B0-D0E5-27F9-5573-3C3CD3A9B37B}"/>
              </a:ext>
            </a:extLst>
          </p:cNvPr>
          <p:cNvSpPr>
            <a:spLocks noGrp="1"/>
          </p:cNvSpPr>
          <p:nvPr>
            <p:ph type="sldNum" sz="quarter" idx="12"/>
          </p:nvPr>
        </p:nvSpPr>
        <p:spPr/>
        <p:txBody>
          <a:bodyPr/>
          <a:lstStyle/>
          <a:p>
            <a:fld id="{157E8F69-36B6-4843-A9CE-6B9353F4DBAF}" type="slidenum">
              <a:rPr lang="en-IN" smtClean="0"/>
              <a:t>107</a:t>
            </a:fld>
            <a:endParaRPr lang="en-IN"/>
          </a:p>
        </p:txBody>
      </p:sp>
    </p:spTree>
    <p:extLst>
      <p:ext uri="{BB962C8B-B14F-4D97-AF65-F5344CB8AC3E}">
        <p14:creationId xmlns:p14="http://schemas.microsoft.com/office/powerpoint/2010/main" val="57779024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304801" y="464017"/>
            <a:ext cx="116586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rPr>
              <a:t>Error Seeding:</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Purpose</a:t>
            </a:r>
            <a:r>
              <a:rPr kumimoji="0" lang="en-US" altLang="en-US" sz="2400" b="0" i="0" u="none" strike="noStrike" cap="none" normalizeH="0" baseline="0" dirty="0">
                <a:ln>
                  <a:noFill/>
                </a:ln>
                <a:solidFill>
                  <a:schemeClr val="tx1"/>
                </a:solidFill>
                <a:effectLst/>
              </a:rPr>
              <a:t>: Estimate the number of </a:t>
            </a:r>
            <a:r>
              <a:rPr kumimoji="0" lang="en-US" altLang="en-US" sz="2400" b="1" i="0" u="none" strike="noStrike" cap="none" normalizeH="0" baseline="0" dirty="0">
                <a:ln>
                  <a:noFill/>
                </a:ln>
                <a:solidFill>
                  <a:schemeClr val="tx1"/>
                </a:solidFill>
                <a:effectLst/>
              </a:rPr>
              <a:t>residual (undetected) errors</a:t>
            </a:r>
            <a:r>
              <a:rPr kumimoji="0" lang="en-US" altLang="en-US" sz="2400" b="0" i="0" u="none" strike="noStrike" cap="none" normalizeH="0" baseline="0" dirty="0">
                <a:ln>
                  <a:noFill/>
                </a:ln>
                <a:solidFill>
                  <a:schemeClr val="tx1"/>
                </a:solidFill>
                <a:effectLst/>
              </a:rPr>
              <a:t> and evaluate the </a:t>
            </a:r>
            <a:r>
              <a:rPr kumimoji="0" lang="en-US" altLang="en-US" sz="2400" b="1" i="0" u="none" strike="noStrike" cap="none" normalizeH="0" baseline="0" dirty="0">
                <a:ln>
                  <a:noFill/>
                </a:ln>
                <a:solidFill>
                  <a:schemeClr val="tx1"/>
                </a:solidFill>
                <a:effectLst/>
              </a:rPr>
              <a:t>effectiveness</a:t>
            </a:r>
            <a:r>
              <a:rPr kumimoji="0" lang="en-US" altLang="en-US" sz="2400" b="0" i="0" u="none" strike="noStrike" cap="none" normalizeH="0" baseline="0" dirty="0">
                <a:ln>
                  <a:noFill/>
                </a:ln>
                <a:solidFill>
                  <a:schemeClr val="tx1"/>
                </a:solidFill>
                <a:effectLst/>
              </a:rPr>
              <a:t> of the test suite.</a:t>
            </a:r>
          </a:p>
          <a:p>
            <a:pPr marL="800100" lvl="1" indent="-342900" eaLnBrk="0" fontAlgn="base" hangingPunct="0">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rPr>
              <a:t>Process</a:t>
            </a:r>
            <a:r>
              <a:rPr kumimoji="0" lang="en-US" altLang="en-US" sz="2400" b="0" i="0" u="none" strike="noStrike" cap="none" normalizeH="0" baseline="0" dirty="0">
                <a:ln>
                  <a:noFill/>
                </a:ln>
                <a:solidFill>
                  <a:schemeClr val="tx1"/>
                </a:solidFill>
                <a:effectLst/>
              </a:rPr>
              <a:t>:</a:t>
            </a:r>
          </a:p>
          <a:p>
            <a:pPr marL="1257300" lvl="2"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Seed known artificial errors (S).</a:t>
            </a:r>
          </a:p>
          <a:p>
            <a:pPr marL="1257300" lvl="2"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Count how many of them are found during testing (s).</a:t>
            </a:r>
          </a:p>
          <a:p>
            <a:pPr marL="1257300" lvl="2"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Count actual (non-seeded) errors found (n).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rPr>
              <a:t>Estimating Total Errors (N):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b="1"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rPr>
              <a:t>Estimating Remaining Errors: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endParaRPr>
          </a:p>
        </p:txBody>
      </p:sp>
      <p:pic>
        <p:nvPicPr>
          <p:cNvPr id="4" name="Picture 3"/>
          <p:cNvPicPr>
            <a:picLocks noChangeAspect="1"/>
          </p:cNvPicPr>
          <p:nvPr/>
        </p:nvPicPr>
        <p:blipFill>
          <a:blip r:embed="rId2"/>
          <a:stretch>
            <a:fillRect/>
          </a:stretch>
        </p:blipFill>
        <p:spPr>
          <a:xfrm>
            <a:off x="4380395" y="3507058"/>
            <a:ext cx="3041485" cy="1064942"/>
          </a:xfrm>
          <a:prstGeom prst="rect">
            <a:avLst/>
          </a:prstGeom>
        </p:spPr>
      </p:pic>
      <p:pic>
        <p:nvPicPr>
          <p:cNvPr id="5" name="Picture 4"/>
          <p:cNvPicPr>
            <a:picLocks noChangeAspect="1"/>
          </p:cNvPicPr>
          <p:nvPr/>
        </p:nvPicPr>
        <p:blipFill>
          <a:blip r:embed="rId3"/>
          <a:stretch>
            <a:fillRect/>
          </a:stretch>
        </p:blipFill>
        <p:spPr>
          <a:xfrm>
            <a:off x="3821225" y="5029200"/>
            <a:ext cx="3753055" cy="1219200"/>
          </a:xfrm>
          <a:prstGeom prst="rect">
            <a:avLst/>
          </a:prstGeom>
        </p:spPr>
      </p:pic>
      <p:sp>
        <p:nvSpPr>
          <p:cNvPr id="6" name="Rectangle 5"/>
          <p:cNvSpPr/>
          <p:nvPr/>
        </p:nvSpPr>
        <p:spPr>
          <a:xfrm>
            <a:off x="1066800" y="6248400"/>
            <a:ext cx="9890760" cy="461665"/>
          </a:xfrm>
          <a:prstGeom prst="rect">
            <a:avLst/>
          </a:prstGeom>
        </p:spPr>
        <p:txBody>
          <a:bodyPr wrap="square">
            <a:spAutoFit/>
          </a:bodyPr>
          <a:lstStyle/>
          <a:p>
            <a:r>
              <a:rPr lang="en-US" sz="2400" b="1" dirty="0">
                <a:solidFill>
                  <a:srgbClr val="002060"/>
                </a:solidFill>
              </a:rPr>
              <a:t>Note: Accuracy depends on how closely seeded errors reflect real ones.</a:t>
            </a:r>
            <a:endParaRPr lang="en-IN" sz="2400" b="1" dirty="0">
              <a:solidFill>
                <a:srgbClr val="002060"/>
              </a:solidFill>
            </a:endParaRPr>
          </a:p>
        </p:txBody>
      </p:sp>
      <p:sp>
        <p:nvSpPr>
          <p:cNvPr id="2" name="Date Placeholder 1">
            <a:extLst>
              <a:ext uri="{FF2B5EF4-FFF2-40B4-BE49-F238E27FC236}">
                <a16:creationId xmlns:a16="http://schemas.microsoft.com/office/drawing/2014/main" id="{7139D2B7-29E1-A779-3314-0BA864CBD3C5}"/>
              </a:ext>
            </a:extLst>
          </p:cNvPr>
          <p:cNvSpPr>
            <a:spLocks noGrp="1"/>
          </p:cNvSpPr>
          <p:nvPr>
            <p:ph type="dt" sz="half" idx="10"/>
          </p:nvPr>
        </p:nvSpPr>
        <p:spPr/>
        <p:txBody>
          <a:bodyPr/>
          <a:lstStyle/>
          <a:p>
            <a:fld id="{3D95ADB9-56DD-4C56-AF9F-08EC8E00D8DB}" type="datetime1">
              <a:rPr lang="en-IN" smtClean="0"/>
              <a:t>03-11-2025</a:t>
            </a:fld>
            <a:endParaRPr lang="en-IN"/>
          </a:p>
        </p:txBody>
      </p:sp>
      <p:sp>
        <p:nvSpPr>
          <p:cNvPr id="7" name="Footer Placeholder 6">
            <a:extLst>
              <a:ext uri="{FF2B5EF4-FFF2-40B4-BE49-F238E27FC236}">
                <a16:creationId xmlns:a16="http://schemas.microsoft.com/office/drawing/2014/main" id="{B5C4877E-1B46-BF79-72F2-EA9377C9775E}"/>
              </a:ext>
            </a:extLst>
          </p:cNvPr>
          <p:cNvSpPr>
            <a:spLocks noGrp="1"/>
          </p:cNvSpPr>
          <p:nvPr>
            <p:ph type="ftr" sz="quarter" idx="11"/>
          </p:nvPr>
        </p:nvSpPr>
        <p:spPr/>
        <p:txBody>
          <a:bodyPr/>
          <a:lstStyle/>
          <a:p>
            <a:r>
              <a:rPr lang="en-IN"/>
              <a:t>MIT</a:t>
            </a:r>
          </a:p>
        </p:txBody>
      </p:sp>
      <p:sp>
        <p:nvSpPr>
          <p:cNvPr id="8" name="Slide Number Placeholder 7">
            <a:extLst>
              <a:ext uri="{FF2B5EF4-FFF2-40B4-BE49-F238E27FC236}">
                <a16:creationId xmlns:a16="http://schemas.microsoft.com/office/drawing/2014/main" id="{30E69E10-2851-AD95-A5D0-D5796E72B0F1}"/>
              </a:ext>
            </a:extLst>
          </p:cNvPr>
          <p:cNvSpPr>
            <a:spLocks noGrp="1"/>
          </p:cNvSpPr>
          <p:nvPr>
            <p:ph type="sldNum" sz="quarter" idx="12"/>
          </p:nvPr>
        </p:nvSpPr>
        <p:spPr/>
        <p:txBody>
          <a:bodyPr/>
          <a:lstStyle/>
          <a:p>
            <a:fld id="{157E8F69-36B6-4843-A9CE-6B9353F4DBAF}" type="slidenum">
              <a:rPr lang="en-IN" smtClean="0"/>
              <a:t>108</a:t>
            </a:fld>
            <a:endParaRPr lang="en-IN"/>
          </a:p>
        </p:txBody>
      </p:sp>
    </p:spTree>
    <p:extLst>
      <p:ext uri="{BB962C8B-B14F-4D97-AF65-F5344CB8AC3E}">
        <p14:creationId xmlns:p14="http://schemas.microsoft.com/office/powerpoint/2010/main" val="130171165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 y="0"/>
            <a:ext cx="11658600" cy="461665"/>
          </a:xfrm>
          <a:prstGeom prst="rect">
            <a:avLst/>
          </a:prstGeom>
        </p:spPr>
        <p:txBody>
          <a:bodyPr wrap="square">
            <a:spAutoFit/>
          </a:bodyPr>
          <a:lstStyle/>
          <a:p>
            <a:pPr algn="ctr"/>
            <a:r>
              <a:rPr lang="en-US" sz="2400" b="1" u="sng" dirty="0"/>
              <a:t>GENERAL ISSUES IN TESTING</a:t>
            </a:r>
            <a:endParaRPr lang="en-IN" sz="2400" u="sng" dirty="0"/>
          </a:p>
        </p:txBody>
      </p:sp>
      <p:sp>
        <p:nvSpPr>
          <p:cNvPr id="4" name="Rectangle 3"/>
          <p:cNvSpPr/>
          <p:nvPr/>
        </p:nvSpPr>
        <p:spPr>
          <a:xfrm>
            <a:off x="304800" y="230832"/>
            <a:ext cx="11658600" cy="2123658"/>
          </a:xfrm>
          <a:prstGeom prst="rect">
            <a:avLst/>
          </a:prstGeom>
        </p:spPr>
        <p:txBody>
          <a:bodyPr wrap="square">
            <a:spAutoFit/>
          </a:bodyPr>
          <a:lstStyle/>
          <a:p>
            <a:pPr algn="just"/>
            <a:r>
              <a:rPr lang="en-US" sz="2200" b="1" u="sng" dirty="0"/>
              <a:t>📝 1. Test Documentation</a:t>
            </a:r>
          </a:p>
          <a:p>
            <a:pPr algn="just"/>
            <a:r>
              <a:rPr lang="en-US" sz="2200" dirty="0"/>
              <a:t>The </a:t>
            </a:r>
            <a:r>
              <a:rPr lang="en-US" sz="2200" b="1" dirty="0"/>
              <a:t>Test Summary Report</a:t>
            </a:r>
            <a:r>
              <a:rPr lang="en-US" sz="2200" dirty="0"/>
              <a:t> is prepared at the end of testing and includes:</a:t>
            </a:r>
          </a:p>
          <a:p>
            <a:pPr marL="800100" lvl="1" indent="-342900" algn="just">
              <a:buFont typeface="Wingdings" panose="05000000000000000000" pitchFamily="2" charset="2"/>
              <a:buChar char="Ø"/>
            </a:pPr>
            <a:r>
              <a:rPr lang="en-US" sz="2200" dirty="0"/>
              <a:t>✅ Total number of tests conducted</a:t>
            </a:r>
          </a:p>
          <a:p>
            <a:pPr marL="800100" lvl="1" indent="-342900" algn="just">
              <a:buFont typeface="Wingdings" panose="05000000000000000000" pitchFamily="2" charset="2"/>
              <a:buChar char="Ø"/>
            </a:pPr>
            <a:r>
              <a:rPr lang="en-US" sz="2200" dirty="0"/>
              <a:t>✅ Number of successful tests</a:t>
            </a:r>
          </a:p>
          <a:p>
            <a:pPr marL="800100" lvl="1" indent="-342900" algn="just">
              <a:buFont typeface="Wingdings" panose="05000000000000000000" pitchFamily="2" charset="2"/>
              <a:buChar char="Ø"/>
            </a:pPr>
            <a:r>
              <a:rPr lang="en-US" sz="2200" dirty="0"/>
              <a:t>❌ Number of unsuccessful tests</a:t>
            </a:r>
          </a:p>
          <a:p>
            <a:pPr marL="800100" lvl="1" indent="-342900" algn="just">
              <a:buFont typeface="Wingdings" panose="05000000000000000000" pitchFamily="2" charset="2"/>
              <a:buChar char="Ø"/>
            </a:pPr>
            <a:r>
              <a:rPr lang="en-US" sz="2200" dirty="0"/>
              <a:t>Degree of failure (partial or complete)</a:t>
            </a:r>
          </a:p>
        </p:txBody>
      </p:sp>
      <p:sp>
        <p:nvSpPr>
          <p:cNvPr id="5" name="Rectangle 1"/>
          <p:cNvSpPr>
            <a:spLocks noChangeArrowheads="1"/>
          </p:cNvSpPr>
          <p:nvPr/>
        </p:nvSpPr>
        <p:spPr bwMode="auto">
          <a:xfrm>
            <a:off x="304800" y="2227937"/>
            <a:ext cx="11658600"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sng" strike="noStrike" cap="none" normalizeH="0" baseline="0" dirty="0">
                <a:ln>
                  <a:noFill/>
                </a:ln>
                <a:solidFill>
                  <a:schemeClr val="tx1"/>
                </a:solidFill>
                <a:effectLst/>
              </a:rPr>
              <a:t>🔁 2. Regression Testing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rPr>
              <a:t>Definition</a:t>
            </a:r>
            <a:r>
              <a:rPr kumimoji="0" lang="en-US" altLang="en-US" sz="2200" b="0" i="0" u="none" strike="noStrike" cap="none" normalizeH="0" baseline="0" dirty="0">
                <a:ln>
                  <a:noFill/>
                </a:ln>
                <a:solidFill>
                  <a:schemeClr val="tx1"/>
                </a:solidFill>
                <a:effectLst/>
              </a:rPr>
              <a:t>: Running old test cases </a:t>
            </a:r>
            <a:r>
              <a:rPr kumimoji="0" lang="en-US" altLang="en-US" sz="2200" b="1" i="0" u="none" strike="noStrike" cap="none" normalizeH="0" baseline="0" dirty="0">
                <a:ln>
                  <a:noFill/>
                </a:ln>
                <a:solidFill>
                  <a:schemeClr val="tx1"/>
                </a:solidFill>
                <a:effectLst/>
              </a:rPr>
              <a:t>after any code change or bug fix</a:t>
            </a:r>
            <a:r>
              <a:rPr kumimoji="0" lang="en-US" altLang="en-US" sz="2200" b="0" i="0" u="none" strike="noStrike" cap="none" normalizeH="0" baseline="0" dirty="0">
                <a:ln>
                  <a:noFill/>
                </a:ln>
                <a:solidFill>
                  <a:schemeClr val="tx1"/>
                </a:solidFill>
                <a:effectLst/>
              </a:rPr>
              <a:t> to ensure no new bugs are introduced.</a:t>
            </a:r>
          </a:p>
          <a:p>
            <a:pPr marL="800100" lvl="1" indent="-342900" eaLnBrk="0" fontAlgn="base" hangingPunct="0">
              <a:spcBef>
                <a:spcPct val="0"/>
              </a:spcBef>
              <a:spcAft>
                <a:spcPct val="0"/>
              </a:spcAft>
              <a:buFont typeface="Wingdings" panose="05000000000000000000" pitchFamily="2" charset="2"/>
              <a:buChar char="Ø"/>
            </a:pPr>
            <a:r>
              <a:rPr kumimoji="0" lang="en-US" altLang="en-US" sz="2200" b="0" i="0" u="none" strike="noStrike" cap="none" normalizeH="0" baseline="0" dirty="0">
                <a:ln>
                  <a:noFill/>
                </a:ln>
                <a:solidFill>
                  <a:schemeClr val="tx1"/>
                </a:solidFill>
                <a:effectLst/>
              </a:rPr>
              <a:t>It spans across </a:t>
            </a:r>
            <a:r>
              <a:rPr kumimoji="0" lang="en-US" altLang="en-US" sz="2200" b="1" i="0" u="none" strike="noStrike" cap="none" normalizeH="0" baseline="0" dirty="0">
                <a:ln>
                  <a:noFill/>
                </a:ln>
                <a:solidFill>
                  <a:schemeClr val="tx1"/>
                </a:solidFill>
                <a:effectLst/>
              </a:rPr>
              <a:t>unit, integration, and system testing</a:t>
            </a:r>
            <a:r>
              <a:rPr kumimoji="0" lang="en-US" altLang="en-US" sz="2200" b="0" i="0" u="none" strike="noStrike" cap="none" normalizeH="0" baseline="0" dirty="0">
                <a:ln>
                  <a:noFill/>
                </a:ln>
                <a:solidFill>
                  <a:schemeClr val="tx1"/>
                </a:solidFill>
                <a:effectLst/>
              </a:rPr>
              <a:t>.</a:t>
            </a:r>
          </a:p>
          <a:p>
            <a:pPr marL="800100" lvl="1" indent="-342900" eaLnBrk="0" fontAlgn="base" hangingPunct="0">
              <a:spcBef>
                <a:spcPct val="0"/>
              </a:spcBef>
              <a:spcAft>
                <a:spcPct val="0"/>
              </a:spcAft>
              <a:buFont typeface="Wingdings" panose="05000000000000000000" pitchFamily="2" charset="2"/>
              <a:buChar char="Ø"/>
            </a:pPr>
            <a:r>
              <a:rPr kumimoji="0" lang="en-US" altLang="en-US" sz="2200" b="0" i="0" u="none" strike="noStrike" cap="none" normalizeH="0" baseline="0" dirty="0">
                <a:ln>
                  <a:noFill/>
                </a:ln>
                <a:solidFill>
                  <a:schemeClr val="tx1"/>
                </a:solidFill>
                <a:effectLst/>
              </a:rPr>
              <a:t>✅ Run only those test cases that could be affected by the change.</a:t>
            </a:r>
          </a:p>
          <a:p>
            <a:pPr marL="800100" lvl="1" indent="-342900" eaLnBrk="0" fontAlgn="base" hangingPunct="0">
              <a:spcBef>
                <a:spcPct val="0"/>
              </a:spcBef>
              <a:spcAft>
                <a:spcPct val="0"/>
              </a:spcAft>
              <a:buFont typeface="Wingdings" panose="05000000000000000000" pitchFamily="2" charset="2"/>
              <a:buChar char="Ø"/>
            </a:pPr>
            <a:r>
              <a:rPr kumimoji="0" lang="en-US" altLang="en-US" sz="2200" b="0" i="0" u="none" strike="noStrike" cap="none" normalizeH="0" baseline="0" dirty="0">
                <a:ln>
                  <a:noFill/>
                </a:ln>
                <a:solidFill>
                  <a:schemeClr val="tx1"/>
                </a:solidFill>
                <a:effectLst/>
              </a:rPr>
              <a:t>📌 Difference from Resolution Testing:</a:t>
            </a:r>
          </a:p>
          <a:p>
            <a:pPr marL="1257300" lvl="2" indent="-342900" eaLnBrk="0" fontAlgn="base" hangingPunct="0">
              <a:spcBef>
                <a:spcPct val="0"/>
              </a:spcBef>
              <a:spcAft>
                <a:spcPct val="0"/>
              </a:spcAft>
              <a:buFont typeface="Wingdings" panose="05000000000000000000" pitchFamily="2" charset="2"/>
              <a:buChar char="Ø"/>
            </a:pPr>
            <a:r>
              <a:rPr kumimoji="0" lang="en-US" altLang="en-US" sz="2200" b="1" i="0" u="none" strike="noStrike" cap="none" normalizeH="0" baseline="0" dirty="0">
                <a:ln>
                  <a:noFill/>
                </a:ln>
                <a:solidFill>
                  <a:schemeClr val="tx1"/>
                </a:solidFill>
                <a:effectLst/>
              </a:rPr>
              <a:t>Resolution Testing</a:t>
            </a:r>
            <a:r>
              <a:rPr kumimoji="0" lang="en-US" altLang="en-US" sz="2200" b="0" i="0" u="none" strike="noStrike" cap="none" normalizeH="0" baseline="0" dirty="0">
                <a:ln>
                  <a:noFill/>
                </a:ln>
                <a:solidFill>
                  <a:schemeClr val="tx1"/>
                </a:solidFill>
                <a:effectLst/>
              </a:rPr>
              <a:t>: Checks if a defect has been fixed.</a:t>
            </a:r>
          </a:p>
          <a:p>
            <a:pPr marL="1257300" lvl="2" indent="-342900" eaLnBrk="0" fontAlgn="base" hangingPunct="0">
              <a:spcBef>
                <a:spcPct val="0"/>
              </a:spcBef>
              <a:spcAft>
                <a:spcPct val="0"/>
              </a:spcAft>
              <a:buFont typeface="Wingdings" panose="05000000000000000000" pitchFamily="2" charset="2"/>
              <a:buChar char="Ø"/>
            </a:pPr>
            <a:r>
              <a:rPr kumimoji="0" lang="en-US" altLang="en-US" sz="2200" b="1" i="0" u="none" strike="noStrike" cap="none" normalizeH="0" baseline="0" dirty="0">
                <a:ln>
                  <a:noFill/>
                </a:ln>
                <a:solidFill>
                  <a:schemeClr val="tx1"/>
                </a:solidFill>
                <a:effectLst/>
              </a:rPr>
              <a:t>Regression Testing</a:t>
            </a:r>
            <a:r>
              <a:rPr kumimoji="0" lang="en-US" altLang="en-US" sz="2200" b="0" i="0" u="none" strike="noStrike" cap="none" normalizeH="0" baseline="0" dirty="0">
                <a:ln>
                  <a:noFill/>
                </a:ln>
                <a:solidFill>
                  <a:schemeClr val="tx1"/>
                </a:solidFill>
                <a:effectLst/>
              </a:rPr>
              <a:t>: Checks that previously working features </a:t>
            </a:r>
            <a:r>
              <a:rPr kumimoji="0" lang="en-US" altLang="en-US" sz="2200" b="1" i="0" u="none" strike="noStrike" cap="none" normalizeH="0" baseline="0" dirty="0">
                <a:ln>
                  <a:noFill/>
                </a:ln>
                <a:solidFill>
                  <a:schemeClr val="tx1"/>
                </a:solidFill>
                <a:effectLst/>
              </a:rPr>
              <a:t>still work</a:t>
            </a:r>
            <a:r>
              <a:rPr kumimoji="0" lang="en-US" altLang="en-US" sz="2200" b="0" i="0" u="none" strike="noStrike" cap="none" normalizeH="0" baseline="0" dirty="0">
                <a:ln>
                  <a:noFill/>
                </a:ln>
                <a:solidFill>
                  <a:schemeClr val="tx1"/>
                </a:solidFill>
                <a:effectLst/>
              </a:rPr>
              <a:t>.</a:t>
            </a:r>
          </a:p>
          <a:p>
            <a:pPr marL="800100" lvl="1" indent="-342900" eaLnBrk="0" fontAlgn="base" hangingPunct="0">
              <a:spcBef>
                <a:spcPct val="0"/>
              </a:spcBef>
              <a:spcAft>
                <a:spcPct val="0"/>
              </a:spcAft>
              <a:buFont typeface="Wingdings" panose="05000000000000000000" pitchFamily="2" charset="2"/>
              <a:buChar char="Ø"/>
            </a:pPr>
            <a:r>
              <a:rPr kumimoji="0" lang="en-US" altLang="en-US" sz="2200" b="0" i="0" u="none" strike="noStrike" cap="none" normalizeH="0" baseline="0" dirty="0">
                <a:ln>
                  <a:noFill/>
                </a:ln>
                <a:solidFill>
                  <a:schemeClr val="tx1"/>
                </a:solidFill>
                <a:effectLst/>
              </a:rPr>
              <a:t>🔁 Automated regression testing can save </a:t>
            </a:r>
            <a:r>
              <a:rPr kumimoji="0" lang="en-US" altLang="en-US" sz="2200" b="1" i="0" u="none" strike="noStrike" cap="none" normalizeH="0" baseline="0" dirty="0">
                <a:ln>
                  <a:noFill/>
                </a:ln>
                <a:solidFill>
                  <a:schemeClr val="tx1"/>
                </a:solidFill>
                <a:effectLst/>
              </a:rPr>
              <a:t>significant effort</a:t>
            </a:r>
            <a:r>
              <a:rPr kumimoji="0" lang="en-US" altLang="en-US" sz="2200" b="0" i="0" u="none" strike="noStrike" cap="none" normalizeH="0" baseline="0" dirty="0">
                <a:ln>
                  <a:noFill/>
                </a:ln>
                <a:solidFill>
                  <a:schemeClr val="tx1"/>
                </a:solidFill>
                <a:effectLst/>
              </a:rPr>
              <a:t>, especially as some tests may become:</a:t>
            </a:r>
          </a:p>
          <a:p>
            <a:pPr marL="800100" lvl="1" indent="-342900" eaLnBrk="0" fontAlgn="base" hangingPunct="0">
              <a:spcBef>
                <a:spcPct val="0"/>
              </a:spcBef>
              <a:spcAft>
                <a:spcPct val="0"/>
              </a:spcAft>
              <a:buFont typeface="Wingdings" panose="05000000000000000000" pitchFamily="2" charset="2"/>
              <a:buChar char="Ø"/>
            </a:pPr>
            <a:r>
              <a:rPr kumimoji="0" lang="en-US" altLang="en-US" sz="2200" b="0" i="0" u="none" strike="noStrike" cap="none" normalizeH="0" baseline="0" dirty="0">
                <a:ln>
                  <a:noFill/>
                </a:ln>
                <a:solidFill>
                  <a:schemeClr val="tx1"/>
                </a:solidFill>
                <a:effectLst/>
              </a:rPr>
              <a:t>🔸 </a:t>
            </a:r>
            <a:r>
              <a:rPr kumimoji="0" lang="en-US" altLang="en-US" sz="2200" b="1" i="0" u="none" strike="noStrike" cap="none" normalizeH="0" baseline="0" dirty="0">
                <a:ln>
                  <a:noFill/>
                </a:ln>
                <a:solidFill>
                  <a:schemeClr val="tx1"/>
                </a:solidFill>
                <a:effectLst/>
              </a:rPr>
              <a:t>Invalid</a:t>
            </a:r>
            <a:r>
              <a:rPr kumimoji="0" lang="en-US" altLang="en-US" sz="2200" b="0" i="0" u="none" strike="noStrike" cap="none" normalizeH="0" baseline="0" dirty="0">
                <a:ln>
                  <a:noFill/>
                </a:ln>
                <a:solidFill>
                  <a:schemeClr val="tx1"/>
                </a:solidFill>
                <a:effectLst/>
              </a:rPr>
              <a:t> (due to change),</a:t>
            </a:r>
          </a:p>
          <a:p>
            <a:pPr marL="800100" lvl="1" indent="-342900" eaLnBrk="0" fontAlgn="base" hangingPunct="0">
              <a:spcBef>
                <a:spcPct val="0"/>
              </a:spcBef>
              <a:spcAft>
                <a:spcPct val="0"/>
              </a:spcAft>
              <a:buFont typeface="Wingdings" panose="05000000000000000000" pitchFamily="2" charset="2"/>
              <a:buChar char="Ø"/>
            </a:pPr>
            <a:r>
              <a:rPr kumimoji="0" lang="en-US" altLang="en-US" sz="2200" b="0" i="0" u="none" strike="noStrike" cap="none" normalizeH="0" baseline="0" dirty="0">
                <a:ln>
                  <a:noFill/>
                </a:ln>
                <a:solidFill>
                  <a:schemeClr val="tx1"/>
                </a:solidFill>
                <a:effectLst/>
              </a:rPr>
              <a:t>🔹 </a:t>
            </a:r>
            <a:r>
              <a:rPr kumimoji="0" lang="en-US" altLang="en-US" sz="2200" b="1" i="0" u="none" strike="noStrike" cap="none" normalizeH="0" baseline="0" dirty="0">
                <a:ln>
                  <a:noFill/>
                </a:ln>
                <a:solidFill>
                  <a:schemeClr val="tx1"/>
                </a:solidFill>
                <a:effectLst/>
              </a:rPr>
              <a:t>Redundant</a:t>
            </a:r>
            <a:r>
              <a:rPr kumimoji="0" lang="en-US" altLang="en-US" sz="2200" b="0" i="0" u="none" strike="noStrike" cap="none" normalizeH="0" baseline="0" dirty="0">
                <a:ln>
                  <a:noFill/>
                </a:ln>
                <a:solidFill>
                  <a:schemeClr val="tx1"/>
                </a:solidFill>
                <a:effectLst/>
              </a:rPr>
              <a:t> (not affected by the change),</a:t>
            </a:r>
          </a:p>
          <a:p>
            <a:pPr marL="800100" lvl="1" indent="-342900" eaLnBrk="0" fontAlgn="base" hangingPunct="0">
              <a:spcBef>
                <a:spcPct val="0"/>
              </a:spcBef>
              <a:spcAft>
                <a:spcPct val="0"/>
              </a:spcAft>
              <a:buFont typeface="Wingdings" panose="05000000000000000000" pitchFamily="2" charset="2"/>
              <a:buChar char="Ø"/>
            </a:pPr>
            <a:r>
              <a:rPr kumimoji="0" lang="en-US" altLang="en-US" sz="2200" b="0" i="0" u="none" strike="noStrike" cap="none" normalizeH="0" baseline="0" dirty="0">
                <a:ln>
                  <a:noFill/>
                </a:ln>
                <a:solidFill>
                  <a:schemeClr val="tx1"/>
                </a:solidFill>
                <a:effectLst/>
              </a:rPr>
              <a:t>⚠️ Or may need to be added for new functionality.</a:t>
            </a:r>
          </a:p>
        </p:txBody>
      </p:sp>
      <p:sp>
        <p:nvSpPr>
          <p:cNvPr id="2" name="Date Placeholder 1">
            <a:extLst>
              <a:ext uri="{FF2B5EF4-FFF2-40B4-BE49-F238E27FC236}">
                <a16:creationId xmlns:a16="http://schemas.microsoft.com/office/drawing/2014/main" id="{FED53B69-C397-4D62-41C7-9299D2B18D87}"/>
              </a:ext>
            </a:extLst>
          </p:cNvPr>
          <p:cNvSpPr>
            <a:spLocks noGrp="1"/>
          </p:cNvSpPr>
          <p:nvPr>
            <p:ph type="dt" sz="half" idx="10"/>
          </p:nvPr>
        </p:nvSpPr>
        <p:spPr/>
        <p:txBody>
          <a:bodyPr/>
          <a:lstStyle/>
          <a:p>
            <a:fld id="{319A9F34-4358-4072-9B33-F405A9F3BD39}" type="datetime1">
              <a:rPr lang="en-IN" smtClean="0"/>
              <a:t>03-11-2025</a:t>
            </a:fld>
            <a:endParaRPr lang="en-IN"/>
          </a:p>
        </p:txBody>
      </p:sp>
      <p:sp>
        <p:nvSpPr>
          <p:cNvPr id="6" name="Footer Placeholder 5">
            <a:extLst>
              <a:ext uri="{FF2B5EF4-FFF2-40B4-BE49-F238E27FC236}">
                <a16:creationId xmlns:a16="http://schemas.microsoft.com/office/drawing/2014/main" id="{47B4088C-016D-7DC6-D8C4-662ED9E69C1D}"/>
              </a:ext>
            </a:extLst>
          </p:cNvPr>
          <p:cNvSpPr>
            <a:spLocks noGrp="1"/>
          </p:cNvSpPr>
          <p:nvPr>
            <p:ph type="ftr" sz="quarter" idx="11"/>
          </p:nvPr>
        </p:nvSpPr>
        <p:spPr/>
        <p:txBody>
          <a:bodyPr/>
          <a:lstStyle/>
          <a:p>
            <a:r>
              <a:rPr lang="en-IN"/>
              <a:t>MIT</a:t>
            </a:r>
          </a:p>
        </p:txBody>
      </p:sp>
      <p:sp>
        <p:nvSpPr>
          <p:cNvPr id="7" name="Slide Number Placeholder 6">
            <a:extLst>
              <a:ext uri="{FF2B5EF4-FFF2-40B4-BE49-F238E27FC236}">
                <a16:creationId xmlns:a16="http://schemas.microsoft.com/office/drawing/2014/main" id="{03751129-A6AD-5B48-5AE5-E5B466C84639}"/>
              </a:ext>
            </a:extLst>
          </p:cNvPr>
          <p:cNvSpPr>
            <a:spLocks noGrp="1"/>
          </p:cNvSpPr>
          <p:nvPr>
            <p:ph type="sldNum" sz="quarter" idx="12"/>
          </p:nvPr>
        </p:nvSpPr>
        <p:spPr/>
        <p:txBody>
          <a:bodyPr/>
          <a:lstStyle/>
          <a:p>
            <a:fld id="{157E8F69-36B6-4843-A9CE-6B9353F4DBAF}" type="slidenum">
              <a:rPr lang="en-IN" smtClean="0"/>
              <a:t>109</a:t>
            </a:fld>
            <a:endParaRPr lang="en-IN"/>
          </a:p>
        </p:txBody>
      </p:sp>
    </p:spTree>
    <p:extLst>
      <p:ext uri="{BB962C8B-B14F-4D97-AF65-F5344CB8AC3E}">
        <p14:creationId xmlns:p14="http://schemas.microsoft.com/office/powerpoint/2010/main" val="291547151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277059"/>
            <a:ext cx="11536680" cy="3600986"/>
          </a:xfrm>
          <a:prstGeom prst="rect">
            <a:avLst/>
          </a:prstGeom>
        </p:spPr>
        <p:txBody>
          <a:bodyPr wrap="square">
            <a:spAutoFit/>
          </a:bodyPr>
          <a:lstStyle/>
          <a:p>
            <a:pPr algn="just">
              <a:spcBef>
                <a:spcPts val="1200"/>
              </a:spcBef>
            </a:pPr>
            <a:r>
              <a:rPr lang="en-US" sz="2400" b="1" u="sng" dirty="0"/>
              <a:t>🤖 3. Test Automation</a:t>
            </a:r>
          </a:p>
          <a:p>
            <a:pPr algn="just">
              <a:spcBef>
                <a:spcPts val="1200"/>
              </a:spcBef>
            </a:pPr>
            <a:r>
              <a:rPr lang="en-US" sz="2400" dirty="0"/>
              <a:t>Used to </a:t>
            </a:r>
            <a:r>
              <a:rPr lang="en-US" sz="2400" b="1" dirty="0"/>
              <a:t>reduce human effort, cost, and time</a:t>
            </a:r>
            <a:r>
              <a:rPr lang="en-US" sz="2400" dirty="0"/>
              <a:t>, while </a:t>
            </a:r>
            <a:r>
              <a:rPr lang="en-US" sz="2400" b="1" dirty="0"/>
              <a:t>increasing accuracy and test coverage</a:t>
            </a:r>
            <a:r>
              <a:rPr lang="en-US" sz="2400" dirty="0"/>
              <a:t>.</a:t>
            </a:r>
          </a:p>
          <a:p>
            <a:pPr algn="just">
              <a:spcBef>
                <a:spcPts val="1200"/>
              </a:spcBef>
            </a:pPr>
            <a:r>
              <a:rPr lang="en-US" sz="2400" b="1" u="sng" dirty="0"/>
              <a:t>🔹 Benefits:</a:t>
            </a:r>
          </a:p>
          <a:p>
            <a:pPr marL="800100" lvl="1" indent="-342900" algn="just">
              <a:spcBef>
                <a:spcPts val="1200"/>
              </a:spcBef>
              <a:buFont typeface="Wingdings" panose="05000000000000000000" pitchFamily="2" charset="2"/>
              <a:buChar char="Ø"/>
            </a:pPr>
            <a:r>
              <a:rPr lang="en-US" sz="2400" dirty="0"/>
              <a:t>Eliminates monotony and human error in repeated testing</a:t>
            </a:r>
          </a:p>
          <a:p>
            <a:pPr marL="800100" lvl="1" indent="-342900" algn="just">
              <a:spcBef>
                <a:spcPts val="1200"/>
              </a:spcBef>
              <a:buFont typeface="Wingdings" panose="05000000000000000000" pitchFamily="2" charset="2"/>
              <a:buChar char="Ø"/>
            </a:pPr>
            <a:r>
              <a:rPr lang="en-US" sz="2400" dirty="0"/>
              <a:t>Supports thorough testing with large test suites</a:t>
            </a:r>
          </a:p>
          <a:p>
            <a:pPr marL="800100" lvl="1" indent="-342900" algn="just">
              <a:spcBef>
                <a:spcPts val="1200"/>
              </a:spcBef>
              <a:buFont typeface="Wingdings" panose="05000000000000000000" pitchFamily="2" charset="2"/>
              <a:buChar char="Ø"/>
            </a:pPr>
            <a:r>
              <a:rPr lang="en-US" sz="2400" dirty="0"/>
              <a:t>Essential for </a:t>
            </a:r>
            <a:r>
              <a:rPr lang="en-US" sz="2400" b="1" dirty="0"/>
              <a:t>regression testing</a:t>
            </a:r>
            <a:r>
              <a:rPr lang="en-US" sz="2400" dirty="0"/>
              <a:t>, especially after frequent changes</a:t>
            </a:r>
          </a:p>
          <a:p>
            <a:pPr algn="just">
              <a:spcBef>
                <a:spcPts val="1200"/>
              </a:spcBef>
            </a:pPr>
            <a:r>
              <a:rPr lang="en-US" sz="2400" b="1" u="sng" dirty="0"/>
              <a:t>🔸 Types of Test Automation Tools:</a:t>
            </a:r>
          </a:p>
        </p:txBody>
      </p:sp>
      <p:graphicFrame>
        <p:nvGraphicFramePr>
          <p:cNvPr id="4" name="Table 3"/>
          <p:cNvGraphicFramePr>
            <a:graphicFrameLocks noGrp="1"/>
          </p:cNvGraphicFramePr>
          <p:nvPr>
            <p:extLst>
              <p:ext uri="{D42A27DB-BD31-4B8C-83A1-F6EECF244321}">
                <p14:modId xmlns:p14="http://schemas.microsoft.com/office/powerpoint/2010/main" val="1134567336"/>
              </p:ext>
            </p:extLst>
          </p:nvPr>
        </p:nvGraphicFramePr>
        <p:xfrm>
          <a:off x="320040" y="4107974"/>
          <a:ext cx="11536680" cy="2346960"/>
        </p:xfrm>
        <a:graphic>
          <a:graphicData uri="http://schemas.openxmlformats.org/drawingml/2006/table">
            <a:tbl>
              <a:tblPr>
                <a:tableStyleId>{5DA37D80-6434-44D0-A028-1B22A696006F}</a:tableStyleId>
              </a:tblPr>
              <a:tblGrid>
                <a:gridCol w="3322320">
                  <a:extLst>
                    <a:ext uri="{9D8B030D-6E8A-4147-A177-3AD203B41FA5}">
                      <a16:colId xmlns:a16="http://schemas.microsoft.com/office/drawing/2014/main" val="1766812450"/>
                    </a:ext>
                  </a:extLst>
                </a:gridCol>
                <a:gridCol w="8214360">
                  <a:extLst>
                    <a:ext uri="{9D8B030D-6E8A-4147-A177-3AD203B41FA5}">
                      <a16:colId xmlns:a16="http://schemas.microsoft.com/office/drawing/2014/main" val="1137392644"/>
                    </a:ext>
                  </a:extLst>
                </a:gridCol>
              </a:tblGrid>
              <a:tr h="0">
                <a:tc>
                  <a:txBody>
                    <a:bodyPr/>
                    <a:lstStyle/>
                    <a:p>
                      <a:pPr algn="ctr"/>
                      <a:r>
                        <a:rPr lang="en-IN" sz="2400" b="1" u="sng" dirty="0"/>
                        <a:t>Tool Type</a:t>
                      </a:r>
                    </a:p>
                  </a:txBody>
                  <a:tcPr anchor="ctr"/>
                </a:tc>
                <a:tc>
                  <a:txBody>
                    <a:bodyPr/>
                    <a:lstStyle/>
                    <a:p>
                      <a:pPr algn="ctr"/>
                      <a:r>
                        <a:rPr lang="en-IN" sz="2400" b="1" u="sng" dirty="0"/>
                        <a:t>Description</a:t>
                      </a:r>
                    </a:p>
                  </a:txBody>
                  <a:tcPr anchor="ctr"/>
                </a:tc>
                <a:extLst>
                  <a:ext uri="{0D108BD9-81ED-4DB2-BD59-A6C34878D82A}">
                    <a16:rowId xmlns:a16="http://schemas.microsoft.com/office/drawing/2014/main" val="1962011488"/>
                  </a:ext>
                </a:extLst>
              </a:tr>
              <a:tr h="0">
                <a:tc>
                  <a:txBody>
                    <a:bodyPr/>
                    <a:lstStyle/>
                    <a:p>
                      <a:r>
                        <a:rPr lang="en-IN" sz="2000" dirty="0"/>
                        <a:t>Capture &amp; Playback</a:t>
                      </a:r>
                    </a:p>
                  </a:txBody>
                  <a:tcPr anchor="ctr"/>
                </a:tc>
                <a:tc>
                  <a:txBody>
                    <a:bodyPr/>
                    <a:lstStyle/>
                    <a:p>
                      <a:r>
                        <a:rPr lang="en-US" sz="2000" dirty="0"/>
                        <a:t>Records input-output during manual testing, then replays them automatically</a:t>
                      </a:r>
                    </a:p>
                  </a:txBody>
                  <a:tcPr anchor="ctr"/>
                </a:tc>
                <a:extLst>
                  <a:ext uri="{0D108BD9-81ED-4DB2-BD59-A6C34878D82A}">
                    <a16:rowId xmlns:a16="http://schemas.microsoft.com/office/drawing/2014/main" val="317519734"/>
                  </a:ext>
                </a:extLst>
              </a:tr>
              <a:tr h="0">
                <a:tc>
                  <a:txBody>
                    <a:bodyPr/>
                    <a:lstStyle/>
                    <a:p>
                      <a:r>
                        <a:rPr lang="en-IN" sz="2000"/>
                        <a:t>Test Script-Based</a:t>
                      </a:r>
                    </a:p>
                  </a:txBody>
                  <a:tcPr anchor="ctr"/>
                </a:tc>
                <a:tc>
                  <a:txBody>
                    <a:bodyPr/>
                    <a:lstStyle/>
                    <a:p>
                      <a:r>
                        <a:rPr lang="en-US" sz="2000" dirty="0"/>
                        <a:t>Uses scripts (in various languages) to automate test execution and validation</a:t>
                      </a:r>
                    </a:p>
                  </a:txBody>
                  <a:tcPr anchor="ctr"/>
                </a:tc>
                <a:extLst>
                  <a:ext uri="{0D108BD9-81ED-4DB2-BD59-A6C34878D82A}">
                    <a16:rowId xmlns:a16="http://schemas.microsoft.com/office/drawing/2014/main" val="323546414"/>
                  </a:ext>
                </a:extLst>
              </a:tr>
              <a:tr h="0">
                <a:tc>
                  <a:txBody>
                    <a:bodyPr/>
                    <a:lstStyle/>
                    <a:p>
                      <a:r>
                        <a:rPr lang="en-IN" sz="2000"/>
                        <a:t>Random Input Test</a:t>
                      </a:r>
                    </a:p>
                  </a:txBody>
                  <a:tcPr anchor="ctr"/>
                </a:tc>
                <a:tc>
                  <a:txBody>
                    <a:bodyPr/>
                    <a:lstStyle/>
                    <a:p>
                      <a:r>
                        <a:rPr lang="en-US" sz="2000" dirty="0"/>
                        <a:t>Randomly generates inputs to crash the system; doesn’t check output correctness</a:t>
                      </a:r>
                    </a:p>
                  </a:txBody>
                  <a:tcPr anchor="ctr"/>
                </a:tc>
                <a:extLst>
                  <a:ext uri="{0D108BD9-81ED-4DB2-BD59-A6C34878D82A}">
                    <a16:rowId xmlns:a16="http://schemas.microsoft.com/office/drawing/2014/main" val="3218661487"/>
                  </a:ext>
                </a:extLst>
              </a:tr>
              <a:tr h="0">
                <a:tc>
                  <a:txBody>
                    <a:bodyPr/>
                    <a:lstStyle/>
                    <a:p>
                      <a:r>
                        <a:rPr lang="en-IN" sz="2000"/>
                        <a:t>Model-Based Test</a:t>
                      </a:r>
                    </a:p>
                  </a:txBody>
                  <a:tcPr anchor="ctr"/>
                </a:tc>
                <a:tc>
                  <a:txBody>
                    <a:bodyPr/>
                    <a:lstStyle/>
                    <a:p>
                      <a:r>
                        <a:rPr lang="en-US" sz="2000" dirty="0"/>
                        <a:t>Uses models (e.g., state diagrams, activity diagrams) to generate test cases</a:t>
                      </a:r>
                    </a:p>
                  </a:txBody>
                  <a:tcPr anchor="ctr"/>
                </a:tc>
                <a:extLst>
                  <a:ext uri="{0D108BD9-81ED-4DB2-BD59-A6C34878D82A}">
                    <a16:rowId xmlns:a16="http://schemas.microsoft.com/office/drawing/2014/main" val="1936480960"/>
                  </a:ext>
                </a:extLst>
              </a:tr>
            </a:tbl>
          </a:graphicData>
        </a:graphic>
      </p:graphicFrame>
      <p:sp>
        <p:nvSpPr>
          <p:cNvPr id="2" name="Date Placeholder 1">
            <a:extLst>
              <a:ext uri="{FF2B5EF4-FFF2-40B4-BE49-F238E27FC236}">
                <a16:creationId xmlns:a16="http://schemas.microsoft.com/office/drawing/2014/main" id="{C6F577D9-0F09-21EB-9F49-7A8A240048A5}"/>
              </a:ext>
            </a:extLst>
          </p:cNvPr>
          <p:cNvSpPr>
            <a:spLocks noGrp="1"/>
          </p:cNvSpPr>
          <p:nvPr>
            <p:ph type="dt" sz="half" idx="10"/>
          </p:nvPr>
        </p:nvSpPr>
        <p:spPr/>
        <p:txBody>
          <a:bodyPr/>
          <a:lstStyle/>
          <a:p>
            <a:fld id="{BA70A6CE-7C3B-4B5D-980C-CBB866B473CF}" type="datetime1">
              <a:rPr lang="en-IN" smtClean="0"/>
              <a:t>03-11-2025</a:t>
            </a:fld>
            <a:endParaRPr lang="en-IN"/>
          </a:p>
        </p:txBody>
      </p:sp>
      <p:sp>
        <p:nvSpPr>
          <p:cNvPr id="5" name="Footer Placeholder 4">
            <a:extLst>
              <a:ext uri="{FF2B5EF4-FFF2-40B4-BE49-F238E27FC236}">
                <a16:creationId xmlns:a16="http://schemas.microsoft.com/office/drawing/2014/main" id="{6501A4C9-6ED3-A070-AE0C-039AA1F1CE26}"/>
              </a:ext>
            </a:extLst>
          </p:cNvPr>
          <p:cNvSpPr>
            <a:spLocks noGrp="1"/>
          </p:cNvSpPr>
          <p:nvPr>
            <p:ph type="ftr" sz="quarter" idx="11"/>
          </p:nvPr>
        </p:nvSpPr>
        <p:spPr/>
        <p:txBody>
          <a:bodyPr/>
          <a:lstStyle/>
          <a:p>
            <a:r>
              <a:rPr lang="en-IN"/>
              <a:t>MIT</a:t>
            </a:r>
          </a:p>
        </p:txBody>
      </p:sp>
      <p:sp>
        <p:nvSpPr>
          <p:cNvPr id="6" name="Slide Number Placeholder 5">
            <a:extLst>
              <a:ext uri="{FF2B5EF4-FFF2-40B4-BE49-F238E27FC236}">
                <a16:creationId xmlns:a16="http://schemas.microsoft.com/office/drawing/2014/main" id="{0C1454FE-9170-BC8A-FDFF-EB5217BFCCE5}"/>
              </a:ext>
            </a:extLst>
          </p:cNvPr>
          <p:cNvSpPr>
            <a:spLocks noGrp="1"/>
          </p:cNvSpPr>
          <p:nvPr>
            <p:ph type="sldNum" sz="quarter" idx="12"/>
          </p:nvPr>
        </p:nvSpPr>
        <p:spPr/>
        <p:txBody>
          <a:bodyPr/>
          <a:lstStyle/>
          <a:p>
            <a:fld id="{157E8F69-36B6-4843-A9CE-6B9353F4DBAF}" type="slidenum">
              <a:rPr lang="en-IN" smtClean="0"/>
              <a:t>110</a:t>
            </a:fld>
            <a:endParaRPr lang="en-IN"/>
          </a:p>
        </p:txBody>
      </p:sp>
    </p:spTree>
    <p:extLst>
      <p:ext uri="{BB962C8B-B14F-4D97-AF65-F5344CB8AC3E}">
        <p14:creationId xmlns:p14="http://schemas.microsoft.com/office/powerpoint/2010/main" val="189070929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46760" y="933718"/>
            <a:ext cx="11079480" cy="3266728"/>
          </a:xfrm>
          <a:prstGeom prst="rect">
            <a:avLst/>
          </a:prstGeom>
        </p:spPr>
        <p:txBody>
          <a:bodyPr wrap="square">
            <a:spAutoFit/>
          </a:bodyPr>
          <a:lstStyle/>
          <a:p>
            <a:pPr marL="342900" indent="-342900">
              <a:lnSpc>
                <a:spcPct val="150000"/>
              </a:lnSpc>
              <a:spcBef>
                <a:spcPts val="1200"/>
              </a:spcBef>
              <a:buFont typeface="Wingdings" panose="05000000000000000000" pitchFamily="2" charset="2"/>
              <a:buChar char="v"/>
            </a:pPr>
            <a:r>
              <a:rPr lang="en-US" sz="2400" b="1" dirty="0">
                <a:solidFill>
                  <a:srgbClr val="002060"/>
                </a:solidFill>
              </a:rPr>
              <a:t>Capture &amp; Playback</a:t>
            </a:r>
            <a:r>
              <a:rPr lang="en-US" sz="2400" dirty="0">
                <a:solidFill>
                  <a:srgbClr val="002060"/>
                </a:solidFill>
              </a:rPr>
              <a:t> tools are great for </a:t>
            </a:r>
            <a:r>
              <a:rPr lang="en-US" sz="2400" b="1" dirty="0">
                <a:solidFill>
                  <a:srgbClr val="002060"/>
                </a:solidFill>
              </a:rPr>
              <a:t>regression testing</a:t>
            </a:r>
            <a:r>
              <a:rPr lang="en-US" sz="2400" dirty="0">
                <a:solidFill>
                  <a:srgbClr val="002060"/>
                </a:solidFill>
              </a:rPr>
              <a:t>, but maintaining tests after changes can be expensive.</a:t>
            </a:r>
          </a:p>
          <a:p>
            <a:pPr marL="342900" indent="-342900">
              <a:lnSpc>
                <a:spcPct val="150000"/>
              </a:lnSpc>
              <a:spcBef>
                <a:spcPts val="1200"/>
              </a:spcBef>
              <a:buFont typeface="Wingdings" panose="05000000000000000000" pitchFamily="2" charset="2"/>
              <a:buChar char="v"/>
            </a:pPr>
            <a:r>
              <a:rPr lang="en-US" sz="2400" b="1" dirty="0">
                <a:solidFill>
                  <a:srgbClr val="002060"/>
                </a:solidFill>
              </a:rPr>
              <a:t>Test Script</a:t>
            </a:r>
            <a:r>
              <a:rPr lang="en-US" sz="2400" dirty="0">
                <a:solidFill>
                  <a:srgbClr val="002060"/>
                </a:solidFill>
              </a:rPr>
              <a:t> tools require effort for debugging and updating after any code change.</a:t>
            </a:r>
          </a:p>
          <a:p>
            <a:pPr marL="342900" indent="-342900">
              <a:lnSpc>
                <a:spcPct val="150000"/>
              </a:lnSpc>
              <a:spcBef>
                <a:spcPts val="1200"/>
              </a:spcBef>
              <a:buFont typeface="Wingdings" panose="05000000000000000000" pitchFamily="2" charset="2"/>
              <a:buChar char="v"/>
            </a:pPr>
            <a:r>
              <a:rPr lang="en-US" sz="2400" b="1" dirty="0">
                <a:solidFill>
                  <a:srgbClr val="002060"/>
                </a:solidFill>
              </a:rPr>
              <a:t>Random Testing</a:t>
            </a:r>
            <a:r>
              <a:rPr lang="en-US" sz="2400" dirty="0">
                <a:solidFill>
                  <a:srgbClr val="002060"/>
                </a:solidFill>
              </a:rPr>
              <a:t> is limited—it finds </a:t>
            </a:r>
            <a:r>
              <a:rPr lang="en-US" sz="2400" b="1" dirty="0">
                <a:solidFill>
                  <a:srgbClr val="002060"/>
                </a:solidFill>
              </a:rPr>
              <a:t>crash-causing</a:t>
            </a:r>
            <a:r>
              <a:rPr lang="en-US" sz="2400" dirty="0">
                <a:solidFill>
                  <a:srgbClr val="002060"/>
                </a:solidFill>
              </a:rPr>
              <a:t> defects only.</a:t>
            </a:r>
          </a:p>
          <a:p>
            <a:pPr marL="342900" indent="-342900">
              <a:lnSpc>
                <a:spcPct val="150000"/>
              </a:lnSpc>
              <a:spcBef>
                <a:spcPts val="1200"/>
              </a:spcBef>
              <a:buFont typeface="Wingdings" panose="05000000000000000000" pitchFamily="2" charset="2"/>
              <a:buChar char="v"/>
            </a:pPr>
            <a:r>
              <a:rPr lang="en-US" sz="2400" b="1" dirty="0">
                <a:solidFill>
                  <a:srgbClr val="002060"/>
                </a:solidFill>
              </a:rPr>
              <a:t>Model-Based Testing</a:t>
            </a:r>
            <a:r>
              <a:rPr lang="en-US" sz="2400" dirty="0">
                <a:solidFill>
                  <a:srgbClr val="002060"/>
                </a:solidFill>
              </a:rPr>
              <a:t> can be powerful for validating system behavior.</a:t>
            </a:r>
          </a:p>
        </p:txBody>
      </p:sp>
      <p:sp>
        <p:nvSpPr>
          <p:cNvPr id="2" name="Date Placeholder 1">
            <a:extLst>
              <a:ext uri="{FF2B5EF4-FFF2-40B4-BE49-F238E27FC236}">
                <a16:creationId xmlns:a16="http://schemas.microsoft.com/office/drawing/2014/main" id="{CC65B027-CF8F-D2C4-7C23-285D9789773F}"/>
              </a:ext>
            </a:extLst>
          </p:cNvPr>
          <p:cNvSpPr>
            <a:spLocks noGrp="1"/>
          </p:cNvSpPr>
          <p:nvPr>
            <p:ph type="dt" sz="half" idx="10"/>
          </p:nvPr>
        </p:nvSpPr>
        <p:spPr/>
        <p:txBody>
          <a:bodyPr/>
          <a:lstStyle/>
          <a:p>
            <a:fld id="{A04C255E-B053-4408-83B6-D09F528DB860}" type="datetime1">
              <a:rPr lang="en-IN" smtClean="0"/>
              <a:t>03-11-2025</a:t>
            </a:fld>
            <a:endParaRPr lang="en-IN"/>
          </a:p>
        </p:txBody>
      </p:sp>
      <p:sp>
        <p:nvSpPr>
          <p:cNvPr id="4" name="Footer Placeholder 3">
            <a:extLst>
              <a:ext uri="{FF2B5EF4-FFF2-40B4-BE49-F238E27FC236}">
                <a16:creationId xmlns:a16="http://schemas.microsoft.com/office/drawing/2014/main" id="{6A7F02AA-7508-FB8E-34AB-BBAB3D919DA1}"/>
              </a:ext>
            </a:extLst>
          </p:cNvPr>
          <p:cNvSpPr>
            <a:spLocks noGrp="1"/>
          </p:cNvSpPr>
          <p:nvPr>
            <p:ph type="ftr" sz="quarter" idx="11"/>
          </p:nvPr>
        </p:nvSpPr>
        <p:spPr/>
        <p:txBody>
          <a:bodyPr/>
          <a:lstStyle/>
          <a:p>
            <a:r>
              <a:rPr lang="en-IN"/>
              <a:t>MIT</a:t>
            </a:r>
          </a:p>
        </p:txBody>
      </p:sp>
      <p:sp>
        <p:nvSpPr>
          <p:cNvPr id="5" name="Slide Number Placeholder 4">
            <a:extLst>
              <a:ext uri="{FF2B5EF4-FFF2-40B4-BE49-F238E27FC236}">
                <a16:creationId xmlns:a16="http://schemas.microsoft.com/office/drawing/2014/main" id="{20FDEDE2-6E73-5FC7-9DDC-34F0FDC42F27}"/>
              </a:ext>
            </a:extLst>
          </p:cNvPr>
          <p:cNvSpPr>
            <a:spLocks noGrp="1"/>
          </p:cNvSpPr>
          <p:nvPr>
            <p:ph type="sldNum" sz="quarter" idx="12"/>
          </p:nvPr>
        </p:nvSpPr>
        <p:spPr/>
        <p:txBody>
          <a:bodyPr/>
          <a:lstStyle/>
          <a:p>
            <a:fld id="{157E8F69-36B6-4843-A9CE-6B9353F4DBAF}" type="slidenum">
              <a:rPr lang="en-IN" smtClean="0"/>
              <a:t>111</a:t>
            </a:fld>
            <a:endParaRPr lang="en-IN"/>
          </a:p>
        </p:txBody>
      </p:sp>
    </p:spTree>
    <p:extLst>
      <p:ext uri="{BB962C8B-B14F-4D97-AF65-F5344CB8AC3E}">
        <p14:creationId xmlns:p14="http://schemas.microsoft.com/office/powerpoint/2010/main" val="20722025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5276</TotalTime>
  <Words>12538</Words>
  <Application>Microsoft Office PowerPoint</Application>
  <PresentationFormat>Widescreen</PresentationFormat>
  <Paragraphs>1953</Paragraphs>
  <Slides>111</Slides>
  <Notes>4</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111</vt:i4>
      </vt:variant>
    </vt:vector>
  </HeadingPairs>
  <TitlesOfParts>
    <vt:vector size="130" baseType="lpstr">
      <vt:lpstr>Gulim</vt:lpstr>
      <vt:lpstr>Aptos</vt:lpstr>
      <vt:lpstr>Arial</vt:lpstr>
      <vt:lpstr>Calibri</vt:lpstr>
      <vt:lpstr>Calibri (Body)</vt:lpstr>
      <vt:lpstr>Calibri Light</vt:lpstr>
      <vt:lpstr>Cambria Math</vt:lpstr>
      <vt:lpstr>Century</vt:lpstr>
      <vt:lpstr>Century Schoolbook</vt:lpstr>
      <vt:lpstr>Comic Sans MS</vt:lpstr>
      <vt:lpstr>Cooper Black</vt:lpstr>
      <vt:lpstr>Courier New</vt:lpstr>
      <vt:lpstr>Elephant</vt:lpstr>
      <vt:lpstr>OfficinaSans-Bold</vt:lpstr>
      <vt:lpstr>OfficinaSans-Book</vt:lpstr>
      <vt:lpstr>PalatinoLinotype-Roman</vt:lpstr>
      <vt:lpstr>Times New Roman</vt:lpstr>
      <vt:lpstr>Wingdings</vt:lpstr>
      <vt:lpstr>Office Theme</vt:lpstr>
      <vt:lpstr>Software Engineering (Code: CSE3122)</vt:lpstr>
      <vt:lpstr>SOFTWARE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  Levels</vt:lpstr>
      <vt:lpstr>Overview of Activities During System and Integration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dc:creator>
  <cp:lastModifiedBy>Lella Kranthi Kumar [MAHE-MIT]</cp:lastModifiedBy>
  <cp:revision>182</cp:revision>
  <dcterms:created xsi:type="dcterms:W3CDTF">2025-07-01T05:21:07Z</dcterms:created>
  <dcterms:modified xsi:type="dcterms:W3CDTF">2025-11-03T15:57:36Z</dcterms:modified>
</cp:coreProperties>
</file>